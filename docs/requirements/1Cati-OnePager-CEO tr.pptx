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4336" autoAdjust="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47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0F23DB-9DAE-4EC3-91FA-F7900F59AA0E}" type="datetimeFigureOut">
              <a:rPr lang="de-DE" smtClean="0"/>
              <a:t>11.07.2026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57F2DD-EAC8-422B-AA54-469A4423579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9711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Sayın Fatih Bey,</a:t>
            </a:r>
          </a:p>
          <a:p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zaman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ayırdığınız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için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çok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teşekkür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ederim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Idris'in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size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1Çatı'yı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zaten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tanıttığını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veya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azından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"Cati Training"deki CEO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videosunu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gösterdiğini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varsayıyorum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Size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tek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sayfada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projenin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özünün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olduğunu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neden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tam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şu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anın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doğru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zaman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olduğunu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göstermeme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izin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 Level Premium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için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ISKAN’ı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almak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böylece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tesisi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faaliyete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geçirmek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üzere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oluyorsunuz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Dünyanın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dört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yanına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dağılmış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769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birim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mülk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sahibi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mevcut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sınırlarına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ulaşmış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durumda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Ödeme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durumları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ödenmemiş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alacaklar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hizmet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talepleri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erişim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hakları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gerçek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zamanlı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olarak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takip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edilemiyor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İşte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tam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noktada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1Çatı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devreye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giriyor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tüm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gayrimenkul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operasyonlarınız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için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tek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tabanlı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dört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dilde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hizmet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veren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işletim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sistemi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Piyasa da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bizi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haklı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çıkarıyor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Türkiye’deki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yurt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dışı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satışlar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2025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yılında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%9’dan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fazla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düştü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9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yılın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düşük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seviyesi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Yine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Alanya, 4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yıldır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üst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üste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Rus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alıcılar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arasında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numara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olmaya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devam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ediyor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Giderek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daralan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pazarda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müşteri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sadakati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tavsiye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edilme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oranını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belirleyen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artık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miktar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değil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hizmetinizin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kalitesidir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İşte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sizin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rekabet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avantajınız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olacaktır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1Çatı her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şeyi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tek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yerde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birleştirir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769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dairenin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tamamını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içeren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portföyünüz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finans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aidatlar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hizmetler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görevler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rezervasyonlar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belgeler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raporlar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canlı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kontrol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paneli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Buna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ek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olarak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ilgilenenlerin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hesap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açmadan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kayıt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olabileceği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halka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açık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alan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ekibinize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destek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veren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birbiriyle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uyumlu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yapay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zeka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asistanı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mevcuttur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İletişim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tüm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kanallar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(WhatsApp,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portal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e-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posta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SMS)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için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tek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posta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kutusu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üzerinden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toplanır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kasıtlı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olarak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açık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yapıya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sahiptir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modüler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çok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dilli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her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cihaza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yüklenebilir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web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uygulaması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olarak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Apple App Store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Google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Play'e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hiç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ihtiyaç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duymadan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her an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başka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lokasyonlara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ölçeklenebilir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Rakamlarla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ifade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etmek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gerekirse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769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birim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13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çalışma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alanı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6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şekilde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ayrılmış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4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dil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19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eğitim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videosu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bunların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hepsi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bugün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itibarıyla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geliştirilmiştir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Şahsen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benim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için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özellikle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önemli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olan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şey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1Çatı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sadece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kapsamıyla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ikna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etmiyor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Teknolojik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açıdan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Ataberk’i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yeni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modern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seviyeye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taşıma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şansınız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2026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yılında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uluslararası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sağlayıcıların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kullanacağı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temelin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aynısı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üzerine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her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zaman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sadece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öneride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bulunan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nihai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kararı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insanın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verdiği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Yapay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Zeka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Dışarıya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güven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yayıyor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dört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dil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aynı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seviyede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her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erişim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kararı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izlenebilir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gerekçeye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dayanıyor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Kalite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açısından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çift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erişim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koruması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her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rolün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gerçekten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sadece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görmesine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izin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verilenleri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görmesini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sağlarken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kaydedilmiş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finansal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kayıtlar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temiz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muhasebede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olduğu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gibi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değiştirilemez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Güvenilirlik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konusunda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şunu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söyleyebiliriz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Hiçbir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şey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kaybolmaz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Her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eylem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eksiksiz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şekilde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kaydedilir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Durum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hakkında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açıkça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belirtelim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Gördüğünüz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tamamen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kullanılabilir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demo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ortamıdır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Temel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“Cati Training”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hazır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canlı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işletime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geçmek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için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son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adımlar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kaldı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Ve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sizin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için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önemlisi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Önde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gelen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inşaat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firmalarından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biri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olarak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1CATI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için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herhangi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bir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geliştirme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maliyeti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ödemeyeceksiniz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Model,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basit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bir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bakım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hizmet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modelidir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Bu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sayede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bakım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maliyetlerini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kullanıcı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başına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aylık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fazla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Euro’ya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indirebiliyorum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Şirketim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WAMOCON,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geliştirme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servis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bakım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güvenlik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güncellemelerini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üstleniyor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Ataberk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için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bunun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anlamı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şudur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maliyet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riski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yok,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ön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yatırım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yok,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dezavantaj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yok;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bunun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yerine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planlanabilir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öngörülebilir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işletme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maliyetleriyle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sadece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avantajlar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var.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önemli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avantajları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kısaca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özetleyeyim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Birincisi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yatırım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Alman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pazar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seviyesine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göre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yaklaşık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200.000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avro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civarında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olacak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geliştirme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maliyetleri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yok,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donanım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yok,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eğitim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maliyetleri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yok.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İkincisi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operasyonel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yükün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hafiflemesi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Yapay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zeka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destekli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bilet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işleme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manuel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iş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yükünün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%50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ila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%70’ini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ortadan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kaldırır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Üçüncüsü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kiracı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bağlılığı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memnuniyeti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AI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yönlendirmeli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yapılandırılmış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hizmet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biletleri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memnuniyeti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hissedilir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şekilde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artırır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personel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devir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hızındaki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%1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ila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%2’lik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bir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azalma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bile,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daire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başına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yıllık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3.500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ila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8.000 Euro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arasında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emlakçı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pazarlama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temizlik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yenileme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maliyetlerinden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tasarruf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sağlar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Dördüncüsü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uluslararası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mülk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sahipleriniz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E-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posta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karmaşası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yerine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24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saat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erişilebilir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bir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şeffaflık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paneli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Dünya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çapındaki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769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mülk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sahibiniz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maliyetlerini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bekleyen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taleplerini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birimlerinin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performansını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her an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görebilir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İşte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farkı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yaratan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budur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Beşinci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olarak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uyumluluk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risk: Türk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yasalarına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uygun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koruma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başından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itibaren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sisteme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entegre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edilmiştir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her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kayıt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değiştirilemez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her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işlem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belgelenir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Belgelenmiş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yapay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zeka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destekli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süreçler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hata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oranını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önemli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ölçüde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azaltır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dolayısıyla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düzenleyici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riskinizi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düşürür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Altıncı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olarak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ek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maliyet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olmadan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ölçeklenebilirlik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Yeni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bir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tesis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aynı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platformda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çalışır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Kişi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başına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 Euro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karşılığında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kolayca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kullanıcı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ekleyebilirsiniz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yeni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sistemlere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entegrasyon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karmaşasına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veya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yeni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eğitimlere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gerek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yoktur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Büyümeniz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için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bir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ağ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etkisi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yedinci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olarak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işletim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destek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sizin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endişeniz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değil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Kendi BT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personeliniz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olmasına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gerek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yok. WAMOCON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işletim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güncellemeler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güvenlik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yamaları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desteği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üstlenir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Bu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rahatlık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paha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biçilemez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Sonuç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olarak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Sağlam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finans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yönetimi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yapılandırılmış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hizmet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kontrollü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yapay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zekanın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birleşimi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Türk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pazarında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doğrudan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bir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alternatifi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yoktur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Ataberk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pazarın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haline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geliyor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Fatih Bey, 1Çatı size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tanıtılmaya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hazır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Bunu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şimdi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size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canlı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olarak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gerçek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iş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akışlarıyla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sunacağım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57F2DD-EAC8-422B-AA54-469A4423579E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48687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Ana başlık stilini düzenlemek için tıklayın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Ana metin stillerini düzenlemek için tıklayın</a:t>
            </a:r>
          </a:p>
          <a:p>
            <a:pPr lvl="1"/>
            <a:r>
              <a:rPr lang="en-US"/>
              <a:t>İkinci düzey</a:t>
            </a:r>
          </a:p>
          <a:p>
            <a:pPr lvl="2"/>
            <a:r>
              <a:rPr lang="en-US"/>
              <a:t>Üçüncü düzey</a:t>
            </a:r>
          </a:p>
          <a:p>
            <a:pPr lvl="3"/>
            <a:r>
              <a:rPr lang="en-US"/>
              <a:t>Dördüncü seviye</a:t>
            </a:r>
          </a:p>
          <a:p>
            <a:pPr lvl="4"/>
            <a:r>
              <a:rPr lang="en-US"/>
              <a:t>Beşinci seviye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1182"/>
          </a:xfrm>
          <a:prstGeom prst="rect">
            <a:avLst/>
          </a:prstGeom>
          <a:gradFill rotWithShape="1">
            <a:gsLst>
              <a:gs pos="0">
                <a:srgbClr val="032F2B"/>
              </a:gs>
              <a:gs pos="100000">
                <a:srgbClr val="066B63"/>
              </a:gs>
            </a:gsLst>
            <a:lin ang="20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92" y="152396"/>
            <a:ext cx="406389" cy="40638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0079" y="126996"/>
            <a:ext cx="5714857" cy="253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Aptos"/>
              </a:rPr>
              <a:t>1Çatı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79" y="380990"/>
            <a:ext cx="5714857" cy="1904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BFE0DA"/>
                </a:solidFill>
                <a:latin typeface="Aptos"/>
              </a:rPr>
              <a:t>Tüm gayrimenkul faaliyetleriniz için tek bir çatı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11822" y="177795"/>
            <a:ext cx="2984425" cy="3809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625" b="0">
                <a:solidFill>
                  <a:srgbClr val="BFE0DA"/>
                </a:solidFill>
                <a:latin typeface="Aptos"/>
              </a:rPr>
              <a:t>Gayrimenkul Yönetimi ve Emlak ERP</a:t>
            </a:r>
          </a:p>
          <a:p>
            <a:pPr algn="r">
              <a:lnSpc>
                <a:spcPct val="120000"/>
              </a:lnSpc>
            </a:pPr>
            <a:r>
              <a:rPr sz="625" b="0">
                <a:solidFill>
                  <a:srgbClr val="BFE0DA"/>
                </a:solidFill>
                <a:latin typeface="Aptos"/>
              </a:rPr>
              <a:t>Ataberk Estate için · WAMOCON tarafından hayata geçirildi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86742" y="215894"/>
            <a:ext cx="1473163" cy="279393"/>
          </a:xfrm>
          <a:prstGeom prst="roundRect">
            <a:avLst>
              <a:gd name="adj" fmla="val 50000"/>
            </a:avLst>
          </a:prstGeom>
          <a:solidFill>
            <a:srgbClr val="043F3A"/>
          </a:solidFill>
          <a:ln w="9525">
            <a:solidFill>
              <a:srgbClr val="E2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ataberk_log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4537" y="234809"/>
            <a:ext cx="1117572" cy="22224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711182"/>
            <a:ext cx="12191695" cy="25399"/>
          </a:xfrm>
          <a:prstGeom prst="rect">
            <a:avLst/>
          </a:prstGeom>
          <a:gradFill rotWithShape="1">
            <a:gsLst>
              <a:gs pos="0">
                <a:srgbClr val="B9822B"/>
              </a:gs>
              <a:gs pos="100000">
                <a:srgbClr val="E2B75D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4792" y="800079"/>
            <a:ext cx="5714857" cy="1523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B9822B"/>
                </a:solidFill>
                <a:latin typeface="Aptos"/>
              </a:rPr>
              <a:t>BAŞLANGIÇ DURUMU → SORUN → HEDEF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4792" y="952476"/>
            <a:ext cx="2444688" cy="68578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6389" y="1041373"/>
            <a:ext cx="2241493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044F49"/>
                </a:solidFill>
                <a:latin typeface="Aptos"/>
              </a:rPr>
              <a:t>BAŞLANGIÇ DURUMU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389" y="1181070"/>
            <a:ext cx="2241493" cy="35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 dirty="0">
                <a:solidFill>
                  <a:srgbClr val="33413D"/>
                </a:solidFill>
                <a:latin typeface="Aptos"/>
              </a:rPr>
              <a:t>New Level Premium projesinin </a:t>
            </a:r>
            <a:r>
              <a:rPr sz="750" b="0" i="0" dirty="0" err="1">
                <a:solidFill>
                  <a:srgbClr val="33413D"/>
                </a:solidFill>
                <a:latin typeface="Aptos"/>
              </a:rPr>
              <a:t>İSKÂN onayı </a:t>
            </a:r>
            <a:r>
              <a:rPr sz="750" b="0" i="0" dirty="0">
                <a:solidFill>
                  <a:srgbClr val="33413D"/>
                </a:solidFill>
                <a:latin typeface="Aptos"/>
              </a:rPr>
              <a:t>ve </a:t>
            </a:r>
            <a:r>
              <a:rPr sz="750" b="0" i="0" dirty="0" err="1">
                <a:solidFill>
                  <a:srgbClr val="33413D"/>
                </a:solidFill>
                <a:latin typeface="Aptos"/>
              </a:rPr>
              <a:t>hizmete açılması yaklaşıyor </a:t>
            </a:r>
            <a:r>
              <a:rPr lang="de-DE" sz="750" b="0" i="0" dirty="0">
                <a:solidFill>
                  <a:srgbClr val="33413D"/>
                </a:solidFill>
                <a:latin typeface="Aptos"/>
              </a:rPr>
              <a:t>-</a:t>
            </a:r>
            <a:r>
              <a:rPr sz="750" b="0" i="0" dirty="0">
                <a:solidFill>
                  <a:srgbClr val="33413D"/>
                </a:solidFill>
                <a:latin typeface="Aptos"/>
              </a:rPr>
              <a:t> 769 </a:t>
            </a:r>
            <a:r>
              <a:rPr sz="750" b="0" i="0" dirty="0" err="1">
                <a:solidFill>
                  <a:srgbClr val="33413D"/>
                </a:solidFill>
                <a:latin typeface="Aptos"/>
              </a:rPr>
              <a:t>konut birimi</a:t>
            </a:r>
            <a:r>
              <a:rPr sz="750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750" b="0" i="0" dirty="0" err="1">
                <a:solidFill>
                  <a:srgbClr val="33413D"/>
                </a:solidFill>
                <a:latin typeface="Aptos"/>
              </a:rPr>
              <a:t>dünya çapında dağılmış mülk sahipleri</a:t>
            </a:r>
            <a:r>
              <a:rPr sz="750" b="0" i="0" dirty="0">
                <a:solidFill>
                  <a:srgbClr val="33413D"/>
                </a:solidFill>
                <a:latin typeface="Aptos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03474" y="952476"/>
            <a:ext cx="2444688" cy="68578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05072" y="1041373"/>
            <a:ext cx="2241493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044F49"/>
                </a:solidFill>
                <a:latin typeface="Aptos"/>
              </a:rPr>
              <a:t>SORUN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5072" y="1181070"/>
            <a:ext cx="2241493" cy="4063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33413D"/>
                </a:solidFill>
                <a:latin typeface="Aptos"/>
              </a:rPr>
              <a:t>Ödemeler, borçlar, hizmetler ve erişim konusunda gerçek zamanlı şeffaflık yok; iletişim dağınık.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02157" y="952476"/>
            <a:ext cx="2444688" cy="68578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03754" y="1041373"/>
            <a:ext cx="2241493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044F49"/>
                </a:solidFill>
                <a:latin typeface="Aptos"/>
              </a:rPr>
              <a:t>HEDEF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3754" y="1181070"/>
            <a:ext cx="2241493" cy="2387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 dirty="0" err="1">
                <a:solidFill>
                  <a:srgbClr val="33413D"/>
                </a:solidFill>
                <a:latin typeface="Aptos"/>
              </a:rPr>
              <a:t>Merkezi</a:t>
            </a:r>
            <a:r>
              <a:rPr sz="750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750" b="0" i="0" dirty="0" err="1">
                <a:solidFill>
                  <a:srgbClr val="33413D"/>
                </a:solidFill>
                <a:latin typeface="Aptos"/>
              </a:rPr>
              <a:t>rol tabanlı</a:t>
            </a:r>
            <a:r>
              <a:rPr sz="750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750" b="0" i="0" dirty="0" err="1">
                <a:solidFill>
                  <a:srgbClr val="33413D"/>
                </a:solidFill>
                <a:latin typeface="Aptos"/>
              </a:rPr>
              <a:t>dört dilli </a:t>
            </a:r>
            <a:r>
              <a:rPr sz="750" b="0" i="0" dirty="0">
                <a:solidFill>
                  <a:srgbClr val="33413D"/>
                </a:solidFill>
                <a:latin typeface="Aptos"/>
              </a:rPr>
              <a:t>bir </a:t>
            </a:r>
            <a:r>
              <a:rPr sz="750" b="0" i="0" dirty="0" err="1">
                <a:solidFill>
                  <a:srgbClr val="33413D"/>
                </a:solidFill>
                <a:latin typeface="Aptos"/>
              </a:rPr>
              <a:t>işletim sistemi </a:t>
            </a:r>
            <a:r>
              <a:rPr lang="de-DE" sz="750" b="0" i="0" dirty="0">
                <a:solidFill>
                  <a:srgbClr val="33413D"/>
                </a:solidFill>
                <a:latin typeface="Aptos"/>
              </a:rPr>
              <a:t>– </a:t>
            </a:r>
            <a:r>
              <a:rPr sz="750" b="0" i="0" dirty="0" err="1">
                <a:solidFill>
                  <a:srgbClr val="33413D"/>
                </a:solidFill>
                <a:latin typeface="Aptos"/>
              </a:rPr>
              <a:t>rekabet avantajı olarak </a:t>
            </a:r>
            <a:r>
              <a:rPr sz="750" b="0" i="0" dirty="0">
                <a:solidFill>
                  <a:srgbClr val="33413D"/>
                </a:solidFill>
                <a:latin typeface="Aptos"/>
              </a:rPr>
              <a:t>operasyonel </a:t>
            </a:r>
            <a:r>
              <a:rPr sz="750" b="0" i="0" dirty="0" err="1">
                <a:solidFill>
                  <a:srgbClr val="33413D"/>
                </a:solidFill>
                <a:latin typeface="Aptos"/>
              </a:rPr>
              <a:t>mükemmellik</a:t>
            </a:r>
            <a:r>
              <a:rPr sz="750" b="0" i="0" dirty="0">
                <a:solidFill>
                  <a:srgbClr val="33413D"/>
                </a:solidFill>
                <a:latin typeface="Aptos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9481" y="952476"/>
            <a:ext cx="253993" cy="68578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B9822B"/>
                </a:solidFill>
                <a:latin typeface="Apto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8163" y="952476"/>
            <a:ext cx="253993" cy="68578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B9822B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4792" y="1714456"/>
            <a:ext cx="7848403" cy="463539"/>
          </a:xfrm>
          <a:prstGeom prst="roundRect">
            <a:avLst>
              <a:gd name="adj" fmla="val 8000"/>
            </a:avLst>
          </a:prstGeom>
          <a:solidFill>
            <a:srgbClr val="F1F6F4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04792" y="1714457"/>
            <a:ext cx="38099" cy="380990"/>
          </a:xfrm>
          <a:prstGeom prst="rect">
            <a:avLst/>
          </a:prstGeom>
          <a:solidFill>
            <a:srgbClr val="B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9089" y="1784305"/>
            <a:ext cx="7619809" cy="2793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75" b="1" dirty="0" err="1">
                <a:solidFill>
                  <a:srgbClr val="044F49"/>
                </a:solidFill>
                <a:latin typeface="Aptos"/>
              </a:rPr>
              <a:t>Neden</a:t>
            </a:r>
            <a:r>
              <a:rPr sz="675" b="1" dirty="0">
                <a:solidFill>
                  <a:srgbClr val="044F49"/>
                </a:solidFill>
                <a:latin typeface="Aptos"/>
              </a:rPr>
              <a:t> </a:t>
            </a:r>
            <a:r>
              <a:rPr sz="675" b="1" dirty="0" err="1">
                <a:solidFill>
                  <a:srgbClr val="044F49"/>
                </a:solidFill>
                <a:latin typeface="Aptos"/>
              </a:rPr>
              <a:t>şimdi</a:t>
            </a:r>
            <a:r>
              <a:rPr sz="675" b="1" dirty="0">
                <a:solidFill>
                  <a:srgbClr val="044F49"/>
                </a:solidFill>
                <a:latin typeface="Aptos"/>
              </a:rPr>
              <a:t>: </a:t>
            </a:r>
            <a:r>
              <a:rPr sz="675" b="0" dirty="0" err="1">
                <a:solidFill>
                  <a:srgbClr val="33413D"/>
                </a:solidFill>
                <a:latin typeface="Aptos"/>
              </a:rPr>
              <a:t>Türkiye'nin</a:t>
            </a:r>
            <a:r>
              <a:rPr sz="675" b="0" dirty="0">
                <a:solidFill>
                  <a:srgbClr val="33413D"/>
                </a:solidFill>
                <a:latin typeface="Aptos"/>
              </a:rPr>
              <a:t> yurt </a:t>
            </a:r>
            <a:r>
              <a:rPr sz="675" b="0" dirty="0" err="1">
                <a:solidFill>
                  <a:srgbClr val="33413D"/>
                </a:solidFill>
                <a:latin typeface="Aptos"/>
              </a:rPr>
              <a:t>dışı</a:t>
            </a:r>
            <a:r>
              <a:rPr sz="675" b="0" dirty="0">
                <a:solidFill>
                  <a:srgbClr val="33413D"/>
                </a:solidFill>
                <a:latin typeface="Aptos"/>
              </a:rPr>
              <a:t> </a:t>
            </a:r>
            <a:r>
              <a:rPr sz="675" b="0" dirty="0" err="1">
                <a:solidFill>
                  <a:srgbClr val="33413D"/>
                </a:solidFill>
                <a:latin typeface="Aptos"/>
              </a:rPr>
              <a:t>satışları</a:t>
            </a:r>
            <a:r>
              <a:rPr sz="675" b="0" dirty="0">
                <a:solidFill>
                  <a:srgbClr val="33413D"/>
                </a:solidFill>
                <a:latin typeface="Aptos"/>
              </a:rPr>
              <a:t> −9,4 % (2025, son 9 </a:t>
            </a:r>
            <a:r>
              <a:rPr sz="675" b="0" dirty="0" err="1">
                <a:solidFill>
                  <a:srgbClr val="33413D"/>
                </a:solidFill>
                <a:latin typeface="Aptos"/>
              </a:rPr>
              <a:t>yılın</a:t>
            </a:r>
            <a:r>
              <a:rPr sz="675" b="0" dirty="0">
                <a:solidFill>
                  <a:srgbClr val="33413D"/>
                </a:solidFill>
                <a:latin typeface="Aptos"/>
              </a:rPr>
              <a:t> </a:t>
            </a:r>
            <a:r>
              <a:rPr sz="675" b="0" dirty="0" err="1">
                <a:solidFill>
                  <a:srgbClr val="33413D"/>
                </a:solidFill>
                <a:latin typeface="Aptos"/>
              </a:rPr>
              <a:t>en</a:t>
            </a:r>
            <a:r>
              <a:rPr sz="675" b="0" dirty="0">
                <a:solidFill>
                  <a:srgbClr val="33413D"/>
                </a:solidFill>
                <a:latin typeface="Aptos"/>
              </a:rPr>
              <a:t> </a:t>
            </a:r>
            <a:r>
              <a:rPr sz="675" b="0" dirty="0" err="1">
                <a:solidFill>
                  <a:srgbClr val="33413D"/>
                </a:solidFill>
                <a:latin typeface="Aptos"/>
              </a:rPr>
              <a:t>düşük</a:t>
            </a:r>
            <a:r>
              <a:rPr sz="675" b="0" dirty="0">
                <a:solidFill>
                  <a:srgbClr val="33413D"/>
                </a:solidFill>
                <a:latin typeface="Aptos"/>
              </a:rPr>
              <a:t> </a:t>
            </a:r>
            <a:r>
              <a:rPr sz="675" b="0" dirty="0" err="1">
                <a:solidFill>
                  <a:srgbClr val="33413D"/>
                </a:solidFill>
                <a:latin typeface="Aptos"/>
              </a:rPr>
              <a:t>seviyesi</a:t>
            </a:r>
            <a:r>
              <a:rPr sz="675" b="0" dirty="0">
                <a:solidFill>
                  <a:srgbClr val="33413D"/>
                </a:solidFill>
                <a:latin typeface="Aptos"/>
              </a:rPr>
              <a:t>) · Alanya, Rus </a:t>
            </a:r>
            <a:r>
              <a:rPr sz="675" b="0" dirty="0" err="1">
                <a:solidFill>
                  <a:srgbClr val="33413D"/>
                </a:solidFill>
                <a:latin typeface="Aptos"/>
              </a:rPr>
              <a:t>alıcılar</a:t>
            </a:r>
            <a:r>
              <a:rPr sz="675" b="0" dirty="0">
                <a:solidFill>
                  <a:srgbClr val="33413D"/>
                </a:solidFill>
                <a:latin typeface="Aptos"/>
              </a:rPr>
              <a:t> </a:t>
            </a:r>
            <a:r>
              <a:rPr sz="675" b="0" dirty="0" err="1">
                <a:solidFill>
                  <a:srgbClr val="33413D"/>
                </a:solidFill>
                <a:latin typeface="Aptos"/>
              </a:rPr>
              <a:t>arasında</a:t>
            </a:r>
            <a:r>
              <a:rPr sz="675" b="0" dirty="0">
                <a:solidFill>
                  <a:srgbClr val="33413D"/>
                </a:solidFill>
                <a:latin typeface="Aptos"/>
              </a:rPr>
              <a:t> 4 </a:t>
            </a:r>
            <a:r>
              <a:rPr sz="675" b="0" dirty="0" err="1">
                <a:solidFill>
                  <a:srgbClr val="33413D"/>
                </a:solidFill>
                <a:latin typeface="Aptos"/>
              </a:rPr>
              <a:t>yıl</a:t>
            </a:r>
            <a:r>
              <a:rPr sz="675" b="0" dirty="0">
                <a:solidFill>
                  <a:srgbClr val="33413D"/>
                </a:solidFill>
                <a:latin typeface="Aptos"/>
              </a:rPr>
              <a:t> </a:t>
            </a:r>
            <a:r>
              <a:rPr sz="675" b="0" dirty="0" err="1">
                <a:solidFill>
                  <a:srgbClr val="33413D"/>
                </a:solidFill>
                <a:latin typeface="Aptos"/>
              </a:rPr>
              <a:t>üst</a:t>
            </a:r>
            <a:r>
              <a:rPr sz="675" b="0" dirty="0">
                <a:solidFill>
                  <a:srgbClr val="33413D"/>
                </a:solidFill>
                <a:latin typeface="Aptos"/>
              </a:rPr>
              <a:t> </a:t>
            </a:r>
            <a:r>
              <a:rPr sz="675" b="0" dirty="0" err="1">
                <a:solidFill>
                  <a:srgbClr val="33413D"/>
                </a:solidFill>
                <a:latin typeface="Aptos"/>
              </a:rPr>
              <a:t>üste</a:t>
            </a:r>
            <a:r>
              <a:rPr sz="675" b="0" dirty="0">
                <a:solidFill>
                  <a:srgbClr val="33413D"/>
                </a:solidFill>
                <a:latin typeface="Aptos"/>
              </a:rPr>
              <a:t> 1 </a:t>
            </a:r>
            <a:r>
              <a:rPr sz="675" b="0" dirty="0" err="1">
                <a:solidFill>
                  <a:srgbClr val="33413D"/>
                </a:solidFill>
                <a:latin typeface="Aptos"/>
              </a:rPr>
              <a:t>numara</a:t>
            </a:r>
            <a:r>
              <a:rPr sz="675" b="0" dirty="0">
                <a:solidFill>
                  <a:srgbClr val="33413D"/>
                </a:solidFill>
                <a:latin typeface="Aptos"/>
              </a:rPr>
              <a:t> · </a:t>
            </a:r>
            <a:r>
              <a:rPr sz="675" b="0" dirty="0" err="1">
                <a:solidFill>
                  <a:srgbClr val="33413D"/>
                </a:solidFill>
                <a:latin typeface="Aptos"/>
              </a:rPr>
              <a:t>Ülkedeki</a:t>
            </a:r>
            <a:r>
              <a:rPr sz="675" b="0" dirty="0">
                <a:solidFill>
                  <a:srgbClr val="33413D"/>
                </a:solidFill>
                <a:latin typeface="Aptos"/>
              </a:rPr>
              <a:t> WhatsApp </a:t>
            </a:r>
            <a:r>
              <a:rPr sz="675" b="0" dirty="0" err="1">
                <a:solidFill>
                  <a:srgbClr val="33413D"/>
                </a:solidFill>
                <a:latin typeface="Aptos"/>
              </a:rPr>
              <a:t>kullanım</a:t>
            </a:r>
            <a:r>
              <a:rPr sz="675" b="0" dirty="0">
                <a:solidFill>
                  <a:srgbClr val="33413D"/>
                </a:solidFill>
                <a:latin typeface="Aptos"/>
              </a:rPr>
              <a:t> </a:t>
            </a:r>
            <a:r>
              <a:rPr sz="675" b="0" dirty="0" err="1">
                <a:solidFill>
                  <a:srgbClr val="33413D"/>
                </a:solidFill>
                <a:latin typeface="Aptos"/>
              </a:rPr>
              <a:t>oranı</a:t>
            </a:r>
            <a:r>
              <a:rPr sz="675" b="0" dirty="0">
                <a:solidFill>
                  <a:srgbClr val="33413D"/>
                </a:solidFill>
                <a:latin typeface="Aptos"/>
              </a:rPr>
              <a:t> %88,6 · Sektördeki </a:t>
            </a:r>
            <a:r>
              <a:rPr sz="675" b="0" dirty="0" err="1">
                <a:solidFill>
                  <a:srgbClr val="33413D"/>
                </a:solidFill>
                <a:latin typeface="Aptos"/>
              </a:rPr>
              <a:t>yapay</a:t>
            </a:r>
            <a:r>
              <a:rPr sz="675" b="0" dirty="0">
                <a:solidFill>
                  <a:srgbClr val="33413D"/>
                </a:solidFill>
                <a:latin typeface="Aptos"/>
              </a:rPr>
              <a:t> </a:t>
            </a:r>
            <a:r>
              <a:rPr sz="675" b="0" dirty="0" err="1">
                <a:solidFill>
                  <a:srgbClr val="33413D"/>
                </a:solidFill>
                <a:latin typeface="Aptos"/>
              </a:rPr>
              <a:t>zeka</a:t>
            </a:r>
            <a:r>
              <a:rPr sz="675" b="0" dirty="0">
                <a:solidFill>
                  <a:srgbClr val="33413D"/>
                </a:solidFill>
                <a:latin typeface="Aptos"/>
              </a:rPr>
              <a:t> </a:t>
            </a:r>
            <a:r>
              <a:rPr sz="675" b="0" dirty="0" err="1">
                <a:solidFill>
                  <a:srgbClr val="33413D"/>
                </a:solidFill>
                <a:latin typeface="Aptos"/>
              </a:rPr>
              <a:t>kullanımı</a:t>
            </a:r>
            <a:r>
              <a:rPr sz="675" b="0" dirty="0">
                <a:solidFill>
                  <a:srgbClr val="33413D"/>
                </a:solidFill>
                <a:latin typeface="Aptos"/>
              </a:rPr>
              <a:t> %21 → %34 (</a:t>
            </a:r>
            <a:r>
              <a:rPr sz="675" b="0" dirty="0" err="1">
                <a:solidFill>
                  <a:srgbClr val="33413D"/>
                </a:solidFill>
                <a:latin typeface="Aptos"/>
              </a:rPr>
              <a:t>uluslararası</a:t>
            </a:r>
            <a:r>
              <a:rPr sz="675" b="0" dirty="0">
                <a:solidFill>
                  <a:srgbClr val="33413D"/>
                </a:solidFill>
                <a:latin typeface="Aptos"/>
              </a:rPr>
              <a:t>).</a:t>
            </a:r>
          </a:p>
          <a:p>
            <a:pPr algn="l">
              <a:lnSpc>
                <a:spcPct val="115000"/>
              </a:lnSpc>
            </a:pPr>
            <a:r>
              <a:rPr sz="675" b="0" dirty="0" err="1">
                <a:solidFill>
                  <a:srgbClr val="33413D"/>
                </a:solidFill>
                <a:latin typeface="Aptos"/>
              </a:rPr>
              <a:t>Daralan</a:t>
            </a:r>
            <a:r>
              <a:rPr sz="675" b="0" dirty="0">
                <a:solidFill>
                  <a:srgbClr val="33413D"/>
                </a:solidFill>
                <a:latin typeface="Aptos"/>
              </a:rPr>
              <a:t> </a:t>
            </a:r>
            <a:r>
              <a:rPr sz="675" b="0" dirty="0" err="1">
                <a:solidFill>
                  <a:srgbClr val="33413D"/>
                </a:solidFill>
                <a:latin typeface="Aptos"/>
              </a:rPr>
              <a:t>bir</a:t>
            </a:r>
            <a:r>
              <a:rPr sz="675" b="0" dirty="0">
                <a:solidFill>
                  <a:srgbClr val="33413D"/>
                </a:solidFill>
                <a:latin typeface="Aptos"/>
              </a:rPr>
              <a:t> </a:t>
            </a:r>
            <a:r>
              <a:rPr sz="675" b="0" dirty="0" err="1">
                <a:solidFill>
                  <a:srgbClr val="33413D"/>
                </a:solidFill>
                <a:latin typeface="Aptos"/>
              </a:rPr>
              <a:t>pazarda</a:t>
            </a:r>
            <a:r>
              <a:rPr sz="675" b="0" dirty="0">
                <a:solidFill>
                  <a:srgbClr val="33413D"/>
                </a:solidFill>
                <a:latin typeface="Aptos"/>
              </a:rPr>
              <a:t>, </a:t>
            </a:r>
            <a:r>
              <a:rPr sz="675" b="0" dirty="0" err="1">
                <a:solidFill>
                  <a:srgbClr val="33413D"/>
                </a:solidFill>
                <a:latin typeface="Aptos"/>
              </a:rPr>
              <a:t>hizmet</a:t>
            </a:r>
            <a:r>
              <a:rPr sz="675" b="0" dirty="0">
                <a:solidFill>
                  <a:srgbClr val="33413D"/>
                </a:solidFill>
                <a:latin typeface="Aptos"/>
              </a:rPr>
              <a:t> </a:t>
            </a:r>
            <a:r>
              <a:rPr sz="675" b="0" dirty="0" err="1">
                <a:solidFill>
                  <a:srgbClr val="33413D"/>
                </a:solidFill>
                <a:latin typeface="Aptos"/>
              </a:rPr>
              <a:t>kalitesi</a:t>
            </a:r>
            <a:r>
              <a:rPr sz="675" b="0" dirty="0">
                <a:solidFill>
                  <a:srgbClr val="33413D"/>
                </a:solidFill>
                <a:latin typeface="Aptos"/>
              </a:rPr>
              <a:t> </a:t>
            </a:r>
            <a:r>
              <a:rPr sz="675" b="0" dirty="0" err="1">
                <a:solidFill>
                  <a:srgbClr val="33413D"/>
                </a:solidFill>
                <a:latin typeface="Aptos"/>
              </a:rPr>
              <a:t>müşteri</a:t>
            </a:r>
            <a:r>
              <a:rPr sz="675" b="0" dirty="0">
                <a:solidFill>
                  <a:srgbClr val="33413D"/>
                </a:solidFill>
                <a:latin typeface="Aptos"/>
              </a:rPr>
              <a:t> </a:t>
            </a:r>
            <a:r>
              <a:rPr sz="675" b="0" dirty="0" err="1">
                <a:solidFill>
                  <a:srgbClr val="33413D"/>
                </a:solidFill>
                <a:latin typeface="Aptos"/>
              </a:rPr>
              <a:t>sadakatini</a:t>
            </a:r>
            <a:r>
              <a:rPr sz="675" b="0" dirty="0">
                <a:solidFill>
                  <a:srgbClr val="33413D"/>
                </a:solidFill>
                <a:latin typeface="Aptos"/>
              </a:rPr>
              <a:t> </a:t>
            </a:r>
            <a:r>
              <a:rPr sz="675" b="0" dirty="0" err="1">
                <a:solidFill>
                  <a:srgbClr val="33413D"/>
                </a:solidFill>
                <a:latin typeface="Aptos"/>
              </a:rPr>
              <a:t>belirler</a:t>
            </a:r>
            <a:r>
              <a:rPr sz="675" b="0" dirty="0">
                <a:solidFill>
                  <a:srgbClr val="33413D"/>
                </a:solidFill>
                <a:latin typeface="Aptos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4792" y="2235144"/>
            <a:ext cx="5714857" cy="139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B9822B"/>
                </a:solidFill>
                <a:latin typeface="Aptos"/>
              </a:rPr>
              <a:t>1ÇATI NELER YAPABİLİR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4792" y="2387540"/>
            <a:ext cx="6984825" cy="2158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44F49"/>
                </a:solidFill>
                <a:latin typeface="Aptos"/>
              </a:rPr>
              <a:t>Tüm emlak faaliyetleri için tek bir sistem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4792" y="2698682"/>
            <a:ext cx="2565335" cy="34289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80990" y="2755831"/>
            <a:ext cx="190495" cy="2285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01820"/>
                </a:solidFill>
                <a:latin typeface="Aptos"/>
              </a:rPr>
              <a:t>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6885" y="2749481"/>
            <a:ext cx="2235144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5" b="1" i="0">
                <a:solidFill>
                  <a:srgbClr val="101820"/>
                </a:solidFill>
                <a:latin typeface="Aptos"/>
              </a:rPr>
              <a:t>Portföy ve Daireler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6885" y="2882827"/>
            <a:ext cx="2235144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75" b="0" i="0">
                <a:solidFill>
                  <a:srgbClr val="64716D"/>
                </a:solidFill>
                <a:latin typeface="Aptos"/>
              </a:rPr>
              <a:t>Daire Matrisi: 769 birim bir bakışta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39976" y="2698682"/>
            <a:ext cx="2565335" cy="34289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016174" y="2755831"/>
            <a:ext cx="190495" cy="2285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01820"/>
                </a:solidFill>
                <a:latin typeface="Aptos"/>
              </a:rPr>
              <a:t>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32069" y="2749481"/>
            <a:ext cx="2235144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5" b="1" i="0">
                <a:solidFill>
                  <a:srgbClr val="101820"/>
                </a:solidFill>
                <a:latin typeface="Aptos"/>
              </a:rPr>
              <a:t>Finans ve Aidatlar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32069" y="2882827"/>
            <a:ext cx="2235144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75" b="0" i="0">
                <a:solidFill>
                  <a:srgbClr val="64716D"/>
                </a:solidFill>
                <a:latin typeface="Aptos"/>
              </a:rPr>
              <a:t>Bakiyeler, borçlar, sabit kayıtlar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575160" y="2698682"/>
            <a:ext cx="2565335" cy="34289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651358" y="2755831"/>
            <a:ext cx="190495" cy="2285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01820"/>
                </a:solidFill>
                <a:latin typeface="Aptos"/>
              </a:rPr>
              <a:t>🛠️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67253" y="2749481"/>
            <a:ext cx="2235144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5" b="1" i="0">
                <a:solidFill>
                  <a:srgbClr val="101820"/>
                </a:solidFill>
                <a:latin typeface="Aptos"/>
              </a:rPr>
              <a:t>Hizmet ve Görevler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67253" y="2882827"/>
            <a:ext cx="2235144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75" b="0" i="0">
                <a:solidFill>
                  <a:srgbClr val="64716D"/>
                </a:solidFill>
                <a:latin typeface="Aptos"/>
              </a:rPr>
              <a:t>Katalog, biletler, SLA panosu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4792" y="3111422"/>
            <a:ext cx="2565335" cy="34289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80990" y="3168570"/>
            <a:ext cx="190495" cy="2285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01820"/>
                </a:solidFill>
                <a:latin typeface="Aptos"/>
              </a:rPr>
              <a:t>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6885" y="3162220"/>
            <a:ext cx="2235144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5" b="1" i="0">
                <a:solidFill>
                  <a:srgbClr val="101820"/>
                </a:solidFill>
                <a:latin typeface="Aptos"/>
              </a:rPr>
              <a:t>Rezervasyon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6885" y="3295567"/>
            <a:ext cx="2235144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75" b="0" i="0">
                <a:solidFill>
                  <a:srgbClr val="64716D"/>
                </a:solidFill>
                <a:latin typeface="Aptos"/>
              </a:rPr>
              <a:t>Doldurma, Taşınma, Teslimat merkezi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939976" y="3111422"/>
            <a:ext cx="2565335" cy="34289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016174" y="3168570"/>
            <a:ext cx="190495" cy="2285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01820"/>
                </a:solidFill>
                <a:latin typeface="Aptos"/>
              </a:rPr>
              <a:t>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32069" y="3162220"/>
            <a:ext cx="2235144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5" b="1" i="0">
                <a:solidFill>
                  <a:srgbClr val="101820"/>
                </a:solidFill>
                <a:latin typeface="Aptos"/>
              </a:rPr>
              <a:t>Belgeler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32069" y="3295567"/>
            <a:ext cx="2235144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75" b="0" i="0">
                <a:solidFill>
                  <a:srgbClr val="64716D"/>
                </a:solidFill>
                <a:latin typeface="Aptos"/>
              </a:rPr>
              <a:t>TAPU, KYC ve sözleşmeler için veri deposu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575160" y="3111422"/>
            <a:ext cx="2565335" cy="34289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651358" y="3168570"/>
            <a:ext cx="190495" cy="2285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01820"/>
                </a:solidFill>
                <a:latin typeface="Aptos"/>
              </a:rPr>
              <a:t>📊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67253" y="3162220"/>
            <a:ext cx="2235144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5" b="1" i="0">
                <a:solidFill>
                  <a:srgbClr val="101820"/>
                </a:solidFill>
                <a:latin typeface="Aptos"/>
              </a:rPr>
              <a:t>Raporlar ve Kontrol Paneli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67253" y="3295567"/>
            <a:ext cx="2235144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75" b="0" i="0">
                <a:solidFill>
                  <a:srgbClr val="64716D"/>
                </a:solidFill>
                <a:latin typeface="Aptos"/>
              </a:rPr>
              <a:t>Canlı Göstergeler + Rapor Merkezi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04792" y="3524161"/>
            <a:ext cx="2565335" cy="34289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80990" y="3581310"/>
            <a:ext cx="190495" cy="2285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01820"/>
                </a:solidFill>
                <a:latin typeface="Aptos"/>
              </a:rPr>
              <a:t>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6885" y="3574960"/>
            <a:ext cx="2235144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5" b="1" i="0">
                <a:solidFill>
                  <a:srgbClr val="101820"/>
                </a:solidFill>
                <a:latin typeface="Aptos"/>
              </a:rPr>
              <a:t>Erişim ve Uyumluluk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6885" y="3708307"/>
            <a:ext cx="2235144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75" b="0" i="0">
                <a:solidFill>
                  <a:srgbClr val="64716D"/>
                </a:solidFill>
                <a:latin typeface="Aptos"/>
              </a:rPr>
              <a:t>6 silindir, çift erişim denetimi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939976" y="3524161"/>
            <a:ext cx="2565335" cy="34289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016174" y="3581310"/>
            <a:ext cx="190495" cy="2285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01820"/>
                </a:solidFill>
                <a:latin typeface="Aptos"/>
              </a:rPr>
              <a:t>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32069" y="3574960"/>
            <a:ext cx="2235144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5" b="1" i="0">
                <a:solidFill>
                  <a:srgbClr val="101820"/>
                </a:solidFill>
                <a:latin typeface="Aptos"/>
              </a:rPr>
              <a:t>Genel alan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32069" y="3708307"/>
            <a:ext cx="2235144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75" b="0" i="0">
                <a:solidFill>
                  <a:srgbClr val="64716D"/>
                </a:solidFill>
                <a:latin typeface="Aptos"/>
              </a:rPr>
              <a:t>Açılış sayfası + hesap gerektirmeyen kayıt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575160" y="3524161"/>
            <a:ext cx="2565335" cy="34289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651358" y="3581310"/>
            <a:ext cx="190495" cy="2285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01820"/>
                </a:solidFill>
                <a:latin typeface="Aptos"/>
              </a:rPr>
              <a:t>🤖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867253" y="3574960"/>
            <a:ext cx="2235144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5" b="1" i="0">
                <a:solidFill>
                  <a:srgbClr val="101820"/>
                </a:solidFill>
                <a:latin typeface="Aptos"/>
              </a:rPr>
              <a:t>AI asistanları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867253" y="3708307"/>
            <a:ext cx="2235144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75" b="0" i="0">
                <a:solidFill>
                  <a:srgbClr val="64716D"/>
                </a:solidFill>
                <a:latin typeface="Aptos"/>
              </a:rPr>
              <a:t>Her zaman onaylı iki asistan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04792" y="3936901"/>
            <a:ext cx="7848403" cy="2539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650" b="1">
                <a:solidFill>
                  <a:srgbClr val="044F49"/>
                </a:solidFill>
                <a:latin typeface="Aptos"/>
              </a:rPr>
              <a:t>İletişim: </a:t>
            </a:r>
            <a:r>
              <a:rPr sz="650" b="0">
                <a:solidFill>
                  <a:srgbClr val="33413D"/>
                </a:solidFill>
                <a:latin typeface="Aptos"/>
              </a:rPr>
              <a:t>dört kanal için tek bir mesaj kutusu (WhatsApp · Portal · E-posta · SMS) · çok dilli şablonlar · birbirine bağlı iki AI asistanı. </a:t>
            </a:r>
            <a:r>
              <a:rPr sz="650" b="1">
                <a:solidFill>
                  <a:srgbClr val="044F49"/>
                </a:solidFill>
                <a:latin typeface="Aptos"/>
              </a:rPr>
              <a:t>  Esneklik: </a:t>
            </a:r>
            <a:r>
              <a:rPr sz="650" b="0">
                <a:solidFill>
                  <a:srgbClr val="33413D"/>
                </a:solidFill>
                <a:latin typeface="Aptos"/>
              </a:rPr>
              <a:t>modüler ve API öncelikli · sağlayıcıdan bağımsız entegrasyonlar · kurulabilir web uygulaması · diğer şubeler için çoklu müşteri desteği.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04792" y="4305192"/>
            <a:ext cx="7848403" cy="825479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044F49"/>
              </a:gs>
              <a:gs pos="100000">
                <a:srgbClr val="06756C"/>
              </a:gs>
            </a:gsLst>
            <a:lin ang="20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04792" y="4444888"/>
            <a:ext cx="1569680" cy="3301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ptos"/>
              </a:rPr>
              <a:t>769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04792" y="4800479"/>
            <a:ext cx="1569680" cy="2793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25">
                <a:solidFill>
                  <a:srgbClr val="CFE7E1"/>
                </a:solidFill>
                <a:latin typeface="Aptos"/>
              </a:rPr>
              <a:t>konut birimi</a:t>
            </a:r>
          </a:p>
          <a:p>
            <a:pPr algn="ctr"/>
            <a:r>
              <a:rPr sz="625">
                <a:solidFill>
                  <a:srgbClr val="CFE7E1"/>
                </a:solidFill>
                <a:latin typeface="Aptos"/>
              </a:rPr>
              <a:t>referans projede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874473" y="4444888"/>
            <a:ext cx="1569680" cy="3301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ptos"/>
              </a:rPr>
              <a:t>13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74473" y="4800479"/>
            <a:ext cx="1569680" cy="2793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25">
                <a:solidFill>
                  <a:srgbClr val="CFE7E1"/>
                </a:solidFill>
                <a:latin typeface="Aptos"/>
              </a:rPr>
              <a:t>Çalışma alanı</a:t>
            </a:r>
          </a:p>
          <a:p>
            <a:pPr algn="ctr"/>
            <a:r>
              <a:rPr sz="625">
                <a:solidFill>
                  <a:srgbClr val="CFE7E1"/>
                </a:solidFill>
                <a:latin typeface="Aptos"/>
              </a:rPr>
              <a:t>portalda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874473" y="4419489"/>
            <a:ext cx="6349" cy="596885"/>
          </a:xfrm>
          <a:prstGeom prst="rect">
            <a:avLst/>
          </a:prstGeom>
          <a:solidFill>
            <a:srgbClr val="2B5C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444153" y="4444888"/>
            <a:ext cx="1569680" cy="3301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44153" y="4800479"/>
            <a:ext cx="1569680" cy="2793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25">
                <a:solidFill>
                  <a:srgbClr val="CFE7E1"/>
                </a:solidFill>
                <a:latin typeface="Aptos"/>
              </a:rPr>
              <a:t>Ayrıntılı</a:t>
            </a:r>
          </a:p>
          <a:p>
            <a:pPr algn="ctr"/>
            <a:r>
              <a:rPr sz="625">
                <a:solidFill>
                  <a:srgbClr val="CFE7E1"/>
                </a:solidFill>
                <a:latin typeface="Aptos"/>
              </a:rPr>
              <a:t>ayrım yapılmış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444153" y="4419489"/>
            <a:ext cx="6349" cy="596885"/>
          </a:xfrm>
          <a:prstGeom prst="rect">
            <a:avLst/>
          </a:prstGeom>
          <a:solidFill>
            <a:srgbClr val="2B5C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013834" y="4444888"/>
            <a:ext cx="1569680" cy="3301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13834" y="4800479"/>
            <a:ext cx="1569680" cy="2793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25">
                <a:solidFill>
                  <a:srgbClr val="CFE7E1"/>
                </a:solidFill>
                <a:latin typeface="Aptos"/>
              </a:rPr>
              <a:t>Dil</a:t>
            </a:r>
          </a:p>
          <a:p>
            <a:pPr algn="ctr"/>
            <a:r>
              <a:rPr sz="625">
                <a:solidFill>
                  <a:srgbClr val="CFE7E1"/>
                </a:solidFill>
                <a:latin typeface="Aptos"/>
              </a:rPr>
              <a:t>TR · EN · DE · RU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013834" y="4419489"/>
            <a:ext cx="6349" cy="596885"/>
          </a:xfrm>
          <a:prstGeom prst="rect">
            <a:avLst/>
          </a:prstGeom>
          <a:solidFill>
            <a:srgbClr val="2B5C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583515" y="4444888"/>
            <a:ext cx="1569680" cy="3301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ptos"/>
              </a:rPr>
              <a:t>19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83515" y="4800479"/>
            <a:ext cx="1569680" cy="2793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25">
                <a:solidFill>
                  <a:srgbClr val="CFE7E1"/>
                </a:solidFill>
                <a:latin typeface="Aptos"/>
              </a:rPr>
              <a:t>Eğitim videoları</a:t>
            </a:r>
          </a:p>
          <a:p>
            <a:pPr algn="ctr"/>
            <a:r>
              <a:rPr sz="625">
                <a:solidFill>
                  <a:srgbClr val="CFE7E1"/>
                </a:solidFill>
                <a:latin typeface="Aptos"/>
              </a:rPr>
              <a:t>"Cati Training"de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583515" y="4419489"/>
            <a:ext cx="6349" cy="596885"/>
          </a:xfrm>
          <a:prstGeom prst="rect">
            <a:avLst/>
          </a:prstGeom>
          <a:solidFill>
            <a:srgbClr val="2B5C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304792" y="5219569"/>
            <a:ext cx="5714857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dirty="0">
                <a:solidFill>
                  <a:srgbClr val="B9822B"/>
                </a:solidFill>
                <a:latin typeface="Aptos"/>
              </a:rPr>
              <a:t>AVANTAJLAR </a:t>
            </a:r>
            <a:r>
              <a:rPr lang="en-IN" sz="700" b="1" i="0">
                <a:solidFill>
                  <a:srgbClr val="B9822B"/>
                </a:solidFill>
                <a:latin typeface="Aptos"/>
              </a:rPr>
              <a:t>:</a:t>
            </a:r>
            <a:r>
              <a:rPr sz="700" b="1" i="0">
                <a:solidFill>
                  <a:srgbClr val="B9822B"/>
                </a:solidFill>
                <a:latin typeface="Aptos"/>
              </a:rPr>
              <a:t> 1ÇATI NEDEN İKNA EDİCİ?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04792" y="5365615"/>
            <a:ext cx="1518882" cy="69848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304792" y="5365615"/>
            <a:ext cx="1518882" cy="25399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380990" y="5441813"/>
            <a:ext cx="1366485" cy="2158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5" b="1" i="0">
                <a:solidFill>
                  <a:srgbClr val="044F49"/>
                </a:solidFill>
                <a:latin typeface="Aptos"/>
              </a:rPr>
              <a:t>Teknolojik İlerleme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80990" y="5670408"/>
            <a:ext cx="1366485" cy="368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75" b="0" i="0">
                <a:solidFill>
                  <a:srgbClr val="64716D"/>
                </a:solidFill>
                <a:latin typeface="Aptos"/>
              </a:rPr>
              <a:t>Modern Stack 2026 · iki AI asistanı · AI önerir, insan karar verir.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887172" y="5365615"/>
            <a:ext cx="1518882" cy="69848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1887172" y="5365615"/>
            <a:ext cx="1518882" cy="25399"/>
          </a:xfrm>
          <a:prstGeom prst="rect">
            <a:avLst/>
          </a:prstGeom>
          <a:solidFill>
            <a:srgbClr val="B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1963370" y="5441813"/>
            <a:ext cx="1366485" cy="2158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5" b="1" i="0">
                <a:solidFill>
                  <a:srgbClr val="044F49"/>
                </a:solidFill>
                <a:latin typeface="Aptos"/>
              </a:rPr>
              <a:t>Görsel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963370" y="5670408"/>
            <a:ext cx="1366485" cy="368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75" b="0" i="0">
                <a:solidFill>
                  <a:srgbClr val="64716D"/>
                </a:solidFill>
                <a:latin typeface="Aptos"/>
              </a:rPr>
              <a:t>Dört dilde eşit düzeyde · her erişim kararının gerekçesi anlaşılır şekilde açıklanır.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3469553" y="5365615"/>
            <a:ext cx="1518882" cy="69848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3469553" y="5365615"/>
            <a:ext cx="1518882" cy="25399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3545751" y="5441813"/>
            <a:ext cx="1366485" cy="2158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5" b="1" i="0">
                <a:solidFill>
                  <a:srgbClr val="044F49"/>
                </a:solidFill>
                <a:latin typeface="Aptos"/>
              </a:rPr>
              <a:t>Kalite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545751" y="5670408"/>
            <a:ext cx="1366485" cy="368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75" b="0" i="0">
                <a:solidFill>
                  <a:srgbClr val="64716D"/>
                </a:solidFill>
                <a:latin typeface="Aptos"/>
              </a:rPr>
              <a:t>Çift erişim koruması · değiştirilemez kayıtlar · güçlü koruma başlıkları · 100'den fazla test.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5051933" y="5365615"/>
            <a:ext cx="1518882" cy="69848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5051933" y="5365615"/>
            <a:ext cx="1518882" cy="25399"/>
          </a:xfrm>
          <a:prstGeom prst="rect">
            <a:avLst/>
          </a:prstGeom>
          <a:solidFill>
            <a:srgbClr val="B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128131" y="5441813"/>
            <a:ext cx="1366485" cy="2158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5" b="1" i="0">
                <a:solidFill>
                  <a:srgbClr val="044F49"/>
                </a:solidFill>
                <a:latin typeface="Aptos"/>
              </a:rPr>
              <a:t>Güvenilirlik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128131" y="5670408"/>
            <a:ext cx="1366485" cy="368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75" b="0" i="0">
                <a:solidFill>
                  <a:srgbClr val="64716D"/>
                </a:solidFill>
                <a:latin typeface="Aptos"/>
              </a:rPr>
              <a:t>Eksiksiz günlük kaydı · güvenli yedek çözümler · canlı güncelleme ile bulut işletimi.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634314" y="5365615"/>
            <a:ext cx="1518882" cy="69848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6634314" y="5365615"/>
            <a:ext cx="1518882" cy="25399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6710512" y="5441813"/>
            <a:ext cx="1366485" cy="2158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5" b="1" i="0">
                <a:solidFill>
                  <a:srgbClr val="044F49"/>
                </a:solidFill>
                <a:latin typeface="Aptos"/>
              </a:rPr>
              <a:t>Esneklik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710512" y="5670408"/>
            <a:ext cx="1366485" cy="368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75" b="0" i="0">
                <a:solidFill>
                  <a:srgbClr val="64716D"/>
                </a:solidFill>
                <a:latin typeface="Aptos"/>
              </a:rPr>
              <a:t>Modüler olarak genişletilebilir · sağlayıcıdan bağımsız · diğer lokasyonlara aktarılabilir.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304792" y="6127596"/>
            <a:ext cx="2573802" cy="577837"/>
          </a:xfrm>
          <a:prstGeom prst="roundRect">
            <a:avLst>
              <a:gd name="adj" fmla="val 8000"/>
            </a:avLst>
          </a:prstGeom>
          <a:solidFill>
            <a:srgbClr val="ECF2F0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393690" y="6191095"/>
            <a:ext cx="2396006" cy="1015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50" b="1" i="0">
                <a:solidFill>
                  <a:srgbClr val="B9822B"/>
                </a:solidFill>
                <a:latin typeface="Aptos"/>
              </a:rPr>
              <a:t>OLGUNLUK DÜZEYİ VE TAMAMLANMA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93690" y="6305392"/>
            <a:ext cx="2396006" cy="2285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25" b="0" i="0" dirty="0" err="1">
                <a:solidFill>
                  <a:srgbClr val="33413D"/>
                </a:solidFill>
                <a:latin typeface="Aptos"/>
              </a:rPr>
              <a:t>Tamamen</a:t>
            </a:r>
            <a:r>
              <a:rPr sz="625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625" b="0" i="0" dirty="0" err="1">
                <a:solidFill>
                  <a:srgbClr val="33413D"/>
                </a:solidFill>
                <a:latin typeface="Aptos"/>
              </a:rPr>
              <a:t>kullanılabilir</a:t>
            </a:r>
            <a:r>
              <a:rPr sz="625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625" b="1" i="0" dirty="0">
                <a:solidFill>
                  <a:srgbClr val="044F49"/>
                </a:solidFill>
                <a:latin typeface="Aptos"/>
              </a:rPr>
              <a:t>demo </a:t>
            </a:r>
            <a:r>
              <a:rPr sz="625" b="1" i="0" dirty="0" err="1">
                <a:solidFill>
                  <a:srgbClr val="044F49"/>
                </a:solidFill>
                <a:latin typeface="Aptos"/>
              </a:rPr>
              <a:t>ortamı</a:t>
            </a:r>
            <a:r>
              <a:rPr sz="625" b="0" i="0" dirty="0">
                <a:solidFill>
                  <a:srgbClr val="33413D"/>
                </a:solidFill>
                <a:latin typeface="Aptos"/>
              </a:rPr>
              <a:t>; Temel </a:t>
            </a:r>
            <a:r>
              <a:rPr sz="625" b="0" i="0" dirty="0" err="1">
                <a:solidFill>
                  <a:srgbClr val="33413D"/>
                </a:solidFill>
                <a:latin typeface="Aptos"/>
              </a:rPr>
              <a:t>ve</a:t>
            </a:r>
            <a:r>
              <a:rPr sz="625" b="0" i="0" dirty="0">
                <a:solidFill>
                  <a:srgbClr val="33413D"/>
                </a:solidFill>
                <a:latin typeface="Aptos"/>
              </a:rPr>
              <a:t> “Cati </a:t>
            </a:r>
            <a:r>
              <a:rPr sz="625" b="0" i="0" dirty="0" err="1">
                <a:solidFill>
                  <a:srgbClr val="33413D"/>
                </a:solidFill>
                <a:latin typeface="Aptos"/>
              </a:rPr>
              <a:t>Eğitimi</a:t>
            </a:r>
            <a:r>
              <a:rPr sz="625" b="0" i="0" dirty="0">
                <a:solidFill>
                  <a:srgbClr val="33413D"/>
                </a:solidFill>
                <a:latin typeface="Aptos"/>
              </a:rPr>
              <a:t>” </a:t>
            </a:r>
            <a:r>
              <a:rPr sz="625" b="0" i="0" dirty="0" err="1">
                <a:solidFill>
                  <a:srgbClr val="33413D"/>
                </a:solidFill>
                <a:latin typeface="Aptos"/>
              </a:rPr>
              <a:t>tamamlandı</a:t>
            </a:r>
            <a:r>
              <a:rPr sz="625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625" b="0" i="0" dirty="0" err="1">
                <a:solidFill>
                  <a:srgbClr val="33413D"/>
                </a:solidFill>
                <a:latin typeface="Aptos"/>
              </a:rPr>
              <a:t>hızlandırılmış</a:t>
            </a:r>
            <a:r>
              <a:rPr sz="625" b="0" i="0" dirty="0">
                <a:solidFill>
                  <a:srgbClr val="33413D"/>
                </a:solidFill>
                <a:latin typeface="Aptos"/>
              </a:rPr>
              <a:t> zaman </a:t>
            </a:r>
            <a:r>
              <a:rPr sz="625" b="0" i="0" dirty="0" err="1">
                <a:solidFill>
                  <a:srgbClr val="33413D"/>
                </a:solidFill>
                <a:latin typeface="Aptos"/>
              </a:rPr>
              <a:t>diliminde</a:t>
            </a:r>
            <a:r>
              <a:rPr sz="625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625" b="0" i="0" dirty="0" err="1">
                <a:solidFill>
                  <a:srgbClr val="33413D"/>
                </a:solidFill>
                <a:latin typeface="Aptos"/>
              </a:rPr>
              <a:t>lansman</a:t>
            </a:r>
            <a:r>
              <a:rPr sz="625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625" b="0" i="0" dirty="0" err="1">
                <a:solidFill>
                  <a:srgbClr val="33413D"/>
                </a:solidFill>
                <a:latin typeface="Aptos"/>
              </a:rPr>
              <a:t>hazırlıkları</a:t>
            </a:r>
            <a:r>
              <a:rPr sz="625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625" b="0" i="0" dirty="0" err="1">
                <a:solidFill>
                  <a:srgbClr val="33413D"/>
                </a:solidFill>
                <a:latin typeface="Aptos"/>
              </a:rPr>
              <a:t>devam</a:t>
            </a:r>
            <a:r>
              <a:rPr sz="625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625" b="0" i="0" dirty="0" err="1">
                <a:solidFill>
                  <a:srgbClr val="33413D"/>
                </a:solidFill>
                <a:latin typeface="Aptos"/>
              </a:rPr>
              <a:t>ediyor</a:t>
            </a:r>
            <a:r>
              <a:rPr sz="625" b="0" i="0" dirty="0">
                <a:solidFill>
                  <a:srgbClr val="33413D"/>
                </a:solidFill>
                <a:latin typeface="Aptos"/>
              </a:rPr>
              <a:t>.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2942093" y="6127596"/>
            <a:ext cx="2573802" cy="577837"/>
          </a:xfrm>
          <a:prstGeom prst="roundRect">
            <a:avLst>
              <a:gd name="adj" fmla="val 8000"/>
            </a:avLst>
          </a:prstGeom>
          <a:solidFill>
            <a:srgbClr val="ECF2F0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3030990" y="6191095"/>
            <a:ext cx="2396006" cy="1015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50" b="1" i="0">
                <a:solidFill>
                  <a:srgbClr val="B9822B"/>
                </a:solidFill>
                <a:latin typeface="Aptos"/>
              </a:rPr>
              <a:t>YATIRIM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030990" y="6305392"/>
            <a:ext cx="2396006" cy="2285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25" b="0" i="0" dirty="0" err="1">
                <a:solidFill>
                  <a:srgbClr val="33413D"/>
                </a:solidFill>
                <a:latin typeface="Aptos"/>
              </a:rPr>
              <a:t>Proje</a:t>
            </a:r>
            <a:r>
              <a:rPr sz="625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625" b="0" i="0" dirty="0" err="1">
                <a:solidFill>
                  <a:srgbClr val="33413D"/>
                </a:solidFill>
                <a:latin typeface="Aptos"/>
              </a:rPr>
              <a:t>geliştiricisi</a:t>
            </a:r>
            <a:r>
              <a:rPr sz="625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625" b="0" i="0" dirty="0" err="1">
                <a:solidFill>
                  <a:srgbClr val="33413D"/>
                </a:solidFill>
                <a:latin typeface="Aptos"/>
              </a:rPr>
              <a:t>için</a:t>
            </a:r>
            <a:r>
              <a:rPr sz="625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625" b="1" i="0" dirty="0" err="1">
                <a:solidFill>
                  <a:srgbClr val="044F49"/>
                </a:solidFill>
                <a:latin typeface="Aptos"/>
              </a:rPr>
              <a:t>geliştirme</a:t>
            </a:r>
            <a:r>
              <a:rPr sz="625" b="1" i="0" dirty="0">
                <a:solidFill>
                  <a:srgbClr val="044F49"/>
                </a:solidFill>
                <a:latin typeface="Aptos"/>
              </a:rPr>
              <a:t> </a:t>
            </a:r>
            <a:r>
              <a:rPr sz="625" b="1" i="0" dirty="0" err="1">
                <a:solidFill>
                  <a:srgbClr val="044F49"/>
                </a:solidFill>
                <a:latin typeface="Aptos"/>
              </a:rPr>
              <a:t>maliyeti</a:t>
            </a:r>
            <a:r>
              <a:rPr sz="625" b="1" i="0" dirty="0">
                <a:solidFill>
                  <a:srgbClr val="044F49"/>
                </a:solidFill>
                <a:latin typeface="Aptos"/>
              </a:rPr>
              <a:t> yok </a:t>
            </a:r>
            <a:r>
              <a:rPr sz="625" b="0" i="0" dirty="0">
                <a:solidFill>
                  <a:srgbClr val="33413D"/>
                </a:solidFill>
                <a:latin typeface="Aptos"/>
              </a:rPr>
              <a:t>· </a:t>
            </a:r>
            <a:r>
              <a:rPr sz="625" b="1" i="0" dirty="0" err="1">
                <a:solidFill>
                  <a:srgbClr val="044F49"/>
                </a:solidFill>
                <a:latin typeface="Aptos"/>
              </a:rPr>
              <a:t>Kullanıcı</a:t>
            </a:r>
            <a:r>
              <a:rPr sz="625" b="1" i="0" dirty="0">
                <a:solidFill>
                  <a:srgbClr val="044F49"/>
                </a:solidFill>
                <a:latin typeface="Aptos"/>
              </a:rPr>
              <a:t> </a:t>
            </a:r>
            <a:r>
              <a:rPr sz="625" b="1" i="0" dirty="0" err="1">
                <a:solidFill>
                  <a:srgbClr val="044F49"/>
                </a:solidFill>
                <a:latin typeface="Aptos"/>
              </a:rPr>
              <a:t>başına</a:t>
            </a:r>
            <a:r>
              <a:rPr sz="625" b="1" i="0" dirty="0">
                <a:solidFill>
                  <a:srgbClr val="044F49"/>
                </a:solidFill>
                <a:latin typeface="Aptos"/>
              </a:rPr>
              <a:t> </a:t>
            </a:r>
            <a:r>
              <a:rPr sz="625" b="1" i="0" dirty="0" err="1">
                <a:solidFill>
                  <a:srgbClr val="044F49"/>
                </a:solidFill>
                <a:latin typeface="Aptos"/>
              </a:rPr>
              <a:t>aylık</a:t>
            </a:r>
            <a:r>
              <a:rPr sz="625" b="1" i="0" dirty="0">
                <a:solidFill>
                  <a:srgbClr val="044F49"/>
                </a:solidFill>
                <a:latin typeface="Aptos"/>
              </a:rPr>
              <a:t> 5 € </a:t>
            </a:r>
            <a:r>
              <a:rPr sz="625" b="0" i="0" dirty="0" err="1">
                <a:solidFill>
                  <a:srgbClr val="33413D"/>
                </a:solidFill>
                <a:latin typeface="Aptos"/>
              </a:rPr>
              <a:t>bakım</a:t>
            </a:r>
            <a:r>
              <a:rPr sz="625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625" b="0" i="0" dirty="0" err="1">
                <a:solidFill>
                  <a:srgbClr val="33413D"/>
                </a:solidFill>
                <a:latin typeface="Aptos"/>
              </a:rPr>
              <a:t>ve</a:t>
            </a:r>
            <a:r>
              <a:rPr sz="625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625" b="0" i="0" dirty="0" err="1">
                <a:solidFill>
                  <a:srgbClr val="33413D"/>
                </a:solidFill>
                <a:latin typeface="Aptos"/>
              </a:rPr>
              <a:t>servis</a:t>
            </a:r>
            <a:r>
              <a:rPr sz="625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625" b="1" i="0" dirty="0" err="1">
                <a:solidFill>
                  <a:srgbClr val="044F49"/>
                </a:solidFill>
                <a:latin typeface="Aptos"/>
              </a:rPr>
              <a:t>ücreti</a:t>
            </a:r>
            <a:r>
              <a:rPr sz="625" b="1" i="0" dirty="0">
                <a:solidFill>
                  <a:srgbClr val="044F49"/>
                </a:solidFill>
                <a:latin typeface="Aptos"/>
              </a:rPr>
              <a:t> </a:t>
            </a:r>
            <a:r>
              <a:rPr sz="625" b="0" i="0" dirty="0">
                <a:solidFill>
                  <a:srgbClr val="33413D"/>
                </a:solidFill>
                <a:latin typeface="Aptos"/>
              </a:rPr>
              <a:t>· CFO </a:t>
            </a:r>
            <a:r>
              <a:rPr sz="625" b="0" i="0" dirty="0" err="1">
                <a:solidFill>
                  <a:srgbClr val="33413D"/>
                </a:solidFill>
                <a:latin typeface="Aptos"/>
              </a:rPr>
              <a:t>dostu</a:t>
            </a:r>
            <a:r>
              <a:rPr sz="625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625" b="0" i="0" dirty="0" err="1">
                <a:solidFill>
                  <a:srgbClr val="33413D"/>
                </a:solidFill>
                <a:latin typeface="Aptos"/>
              </a:rPr>
              <a:t>OpEx</a:t>
            </a:r>
            <a:r>
              <a:rPr sz="625" b="0" i="0" dirty="0">
                <a:solidFill>
                  <a:srgbClr val="33413D"/>
                </a:solidFill>
                <a:latin typeface="Aptos"/>
              </a:rPr>
              <a:t>.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5579393" y="6127596"/>
            <a:ext cx="2573802" cy="552609"/>
          </a:xfrm>
          <a:prstGeom prst="roundRect">
            <a:avLst>
              <a:gd name="adj" fmla="val 8000"/>
            </a:avLst>
          </a:prstGeom>
          <a:solidFill>
            <a:srgbClr val="ECF2F0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5668291" y="6191095"/>
            <a:ext cx="2396006" cy="1015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50" b="1" i="0">
                <a:solidFill>
                  <a:srgbClr val="B9822B"/>
                </a:solidFill>
                <a:latin typeface="Aptos"/>
              </a:rPr>
              <a:t>HİZMET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668291" y="6305392"/>
            <a:ext cx="2396006" cy="2285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25" b="0" i="0" dirty="0">
                <a:solidFill>
                  <a:srgbClr val="33413D"/>
                </a:solidFill>
                <a:latin typeface="Aptos"/>
              </a:rPr>
              <a:t>WAMOCON, </a:t>
            </a:r>
            <a:r>
              <a:rPr sz="625" b="0" i="0" dirty="0" err="1">
                <a:solidFill>
                  <a:srgbClr val="33413D"/>
                </a:solidFill>
                <a:latin typeface="Aptos"/>
              </a:rPr>
              <a:t>geliştirme</a:t>
            </a:r>
            <a:r>
              <a:rPr sz="625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625" b="0" i="0" dirty="0" err="1">
                <a:solidFill>
                  <a:srgbClr val="33413D"/>
                </a:solidFill>
                <a:latin typeface="Aptos"/>
              </a:rPr>
              <a:t>servis</a:t>
            </a:r>
            <a:r>
              <a:rPr sz="625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625" b="0" i="0" dirty="0" err="1">
                <a:solidFill>
                  <a:srgbClr val="33413D"/>
                </a:solidFill>
                <a:latin typeface="Aptos"/>
              </a:rPr>
              <a:t>bakım</a:t>
            </a:r>
            <a:r>
              <a:rPr sz="625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625" b="0" i="0" dirty="0" err="1">
                <a:solidFill>
                  <a:srgbClr val="33413D"/>
                </a:solidFill>
                <a:latin typeface="Aptos"/>
              </a:rPr>
              <a:t>ve</a:t>
            </a:r>
            <a:r>
              <a:rPr sz="625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625" b="0" i="0" dirty="0" err="1">
                <a:solidFill>
                  <a:srgbClr val="33413D"/>
                </a:solidFill>
                <a:latin typeface="Aptos"/>
              </a:rPr>
              <a:t>güvenlik</a:t>
            </a:r>
            <a:r>
              <a:rPr sz="625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625" b="0" i="0" dirty="0" err="1">
                <a:solidFill>
                  <a:srgbClr val="33413D"/>
                </a:solidFill>
                <a:latin typeface="Aptos"/>
              </a:rPr>
              <a:t>güncellemelerini</a:t>
            </a:r>
            <a:r>
              <a:rPr sz="625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625" b="0" i="0" dirty="0" err="1">
                <a:solidFill>
                  <a:srgbClr val="33413D"/>
                </a:solidFill>
                <a:latin typeface="Aptos"/>
              </a:rPr>
              <a:t>üstlenir</a:t>
            </a:r>
            <a:r>
              <a:rPr sz="625" b="0" i="0" dirty="0">
                <a:solidFill>
                  <a:srgbClr val="33413D"/>
                </a:solidFill>
                <a:latin typeface="Aptos"/>
              </a:rPr>
              <a:t> · Kendi </a:t>
            </a:r>
            <a:r>
              <a:rPr sz="625" b="0" i="0" dirty="0" err="1">
                <a:solidFill>
                  <a:srgbClr val="33413D"/>
                </a:solidFill>
                <a:latin typeface="Aptos"/>
              </a:rPr>
              <a:t>kendine</a:t>
            </a:r>
            <a:r>
              <a:rPr sz="625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625" b="0" i="0" dirty="0" err="1">
                <a:solidFill>
                  <a:srgbClr val="33413D"/>
                </a:solidFill>
                <a:latin typeface="Aptos"/>
              </a:rPr>
              <a:t>kullanıma</a:t>
            </a:r>
            <a:r>
              <a:rPr sz="625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625" b="0" i="0" dirty="0" err="1">
                <a:solidFill>
                  <a:srgbClr val="33413D"/>
                </a:solidFill>
                <a:latin typeface="Aptos"/>
              </a:rPr>
              <a:t>başlama</a:t>
            </a:r>
            <a:r>
              <a:rPr sz="625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625" b="0" i="0" dirty="0" err="1">
                <a:solidFill>
                  <a:srgbClr val="33413D"/>
                </a:solidFill>
                <a:latin typeface="Aptos"/>
              </a:rPr>
              <a:t>için</a:t>
            </a:r>
            <a:r>
              <a:rPr sz="625" b="0" i="0" dirty="0">
                <a:solidFill>
                  <a:srgbClr val="33413D"/>
                </a:solidFill>
                <a:latin typeface="Aptos"/>
              </a:rPr>
              <a:t> 19 video.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04793" y="6705433"/>
            <a:ext cx="7848403" cy="165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5" b="0" i="0" dirty="0" err="1">
                <a:solidFill>
                  <a:srgbClr val="64716D"/>
                </a:solidFill>
                <a:latin typeface="Aptos"/>
              </a:rPr>
              <a:t>Mevcut</a:t>
            </a:r>
            <a:r>
              <a:rPr sz="525" b="0" i="0" dirty="0">
                <a:solidFill>
                  <a:srgbClr val="64716D"/>
                </a:solidFill>
                <a:latin typeface="Aptos"/>
              </a:rPr>
              <a:t> durum: </a:t>
            </a:r>
            <a:r>
              <a:rPr sz="525" b="0" i="0" dirty="0" err="1">
                <a:solidFill>
                  <a:srgbClr val="64716D"/>
                </a:solidFill>
                <a:latin typeface="Aptos"/>
              </a:rPr>
              <a:t>gerçekçi</a:t>
            </a:r>
            <a:r>
              <a:rPr sz="525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525" b="0" i="0" dirty="0" err="1">
                <a:solidFill>
                  <a:srgbClr val="64716D"/>
                </a:solidFill>
                <a:latin typeface="Aptos"/>
              </a:rPr>
              <a:t>veriler</a:t>
            </a:r>
            <a:r>
              <a:rPr sz="525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525" b="0" i="0" dirty="0" err="1">
                <a:solidFill>
                  <a:srgbClr val="64716D"/>
                </a:solidFill>
                <a:latin typeface="Aptos"/>
              </a:rPr>
              <a:t>içeren</a:t>
            </a:r>
            <a:r>
              <a:rPr sz="525" b="0" i="0" dirty="0">
                <a:solidFill>
                  <a:srgbClr val="64716D"/>
                </a:solidFill>
                <a:latin typeface="Aptos"/>
              </a:rPr>
              <a:t>, </a:t>
            </a:r>
            <a:r>
              <a:rPr sz="525" b="0" i="0" dirty="0" err="1">
                <a:solidFill>
                  <a:srgbClr val="64716D"/>
                </a:solidFill>
                <a:latin typeface="Aptos"/>
              </a:rPr>
              <a:t>tamamen</a:t>
            </a:r>
            <a:r>
              <a:rPr sz="525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525" b="0" i="0" dirty="0" err="1">
                <a:solidFill>
                  <a:srgbClr val="64716D"/>
                </a:solidFill>
                <a:latin typeface="Aptos"/>
              </a:rPr>
              <a:t>işlevsel</a:t>
            </a:r>
            <a:r>
              <a:rPr sz="525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525" b="0" i="0" dirty="0" err="1">
                <a:solidFill>
                  <a:srgbClr val="64716D"/>
                </a:solidFill>
                <a:latin typeface="Aptos"/>
              </a:rPr>
              <a:t>bir</a:t>
            </a:r>
            <a:r>
              <a:rPr sz="525" b="0" i="0" dirty="0">
                <a:solidFill>
                  <a:srgbClr val="64716D"/>
                </a:solidFill>
                <a:latin typeface="Aptos"/>
              </a:rPr>
              <a:t> demo </a:t>
            </a:r>
            <a:r>
              <a:rPr sz="525" b="0" i="0" dirty="0" err="1">
                <a:solidFill>
                  <a:srgbClr val="64716D"/>
                </a:solidFill>
                <a:latin typeface="Aptos"/>
              </a:rPr>
              <a:t>ortamı</a:t>
            </a:r>
            <a:r>
              <a:rPr sz="525" b="0" i="0" dirty="0">
                <a:solidFill>
                  <a:srgbClr val="64716D"/>
                </a:solidFill>
                <a:latin typeface="Aptos"/>
              </a:rPr>
              <a:t>. </a:t>
            </a:r>
            <a:r>
              <a:rPr sz="525" b="0" i="0" dirty="0" err="1">
                <a:solidFill>
                  <a:srgbClr val="64716D"/>
                </a:solidFill>
                <a:latin typeface="Aptos"/>
              </a:rPr>
              <a:t>Ödeme</a:t>
            </a:r>
            <a:r>
              <a:rPr sz="525" b="0" i="0" dirty="0">
                <a:solidFill>
                  <a:srgbClr val="64716D"/>
                </a:solidFill>
                <a:latin typeface="Aptos"/>
              </a:rPr>
              <a:t>, </a:t>
            </a:r>
            <a:r>
              <a:rPr sz="525" b="0" i="0" dirty="0" err="1">
                <a:solidFill>
                  <a:srgbClr val="64716D"/>
                </a:solidFill>
                <a:latin typeface="Aptos"/>
              </a:rPr>
              <a:t>mesaj</a:t>
            </a:r>
            <a:r>
              <a:rPr sz="525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525" b="0" i="0" dirty="0" err="1">
                <a:solidFill>
                  <a:srgbClr val="64716D"/>
                </a:solidFill>
                <a:latin typeface="Aptos"/>
              </a:rPr>
              <a:t>gönderimi</a:t>
            </a:r>
            <a:r>
              <a:rPr sz="525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525" b="0" i="0" dirty="0" err="1">
                <a:solidFill>
                  <a:srgbClr val="64716D"/>
                </a:solidFill>
                <a:latin typeface="Aptos"/>
              </a:rPr>
              <a:t>ve</a:t>
            </a:r>
            <a:r>
              <a:rPr sz="525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525" b="0" i="0" dirty="0" err="1">
                <a:solidFill>
                  <a:srgbClr val="64716D"/>
                </a:solidFill>
                <a:latin typeface="Aptos"/>
              </a:rPr>
              <a:t>erişim</a:t>
            </a:r>
            <a:r>
              <a:rPr sz="525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525" b="0" i="0" dirty="0" err="1">
                <a:solidFill>
                  <a:srgbClr val="64716D"/>
                </a:solidFill>
                <a:latin typeface="Aptos"/>
              </a:rPr>
              <a:t>kontrolünün</a:t>
            </a:r>
            <a:r>
              <a:rPr sz="525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525" b="0" i="0" dirty="0" err="1">
                <a:solidFill>
                  <a:srgbClr val="64716D"/>
                </a:solidFill>
                <a:latin typeface="Aptos"/>
              </a:rPr>
              <a:t>üretime</a:t>
            </a:r>
            <a:r>
              <a:rPr sz="525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525" b="0" i="0" dirty="0" err="1">
                <a:solidFill>
                  <a:srgbClr val="64716D"/>
                </a:solidFill>
                <a:latin typeface="Aptos"/>
              </a:rPr>
              <a:t>geçmesi</a:t>
            </a:r>
            <a:r>
              <a:rPr sz="525" b="0" i="0" dirty="0">
                <a:solidFill>
                  <a:srgbClr val="64716D"/>
                </a:solidFill>
                <a:latin typeface="Aptos"/>
              </a:rPr>
              <a:t>, </a:t>
            </a:r>
            <a:r>
              <a:rPr sz="525" b="0" i="0" dirty="0" err="1">
                <a:solidFill>
                  <a:srgbClr val="64716D"/>
                </a:solidFill>
                <a:latin typeface="Aptos"/>
              </a:rPr>
              <a:t>sağlayıcı</a:t>
            </a:r>
            <a:r>
              <a:rPr sz="525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525" b="0" i="0" dirty="0" err="1">
                <a:solidFill>
                  <a:srgbClr val="64716D"/>
                </a:solidFill>
                <a:latin typeface="Aptos"/>
              </a:rPr>
              <a:t>ve</a:t>
            </a:r>
            <a:r>
              <a:rPr sz="525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525" b="0" i="0" dirty="0" err="1">
                <a:solidFill>
                  <a:srgbClr val="64716D"/>
                </a:solidFill>
                <a:latin typeface="Aptos"/>
              </a:rPr>
              <a:t>yasal</a:t>
            </a:r>
            <a:r>
              <a:rPr sz="525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525" b="0" i="0" dirty="0" err="1">
                <a:solidFill>
                  <a:srgbClr val="64716D"/>
                </a:solidFill>
                <a:latin typeface="Aptos"/>
              </a:rPr>
              <a:t>onayların</a:t>
            </a:r>
            <a:r>
              <a:rPr sz="525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525" b="0" i="0" dirty="0" err="1">
                <a:solidFill>
                  <a:srgbClr val="64716D"/>
                </a:solidFill>
                <a:latin typeface="Aptos"/>
              </a:rPr>
              <a:t>alınmasından</a:t>
            </a:r>
            <a:r>
              <a:rPr sz="525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525" b="0" i="0" dirty="0" err="1">
                <a:solidFill>
                  <a:srgbClr val="64716D"/>
                </a:solidFill>
                <a:latin typeface="Aptos"/>
              </a:rPr>
              <a:t>sonra</a:t>
            </a:r>
            <a:r>
              <a:rPr sz="525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525" b="0" i="0" dirty="0" err="1">
                <a:solidFill>
                  <a:srgbClr val="64716D"/>
                </a:solidFill>
                <a:latin typeface="Aptos"/>
              </a:rPr>
              <a:t>gerçekleşir</a:t>
            </a:r>
            <a:r>
              <a:rPr sz="525" b="0" i="0" dirty="0">
                <a:solidFill>
                  <a:srgbClr val="64716D"/>
                </a:solidFill>
                <a:latin typeface="Aptos"/>
              </a:rPr>
              <a:t>. · </a:t>
            </a:r>
            <a:r>
              <a:rPr sz="525" b="0" i="0" dirty="0" err="1">
                <a:solidFill>
                  <a:srgbClr val="64716D"/>
                </a:solidFill>
                <a:latin typeface="Aptos"/>
              </a:rPr>
              <a:t>Gizli</a:t>
            </a:r>
            <a:r>
              <a:rPr sz="525" b="0" i="0" dirty="0">
                <a:solidFill>
                  <a:srgbClr val="64716D"/>
                </a:solidFill>
                <a:latin typeface="Aptos"/>
              </a:rPr>
              <a:t> — </a:t>
            </a:r>
            <a:r>
              <a:rPr sz="525" b="0" i="0" dirty="0" err="1">
                <a:solidFill>
                  <a:srgbClr val="64716D"/>
                </a:solidFill>
                <a:latin typeface="Aptos"/>
              </a:rPr>
              <a:t>Ataberk</a:t>
            </a:r>
            <a:r>
              <a:rPr sz="525" b="0" i="0" dirty="0">
                <a:solidFill>
                  <a:srgbClr val="64716D"/>
                </a:solidFill>
                <a:latin typeface="Aptos"/>
              </a:rPr>
              <a:t> Estate </a:t>
            </a:r>
            <a:r>
              <a:rPr sz="525" b="0" i="0" dirty="0" err="1">
                <a:solidFill>
                  <a:srgbClr val="64716D"/>
                </a:solidFill>
                <a:latin typeface="Aptos"/>
              </a:rPr>
              <a:t>için</a:t>
            </a:r>
            <a:r>
              <a:rPr sz="525" b="0" i="0" dirty="0">
                <a:solidFill>
                  <a:srgbClr val="64716D"/>
                </a:solidFill>
                <a:latin typeface="Aptos"/>
              </a:rPr>
              <a:t> · 11.07.2026</a:t>
            </a:r>
          </a:p>
        </p:txBody>
      </p:sp>
      <p:pic>
        <p:nvPicPr>
          <p:cNvPr id="111" name="Picture 110" descr="gesam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790" y="825479"/>
            <a:ext cx="3505112" cy="2527236"/>
          </a:xfrm>
          <a:prstGeom prst="rect">
            <a:avLst/>
          </a:prstGeom>
          <a:ln w="12700">
            <a:solidFill>
              <a:srgbClr val="DAE3E0"/>
            </a:solidFill>
          </a:ln>
        </p:spPr>
      </p:pic>
      <p:sp>
        <p:nvSpPr>
          <p:cNvPr id="112" name="Rectangle 111"/>
          <p:cNvSpPr/>
          <p:nvPr/>
        </p:nvSpPr>
        <p:spPr>
          <a:xfrm>
            <a:off x="8381790" y="2933626"/>
            <a:ext cx="3505112" cy="419089"/>
          </a:xfrm>
          <a:prstGeom prst="rect">
            <a:avLst/>
          </a:prstGeom>
          <a:solidFill>
            <a:srgbClr val="032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8496087" y="2997125"/>
            <a:ext cx="3301917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ptos"/>
              </a:rPr>
              <a:t>New Level Premium · Avsallar / Alanya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496087" y="3149521"/>
            <a:ext cx="3301917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5" b="0" i="0">
                <a:solidFill>
                  <a:srgbClr val="CFE7E1"/>
                </a:solidFill>
                <a:latin typeface="Aptos"/>
              </a:rPr>
              <a:t>769 konut birimi · 52.000 m² · Plaja 900 m · 5 yıldızlı otel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8381790" y="3479713"/>
            <a:ext cx="3505112" cy="3251118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032F2B"/>
              </a:gs>
              <a:gs pos="100000">
                <a:srgbClr val="066B63"/>
              </a:gs>
            </a:gsLst>
            <a:lin ang="14400000" scaled="0"/>
          </a:gradFill>
          <a:ln w="25400">
            <a:solidFill>
              <a:srgbClr val="E2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8673883" y="6000600"/>
            <a:ext cx="2920926" cy="380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675" b="0" i="0" dirty="0" err="1">
                <a:solidFill>
                  <a:srgbClr val="CFE7E1"/>
                </a:solidFill>
                <a:latin typeface="Aptos"/>
              </a:rPr>
              <a:t>Birkaç</a:t>
            </a:r>
            <a:r>
              <a:rPr sz="675" b="0" i="0" dirty="0">
                <a:solidFill>
                  <a:srgbClr val="CFE7E1"/>
                </a:solidFill>
                <a:latin typeface="Aptos"/>
              </a:rPr>
              <a:t> </a:t>
            </a:r>
            <a:r>
              <a:rPr sz="675" b="0" i="0" dirty="0" err="1">
                <a:solidFill>
                  <a:srgbClr val="CFE7E1"/>
                </a:solidFill>
                <a:latin typeface="Aptos"/>
              </a:rPr>
              <a:t>dakika</a:t>
            </a:r>
            <a:r>
              <a:rPr sz="675" b="0" i="0" dirty="0">
                <a:solidFill>
                  <a:srgbClr val="CFE7E1"/>
                </a:solidFill>
                <a:latin typeface="Aptos"/>
              </a:rPr>
              <a:t> </a:t>
            </a:r>
            <a:r>
              <a:rPr sz="675" b="0" i="0" dirty="0" err="1">
                <a:solidFill>
                  <a:srgbClr val="CFE7E1"/>
                </a:solidFill>
                <a:latin typeface="Aptos"/>
              </a:rPr>
              <a:t>içinde</a:t>
            </a:r>
            <a:r>
              <a:rPr sz="675" b="0" i="0" dirty="0">
                <a:solidFill>
                  <a:srgbClr val="CFE7E1"/>
                </a:solidFill>
                <a:latin typeface="Aptos"/>
              </a:rPr>
              <a:t> </a:t>
            </a:r>
            <a:r>
              <a:rPr sz="675" b="0" i="0" dirty="0" err="1">
                <a:solidFill>
                  <a:srgbClr val="CFE7E1"/>
                </a:solidFill>
                <a:latin typeface="Aptos"/>
              </a:rPr>
              <a:t>sizi</a:t>
            </a:r>
            <a:r>
              <a:rPr sz="675" b="0" i="0" dirty="0">
                <a:solidFill>
                  <a:srgbClr val="CFE7E1"/>
                </a:solidFill>
                <a:latin typeface="Aptos"/>
              </a:rPr>
              <a:t> 1Çatı </a:t>
            </a:r>
            <a:r>
              <a:rPr sz="675" b="0" i="0" dirty="0" err="1">
                <a:solidFill>
                  <a:srgbClr val="CFE7E1"/>
                </a:solidFill>
                <a:latin typeface="Aptos"/>
              </a:rPr>
              <a:t>ve</a:t>
            </a:r>
            <a:r>
              <a:rPr sz="675" b="0" i="0" dirty="0">
                <a:solidFill>
                  <a:srgbClr val="CFE7E1"/>
                </a:solidFill>
                <a:latin typeface="Aptos"/>
              </a:rPr>
              <a:t> »Cati </a:t>
            </a:r>
            <a:r>
              <a:rPr sz="675" b="0" i="0" dirty="0" err="1">
                <a:solidFill>
                  <a:srgbClr val="CFE7E1"/>
                </a:solidFill>
                <a:latin typeface="Aptos"/>
              </a:rPr>
              <a:t>Training«in</a:t>
            </a:r>
            <a:r>
              <a:rPr sz="675" b="0" i="0" dirty="0">
                <a:solidFill>
                  <a:srgbClr val="CFE7E1"/>
                </a:solidFill>
                <a:latin typeface="Aptos"/>
              </a:rPr>
              <a:t> </a:t>
            </a:r>
            <a:r>
              <a:rPr sz="675" b="0" i="0" dirty="0" err="1">
                <a:solidFill>
                  <a:srgbClr val="CFE7E1"/>
                </a:solidFill>
                <a:latin typeface="Aptos"/>
              </a:rPr>
              <a:t>tüm</a:t>
            </a:r>
            <a:r>
              <a:rPr sz="675" b="0" i="0" dirty="0">
                <a:solidFill>
                  <a:srgbClr val="CFE7E1"/>
                </a:solidFill>
                <a:latin typeface="Aptos"/>
              </a:rPr>
              <a:t> </a:t>
            </a:r>
            <a:r>
              <a:rPr sz="675" b="0" i="0" dirty="0" err="1">
                <a:solidFill>
                  <a:srgbClr val="CFE7E1"/>
                </a:solidFill>
                <a:latin typeface="Aptos"/>
              </a:rPr>
              <a:t>alanlarında</a:t>
            </a:r>
            <a:r>
              <a:rPr sz="675" b="0" i="0" dirty="0">
                <a:solidFill>
                  <a:srgbClr val="CFE7E1"/>
                </a:solidFill>
                <a:latin typeface="Aptos"/>
              </a:rPr>
              <a:t> </a:t>
            </a:r>
            <a:r>
              <a:rPr sz="675" b="0" i="0" dirty="0" err="1">
                <a:solidFill>
                  <a:srgbClr val="CFE7E1"/>
                </a:solidFill>
                <a:latin typeface="Aptos"/>
              </a:rPr>
              <a:t>gezdireceğim</a:t>
            </a:r>
            <a:r>
              <a:rPr sz="675" b="0" i="0" dirty="0">
                <a:solidFill>
                  <a:srgbClr val="CFE7E1"/>
                </a:solidFill>
                <a:latin typeface="Aptos"/>
              </a:rPr>
              <a:t>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508787" y="6476838"/>
            <a:ext cx="3251118" cy="139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25" b="0" i="0">
                <a:solidFill>
                  <a:srgbClr val="BFE0DA"/>
                </a:solidFill>
                <a:latin typeface="Aptos"/>
              </a:rPr>
              <a:t>Waleri Moretz · WAMOCON GmbH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1439</Words>
  <Application>Microsoft Office PowerPoint</Application>
  <PresentationFormat>Widescreen</PresentationFormat>
  <Paragraphs>101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>, docId:1F78C158CC952A14EFDDCE8DC7402866</cp:keywords>
  <dc:description>generated using python-pptx</dc:description>
  <cp:lastModifiedBy>Maanik Garg</cp:lastModifiedBy>
  <cp:revision>5</cp:revision>
  <dcterms:created xsi:type="dcterms:W3CDTF">2013-01-27T09:14:16Z</dcterms:created>
  <dcterms:modified xsi:type="dcterms:W3CDTF">2026-07-11T16:47:33Z</dcterms:modified>
  <cp:category/>
</cp:coreProperties>
</file>