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336" autoAdjust="0"/>
    <p:restoredTop sz="94660"/>
  </p:normalViewPr>
  <p:slideViewPr>
    <p:cSldViewPr snapToGrid="0" snapToObjects="1">
      <p:cViewPr>
        <p:scale>
          <a:sx n="200" d="100"/>
          <a:sy n="200" d="100"/>
        </p:scale>
        <p:origin x="96" y="-1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1182"/>
          </a:xfrm>
          <a:prstGeom prst="rect">
            <a:avLst/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152396"/>
            <a:ext cx="406389" cy="4063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079" y="126996"/>
            <a:ext cx="5714857" cy="253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1Çatı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380990"/>
            <a:ext cx="5714857" cy="190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BFE0DA"/>
                </a:solidFill>
                <a:latin typeface="Aptos"/>
              </a:rPr>
              <a:t>Ein Dach für Ihren gesamten Immobilienbetrieb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1822" y="177795"/>
            <a:ext cx="298442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Property-Management- &amp; Real-Estate-ERP</a:t>
            </a:r>
          </a:p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für Ataberk Estate · umgesetzt von WAMOCON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6742" y="215894"/>
            <a:ext cx="1473163" cy="279393"/>
          </a:xfrm>
          <a:prstGeom prst="roundRect">
            <a:avLst>
              <a:gd name="adj" fmla="val 50000"/>
            </a:avLst>
          </a:prstGeom>
          <a:solidFill>
            <a:srgbClr val="043F3A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538" y="292092"/>
            <a:ext cx="1117572" cy="2222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711182"/>
            <a:ext cx="12191695" cy="25399"/>
          </a:xfrm>
          <a:prstGeom prst="rect">
            <a:avLst/>
          </a:prstGeom>
          <a:gradFill rotWithShape="1">
            <a:gsLst>
              <a:gs pos="0">
                <a:srgbClr val="B9822B"/>
              </a:gs>
              <a:gs pos="100000">
                <a:srgbClr val="E2B75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792" y="800079"/>
            <a:ext cx="5714857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AUSGANGSLAGE → PROBLEM → ZIEL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792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389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AUSGANGSLAGE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89" y="1181070"/>
            <a:ext cx="2241493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>
                <a:solidFill>
                  <a:srgbClr val="33413D"/>
                </a:solidFill>
                <a:latin typeface="Aptos"/>
              </a:rPr>
              <a:t>Kurz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vor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der İSKÂN-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Freigabe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und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Inbetriebnahme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von New Level Premium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769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Einheiten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weltweit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verteilte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Eigentümer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3474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5072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DAS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072" y="1181070"/>
            <a:ext cx="2241493" cy="406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3413D"/>
                </a:solidFill>
                <a:latin typeface="Aptos"/>
              </a:rPr>
              <a:t>Keine Echtzeit-Transparenz über Zahlungen, Schulden, Service und Zugang; Kommunikation verstreut.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2157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3754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DAS ZIEL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3754" y="1181070"/>
            <a:ext cx="2241493" cy="238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>
                <a:solidFill>
                  <a:srgbClr val="33413D"/>
                </a:solidFill>
                <a:latin typeface="Aptos"/>
              </a:rPr>
              <a:t>Ein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zentrales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rollenbasiertes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viersprachiges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Betriebssystem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operative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Exzellenz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als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Vorsprung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9481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8163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792" y="1714457"/>
            <a:ext cx="7848403" cy="380990"/>
          </a:xfrm>
          <a:prstGeom prst="roundRect">
            <a:avLst>
              <a:gd name="adj" fmla="val 8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4792" y="1714457"/>
            <a:ext cx="38099" cy="38099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9089" y="1784305"/>
            <a:ext cx="7619809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75" b="1">
                <a:solidFill>
                  <a:srgbClr val="044F49"/>
                </a:solidFill>
                <a:latin typeface="Aptos"/>
              </a:rPr>
              <a:t>Warum jetzt: </a:t>
            </a:r>
            <a:r>
              <a:rPr sz="675" b="0">
                <a:solidFill>
                  <a:srgbClr val="33413D"/>
                </a:solidFill>
                <a:latin typeface="Aptos"/>
              </a:rPr>
              <a:t>Auslandsverkäufe Türkei −9,4 % (2025, 9-Jahres-Tief) · Alanya 4 Jahre in Folge Nr. 1 bei russischen Käufern · 88,6 % WhatsApp-Nutzung im Land · KI-Nutzung der Branche 21 → 34 % (international).</a:t>
            </a:r>
          </a:p>
          <a:p>
            <a:pPr algn="l">
              <a:lnSpc>
                <a:spcPct val="115000"/>
              </a:lnSpc>
            </a:pPr>
            <a:r>
              <a:rPr sz="675" b="0">
                <a:solidFill>
                  <a:srgbClr val="33413D"/>
                </a:solidFill>
                <a:latin typeface="Aptos"/>
              </a:rPr>
              <a:t>In einem engeren Markt entscheidet Servicequalität über Kundenbindung.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92" y="2235144"/>
            <a:ext cx="5714857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WAS 1ÇATI KANN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92" y="2387540"/>
            <a:ext cx="698482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44F49"/>
                </a:solidFill>
                <a:latin typeface="Aptos"/>
              </a:rPr>
              <a:t>Ein System für den gesamten Immobilienbetrieb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792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0990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885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Portfolio &amp; Wohnungen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885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Daire-Matrix: 769 Einheiten im Blick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9976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6174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2069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Finanzen &amp; Beiträge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2069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Salden, Schulden, unveränderliche Buchungen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5160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51358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Service &amp; Aufgaben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Katalog, Tickets, SLA-Feldboard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792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0990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885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Reservierung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885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Belegung, Einzug, Übergabe zentral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9976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16174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2069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Dokumente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2069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Vault für TAPU, KYC, Verträge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5160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1358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7253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Berichte &amp;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67253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Live-Kennzahlen + Berichtszentrum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792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0990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85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Zugang &amp; Compliance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885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6 Rollen, doppelte Zugriffsprüfung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39976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6174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2069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Öffentlicher Bereich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2069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Landingpage + kontofreie Registrierung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75160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51358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7253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KI-Assistenten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67253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Zwei Assistenten, stets mit Freigabe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792" y="3936901"/>
            <a:ext cx="7848403" cy="253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1">
                <a:solidFill>
                  <a:srgbClr val="044F49"/>
                </a:solidFill>
                <a:latin typeface="Aptos"/>
              </a:rPr>
              <a:t>Kommunikation: </a:t>
            </a:r>
            <a:r>
              <a:rPr sz="650" b="0">
                <a:solidFill>
                  <a:srgbClr val="33413D"/>
                </a:solidFill>
                <a:latin typeface="Aptos"/>
              </a:rPr>
              <a:t>ein Postfach für vier Kanäle (WhatsApp · Portal · E-Mail · SMS) · mehrsprachige Vorlagen · zwei verbundene KI-Assistenten.   </a:t>
            </a:r>
            <a:r>
              <a:rPr sz="650" b="1">
                <a:solidFill>
                  <a:srgbClr val="044F49"/>
                </a:solidFill>
                <a:latin typeface="Aptos"/>
              </a:rPr>
              <a:t>Flexibilität: </a:t>
            </a:r>
            <a:r>
              <a:rPr sz="650" b="0">
                <a:solidFill>
                  <a:srgbClr val="33413D"/>
                </a:solidFill>
                <a:latin typeface="Aptos"/>
              </a:rPr>
              <a:t>modular &amp; API-first · anbieteroffene Anbindungen · installierbare Web-App · mandantenfähig für weitere Standorte.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792" y="4305192"/>
            <a:ext cx="7848403" cy="82547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44F49"/>
              </a:gs>
              <a:gs pos="100000">
                <a:srgbClr val="06756C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4792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769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792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Wohneinheiten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im Referenzobjekt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447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47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Arbeitsbereiche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im Portal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7447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4415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415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Rollen mit fein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abgestuften Rechten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4415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13834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13834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Sprachen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TR · EN · DE · RU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13834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83515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515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Trainingsvideos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in »Cati Training«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515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04792" y="5219569"/>
            <a:ext cx="5714857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VORTEILE — WARUM 1ÇATI ÜBERZEUGT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79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792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8099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Technologischer Fortschritt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099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Moderner Stack 2026 · zwei KI-Assistenten · KI schlägt vor, der Mensch entscheidet.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8717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887172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96337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Image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6337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Vier Sprachen auf gleichem Niveau · jede Zugriffsentscheidung nachvollziehbar begründet.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46955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469553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54575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Qualität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575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Doppelter Zugriffsschutz · unveränderliche Buchungen · scharfe Schutz-Header · 100+ Tests.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5193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051933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2813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Zuverlässigkeit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813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Lückenlose Protokollierung · sichere Fallbacks · Cloud-Betrieb mit Live-Aktualisierung.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34314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634314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10512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Flexibilität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10512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Modular erweiterbar · anbieteroffen · auf weitere Standorte übertragbar.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4792" y="6127596"/>
            <a:ext cx="2573802" cy="419089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36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REIFEGRAD &amp; FERTIGSTELLUNG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6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>
                <a:solidFill>
                  <a:srgbClr val="33413D"/>
                </a:solidFill>
                <a:latin typeface="Aptos"/>
              </a:rPr>
              <a:t>Vollständig bedienbare </a:t>
            </a:r>
            <a:r>
              <a:rPr sz="625" b="1" i="0">
                <a:solidFill>
                  <a:srgbClr val="044F49"/>
                </a:solidFill>
                <a:latin typeface="Aptos"/>
              </a:rPr>
              <a:t>Demonstrationsumgebung</a:t>
            </a:r>
            <a:r>
              <a:rPr sz="625" b="0" i="0">
                <a:solidFill>
                  <a:srgbClr val="33413D"/>
                </a:solidFill>
                <a:latin typeface="Aptos"/>
              </a:rPr>
              <a:t>; Fundament &amp; »Cati Training« fertig, Launch-Härtung im beschleunigten Fenster.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942093" y="6127596"/>
            <a:ext cx="2573802" cy="419089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0309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INVESTITION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09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1" i="0">
                <a:solidFill>
                  <a:srgbClr val="044F49"/>
                </a:solidFill>
                <a:latin typeface="Aptos"/>
              </a:rPr>
              <a:t>Keine Entwicklungskosten</a:t>
            </a:r>
            <a:r>
              <a:rPr sz="625" b="0" i="0">
                <a:solidFill>
                  <a:srgbClr val="33413D"/>
                </a:solidFill>
                <a:latin typeface="Aptos"/>
              </a:rPr>
              <a:t> für den Bauträger · </a:t>
            </a:r>
            <a:r>
              <a:rPr sz="625" b="1" i="0">
                <a:solidFill>
                  <a:srgbClr val="044F49"/>
                </a:solidFill>
                <a:latin typeface="Aptos"/>
              </a:rPr>
              <a:t>€5 / Nutzer · Monat</a:t>
            </a:r>
            <a:r>
              <a:rPr sz="625" b="0" i="0">
                <a:solidFill>
                  <a:srgbClr val="33413D"/>
                </a:solidFill>
                <a:latin typeface="Aptos"/>
              </a:rPr>
              <a:t> Wartung &amp; Service · CFO-freundliches OpEx.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579393" y="6127596"/>
            <a:ext cx="2573802" cy="419089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668291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SERVICE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8291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>
                <a:solidFill>
                  <a:srgbClr val="33413D"/>
                </a:solidFill>
                <a:latin typeface="Aptos"/>
              </a:rPr>
              <a:t>WAMOCON übernimmt Entwicklung, Service, Wartung &amp; Sicherheitsupdates · 19 Videos für Selbst-Onboarding.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4792" y="6603834"/>
            <a:ext cx="7848403" cy="165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" b="0" i="0">
                <a:solidFill>
                  <a:srgbClr val="64716D"/>
                </a:solidFill>
                <a:latin typeface="Aptos"/>
              </a:rPr>
              <a:t>Aktueller Stand: vollständig bedienbare Demonstrationsumgebung mit realistischen Daten. Produktive Freischaltung von Zahlung, Nachrichtenversand und Zugangssteuerung erfolgt nach Anbieter- und Rechtsfreigabe. · Vertraulich — für Ataberk Estate · 11.07.2026</a:t>
            </a:r>
          </a:p>
        </p:txBody>
      </p:sp>
      <p:pic>
        <p:nvPicPr>
          <p:cNvPr id="111" name="Picture 110" descr="gesam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0" y="825479"/>
            <a:ext cx="3505112" cy="2527236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sp>
        <p:nvSpPr>
          <p:cNvPr id="112" name="Rectangle 111"/>
          <p:cNvSpPr/>
          <p:nvPr/>
        </p:nvSpPr>
        <p:spPr>
          <a:xfrm>
            <a:off x="8381790" y="2933626"/>
            <a:ext cx="3505112" cy="419089"/>
          </a:xfrm>
          <a:prstGeom prst="rect">
            <a:avLst/>
          </a:prstGeom>
          <a:solidFill>
            <a:srgbClr val="03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496087" y="2997125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New Level Premium · Avsallar / Alanya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6087" y="3149521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5" b="0" i="0">
                <a:solidFill>
                  <a:srgbClr val="CFE7E1"/>
                </a:solidFill>
                <a:latin typeface="Aptos"/>
              </a:rPr>
              <a:t>769 Wohneinheiten · 52.000 m² · 900 m zum Strand · 5-Sterne-Hotel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1790" y="3479713"/>
            <a:ext cx="3505112" cy="325111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14400000" scaled="0"/>
          </a:gradFill>
          <a:ln w="25400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820129" y="3581310"/>
            <a:ext cx="952476" cy="19049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A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820129" y="3613059"/>
            <a:ext cx="952476" cy="139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C9E3DE"/>
                </a:solidFill>
                <a:latin typeface="Aptos"/>
              </a:rPr>
              <a:t>Video</a:t>
            </a:r>
          </a:p>
        </p:txBody>
      </p:sp>
      <p:sp>
        <p:nvSpPr>
          <p:cNvPr id="118" name="Oval 117"/>
          <p:cNvSpPr/>
          <p:nvPr/>
        </p:nvSpPr>
        <p:spPr>
          <a:xfrm>
            <a:off x="9658108" y="3809904"/>
            <a:ext cx="952476" cy="952476"/>
          </a:xfrm>
          <a:prstGeom prst="ellipse">
            <a:avLst/>
          </a:prstGeom>
          <a:noFill/>
          <a:ln w="25400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Isosceles Triangle 118"/>
          <p:cNvSpPr/>
          <p:nvPr/>
        </p:nvSpPr>
        <p:spPr>
          <a:xfrm rot="5400000">
            <a:off x="10007349" y="4114697"/>
            <a:ext cx="330191" cy="342891"/>
          </a:xfrm>
          <a:prstGeom prst="triangle">
            <a:avLst/>
          </a:prstGeom>
          <a:solidFill>
            <a:srgbClr val="E2B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508787" y="4952876"/>
            <a:ext cx="3251118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5" b="1" i="0">
                <a:solidFill>
                  <a:srgbClr val="E2B75D"/>
                </a:solidFill>
                <a:latin typeface="Aptos"/>
              </a:rPr>
              <a:t>IHR PERSÖNLICHER RUNDGANG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35784" y="5092572"/>
            <a:ext cx="2997125" cy="38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Die Details erkläre ich Ihnen hier — im Video.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73883" y="5587860"/>
            <a:ext cx="2920926" cy="38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5" b="0" i="0">
                <a:solidFill>
                  <a:srgbClr val="CFE7E1"/>
                </a:solidFill>
                <a:latin typeface="Aptos"/>
              </a:rPr>
              <a:t>Ich führe Sie in wenigen Minuten durch alle Bereiche von 1Çatı und »Cati Training«.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8787" y="6476838"/>
            <a:ext cx="3251118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5" b="0" i="0">
                <a:solidFill>
                  <a:srgbClr val="BFE0DA"/>
                </a:solidFill>
                <a:latin typeface="Aptos"/>
              </a:rPr>
              <a:t>Waleri Moretz · WAMOCON GmbH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Breitbild</PresentationFormat>
  <Paragraphs>85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Waleri Moretz</cp:lastModifiedBy>
  <cp:revision>2</cp:revision>
  <dcterms:created xsi:type="dcterms:W3CDTF">2013-01-27T09:14:16Z</dcterms:created>
  <dcterms:modified xsi:type="dcterms:W3CDTF">2026-07-11T10:41:20Z</dcterms:modified>
  <cp:category/>
</cp:coreProperties>
</file>