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3" d="100"/>
          <a:sy n="103" d="100"/>
        </p:scale>
        <p:origin x="176"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over_photo.jpg"/>
          <p:cNvPicPr>
            <a:picLocks noChangeAspect="1"/>
          </p:cNvPicPr>
          <p:nvPr/>
        </p:nvPicPr>
        <p:blipFill>
          <a:blip r:embed="rId2"/>
          <a:stretch>
            <a:fillRect/>
          </a:stretch>
        </p:blipFill>
        <p:spPr>
          <a:xfrm>
            <a:off x="0" y="0"/>
            <a:ext cx="12191695" cy="6858000"/>
          </a:xfrm>
          <a:prstGeom prst="rect">
            <a:avLst/>
          </a:prstGeom>
        </p:spPr>
      </p:pic>
      <p:sp>
        <p:nvSpPr>
          <p:cNvPr id="4" name="Rounded Rectangle 3"/>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taberk_logo_transparent.png"/>
          <p:cNvPicPr>
            <a:picLocks noChangeAspect="1"/>
          </p:cNvPicPr>
          <p:nvPr/>
        </p:nvPicPr>
        <p:blipFill>
          <a:blip r:embed="rId3"/>
          <a:stretch>
            <a:fillRect/>
          </a:stretch>
        </p:blipFill>
        <p:spPr>
          <a:xfrm>
            <a:off x="10104120" y="473659"/>
            <a:ext cx="1298448" cy="259689"/>
          </a:xfrm>
          <a:prstGeom prst="rect">
            <a:avLst/>
          </a:prstGeom>
        </p:spPr>
      </p:pic>
      <p:pic>
        <p:nvPicPr>
          <p:cNvPr id="6" name="Picture 5" descr="logo.png"/>
          <p:cNvPicPr>
            <a:picLocks noChangeAspect="1"/>
          </p:cNvPicPr>
          <p:nvPr/>
        </p:nvPicPr>
        <p:blipFill>
          <a:blip r:embed="rId4"/>
          <a:stretch>
            <a:fillRect/>
          </a:stretch>
        </p:blipFill>
        <p:spPr>
          <a:xfrm>
            <a:off x="777240" y="640080"/>
            <a:ext cx="658368" cy="658368"/>
          </a:xfrm>
          <a:prstGeom prst="rect">
            <a:avLst/>
          </a:prstGeom>
        </p:spPr>
      </p:pic>
      <p:sp>
        <p:nvSpPr>
          <p:cNvPr id="7" name="TextBox 6"/>
          <p:cNvSpPr txBox="1"/>
          <p:nvPr/>
        </p:nvSpPr>
        <p:spPr>
          <a:xfrm>
            <a:off x="1572768" y="621792"/>
            <a:ext cx="8229600" cy="731520"/>
          </a:xfrm>
          <a:prstGeom prst="rect">
            <a:avLst/>
          </a:prstGeom>
          <a:noFill/>
        </p:spPr>
        <p:txBody>
          <a:bodyPr wrap="square" lIns="0" tIns="0" rIns="0" bIns="0" anchor="t">
            <a:spAutoFit/>
          </a:bodyPr>
          <a:lstStyle/>
          <a:p>
            <a:r>
              <a:rPr sz="2200" b="1" i="0">
                <a:solidFill>
                  <a:srgbClr val="FFFFFF"/>
                </a:solidFill>
                <a:latin typeface="Aptos"/>
              </a:rPr>
              <a:t>1Çatı</a:t>
            </a:r>
          </a:p>
          <a:p>
            <a:r>
              <a:rPr sz="1050" b="0" i="0">
                <a:solidFill>
                  <a:srgbClr val="CDE7E1"/>
                </a:solidFill>
                <a:latin typeface="Aptos"/>
              </a:rPr>
              <a:t>Property-Management- &amp; Real-Estate-ERP · umgesetzt durch WAMOCON GmbH</a:t>
            </a:r>
          </a:p>
        </p:txBody>
      </p:sp>
      <p:sp>
        <p:nvSpPr>
          <p:cNvPr id="8" name="Rounded Rectangle 7"/>
          <p:cNvSpPr/>
          <p:nvPr/>
        </p:nvSpPr>
        <p:spPr>
          <a:xfrm>
            <a:off x="777240" y="2148840"/>
            <a:ext cx="4206240" cy="384048"/>
          </a:xfrm>
          <a:prstGeom prst="roundRect">
            <a:avLst>
              <a:gd name="adj" fmla="val 50000"/>
            </a:avLst>
          </a:prstGeom>
          <a:solidFill>
            <a:srgbClr val="043F3A"/>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167128"/>
            <a:ext cx="4206240" cy="347472"/>
          </a:xfrm>
          <a:prstGeom prst="rect">
            <a:avLst/>
          </a:prstGeom>
          <a:noFill/>
        </p:spPr>
        <p:txBody>
          <a:bodyPr wrap="square" lIns="0" tIns="0" rIns="0" bIns="0" anchor="ctr">
            <a:spAutoFit/>
          </a:bodyPr>
          <a:lstStyle/>
          <a:p>
            <a:pPr algn="ctr"/>
            <a:r>
              <a:rPr sz="1100" b="1" i="0">
                <a:solidFill>
                  <a:srgbClr val="E2B75D"/>
                </a:solidFill>
                <a:latin typeface="Aptos"/>
              </a:rPr>
              <a:t>ANFORDERUNGS- &amp; LEISTUNGSDOKUMENT</a:t>
            </a:r>
          </a:p>
        </p:txBody>
      </p:sp>
      <p:sp>
        <p:nvSpPr>
          <p:cNvPr id="10" name="TextBox 9"/>
          <p:cNvSpPr txBox="1"/>
          <p:nvPr/>
        </p:nvSpPr>
        <p:spPr>
          <a:xfrm>
            <a:off x="777240" y="2697480"/>
            <a:ext cx="8778240" cy="1828800"/>
          </a:xfrm>
          <a:prstGeom prst="rect">
            <a:avLst/>
          </a:prstGeom>
          <a:noFill/>
        </p:spPr>
        <p:txBody>
          <a:bodyPr wrap="square" lIns="0" tIns="0" rIns="0" bIns="0" anchor="t">
            <a:spAutoFit/>
          </a:bodyPr>
          <a:lstStyle/>
          <a:p>
            <a:r>
              <a:rPr sz="4000" b="1" i="0">
                <a:solidFill>
                  <a:srgbClr val="FFFFFF"/>
                </a:solidFill>
                <a:latin typeface="Aptos"/>
              </a:rPr>
              <a:t>Ein Dach für Ihren
gesamten Immobilienbetrieb</a:t>
            </a:r>
          </a:p>
        </p:txBody>
      </p:sp>
      <p:sp>
        <p:nvSpPr>
          <p:cNvPr id="11" name="TextBox 10"/>
          <p:cNvSpPr txBox="1"/>
          <p:nvPr/>
        </p:nvSpPr>
        <p:spPr>
          <a:xfrm>
            <a:off x="777240" y="4343400"/>
            <a:ext cx="7680960" cy="400110"/>
          </a:xfrm>
          <a:prstGeom prst="rect">
            <a:avLst/>
          </a:prstGeom>
          <a:noFill/>
        </p:spPr>
        <p:txBody>
          <a:bodyPr wrap="square" lIns="0" tIns="0" rIns="0" bIns="0" anchor="t">
            <a:spAutoFit/>
          </a:bodyPr>
          <a:lstStyle/>
          <a:p>
            <a:r>
              <a:rPr sz="1300" b="0" i="0" dirty="0">
                <a:solidFill>
                  <a:srgbClr val="CDE7E1"/>
                </a:solidFill>
                <a:latin typeface="Aptos"/>
              </a:rPr>
              <a:t>Die </a:t>
            </a:r>
            <a:r>
              <a:rPr sz="1300" b="0" i="0" dirty="0" err="1">
                <a:solidFill>
                  <a:srgbClr val="CDE7E1"/>
                </a:solidFill>
                <a:latin typeface="Aptos"/>
              </a:rPr>
              <a:t>zentrale</a:t>
            </a:r>
            <a:r>
              <a:rPr sz="1300" b="0" i="0" dirty="0">
                <a:solidFill>
                  <a:srgbClr val="CDE7E1"/>
                </a:solidFill>
                <a:latin typeface="Aptos"/>
              </a:rPr>
              <a:t>, </a:t>
            </a:r>
            <a:r>
              <a:rPr sz="1300" b="0" i="0" dirty="0" err="1">
                <a:solidFill>
                  <a:srgbClr val="CDE7E1"/>
                </a:solidFill>
                <a:latin typeface="Aptos"/>
              </a:rPr>
              <a:t>mehrsprachige</a:t>
            </a:r>
            <a:r>
              <a:rPr sz="1300" b="0" i="0" dirty="0">
                <a:solidFill>
                  <a:srgbClr val="CDE7E1"/>
                </a:solidFill>
                <a:latin typeface="Aptos"/>
              </a:rPr>
              <a:t> </a:t>
            </a:r>
            <a:r>
              <a:rPr sz="1300" b="0" i="0" dirty="0" err="1">
                <a:solidFill>
                  <a:srgbClr val="CDE7E1"/>
                </a:solidFill>
                <a:latin typeface="Aptos"/>
              </a:rPr>
              <a:t>Plattform</a:t>
            </a:r>
            <a:r>
              <a:rPr sz="1300" b="0" i="0" dirty="0">
                <a:solidFill>
                  <a:srgbClr val="CDE7E1"/>
                </a:solidFill>
                <a:latin typeface="Aptos"/>
              </a:rPr>
              <a:t> für New Level Premium </a:t>
            </a:r>
            <a:r>
              <a:rPr lang="de-DE" sz="1300" b="0" i="0" dirty="0">
                <a:solidFill>
                  <a:srgbClr val="CDE7E1"/>
                </a:solidFill>
                <a:latin typeface="Aptos"/>
              </a:rPr>
              <a:t>-</a:t>
            </a:r>
            <a:r>
              <a:rPr sz="1300" b="0" i="0" dirty="0">
                <a:solidFill>
                  <a:srgbClr val="CDE7E1"/>
                </a:solidFill>
                <a:latin typeface="Aptos"/>
              </a:rPr>
              <a:t> Portfolio, </a:t>
            </a:r>
            <a:r>
              <a:rPr sz="1300" b="0" i="0" dirty="0" err="1">
                <a:solidFill>
                  <a:srgbClr val="CDE7E1"/>
                </a:solidFill>
                <a:latin typeface="Aptos"/>
              </a:rPr>
              <a:t>Eigentümer</a:t>
            </a:r>
            <a:r>
              <a:rPr sz="1300" b="0" i="0" dirty="0">
                <a:solidFill>
                  <a:srgbClr val="CDE7E1"/>
                </a:solidFill>
                <a:latin typeface="Aptos"/>
              </a:rPr>
              <a:t> &amp; </a:t>
            </a:r>
            <a:r>
              <a:rPr sz="1300" b="0" i="0" dirty="0" err="1">
                <a:solidFill>
                  <a:srgbClr val="CDE7E1"/>
                </a:solidFill>
                <a:latin typeface="Aptos"/>
              </a:rPr>
              <a:t>Mieter</a:t>
            </a:r>
            <a:r>
              <a:rPr sz="1300" b="0" i="0" dirty="0">
                <a:solidFill>
                  <a:srgbClr val="CDE7E1"/>
                </a:solidFill>
                <a:latin typeface="Aptos"/>
              </a:rPr>
              <a:t>, </a:t>
            </a:r>
            <a:r>
              <a:rPr sz="1300" b="0" i="0" dirty="0" err="1">
                <a:solidFill>
                  <a:srgbClr val="CDE7E1"/>
                </a:solidFill>
                <a:latin typeface="Aptos"/>
              </a:rPr>
              <a:t>Finanzen</a:t>
            </a:r>
            <a:r>
              <a:rPr sz="1300" b="0" i="0" dirty="0">
                <a:solidFill>
                  <a:srgbClr val="CDE7E1"/>
                </a:solidFill>
                <a:latin typeface="Aptos"/>
              </a:rPr>
              <a:t>, Service, </a:t>
            </a:r>
            <a:r>
              <a:rPr sz="1300" b="0" i="0" dirty="0" err="1">
                <a:solidFill>
                  <a:srgbClr val="CDE7E1"/>
                </a:solidFill>
                <a:latin typeface="Aptos"/>
              </a:rPr>
              <a:t>Reservierung</a:t>
            </a:r>
            <a:r>
              <a:rPr sz="1300" b="0" i="0" dirty="0">
                <a:solidFill>
                  <a:srgbClr val="CDE7E1"/>
                </a:solidFill>
                <a:latin typeface="Aptos"/>
              </a:rPr>
              <a:t>, </a:t>
            </a:r>
            <a:r>
              <a:rPr sz="1300" b="0" i="0" dirty="0" err="1">
                <a:solidFill>
                  <a:srgbClr val="CDE7E1"/>
                </a:solidFill>
                <a:latin typeface="Aptos"/>
              </a:rPr>
              <a:t>Dokumente</a:t>
            </a:r>
            <a:r>
              <a:rPr sz="1300" b="0" i="0" dirty="0">
                <a:solidFill>
                  <a:srgbClr val="CDE7E1"/>
                </a:solidFill>
                <a:latin typeface="Aptos"/>
              </a:rPr>
              <a:t>, Kommunikation und </a:t>
            </a:r>
            <a:r>
              <a:rPr sz="1300" b="0" i="0" dirty="0" err="1">
                <a:solidFill>
                  <a:srgbClr val="CDE7E1"/>
                </a:solidFill>
                <a:latin typeface="Aptos"/>
              </a:rPr>
              <a:t>Berichte</a:t>
            </a:r>
            <a:r>
              <a:rPr sz="1300" b="0" i="0" dirty="0">
                <a:solidFill>
                  <a:srgbClr val="CDE7E1"/>
                </a:solidFill>
                <a:latin typeface="Aptos"/>
              </a:rPr>
              <a:t> in </a:t>
            </a:r>
            <a:r>
              <a:rPr sz="1300" b="0" i="0" dirty="0" err="1">
                <a:solidFill>
                  <a:srgbClr val="CDE7E1"/>
                </a:solidFill>
                <a:latin typeface="Aptos"/>
              </a:rPr>
              <a:t>einem</a:t>
            </a:r>
            <a:r>
              <a:rPr sz="1300" b="0" i="0" dirty="0">
                <a:solidFill>
                  <a:srgbClr val="CDE7E1"/>
                </a:solidFill>
                <a:latin typeface="Aptos"/>
              </a:rPr>
              <a:t> System.</a:t>
            </a:r>
          </a:p>
        </p:txBody>
      </p:sp>
      <p:sp>
        <p:nvSpPr>
          <p:cNvPr id="12" name="Rounded Rectangle 11"/>
          <p:cNvSpPr/>
          <p:nvPr/>
        </p:nvSpPr>
        <p:spPr>
          <a:xfrm>
            <a:off x="777240" y="5193792"/>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248656"/>
            <a:ext cx="3108960" cy="365760"/>
          </a:xfrm>
          <a:prstGeom prst="rect">
            <a:avLst/>
          </a:prstGeom>
          <a:noFill/>
        </p:spPr>
        <p:txBody>
          <a:bodyPr wrap="square" lIns="0" tIns="0" rIns="0" bIns="0" anchor="t">
            <a:spAutoFit/>
          </a:bodyPr>
          <a:lstStyle/>
          <a:p>
            <a:r>
              <a:rPr sz="750" b="1" i="0">
                <a:solidFill>
                  <a:srgbClr val="9FCFC6"/>
                </a:solidFill>
                <a:latin typeface="Aptos"/>
              </a:rPr>
              <a:t>AUFTRAGGEBER</a:t>
            </a:r>
          </a:p>
          <a:p>
            <a:r>
              <a:rPr sz="1050" b="1" i="0">
                <a:solidFill>
                  <a:srgbClr val="FFFFFF"/>
                </a:solidFill>
                <a:latin typeface="Aptos"/>
              </a:rPr>
              <a:t>Ataberk Estate, Türkei</a:t>
            </a:r>
          </a:p>
        </p:txBody>
      </p:sp>
      <p:sp>
        <p:nvSpPr>
          <p:cNvPr id="14" name="Rounded Rectangle 13"/>
          <p:cNvSpPr/>
          <p:nvPr/>
        </p:nvSpPr>
        <p:spPr>
          <a:xfrm>
            <a:off x="4270248" y="5193792"/>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07408" y="5248656"/>
            <a:ext cx="3108960" cy="365760"/>
          </a:xfrm>
          <a:prstGeom prst="rect">
            <a:avLst/>
          </a:prstGeom>
          <a:noFill/>
        </p:spPr>
        <p:txBody>
          <a:bodyPr wrap="square" lIns="0" tIns="0" rIns="0" bIns="0" anchor="t">
            <a:spAutoFit/>
          </a:bodyPr>
          <a:lstStyle/>
          <a:p>
            <a:r>
              <a:rPr sz="750" b="1" i="0">
                <a:solidFill>
                  <a:srgbClr val="9FCFC6"/>
                </a:solidFill>
                <a:latin typeface="Aptos"/>
              </a:rPr>
              <a:t>REFERENZOBJEKT</a:t>
            </a:r>
          </a:p>
          <a:p>
            <a:r>
              <a:rPr sz="1050" b="1" i="0">
                <a:solidFill>
                  <a:srgbClr val="FFFFFF"/>
                </a:solidFill>
                <a:latin typeface="Aptos"/>
              </a:rPr>
              <a:t>New Level Premium, Avsallar/Alanya</a:t>
            </a:r>
          </a:p>
        </p:txBody>
      </p:sp>
      <p:sp>
        <p:nvSpPr>
          <p:cNvPr id="16" name="Rounded Rectangle 15"/>
          <p:cNvSpPr/>
          <p:nvPr/>
        </p:nvSpPr>
        <p:spPr>
          <a:xfrm>
            <a:off x="7763256" y="5193792"/>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00416" y="5248656"/>
            <a:ext cx="3108960" cy="365760"/>
          </a:xfrm>
          <a:prstGeom prst="rect">
            <a:avLst/>
          </a:prstGeom>
          <a:noFill/>
        </p:spPr>
        <p:txBody>
          <a:bodyPr wrap="square" lIns="0" tIns="0" rIns="0" bIns="0" anchor="t">
            <a:spAutoFit/>
          </a:bodyPr>
          <a:lstStyle/>
          <a:p>
            <a:r>
              <a:rPr sz="750" b="1" i="0">
                <a:solidFill>
                  <a:srgbClr val="9FCFC6"/>
                </a:solidFill>
                <a:latin typeface="Aptos"/>
              </a:rPr>
              <a:t>UMSETZUNG</a:t>
            </a:r>
          </a:p>
          <a:p>
            <a:r>
              <a:rPr sz="1050" b="1" i="0">
                <a:solidFill>
                  <a:srgbClr val="FFFFFF"/>
                </a:solidFill>
                <a:latin typeface="Aptos"/>
              </a:rPr>
              <a:t>WAMOCON GmbH</a:t>
            </a:r>
          </a:p>
        </p:txBody>
      </p:sp>
      <p:sp>
        <p:nvSpPr>
          <p:cNvPr id="18" name="Rounded Rectangle 17"/>
          <p:cNvSpPr/>
          <p:nvPr/>
        </p:nvSpPr>
        <p:spPr>
          <a:xfrm>
            <a:off x="777240" y="5760720"/>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815584"/>
            <a:ext cx="3108960" cy="365760"/>
          </a:xfrm>
          <a:prstGeom prst="rect">
            <a:avLst/>
          </a:prstGeom>
          <a:noFill/>
        </p:spPr>
        <p:txBody>
          <a:bodyPr wrap="square" lIns="0" tIns="0" rIns="0" bIns="0" anchor="t">
            <a:spAutoFit/>
          </a:bodyPr>
          <a:lstStyle/>
          <a:p>
            <a:r>
              <a:rPr sz="750" b="1" i="0">
                <a:solidFill>
                  <a:srgbClr val="9FCFC6"/>
                </a:solidFill>
                <a:latin typeface="Aptos"/>
              </a:rPr>
              <a:t>PLATTFORM</a:t>
            </a:r>
          </a:p>
          <a:p>
            <a:r>
              <a:rPr sz="1050" b="1" i="0">
                <a:solidFill>
                  <a:srgbClr val="FFFFFF"/>
                </a:solidFill>
                <a:latin typeface="Aptos"/>
              </a:rPr>
              <a:t>1Çatı ERP · Demonstrationsstand</a:t>
            </a:r>
          </a:p>
        </p:txBody>
      </p:sp>
      <p:sp>
        <p:nvSpPr>
          <p:cNvPr id="20" name="Rounded Rectangle 19"/>
          <p:cNvSpPr/>
          <p:nvPr/>
        </p:nvSpPr>
        <p:spPr>
          <a:xfrm>
            <a:off x="4270248" y="5760720"/>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07408" y="5815584"/>
            <a:ext cx="3108960" cy="365760"/>
          </a:xfrm>
          <a:prstGeom prst="rect">
            <a:avLst/>
          </a:prstGeom>
          <a:noFill/>
        </p:spPr>
        <p:txBody>
          <a:bodyPr wrap="square" lIns="0" tIns="0" rIns="0" bIns="0" anchor="t">
            <a:spAutoFit/>
          </a:bodyPr>
          <a:lstStyle/>
          <a:p>
            <a:r>
              <a:rPr sz="750" b="1" i="0">
                <a:solidFill>
                  <a:srgbClr val="9FCFC6"/>
                </a:solidFill>
                <a:latin typeface="Aptos"/>
              </a:rPr>
              <a:t>DOKUMENT</a:t>
            </a:r>
          </a:p>
          <a:p>
            <a:r>
              <a:rPr sz="1050" b="1" i="0">
                <a:solidFill>
                  <a:srgbClr val="FFFFFF"/>
                </a:solidFill>
                <a:latin typeface="Aptos"/>
              </a:rPr>
              <a:t>Kundenversion</a:t>
            </a:r>
          </a:p>
        </p:txBody>
      </p:sp>
      <p:sp>
        <p:nvSpPr>
          <p:cNvPr id="22" name="Rounded Rectangle 21"/>
          <p:cNvSpPr/>
          <p:nvPr/>
        </p:nvSpPr>
        <p:spPr>
          <a:xfrm>
            <a:off x="7763256" y="5760720"/>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00416" y="5815584"/>
            <a:ext cx="3108960" cy="365760"/>
          </a:xfrm>
          <a:prstGeom prst="rect">
            <a:avLst/>
          </a:prstGeom>
          <a:noFill/>
        </p:spPr>
        <p:txBody>
          <a:bodyPr wrap="square" lIns="0" tIns="0" rIns="0" bIns="0" anchor="t">
            <a:spAutoFit/>
          </a:bodyPr>
          <a:lstStyle/>
          <a:p>
            <a:r>
              <a:rPr sz="750" b="1" i="0">
                <a:solidFill>
                  <a:srgbClr val="9FCFC6"/>
                </a:solidFill>
                <a:latin typeface="Aptos"/>
              </a:rPr>
              <a:t>DATUM</a:t>
            </a:r>
          </a:p>
          <a:p>
            <a:r>
              <a:rPr sz="1050" b="1" i="0">
                <a:solidFill>
                  <a:srgbClr val="FFFFFF"/>
                </a:solidFill>
                <a:latin typeface="Aptos"/>
              </a:rPr>
              <a:t>07. Juli 2026</a:t>
            </a:r>
          </a:p>
        </p:txBody>
      </p:sp>
      <p:sp>
        <p:nvSpPr>
          <p:cNvPr id="24" name="TextBox 23"/>
          <p:cNvSpPr txBox="1"/>
          <p:nvPr/>
        </p:nvSpPr>
        <p:spPr>
          <a:xfrm>
            <a:off x="777240" y="6473952"/>
            <a:ext cx="8229600" cy="130805"/>
          </a:xfrm>
          <a:prstGeom prst="rect">
            <a:avLst/>
          </a:prstGeom>
          <a:noFill/>
        </p:spPr>
        <p:txBody>
          <a:bodyPr wrap="square" lIns="0" tIns="0" rIns="0" bIns="0" anchor="t">
            <a:spAutoFit/>
          </a:bodyPr>
          <a:lstStyle/>
          <a:p>
            <a:r>
              <a:rPr sz="850" b="0" i="0" dirty="0" err="1">
                <a:solidFill>
                  <a:srgbClr val="A9D2CB"/>
                </a:solidFill>
                <a:latin typeface="Aptos"/>
              </a:rPr>
              <a:t>Vertraulich</a:t>
            </a:r>
            <a:r>
              <a:rPr sz="850" b="0" i="0" dirty="0">
                <a:solidFill>
                  <a:srgbClr val="A9D2CB"/>
                </a:solidFill>
                <a:latin typeface="Aptos"/>
              </a:rPr>
              <a:t> </a:t>
            </a:r>
            <a:r>
              <a:rPr lang="de-DE" sz="850" b="0" i="0" dirty="0">
                <a:solidFill>
                  <a:srgbClr val="A9D2CB"/>
                </a:solidFill>
                <a:latin typeface="Aptos"/>
              </a:rPr>
              <a:t>-</a:t>
            </a:r>
            <a:r>
              <a:rPr sz="850" b="0" i="0" dirty="0">
                <a:solidFill>
                  <a:srgbClr val="A9D2CB"/>
                </a:solidFill>
                <a:latin typeface="Aptos"/>
              </a:rPr>
              <a:t> </a:t>
            </a:r>
            <a:r>
              <a:rPr sz="850" b="0" i="0" dirty="0" err="1">
                <a:solidFill>
                  <a:srgbClr val="A9D2CB"/>
                </a:solidFill>
                <a:latin typeface="Aptos"/>
              </a:rPr>
              <a:t>ausschließlich</a:t>
            </a:r>
            <a:r>
              <a:rPr sz="850" b="0" i="0" dirty="0">
                <a:solidFill>
                  <a:srgbClr val="A9D2CB"/>
                </a:solidFill>
                <a:latin typeface="Aptos"/>
              </a:rPr>
              <a:t> für </a:t>
            </a:r>
            <a:r>
              <a:rPr sz="850" b="0" i="0" dirty="0" err="1">
                <a:solidFill>
                  <a:srgbClr val="A9D2CB"/>
                </a:solidFill>
                <a:latin typeface="Aptos"/>
              </a:rPr>
              <a:t>Ataberk</a:t>
            </a:r>
            <a:r>
              <a:rPr sz="850" b="0" i="0" dirty="0">
                <a:solidFill>
                  <a:srgbClr val="A9D2CB"/>
                </a:solidFill>
                <a:latin typeface="Aptos"/>
              </a:rPr>
              <a:t> Estate </a:t>
            </a:r>
            <a:r>
              <a:rPr sz="850" b="0" i="0" dirty="0" err="1">
                <a:solidFill>
                  <a:srgbClr val="A9D2CB"/>
                </a:solidFill>
                <a:latin typeface="Aptos"/>
              </a:rPr>
              <a:t>bestimmt</a:t>
            </a:r>
            <a:r>
              <a:rPr sz="850" b="0" i="0" dirty="0">
                <a:solidFill>
                  <a:srgbClr val="A9D2CB"/>
                </a:solidFill>
                <a:latin typeface="Aptos"/>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ÜBERBLICK</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Inhalt der Präsentation</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645920"/>
            <a:ext cx="4937760" cy="475488"/>
          </a:xfrm>
          <a:prstGeom prst="rect">
            <a:avLst/>
          </a:prstGeom>
          <a:noFill/>
        </p:spPr>
        <p:txBody>
          <a:bodyPr wrap="square" lIns="0" tIns="0" rIns="0" bIns="0" anchor="ctr">
            <a:spAutoFit/>
          </a:bodyPr>
          <a:lstStyle/>
          <a:p>
            <a:r>
              <a:rPr sz="1300" b="1" i="0">
                <a:solidFill>
                  <a:srgbClr val="B9822B"/>
                </a:solidFill>
                <a:latin typeface="Aptos"/>
              </a:rPr>
              <a:t>01   </a:t>
            </a:r>
            <a:r>
              <a:rPr sz="1250" b="1" i="0">
                <a:solidFill>
                  <a:srgbClr val="101820"/>
                </a:solidFill>
                <a:latin typeface="Aptos"/>
              </a:rPr>
              <a:t>Management Summary</a:t>
            </a:r>
          </a:p>
        </p:txBody>
      </p:sp>
      <p:sp>
        <p:nvSpPr>
          <p:cNvPr id="11" name="Rounded Rectangle 10"/>
          <p:cNvSpPr/>
          <p:nvPr/>
        </p:nvSpPr>
        <p:spPr>
          <a:xfrm>
            <a:off x="640080" y="2231136"/>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231136"/>
            <a:ext cx="4937760" cy="475488"/>
          </a:xfrm>
          <a:prstGeom prst="rect">
            <a:avLst/>
          </a:prstGeom>
          <a:noFill/>
        </p:spPr>
        <p:txBody>
          <a:bodyPr wrap="square" lIns="0" tIns="0" rIns="0" bIns="0" anchor="ctr">
            <a:spAutoFit/>
          </a:bodyPr>
          <a:lstStyle/>
          <a:p>
            <a:r>
              <a:rPr sz="1300" b="1" i="0">
                <a:solidFill>
                  <a:srgbClr val="B9822B"/>
                </a:solidFill>
                <a:latin typeface="Aptos"/>
              </a:rPr>
              <a:t>02   </a:t>
            </a:r>
            <a:r>
              <a:rPr sz="1250" b="1" i="0">
                <a:solidFill>
                  <a:srgbClr val="101820"/>
                </a:solidFill>
                <a:latin typeface="Aptos"/>
              </a:rPr>
              <a:t>Marktumfeld &amp; Zeitpunkt</a:t>
            </a:r>
          </a:p>
        </p:txBody>
      </p:sp>
      <p:sp>
        <p:nvSpPr>
          <p:cNvPr id="13" name="Rounded Rectangle 12"/>
          <p:cNvSpPr/>
          <p:nvPr/>
        </p:nvSpPr>
        <p:spPr>
          <a:xfrm>
            <a:off x="640080" y="2816352"/>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2816352"/>
            <a:ext cx="4937760" cy="475488"/>
          </a:xfrm>
          <a:prstGeom prst="rect">
            <a:avLst/>
          </a:prstGeom>
          <a:noFill/>
        </p:spPr>
        <p:txBody>
          <a:bodyPr wrap="square" lIns="0" tIns="0" rIns="0" bIns="0" anchor="ctr">
            <a:spAutoFit/>
          </a:bodyPr>
          <a:lstStyle/>
          <a:p>
            <a:r>
              <a:rPr sz="1300" b="1" i="0">
                <a:solidFill>
                  <a:srgbClr val="B9822B"/>
                </a:solidFill>
                <a:latin typeface="Aptos"/>
              </a:rPr>
              <a:t>03   </a:t>
            </a:r>
            <a:r>
              <a:rPr sz="1250" b="1" i="0">
                <a:solidFill>
                  <a:srgbClr val="101820"/>
                </a:solidFill>
                <a:latin typeface="Aptos"/>
              </a:rPr>
              <a:t>Wettbewerb &amp; Positionierung</a:t>
            </a:r>
          </a:p>
        </p:txBody>
      </p:sp>
      <p:sp>
        <p:nvSpPr>
          <p:cNvPr id="15" name="Rounded Rectangle 14"/>
          <p:cNvSpPr/>
          <p:nvPr/>
        </p:nvSpPr>
        <p:spPr>
          <a:xfrm>
            <a:off x="640080" y="3401568"/>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401568"/>
            <a:ext cx="4937760" cy="475488"/>
          </a:xfrm>
          <a:prstGeom prst="rect">
            <a:avLst/>
          </a:prstGeom>
          <a:noFill/>
        </p:spPr>
        <p:txBody>
          <a:bodyPr wrap="square" lIns="0" tIns="0" rIns="0" bIns="0" anchor="ctr">
            <a:spAutoFit/>
          </a:bodyPr>
          <a:lstStyle/>
          <a:p>
            <a:r>
              <a:rPr sz="1300" b="1" i="0">
                <a:solidFill>
                  <a:srgbClr val="B9822B"/>
                </a:solidFill>
                <a:latin typeface="Aptos"/>
              </a:rPr>
              <a:t>04   </a:t>
            </a:r>
            <a:r>
              <a:rPr sz="1250" b="1" i="0">
                <a:solidFill>
                  <a:srgbClr val="101820"/>
                </a:solidFill>
                <a:latin typeface="Aptos"/>
              </a:rPr>
              <a:t>Zielgruppe</a:t>
            </a:r>
          </a:p>
        </p:txBody>
      </p:sp>
      <p:sp>
        <p:nvSpPr>
          <p:cNvPr id="17" name="Rounded Rectangle 16"/>
          <p:cNvSpPr/>
          <p:nvPr/>
        </p:nvSpPr>
        <p:spPr>
          <a:xfrm>
            <a:off x="640080" y="3986784"/>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986784"/>
            <a:ext cx="4937760" cy="475488"/>
          </a:xfrm>
          <a:prstGeom prst="rect">
            <a:avLst/>
          </a:prstGeom>
          <a:noFill/>
        </p:spPr>
        <p:txBody>
          <a:bodyPr wrap="square" lIns="0" tIns="0" rIns="0" bIns="0" anchor="ctr">
            <a:spAutoFit/>
          </a:bodyPr>
          <a:lstStyle/>
          <a:p>
            <a:r>
              <a:rPr sz="1300" b="1" i="0">
                <a:solidFill>
                  <a:srgbClr val="B9822B"/>
                </a:solidFill>
                <a:latin typeface="Aptos"/>
              </a:rPr>
              <a:t>05   </a:t>
            </a:r>
            <a:r>
              <a:rPr sz="1250" b="1" i="0">
                <a:solidFill>
                  <a:srgbClr val="101820"/>
                </a:solidFill>
                <a:latin typeface="Aptos"/>
              </a:rPr>
              <a:t>Nutzen für Ataberk Estate</a:t>
            </a:r>
          </a:p>
        </p:txBody>
      </p:sp>
      <p:sp>
        <p:nvSpPr>
          <p:cNvPr id="19" name="Rounded Rectangle 18"/>
          <p:cNvSpPr/>
          <p:nvPr/>
        </p:nvSpPr>
        <p:spPr>
          <a:xfrm>
            <a:off x="640080" y="4572000"/>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4709716"/>
            <a:ext cx="4937760" cy="200055"/>
          </a:xfrm>
          <a:prstGeom prst="rect">
            <a:avLst/>
          </a:prstGeom>
          <a:noFill/>
        </p:spPr>
        <p:txBody>
          <a:bodyPr wrap="square" lIns="0" tIns="0" rIns="0" bIns="0" anchor="ctr">
            <a:spAutoFit/>
          </a:bodyPr>
          <a:lstStyle/>
          <a:p>
            <a:r>
              <a:rPr sz="1300" b="1" i="0" dirty="0">
                <a:solidFill>
                  <a:srgbClr val="B9822B"/>
                </a:solidFill>
                <a:latin typeface="Aptos"/>
              </a:rPr>
              <a:t>06   </a:t>
            </a:r>
            <a:r>
              <a:rPr sz="1250" b="1" i="0" dirty="0" err="1">
                <a:solidFill>
                  <a:srgbClr val="101820"/>
                </a:solidFill>
                <a:latin typeface="Aptos"/>
              </a:rPr>
              <a:t>Funktionsumfang</a:t>
            </a:r>
            <a:r>
              <a:rPr sz="1250" b="1" i="0" dirty="0">
                <a:solidFill>
                  <a:srgbClr val="101820"/>
                </a:solidFill>
                <a:latin typeface="Aptos"/>
              </a:rPr>
              <a:t> </a:t>
            </a:r>
            <a:r>
              <a:rPr lang="de-DE" sz="1250" b="1" i="0" dirty="0">
                <a:solidFill>
                  <a:srgbClr val="101820"/>
                </a:solidFill>
                <a:latin typeface="Aptos"/>
              </a:rPr>
              <a:t>-</a:t>
            </a:r>
            <a:r>
              <a:rPr sz="1250" b="1" i="0" dirty="0">
                <a:solidFill>
                  <a:srgbClr val="101820"/>
                </a:solidFill>
                <a:latin typeface="Aptos"/>
              </a:rPr>
              <a:t> was 1Çatı </a:t>
            </a:r>
            <a:r>
              <a:rPr sz="1250" b="1" i="0" dirty="0" err="1">
                <a:solidFill>
                  <a:srgbClr val="101820"/>
                </a:solidFill>
                <a:latin typeface="Aptos"/>
              </a:rPr>
              <a:t>liefert</a:t>
            </a:r>
            <a:endParaRPr sz="1250" b="1" i="0" dirty="0">
              <a:solidFill>
                <a:srgbClr val="101820"/>
              </a:solidFill>
              <a:latin typeface="Aptos"/>
            </a:endParaRPr>
          </a:p>
        </p:txBody>
      </p:sp>
      <p:sp>
        <p:nvSpPr>
          <p:cNvPr id="21" name="Rounded Rectangle 20"/>
          <p:cNvSpPr/>
          <p:nvPr/>
        </p:nvSpPr>
        <p:spPr>
          <a:xfrm>
            <a:off x="6217920" y="1645920"/>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1645920"/>
            <a:ext cx="4937760" cy="475488"/>
          </a:xfrm>
          <a:prstGeom prst="rect">
            <a:avLst/>
          </a:prstGeom>
          <a:noFill/>
        </p:spPr>
        <p:txBody>
          <a:bodyPr wrap="square" lIns="0" tIns="0" rIns="0" bIns="0" anchor="ctr">
            <a:spAutoFit/>
          </a:bodyPr>
          <a:lstStyle/>
          <a:p>
            <a:r>
              <a:rPr sz="1300" b="1" i="0">
                <a:solidFill>
                  <a:srgbClr val="B9822B"/>
                </a:solidFill>
                <a:latin typeface="Aptos"/>
              </a:rPr>
              <a:t>07   </a:t>
            </a:r>
            <a:r>
              <a:rPr sz="1250" b="1" i="0">
                <a:solidFill>
                  <a:srgbClr val="101820"/>
                </a:solidFill>
                <a:latin typeface="Aptos"/>
              </a:rPr>
              <a:t>Abgleich Ihrer Anforderungen</a:t>
            </a:r>
          </a:p>
        </p:txBody>
      </p:sp>
      <p:sp>
        <p:nvSpPr>
          <p:cNvPr id="23" name="Rounded Rectangle 22"/>
          <p:cNvSpPr/>
          <p:nvPr/>
        </p:nvSpPr>
        <p:spPr>
          <a:xfrm>
            <a:off x="6217920" y="2231136"/>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2368852"/>
            <a:ext cx="4937760" cy="200055"/>
          </a:xfrm>
          <a:prstGeom prst="rect">
            <a:avLst/>
          </a:prstGeom>
          <a:noFill/>
        </p:spPr>
        <p:txBody>
          <a:bodyPr wrap="square" lIns="0" tIns="0" rIns="0" bIns="0" anchor="ctr">
            <a:spAutoFit/>
          </a:bodyPr>
          <a:lstStyle/>
          <a:p>
            <a:r>
              <a:rPr sz="1300" b="1" i="0" dirty="0">
                <a:solidFill>
                  <a:srgbClr val="B9822B"/>
                </a:solidFill>
                <a:latin typeface="Aptos"/>
              </a:rPr>
              <a:t>08   </a:t>
            </a:r>
            <a:r>
              <a:rPr sz="1250" b="1" i="0" dirty="0">
                <a:solidFill>
                  <a:srgbClr val="101820"/>
                </a:solidFill>
                <a:latin typeface="Aptos"/>
              </a:rPr>
              <a:t>Die Demonstration </a:t>
            </a:r>
            <a:r>
              <a:rPr lang="de-DE" sz="1250" b="1" i="0" dirty="0">
                <a:solidFill>
                  <a:srgbClr val="101820"/>
                </a:solidFill>
                <a:latin typeface="Aptos"/>
              </a:rPr>
              <a:t>-</a:t>
            </a:r>
            <a:r>
              <a:rPr sz="1250" b="1" i="0" dirty="0">
                <a:solidFill>
                  <a:srgbClr val="101820"/>
                </a:solidFill>
                <a:latin typeface="Aptos"/>
              </a:rPr>
              <a:t> Zweck &amp; </a:t>
            </a:r>
            <a:r>
              <a:rPr sz="1250" b="1" i="0" dirty="0" err="1">
                <a:solidFill>
                  <a:srgbClr val="101820"/>
                </a:solidFill>
                <a:latin typeface="Aptos"/>
              </a:rPr>
              <a:t>Umfang</a:t>
            </a:r>
            <a:endParaRPr sz="1250" b="1" i="0" dirty="0">
              <a:solidFill>
                <a:srgbClr val="101820"/>
              </a:solidFill>
              <a:latin typeface="Aptos"/>
            </a:endParaRPr>
          </a:p>
        </p:txBody>
      </p:sp>
      <p:sp>
        <p:nvSpPr>
          <p:cNvPr id="25" name="Rounded Rectangle 24"/>
          <p:cNvSpPr/>
          <p:nvPr/>
        </p:nvSpPr>
        <p:spPr>
          <a:xfrm>
            <a:off x="6217920" y="2816352"/>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2816352"/>
            <a:ext cx="4937760" cy="475488"/>
          </a:xfrm>
          <a:prstGeom prst="rect">
            <a:avLst/>
          </a:prstGeom>
          <a:noFill/>
        </p:spPr>
        <p:txBody>
          <a:bodyPr wrap="square" lIns="0" tIns="0" rIns="0" bIns="0" anchor="ctr">
            <a:spAutoFit/>
          </a:bodyPr>
          <a:lstStyle/>
          <a:p>
            <a:r>
              <a:rPr sz="1300" b="1" i="0">
                <a:solidFill>
                  <a:srgbClr val="B9822B"/>
                </a:solidFill>
                <a:latin typeface="Aptos"/>
              </a:rPr>
              <a:t>09   </a:t>
            </a:r>
            <a:r>
              <a:rPr sz="1250" b="1" i="0">
                <a:solidFill>
                  <a:srgbClr val="101820"/>
                </a:solidFill>
                <a:latin typeface="Aptos"/>
              </a:rPr>
              <a:t>Nächste Schritte</a:t>
            </a:r>
          </a:p>
        </p:txBody>
      </p:sp>
      <p:sp>
        <p:nvSpPr>
          <p:cNvPr id="27" name="Rounded Rectangle 26"/>
          <p:cNvSpPr/>
          <p:nvPr/>
        </p:nvSpPr>
        <p:spPr>
          <a:xfrm>
            <a:off x="6217920" y="3401568"/>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3401568"/>
            <a:ext cx="4937760" cy="475488"/>
          </a:xfrm>
          <a:prstGeom prst="rect">
            <a:avLst/>
          </a:prstGeom>
          <a:noFill/>
        </p:spPr>
        <p:txBody>
          <a:bodyPr wrap="square" lIns="0" tIns="0" rIns="0" bIns="0" anchor="ctr">
            <a:spAutoFit/>
          </a:bodyPr>
          <a:lstStyle/>
          <a:p>
            <a:r>
              <a:rPr sz="1300" b="1" i="0">
                <a:solidFill>
                  <a:srgbClr val="B9822B"/>
                </a:solidFill>
                <a:latin typeface="Aptos"/>
              </a:rPr>
              <a:t>10   </a:t>
            </a:r>
            <a:r>
              <a:rPr sz="1250" b="1" i="0">
                <a:solidFill>
                  <a:srgbClr val="101820"/>
                </a:solidFill>
                <a:latin typeface="Aptos"/>
              </a:rPr>
              <a:t>Umsetzungsplan &amp; Fahrplan</a:t>
            </a:r>
          </a:p>
        </p:txBody>
      </p:sp>
      <p:sp>
        <p:nvSpPr>
          <p:cNvPr id="29" name="Rounded Rectangle 28"/>
          <p:cNvSpPr/>
          <p:nvPr/>
        </p:nvSpPr>
        <p:spPr>
          <a:xfrm>
            <a:off x="6217920" y="3986784"/>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3986784"/>
            <a:ext cx="4937760" cy="475488"/>
          </a:xfrm>
          <a:prstGeom prst="rect">
            <a:avLst/>
          </a:prstGeom>
          <a:noFill/>
        </p:spPr>
        <p:txBody>
          <a:bodyPr wrap="square" lIns="0" tIns="0" rIns="0" bIns="0" anchor="ctr">
            <a:spAutoFit/>
          </a:bodyPr>
          <a:lstStyle/>
          <a:p>
            <a:r>
              <a:rPr sz="1300" b="1" i="0">
                <a:solidFill>
                  <a:srgbClr val="B9822B"/>
                </a:solidFill>
                <a:latin typeface="Aptos"/>
              </a:rPr>
              <a:t>11   </a:t>
            </a:r>
            <a:r>
              <a:rPr sz="1250" b="1" i="0">
                <a:solidFill>
                  <a:srgbClr val="101820"/>
                </a:solidFill>
                <a:latin typeface="Aptos"/>
              </a:rPr>
              <a:t>Chancen &amp; Voraussetzungen</a:t>
            </a:r>
          </a:p>
        </p:txBody>
      </p:sp>
      <p:sp>
        <p:nvSpPr>
          <p:cNvPr id="31" name="Rounded Rectangle 30"/>
          <p:cNvSpPr/>
          <p:nvPr/>
        </p:nvSpPr>
        <p:spPr>
          <a:xfrm>
            <a:off x="640080" y="5440680"/>
            <a:ext cx="10881360" cy="7772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0080" y="5440680"/>
            <a:ext cx="54864" cy="7772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96112" y="5644634"/>
            <a:ext cx="10469880" cy="369332"/>
          </a:xfrm>
          <a:prstGeom prst="rect">
            <a:avLst/>
          </a:prstGeom>
          <a:noFill/>
        </p:spPr>
        <p:txBody>
          <a:bodyPr wrap="square" lIns="0" tIns="0" rIns="0" bIns="0" anchor="ctr">
            <a:spAutoFit/>
          </a:bodyPr>
          <a:lstStyle/>
          <a:p>
            <a:r>
              <a:rPr sz="1250" b="1" i="0" dirty="0">
                <a:solidFill>
                  <a:srgbClr val="044F49"/>
                </a:solidFill>
                <a:latin typeface="Aptos"/>
              </a:rPr>
              <a:t>Wie </a:t>
            </a:r>
            <a:r>
              <a:rPr sz="1250" b="1" i="0" dirty="0" err="1">
                <a:solidFill>
                  <a:srgbClr val="044F49"/>
                </a:solidFill>
                <a:latin typeface="Aptos"/>
              </a:rPr>
              <a:t>diese</a:t>
            </a:r>
            <a:r>
              <a:rPr sz="1250" b="1" i="0" dirty="0">
                <a:solidFill>
                  <a:srgbClr val="044F49"/>
                </a:solidFill>
                <a:latin typeface="Aptos"/>
              </a:rPr>
              <a:t> </a:t>
            </a:r>
            <a:r>
              <a:rPr sz="1250" b="1" i="0" dirty="0" err="1">
                <a:solidFill>
                  <a:srgbClr val="044F49"/>
                </a:solidFill>
                <a:latin typeface="Aptos"/>
              </a:rPr>
              <a:t>Präsentation</a:t>
            </a:r>
            <a:r>
              <a:rPr sz="1250" b="1" i="0" dirty="0">
                <a:solidFill>
                  <a:srgbClr val="044F49"/>
                </a:solidFill>
                <a:latin typeface="Aptos"/>
              </a:rPr>
              <a:t> </a:t>
            </a:r>
            <a:r>
              <a:rPr sz="1250" b="1" i="0" dirty="0" err="1">
                <a:solidFill>
                  <a:srgbClr val="044F49"/>
                </a:solidFill>
                <a:latin typeface="Aptos"/>
              </a:rPr>
              <a:t>zu</a:t>
            </a:r>
            <a:r>
              <a:rPr sz="1250" b="1" i="0" dirty="0">
                <a:solidFill>
                  <a:srgbClr val="044F49"/>
                </a:solidFill>
                <a:latin typeface="Aptos"/>
              </a:rPr>
              <a:t> </a:t>
            </a:r>
            <a:r>
              <a:rPr sz="1250" b="1" i="0" dirty="0" err="1">
                <a:solidFill>
                  <a:srgbClr val="044F49"/>
                </a:solidFill>
                <a:latin typeface="Aptos"/>
              </a:rPr>
              <a:t>lesen</a:t>
            </a:r>
            <a:r>
              <a:rPr sz="1250" b="1" i="0" dirty="0">
                <a:solidFill>
                  <a:srgbClr val="044F49"/>
                </a:solidFill>
                <a:latin typeface="Aptos"/>
              </a:rPr>
              <a:t> </a:t>
            </a:r>
            <a:r>
              <a:rPr sz="1250" b="1" i="0" dirty="0" err="1">
                <a:solidFill>
                  <a:srgbClr val="044F49"/>
                </a:solidFill>
                <a:latin typeface="Aptos"/>
              </a:rPr>
              <a:t>ist</a:t>
            </a:r>
            <a:r>
              <a:rPr sz="1250" b="1" i="0" dirty="0">
                <a:solidFill>
                  <a:srgbClr val="044F49"/>
                </a:solidFill>
                <a:latin typeface="Aptos"/>
              </a:rPr>
              <a:t>.  </a:t>
            </a:r>
            <a:r>
              <a:rPr sz="1150" b="0" i="0" dirty="0">
                <a:solidFill>
                  <a:srgbClr val="33413D"/>
                </a:solidFill>
                <a:latin typeface="Aptos"/>
              </a:rPr>
              <a:t>1Çatı </a:t>
            </a:r>
            <a:r>
              <a:rPr sz="1150" b="0" i="0" dirty="0" err="1">
                <a:solidFill>
                  <a:srgbClr val="33413D"/>
                </a:solidFill>
                <a:latin typeface="Aptos"/>
              </a:rPr>
              <a:t>liegt</a:t>
            </a:r>
            <a:r>
              <a:rPr sz="1150" b="0" i="0" dirty="0">
                <a:solidFill>
                  <a:srgbClr val="33413D"/>
                </a:solidFill>
                <a:latin typeface="Aptos"/>
              </a:rPr>
              <a:t> </a:t>
            </a:r>
            <a:r>
              <a:rPr sz="1150" b="0" i="0" dirty="0" err="1">
                <a:solidFill>
                  <a:srgbClr val="33413D"/>
                </a:solidFill>
                <a:latin typeface="Aptos"/>
              </a:rPr>
              <a:t>als</a:t>
            </a:r>
            <a:r>
              <a:rPr sz="1150" b="0" i="0" dirty="0">
                <a:solidFill>
                  <a:srgbClr val="33413D"/>
                </a:solidFill>
                <a:latin typeface="Aptos"/>
              </a:rPr>
              <a:t> </a:t>
            </a:r>
            <a:r>
              <a:rPr sz="1150" b="0" i="0" dirty="0" err="1">
                <a:solidFill>
                  <a:srgbClr val="33413D"/>
                </a:solidFill>
                <a:latin typeface="Aptos"/>
              </a:rPr>
              <a:t>vollständig</a:t>
            </a:r>
            <a:r>
              <a:rPr sz="1150" b="0" i="0" dirty="0">
                <a:solidFill>
                  <a:srgbClr val="33413D"/>
                </a:solidFill>
                <a:latin typeface="Aptos"/>
              </a:rPr>
              <a:t> </a:t>
            </a:r>
            <a:r>
              <a:rPr sz="1150" b="0" i="0" dirty="0" err="1">
                <a:solidFill>
                  <a:srgbClr val="33413D"/>
                </a:solidFill>
                <a:latin typeface="Aptos"/>
              </a:rPr>
              <a:t>bedienbare</a:t>
            </a:r>
            <a:r>
              <a:rPr sz="1150" b="0" i="0" dirty="0">
                <a:solidFill>
                  <a:srgbClr val="33413D"/>
                </a:solidFill>
                <a:latin typeface="Aptos"/>
              </a:rPr>
              <a:t> </a:t>
            </a:r>
            <a:r>
              <a:rPr sz="1150" b="0" i="0" dirty="0" err="1">
                <a:solidFill>
                  <a:srgbClr val="33413D"/>
                </a:solidFill>
                <a:latin typeface="Aptos"/>
              </a:rPr>
              <a:t>Demonstrationsumgebung</a:t>
            </a:r>
            <a:r>
              <a:rPr sz="1150" b="0" i="0" dirty="0">
                <a:solidFill>
                  <a:srgbClr val="33413D"/>
                </a:solidFill>
                <a:latin typeface="Aptos"/>
              </a:rPr>
              <a:t> </a:t>
            </a:r>
            <a:r>
              <a:rPr sz="1150" b="0" i="0" dirty="0" err="1">
                <a:solidFill>
                  <a:srgbClr val="33413D"/>
                </a:solidFill>
                <a:latin typeface="Aptos"/>
              </a:rPr>
              <a:t>vor</a:t>
            </a:r>
            <a:r>
              <a:rPr sz="1150" b="0" i="0" dirty="0">
                <a:solidFill>
                  <a:srgbClr val="33413D"/>
                </a:solidFill>
                <a:latin typeface="Aptos"/>
              </a:rPr>
              <a:t>. </a:t>
            </a:r>
            <a:r>
              <a:rPr sz="1150" b="0" i="0" dirty="0" err="1">
                <a:solidFill>
                  <a:srgbClr val="33413D"/>
                </a:solidFill>
                <a:latin typeface="Aptos"/>
              </a:rPr>
              <a:t>Jede</a:t>
            </a:r>
            <a:r>
              <a:rPr sz="1150" b="0" i="0" dirty="0">
                <a:solidFill>
                  <a:srgbClr val="33413D"/>
                </a:solidFill>
                <a:latin typeface="Aptos"/>
              </a:rPr>
              <a:t> </a:t>
            </a:r>
            <a:r>
              <a:rPr sz="1150" b="0" i="0" dirty="0" err="1">
                <a:solidFill>
                  <a:srgbClr val="33413D"/>
                </a:solidFill>
                <a:latin typeface="Aptos"/>
              </a:rPr>
              <a:t>Funktion</a:t>
            </a:r>
            <a:r>
              <a:rPr sz="1150" b="0" i="0" dirty="0">
                <a:solidFill>
                  <a:srgbClr val="33413D"/>
                </a:solidFill>
                <a:latin typeface="Aptos"/>
              </a:rPr>
              <a:t> </a:t>
            </a:r>
            <a:r>
              <a:rPr sz="1150" b="0" i="0" dirty="0" err="1">
                <a:solidFill>
                  <a:srgbClr val="33413D"/>
                </a:solidFill>
                <a:latin typeface="Aptos"/>
              </a:rPr>
              <a:t>ist</a:t>
            </a:r>
            <a:r>
              <a:rPr sz="1150" b="0" i="0" dirty="0">
                <a:solidFill>
                  <a:srgbClr val="33413D"/>
                </a:solidFill>
                <a:latin typeface="Aptos"/>
              </a:rPr>
              <a:t> </a:t>
            </a:r>
            <a:r>
              <a:rPr sz="1150" b="0" i="0" dirty="0" err="1">
                <a:solidFill>
                  <a:srgbClr val="33413D"/>
                </a:solidFill>
                <a:latin typeface="Aptos"/>
              </a:rPr>
              <a:t>mit</a:t>
            </a:r>
            <a:r>
              <a:rPr sz="1150" b="0" i="0" dirty="0">
                <a:solidFill>
                  <a:srgbClr val="33413D"/>
                </a:solidFill>
                <a:latin typeface="Aptos"/>
              </a:rPr>
              <a:t> </a:t>
            </a:r>
            <a:r>
              <a:rPr sz="1150" b="0" i="0" dirty="0" err="1">
                <a:solidFill>
                  <a:srgbClr val="33413D"/>
                </a:solidFill>
                <a:latin typeface="Aptos"/>
              </a:rPr>
              <a:t>einem</a:t>
            </a:r>
            <a:r>
              <a:rPr sz="1150" b="0" i="0" dirty="0">
                <a:solidFill>
                  <a:srgbClr val="33413D"/>
                </a:solidFill>
                <a:latin typeface="Aptos"/>
              </a:rPr>
              <a:t> Status </a:t>
            </a:r>
            <a:r>
              <a:rPr sz="1150" b="0" i="0" dirty="0" err="1">
                <a:solidFill>
                  <a:srgbClr val="33413D"/>
                </a:solidFill>
                <a:latin typeface="Aptos"/>
              </a:rPr>
              <a:t>gekennzeichnet</a:t>
            </a:r>
            <a:r>
              <a:rPr sz="1150" b="0" i="0" dirty="0">
                <a:solidFill>
                  <a:srgbClr val="33413D"/>
                </a:solidFill>
                <a:latin typeface="Aptos"/>
              </a:rPr>
              <a:t> </a:t>
            </a:r>
            <a:r>
              <a:rPr lang="de-DE" sz="1150" b="0" i="0" dirty="0">
                <a:solidFill>
                  <a:srgbClr val="33413D"/>
                </a:solidFill>
                <a:latin typeface="Aptos"/>
              </a:rPr>
              <a:t>-</a:t>
            </a:r>
            <a:r>
              <a:rPr sz="1150" b="0" i="0" dirty="0">
                <a:solidFill>
                  <a:srgbClr val="33413D"/>
                </a:solidFill>
                <a:latin typeface="Aptos"/>
              </a:rPr>
              <a:t> so </a:t>
            </a:r>
            <a:r>
              <a:rPr sz="1150" b="0" i="0" dirty="0" err="1">
                <a:solidFill>
                  <a:srgbClr val="33413D"/>
                </a:solidFill>
                <a:latin typeface="Aptos"/>
              </a:rPr>
              <a:t>ist</a:t>
            </a:r>
            <a:r>
              <a:rPr sz="1150" b="0" i="0" dirty="0">
                <a:solidFill>
                  <a:srgbClr val="33413D"/>
                </a:solidFill>
                <a:latin typeface="Aptos"/>
              </a:rPr>
              <a:t> </a:t>
            </a:r>
            <a:r>
              <a:rPr sz="1150" b="0" i="0" dirty="0" err="1">
                <a:solidFill>
                  <a:srgbClr val="33413D"/>
                </a:solidFill>
                <a:latin typeface="Aptos"/>
              </a:rPr>
              <a:t>klar</a:t>
            </a:r>
            <a:r>
              <a:rPr sz="1150" b="0" i="0" dirty="0">
                <a:solidFill>
                  <a:srgbClr val="33413D"/>
                </a:solidFill>
                <a:latin typeface="Aptos"/>
              </a:rPr>
              <a:t>, was </a:t>
            </a:r>
            <a:r>
              <a:rPr sz="1150" b="0" i="0" dirty="0" err="1">
                <a:solidFill>
                  <a:srgbClr val="33413D"/>
                </a:solidFill>
                <a:latin typeface="Aptos"/>
              </a:rPr>
              <a:t>heute</a:t>
            </a:r>
            <a:r>
              <a:rPr sz="1150" b="0" i="0" dirty="0">
                <a:solidFill>
                  <a:srgbClr val="33413D"/>
                </a:solidFill>
                <a:latin typeface="Aptos"/>
              </a:rPr>
              <a:t> </a:t>
            </a:r>
            <a:r>
              <a:rPr sz="1150" b="0" i="0" dirty="0" err="1">
                <a:solidFill>
                  <a:srgbClr val="33413D"/>
                </a:solidFill>
                <a:latin typeface="Aptos"/>
              </a:rPr>
              <a:t>nutzbar</a:t>
            </a:r>
            <a:r>
              <a:rPr sz="1150" b="0" i="0" dirty="0">
                <a:solidFill>
                  <a:srgbClr val="33413D"/>
                </a:solidFill>
                <a:latin typeface="Aptos"/>
              </a:rPr>
              <a:t> </a:t>
            </a:r>
            <a:r>
              <a:rPr sz="1150" b="0" i="0" dirty="0" err="1">
                <a:solidFill>
                  <a:srgbClr val="33413D"/>
                </a:solidFill>
                <a:latin typeface="Aptos"/>
              </a:rPr>
              <a:t>ist</a:t>
            </a:r>
            <a:r>
              <a:rPr sz="1150" b="0" i="0" dirty="0">
                <a:solidFill>
                  <a:srgbClr val="33413D"/>
                </a:solidFill>
                <a:latin typeface="Aptos"/>
              </a:rPr>
              <a:t> und was für den </a:t>
            </a:r>
            <a:r>
              <a:rPr sz="1150" b="0" i="0" dirty="0" err="1">
                <a:solidFill>
                  <a:srgbClr val="33413D"/>
                </a:solidFill>
                <a:latin typeface="Aptos"/>
              </a:rPr>
              <a:t>Produktivbetrieb</a:t>
            </a:r>
            <a:r>
              <a:rPr sz="1150" b="0" i="0" dirty="0">
                <a:solidFill>
                  <a:srgbClr val="33413D"/>
                </a:solidFill>
                <a:latin typeface="Aptos"/>
              </a:rPr>
              <a:t> </a:t>
            </a:r>
            <a:r>
              <a:rPr sz="1150" b="0" i="0" dirty="0" err="1">
                <a:solidFill>
                  <a:srgbClr val="33413D"/>
                </a:solidFill>
                <a:latin typeface="Aptos"/>
              </a:rPr>
              <a:t>freigeschaltet</a:t>
            </a:r>
            <a:r>
              <a:rPr sz="1150" b="0" i="0" dirty="0">
                <a:solidFill>
                  <a:srgbClr val="33413D"/>
                </a:solidFill>
                <a:latin typeface="Aptos"/>
              </a:rPr>
              <a:t> </a:t>
            </a:r>
            <a:r>
              <a:rPr sz="1150" b="0" i="0" dirty="0" err="1">
                <a:solidFill>
                  <a:srgbClr val="33413D"/>
                </a:solidFill>
                <a:latin typeface="Aptos"/>
              </a:rPr>
              <a:t>wird</a:t>
            </a:r>
            <a:r>
              <a:rPr sz="1150" b="0" i="0" dirty="0">
                <a:solidFill>
                  <a:srgbClr val="33413D"/>
                </a:solidFill>
                <a:latin typeface="Aptos"/>
              </a:rPr>
              <a:t>.</a:t>
            </a:r>
          </a:p>
        </p:txBody>
      </p:sp>
      <p:sp>
        <p:nvSpPr>
          <p:cNvPr id="34" name="TextBox 3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35" name="TextBox 3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a:t>
            </a:r>
          </a:p>
        </p:txBody>
      </p:sp>
      <p:pic>
        <p:nvPicPr>
          <p:cNvPr id="36" name="Picture 3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DAS REFERENZOBJEKT</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New Level Premium </a:t>
            </a:r>
            <a:r>
              <a:rPr lang="de-DE" sz="2700" b="1" i="0" dirty="0">
                <a:solidFill>
                  <a:srgbClr val="044F49"/>
                </a:solidFill>
                <a:latin typeface="Aptos"/>
              </a:rPr>
              <a:t>-</a:t>
            </a:r>
            <a:r>
              <a:rPr sz="2700" b="1" i="0" dirty="0">
                <a:solidFill>
                  <a:srgbClr val="044F49"/>
                </a:solidFill>
                <a:latin typeface="Aptos"/>
              </a:rPr>
              <a:t> </a:t>
            </a:r>
            <a:r>
              <a:rPr sz="2700" b="1" i="0" dirty="0" err="1">
                <a:solidFill>
                  <a:srgbClr val="044F49"/>
                </a:solidFill>
                <a:latin typeface="Aptos"/>
              </a:rPr>
              <a:t>Avsallar</a:t>
            </a:r>
            <a:r>
              <a:rPr sz="2700" b="1" i="0" dirty="0">
                <a:solidFill>
                  <a:srgbClr val="044F49"/>
                </a:solidFill>
                <a:latin typeface="Aptos"/>
              </a:rPr>
              <a:t> / Alanya</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481328"/>
            <a:ext cx="10881360" cy="176972"/>
          </a:xfrm>
          <a:prstGeom prst="rect">
            <a:avLst/>
          </a:prstGeom>
          <a:noFill/>
        </p:spPr>
        <p:txBody>
          <a:bodyPr wrap="square" lIns="0" tIns="0" rIns="0" bIns="0" anchor="t">
            <a:spAutoFit/>
          </a:bodyPr>
          <a:lstStyle/>
          <a:p>
            <a:pPr>
              <a:spcAft>
                <a:spcPts val="600"/>
              </a:spcAft>
            </a:pPr>
            <a:r>
              <a:rPr sz="1150" i="0" dirty="0">
                <a:solidFill>
                  <a:srgbClr val="33413D"/>
                </a:solidFill>
                <a:latin typeface="Aptos"/>
              </a:rPr>
              <a:t>Ein </a:t>
            </a:r>
            <a:r>
              <a:rPr sz="1150" i="0" dirty="0" err="1">
                <a:solidFill>
                  <a:srgbClr val="33413D"/>
                </a:solidFill>
                <a:latin typeface="Aptos"/>
              </a:rPr>
              <a:t>Neubauprojekt</a:t>
            </a:r>
            <a:r>
              <a:rPr sz="1150" i="0" dirty="0">
                <a:solidFill>
                  <a:srgbClr val="33413D"/>
                </a:solidFill>
                <a:latin typeface="Aptos"/>
              </a:rPr>
              <a:t> </a:t>
            </a:r>
            <a:r>
              <a:rPr sz="1150" i="0" dirty="0" err="1">
                <a:solidFill>
                  <a:srgbClr val="33413D"/>
                </a:solidFill>
                <a:latin typeface="Aptos"/>
              </a:rPr>
              <a:t>mit</a:t>
            </a:r>
            <a:r>
              <a:rPr sz="1150" i="0" dirty="0">
                <a:solidFill>
                  <a:srgbClr val="33413D"/>
                </a:solidFill>
                <a:latin typeface="Aptos"/>
              </a:rPr>
              <a:t> 769 </a:t>
            </a:r>
            <a:r>
              <a:rPr sz="1150" i="0" dirty="0" err="1">
                <a:solidFill>
                  <a:srgbClr val="33413D"/>
                </a:solidFill>
                <a:latin typeface="Aptos"/>
              </a:rPr>
              <a:t>Wohneinheiten</a:t>
            </a:r>
            <a:r>
              <a:rPr sz="1150" i="0" dirty="0">
                <a:solidFill>
                  <a:srgbClr val="33413D"/>
                </a:solidFill>
                <a:latin typeface="Aptos"/>
              </a:rPr>
              <a:t> in </a:t>
            </a:r>
            <a:r>
              <a:rPr sz="1150" i="0" dirty="0" err="1">
                <a:solidFill>
                  <a:srgbClr val="33413D"/>
                </a:solidFill>
                <a:latin typeface="Aptos"/>
              </a:rPr>
              <a:t>bewaldeter</a:t>
            </a:r>
            <a:r>
              <a:rPr sz="1150" i="0" dirty="0">
                <a:solidFill>
                  <a:srgbClr val="33413D"/>
                </a:solidFill>
                <a:latin typeface="Aptos"/>
              </a:rPr>
              <a:t> </a:t>
            </a:r>
            <a:r>
              <a:rPr sz="1150" i="0" dirty="0" err="1">
                <a:solidFill>
                  <a:srgbClr val="33413D"/>
                </a:solidFill>
                <a:latin typeface="Aptos"/>
              </a:rPr>
              <a:t>Hanglage</a:t>
            </a:r>
            <a:r>
              <a:rPr sz="1150" i="0" dirty="0">
                <a:solidFill>
                  <a:srgbClr val="33413D"/>
                </a:solidFill>
                <a:latin typeface="Aptos"/>
              </a:rPr>
              <a:t> </a:t>
            </a:r>
            <a:r>
              <a:rPr sz="1150" i="0" dirty="0" err="1">
                <a:solidFill>
                  <a:srgbClr val="33413D"/>
                </a:solidFill>
                <a:latin typeface="Aptos"/>
              </a:rPr>
              <a:t>mit</a:t>
            </a:r>
            <a:r>
              <a:rPr sz="1150" i="0" dirty="0">
                <a:solidFill>
                  <a:srgbClr val="33413D"/>
                </a:solidFill>
                <a:latin typeface="Aptos"/>
              </a:rPr>
              <a:t> </a:t>
            </a:r>
            <a:r>
              <a:rPr sz="1150" i="0" dirty="0" err="1">
                <a:solidFill>
                  <a:srgbClr val="33413D"/>
                </a:solidFill>
                <a:latin typeface="Aptos"/>
              </a:rPr>
              <a:t>Meerblick</a:t>
            </a:r>
            <a:r>
              <a:rPr sz="1150" i="0" dirty="0">
                <a:solidFill>
                  <a:srgbClr val="33413D"/>
                </a:solidFill>
                <a:latin typeface="Aptos"/>
              </a:rPr>
              <a:t> </a:t>
            </a:r>
            <a:r>
              <a:rPr lang="de-DE" sz="1150" i="0" dirty="0">
                <a:solidFill>
                  <a:srgbClr val="33413D"/>
                </a:solidFill>
                <a:latin typeface="Aptos"/>
              </a:rPr>
              <a:t>-</a:t>
            </a:r>
            <a:r>
              <a:rPr sz="1150" i="0" dirty="0">
                <a:solidFill>
                  <a:srgbClr val="33413D"/>
                </a:solidFill>
                <a:latin typeface="Aptos"/>
              </a:rPr>
              <a:t> das </a:t>
            </a:r>
            <a:r>
              <a:rPr sz="1150" i="0" dirty="0" err="1">
                <a:solidFill>
                  <a:srgbClr val="33413D"/>
                </a:solidFill>
                <a:latin typeface="Aptos"/>
              </a:rPr>
              <a:t>Referenzobjekt</a:t>
            </a:r>
            <a:r>
              <a:rPr sz="1150" i="0" dirty="0">
                <a:solidFill>
                  <a:srgbClr val="33413D"/>
                </a:solidFill>
                <a:latin typeface="Aptos"/>
              </a:rPr>
              <a:t>, für das 1Çatı </a:t>
            </a:r>
            <a:r>
              <a:rPr sz="1150" i="0" dirty="0" err="1">
                <a:solidFill>
                  <a:srgbClr val="33413D"/>
                </a:solidFill>
                <a:latin typeface="Aptos"/>
              </a:rPr>
              <a:t>entwickelt</a:t>
            </a:r>
            <a:r>
              <a:rPr sz="1150" i="0" dirty="0">
                <a:solidFill>
                  <a:srgbClr val="33413D"/>
                </a:solidFill>
                <a:latin typeface="Aptos"/>
              </a:rPr>
              <a:t> </a:t>
            </a:r>
            <a:r>
              <a:rPr sz="1150" i="0" dirty="0" err="1">
                <a:solidFill>
                  <a:srgbClr val="33413D"/>
                </a:solidFill>
                <a:latin typeface="Aptos"/>
              </a:rPr>
              <a:t>wurde</a:t>
            </a:r>
            <a:r>
              <a:rPr sz="1150" i="0" dirty="0">
                <a:solidFill>
                  <a:srgbClr val="33413D"/>
                </a:solidFill>
                <a:latin typeface="Aptos"/>
              </a:rPr>
              <a:t>.</a:t>
            </a:r>
          </a:p>
        </p:txBody>
      </p:sp>
      <p:pic>
        <p:nvPicPr>
          <p:cNvPr id="10" name="Picture 9" descr="oben.jpg"/>
          <p:cNvPicPr>
            <a:picLocks noChangeAspect="1"/>
          </p:cNvPicPr>
          <p:nvPr/>
        </p:nvPicPr>
        <p:blipFill>
          <a:blip r:embed="rId3"/>
          <a:stretch>
            <a:fillRect/>
          </a:stretch>
        </p:blipFill>
        <p:spPr>
          <a:xfrm>
            <a:off x="640080" y="2057400"/>
            <a:ext cx="5321808" cy="2990088"/>
          </a:xfrm>
          <a:prstGeom prst="rect">
            <a:avLst/>
          </a:prstGeom>
          <a:ln w="12700">
            <a:solidFill>
              <a:srgbClr val="DAE3E0"/>
            </a:solidFill>
          </a:ln>
        </p:spPr>
      </p:pic>
      <p:pic>
        <p:nvPicPr>
          <p:cNvPr id="11" name="Picture 10" descr="seite.jpg"/>
          <p:cNvPicPr>
            <a:picLocks noChangeAspect="1"/>
          </p:cNvPicPr>
          <p:nvPr/>
        </p:nvPicPr>
        <p:blipFill>
          <a:blip r:embed="rId4"/>
          <a:stretch>
            <a:fillRect/>
          </a:stretch>
        </p:blipFill>
        <p:spPr>
          <a:xfrm>
            <a:off x="6190488" y="2057400"/>
            <a:ext cx="5321808" cy="2990088"/>
          </a:xfrm>
          <a:prstGeom prst="rect">
            <a:avLst/>
          </a:prstGeom>
          <a:ln w="12700">
            <a:solidFill>
              <a:srgbClr val="DAE3E0"/>
            </a:solidFill>
          </a:ln>
        </p:spPr>
      </p:pic>
      <p:sp>
        <p:nvSpPr>
          <p:cNvPr id="12" name="TextBox 11"/>
          <p:cNvSpPr txBox="1"/>
          <p:nvPr/>
        </p:nvSpPr>
        <p:spPr>
          <a:xfrm>
            <a:off x="640080" y="5120640"/>
            <a:ext cx="5321808" cy="146194"/>
          </a:xfrm>
          <a:prstGeom prst="rect">
            <a:avLst/>
          </a:prstGeom>
          <a:noFill/>
        </p:spPr>
        <p:txBody>
          <a:bodyPr wrap="square" lIns="0" tIns="0" rIns="0" bIns="0" anchor="t">
            <a:spAutoFit/>
          </a:bodyPr>
          <a:lstStyle/>
          <a:p>
            <a:r>
              <a:rPr sz="950" b="0" i="1" dirty="0">
                <a:solidFill>
                  <a:srgbClr val="64716D"/>
                </a:solidFill>
                <a:latin typeface="Aptos"/>
              </a:rPr>
              <a:t>Anlage </a:t>
            </a:r>
            <a:r>
              <a:rPr sz="950" b="0" i="1" dirty="0" err="1">
                <a:solidFill>
                  <a:srgbClr val="64716D"/>
                </a:solidFill>
                <a:latin typeface="Aptos"/>
              </a:rPr>
              <a:t>aus</a:t>
            </a:r>
            <a:r>
              <a:rPr sz="950" b="0" i="1" dirty="0">
                <a:solidFill>
                  <a:srgbClr val="64716D"/>
                </a:solidFill>
                <a:latin typeface="Aptos"/>
              </a:rPr>
              <a:t> der </a:t>
            </a:r>
            <a:r>
              <a:rPr sz="950" b="0" i="1" dirty="0" err="1">
                <a:solidFill>
                  <a:srgbClr val="64716D"/>
                </a:solidFill>
                <a:latin typeface="Aptos"/>
              </a:rPr>
              <a:t>Vogelperspektive</a:t>
            </a:r>
            <a:r>
              <a:rPr sz="950" b="0" i="1" dirty="0">
                <a:solidFill>
                  <a:srgbClr val="64716D"/>
                </a:solidFill>
                <a:latin typeface="Aptos"/>
              </a:rPr>
              <a:t> </a:t>
            </a:r>
            <a:r>
              <a:rPr lang="de-DE" sz="950" b="0" i="1" dirty="0">
                <a:solidFill>
                  <a:srgbClr val="64716D"/>
                </a:solidFill>
                <a:latin typeface="Aptos"/>
              </a:rPr>
              <a:t>-</a:t>
            </a:r>
            <a:r>
              <a:rPr sz="950" b="0" i="1" dirty="0">
                <a:solidFill>
                  <a:srgbClr val="64716D"/>
                </a:solidFill>
                <a:latin typeface="Aptos"/>
              </a:rPr>
              <a:t> </a:t>
            </a:r>
            <a:r>
              <a:rPr sz="950" b="0" i="1" dirty="0" err="1">
                <a:solidFill>
                  <a:srgbClr val="64716D"/>
                </a:solidFill>
                <a:latin typeface="Aptos"/>
              </a:rPr>
              <a:t>Blockstruktur</a:t>
            </a:r>
            <a:r>
              <a:rPr sz="950" b="0" i="1" dirty="0">
                <a:solidFill>
                  <a:srgbClr val="64716D"/>
                </a:solidFill>
                <a:latin typeface="Aptos"/>
              </a:rPr>
              <a:t>, Pools und </a:t>
            </a:r>
            <a:r>
              <a:rPr sz="950" b="0" i="1" dirty="0" err="1">
                <a:solidFill>
                  <a:srgbClr val="64716D"/>
                </a:solidFill>
                <a:latin typeface="Aptos"/>
              </a:rPr>
              <a:t>Sportanlagen</a:t>
            </a:r>
            <a:r>
              <a:rPr sz="950" b="0" i="1" dirty="0">
                <a:solidFill>
                  <a:srgbClr val="64716D"/>
                </a:solidFill>
                <a:latin typeface="Aptos"/>
              </a:rPr>
              <a:t>.</a:t>
            </a:r>
          </a:p>
        </p:txBody>
      </p:sp>
      <p:sp>
        <p:nvSpPr>
          <p:cNvPr id="13" name="TextBox 12"/>
          <p:cNvSpPr txBox="1"/>
          <p:nvPr/>
        </p:nvSpPr>
        <p:spPr>
          <a:xfrm>
            <a:off x="6190488" y="5120640"/>
            <a:ext cx="5321808" cy="146194"/>
          </a:xfrm>
          <a:prstGeom prst="rect">
            <a:avLst/>
          </a:prstGeom>
          <a:noFill/>
        </p:spPr>
        <p:txBody>
          <a:bodyPr wrap="square" lIns="0" tIns="0" rIns="0" bIns="0" anchor="t">
            <a:spAutoFit/>
          </a:bodyPr>
          <a:lstStyle/>
          <a:p>
            <a:r>
              <a:rPr sz="950" b="0" i="1" dirty="0" err="1">
                <a:solidFill>
                  <a:srgbClr val="64716D"/>
                </a:solidFill>
                <a:latin typeface="Aptos"/>
              </a:rPr>
              <a:t>Seitenansicht</a:t>
            </a:r>
            <a:r>
              <a:rPr sz="950" b="0" i="1" dirty="0">
                <a:solidFill>
                  <a:srgbClr val="64716D"/>
                </a:solidFill>
                <a:latin typeface="Aptos"/>
              </a:rPr>
              <a:t> </a:t>
            </a:r>
            <a:r>
              <a:rPr sz="950" b="0" i="1" dirty="0" err="1">
                <a:solidFill>
                  <a:srgbClr val="64716D"/>
                </a:solidFill>
                <a:latin typeface="Aptos"/>
              </a:rPr>
              <a:t>mit</a:t>
            </a:r>
            <a:r>
              <a:rPr sz="950" b="0" i="1" dirty="0">
                <a:solidFill>
                  <a:srgbClr val="64716D"/>
                </a:solidFill>
                <a:latin typeface="Aptos"/>
              </a:rPr>
              <a:t> </a:t>
            </a:r>
            <a:r>
              <a:rPr sz="950" b="0" i="1" dirty="0" err="1">
                <a:solidFill>
                  <a:srgbClr val="64716D"/>
                </a:solidFill>
                <a:latin typeface="Aptos"/>
              </a:rPr>
              <a:t>Meerblick</a:t>
            </a:r>
            <a:r>
              <a:rPr sz="950" b="0" i="1" dirty="0">
                <a:solidFill>
                  <a:srgbClr val="64716D"/>
                </a:solidFill>
                <a:latin typeface="Aptos"/>
              </a:rPr>
              <a:t> </a:t>
            </a:r>
            <a:r>
              <a:rPr lang="de-DE" sz="950" b="0" i="1" dirty="0">
                <a:solidFill>
                  <a:srgbClr val="64716D"/>
                </a:solidFill>
                <a:latin typeface="Aptos"/>
              </a:rPr>
              <a:t>-</a:t>
            </a:r>
            <a:r>
              <a:rPr sz="950" b="0" i="1" dirty="0">
                <a:solidFill>
                  <a:srgbClr val="64716D"/>
                </a:solidFill>
                <a:latin typeface="Aptos"/>
              </a:rPr>
              <a:t> die </a:t>
            </a:r>
            <a:r>
              <a:rPr sz="950" b="0" i="1" dirty="0" err="1">
                <a:solidFill>
                  <a:srgbClr val="64716D"/>
                </a:solidFill>
                <a:latin typeface="Aptos"/>
              </a:rPr>
              <a:t>Wohntürme</a:t>
            </a:r>
            <a:r>
              <a:rPr sz="950" b="0" i="1" dirty="0">
                <a:solidFill>
                  <a:srgbClr val="64716D"/>
                </a:solidFill>
                <a:latin typeface="Aptos"/>
              </a:rPr>
              <a:t> in der </a:t>
            </a:r>
            <a:r>
              <a:rPr sz="950" b="0" i="1" dirty="0" err="1">
                <a:solidFill>
                  <a:srgbClr val="64716D"/>
                </a:solidFill>
                <a:latin typeface="Aptos"/>
              </a:rPr>
              <a:t>Pinienlandschaft</a:t>
            </a:r>
            <a:r>
              <a:rPr sz="950" b="0" i="1" dirty="0">
                <a:solidFill>
                  <a:srgbClr val="64716D"/>
                </a:solidFill>
                <a:latin typeface="Aptos"/>
              </a:rPr>
              <a:t>.</a:t>
            </a:r>
          </a:p>
        </p:txBody>
      </p:sp>
      <p:sp>
        <p:nvSpPr>
          <p:cNvPr id="14" name="Rounded Rectangle 13"/>
          <p:cNvSpPr/>
          <p:nvPr/>
        </p:nvSpPr>
        <p:spPr>
          <a:xfrm>
            <a:off x="640080" y="5715000"/>
            <a:ext cx="10881360" cy="50292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5715000"/>
            <a:ext cx="54864" cy="50292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5843016"/>
            <a:ext cx="10469880" cy="246888"/>
          </a:xfrm>
          <a:prstGeom prst="rect">
            <a:avLst/>
          </a:prstGeom>
          <a:noFill/>
        </p:spPr>
        <p:txBody>
          <a:bodyPr wrap="square" lIns="0" tIns="0" rIns="0" bIns="0" anchor="ctr">
            <a:spAutoFit/>
          </a:bodyPr>
          <a:lstStyle/>
          <a:p>
            <a:r>
              <a:rPr sz="1250" b="1" i="0">
                <a:solidFill>
                  <a:srgbClr val="044F49"/>
                </a:solidFill>
                <a:latin typeface="Aptos"/>
              </a:rPr>
              <a:t>769 Wohneinheiten.  </a:t>
            </a:r>
            <a:r>
              <a:rPr sz="1150" b="0" i="0">
                <a:solidFill>
                  <a:srgbClr val="33413D"/>
                </a:solidFill>
                <a:latin typeface="Aptos"/>
              </a:rPr>
              <a:t>Für dieses Portfolio bündelt 1Çatı Vertrieb, Eigentümer &amp; Mieter, Finanzen, Service und Kommunikation in einer einzigen Plattform.</a:t>
            </a:r>
          </a:p>
        </p:txBody>
      </p:sp>
      <p:sp>
        <p:nvSpPr>
          <p:cNvPr id="17" name="TextBox 16"/>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8" name="TextBox 17"/>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a:t>
            </a:r>
          </a:p>
        </p:txBody>
      </p:sp>
      <p:pic>
        <p:nvPicPr>
          <p:cNvPr id="19" name="Picture 18" descr="logo.png"/>
          <p:cNvPicPr>
            <a:picLocks noChangeAspect="1"/>
          </p:cNvPicPr>
          <p:nvPr/>
        </p:nvPicPr>
        <p:blipFill>
          <a:blip r:embed="rId5"/>
          <a:stretch>
            <a:fillRect/>
          </a:stretch>
        </p:blipFill>
        <p:spPr>
          <a:xfrm>
            <a:off x="10744200" y="6382512"/>
            <a:ext cx="310896" cy="310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01</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Management Summary</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600200"/>
            <a:ext cx="10881360" cy="530915"/>
          </a:xfrm>
          <a:prstGeom prst="rect">
            <a:avLst/>
          </a:prstGeom>
          <a:noFill/>
        </p:spPr>
        <p:txBody>
          <a:bodyPr wrap="square" lIns="0" tIns="0" rIns="0" bIns="0" anchor="t">
            <a:spAutoFit/>
          </a:bodyPr>
          <a:lstStyle/>
          <a:p>
            <a:pPr>
              <a:spcAft>
                <a:spcPts val="600"/>
              </a:spcAft>
            </a:pPr>
            <a:r>
              <a:rPr sz="1150" i="0" dirty="0">
                <a:solidFill>
                  <a:srgbClr val="33413D"/>
                </a:solidFill>
                <a:latin typeface="Aptos"/>
              </a:rPr>
              <a:t>1Çatı (»Ein Dach«) </a:t>
            </a:r>
            <a:r>
              <a:rPr sz="1150" i="0" dirty="0" err="1">
                <a:solidFill>
                  <a:srgbClr val="33413D"/>
                </a:solidFill>
                <a:latin typeface="Aptos"/>
              </a:rPr>
              <a:t>bündelt</a:t>
            </a:r>
            <a:r>
              <a:rPr sz="1150" i="0" dirty="0">
                <a:solidFill>
                  <a:srgbClr val="33413D"/>
                </a:solidFill>
                <a:latin typeface="Aptos"/>
              </a:rPr>
              <a:t> den </a:t>
            </a:r>
            <a:r>
              <a:rPr sz="1150" i="0" dirty="0" err="1">
                <a:solidFill>
                  <a:srgbClr val="33413D"/>
                </a:solidFill>
                <a:latin typeface="Aptos"/>
              </a:rPr>
              <a:t>gesamten</a:t>
            </a:r>
            <a:r>
              <a:rPr sz="1150" i="0" dirty="0">
                <a:solidFill>
                  <a:srgbClr val="33413D"/>
                </a:solidFill>
                <a:latin typeface="Aptos"/>
              </a:rPr>
              <a:t> </a:t>
            </a:r>
            <a:r>
              <a:rPr sz="1150" i="0" dirty="0" err="1">
                <a:solidFill>
                  <a:srgbClr val="33413D"/>
                </a:solidFill>
                <a:latin typeface="Aptos"/>
              </a:rPr>
              <a:t>Immobilienbetrieb</a:t>
            </a:r>
            <a:r>
              <a:rPr sz="1150" i="0" dirty="0">
                <a:solidFill>
                  <a:srgbClr val="33413D"/>
                </a:solidFill>
                <a:latin typeface="Aptos"/>
              </a:rPr>
              <a:t> von </a:t>
            </a:r>
            <a:r>
              <a:rPr sz="1150" i="0" dirty="0" err="1">
                <a:solidFill>
                  <a:srgbClr val="33413D"/>
                </a:solidFill>
                <a:latin typeface="Aptos"/>
              </a:rPr>
              <a:t>Ataberk</a:t>
            </a:r>
            <a:r>
              <a:rPr sz="1150" i="0" dirty="0">
                <a:solidFill>
                  <a:srgbClr val="33413D"/>
                </a:solidFill>
                <a:latin typeface="Aptos"/>
              </a:rPr>
              <a:t> Estate an </a:t>
            </a:r>
            <a:r>
              <a:rPr sz="1150" i="0" dirty="0" err="1">
                <a:solidFill>
                  <a:srgbClr val="33413D"/>
                </a:solidFill>
                <a:latin typeface="Aptos"/>
              </a:rPr>
              <a:t>einem</a:t>
            </a:r>
            <a:r>
              <a:rPr sz="1150" i="0" dirty="0">
                <a:solidFill>
                  <a:srgbClr val="33413D"/>
                </a:solidFill>
                <a:latin typeface="Aptos"/>
              </a:rPr>
              <a:t> Ort </a:t>
            </a:r>
            <a:r>
              <a:rPr lang="de-DE" sz="1150" i="0" dirty="0">
                <a:solidFill>
                  <a:srgbClr val="33413D"/>
                </a:solidFill>
                <a:latin typeface="Aptos"/>
              </a:rPr>
              <a:t>-</a:t>
            </a:r>
            <a:r>
              <a:rPr sz="1150" i="0" dirty="0">
                <a:solidFill>
                  <a:srgbClr val="33413D"/>
                </a:solidFill>
                <a:latin typeface="Aptos"/>
              </a:rPr>
              <a:t> </a:t>
            </a:r>
            <a:r>
              <a:rPr sz="1150" i="0" dirty="0" err="1">
                <a:solidFill>
                  <a:srgbClr val="33413D"/>
                </a:solidFill>
                <a:latin typeface="Aptos"/>
              </a:rPr>
              <a:t>entwickelt</a:t>
            </a:r>
            <a:r>
              <a:rPr sz="1150" i="0" dirty="0">
                <a:solidFill>
                  <a:srgbClr val="33413D"/>
                </a:solidFill>
                <a:latin typeface="Aptos"/>
              </a:rPr>
              <a:t> für New Level Premium in </a:t>
            </a:r>
            <a:r>
              <a:rPr sz="1150" i="0" dirty="0" err="1">
                <a:solidFill>
                  <a:srgbClr val="33413D"/>
                </a:solidFill>
                <a:latin typeface="Aptos"/>
              </a:rPr>
              <a:t>Avsallar</a:t>
            </a:r>
            <a:r>
              <a:rPr sz="1150" i="0" dirty="0">
                <a:solidFill>
                  <a:srgbClr val="33413D"/>
                </a:solidFill>
                <a:latin typeface="Aptos"/>
              </a:rPr>
              <a:t>/Alanya </a:t>
            </a:r>
            <a:r>
              <a:rPr sz="1150" i="0" dirty="0" err="1">
                <a:solidFill>
                  <a:srgbClr val="33413D"/>
                </a:solidFill>
                <a:latin typeface="Aptos"/>
              </a:rPr>
              <a:t>mit</a:t>
            </a:r>
            <a:r>
              <a:rPr sz="1150" i="0" dirty="0">
                <a:solidFill>
                  <a:srgbClr val="33413D"/>
                </a:solidFill>
                <a:latin typeface="Aptos"/>
              </a:rPr>
              <a:t> 769 </a:t>
            </a:r>
            <a:r>
              <a:rPr sz="1150" i="0" dirty="0" err="1">
                <a:solidFill>
                  <a:srgbClr val="33413D"/>
                </a:solidFill>
                <a:latin typeface="Aptos"/>
              </a:rPr>
              <a:t>Wohneinheiten</a:t>
            </a:r>
            <a:r>
              <a:rPr sz="1150" i="0" dirty="0">
                <a:solidFill>
                  <a:srgbClr val="33413D"/>
                </a:solidFill>
                <a:latin typeface="Aptos"/>
              </a:rPr>
              <a:t>. Die </a:t>
            </a:r>
            <a:r>
              <a:rPr sz="1150" i="0" dirty="0" err="1">
                <a:solidFill>
                  <a:srgbClr val="33413D"/>
                </a:solidFill>
                <a:latin typeface="Aptos"/>
              </a:rPr>
              <a:t>bisherige</a:t>
            </a:r>
            <a:r>
              <a:rPr sz="1150" i="0" dirty="0">
                <a:solidFill>
                  <a:srgbClr val="33413D"/>
                </a:solidFill>
                <a:latin typeface="Aptos"/>
              </a:rPr>
              <a:t> </a:t>
            </a:r>
            <a:r>
              <a:rPr sz="1150" i="0" dirty="0" err="1">
                <a:solidFill>
                  <a:srgbClr val="33413D"/>
                </a:solidFill>
                <a:latin typeface="Aptos"/>
              </a:rPr>
              <a:t>Koordination</a:t>
            </a:r>
            <a:r>
              <a:rPr sz="1150" i="0" dirty="0">
                <a:solidFill>
                  <a:srgbClr val="33413D"/>
                </a:solidFill>
                <a:latin typeface="Aptos"/>
              </a:rPr>
              <a:t> </a:t>
            </a:r>
            <a:r>
              <a:rPr sz="1150" i="0" dirty="0" err="1">
                <a:solidFill>
                  <a:srgbClr val="33413D"/>
                </a:solidFill>
                <a:latin typeface="Aptos"/>
              </a:rPr>
              <a:t>über</a:t>
            </a:r>
            <a:r>
              <a:rPr sz="1150" i="0" dirty="0">
                <a:solidFill>
                  <a:srgbClr val="33413D"/>
                </a:solidFill>
                <a:latin typeface="Aptos"/>
              </a:rPr>
              <a:t> Excel-Listen, WhatsApp und Vor-Ort-</a:t>
            </a:r>
            <a:r>
              <a:rPr sz="1150" i="0" dirty="0" err="1">
                <a:solidFill>
                  <a:srgbClr val="33413D"/>
                </a:solidFill>
                <a:latin typeface="Aptos"/>
              </a:rPr>
              <a:t>Absprachen</a:t>
            </a:r>
            <a:r>
              <a:rPr sz="1150" i="0" dirty="0">
                <a:solidFill>
                  <a:srgbClr val="33413D"/>
                </a:solidFill>
                <a:latin typeface="Aptos"/>
              </a:rPr>
              <a:t> </a:t>
            </a:r>
            <a:r>
              <a:rPr sz="1150" i="0" dirty="0" err="1">
                <a:solidFill>
                  <a:srgbClr val="33413D"/>
                </a:solidFill>
                <a:latin typeface="Aptos"/>
              </a:rPr>
              <a:t>wird</a:t>
            </a:r>
            <a:r>
              <a:rPr sz="1150" i="0" dirty="0">
                <a:solidFill>
                  <a:srgbClr val="33413D"/>
                </a:solidFill>
                <a:latin typeface="Aptos"/>
              </a:rPr>
              <a:t> </a:t>
            </a:r>
            <a:r>
              <a:rPr sz="1150" i="0" dirty="0" err="1">
                <a:solidFill>
                  <a:srgbClr val="33413D"/>
                </a:solidFill>
                <a:latin typeface="Aptos"/>
              </a:rPr>
              <a:t>durch</a:t>
            </a:r>
            <a:r>
              <a:rPr sz="1150" i="0" dirty="0">
                <a:solidFill>
                  <a:srgbClr val="33413D"/>
                </a:solidFill>
                <a:latin typeface="Aptos"/>
              </a:rPr>
              <a:t> </a:t>
            </a:r>
            <a:r>
              <a:rPr sz="1150" i="0" dirty="0" err="1">
                <a:solidFill>
                  <a:srgbClr val="33413D"/>
                </a:solidFill>
                <a:latin typeface="Aptos"/>
              </a:rPr>
              <a:t>ein</a:t>
            </a:r>
            <a:r>
              <a:rPr sz="1150" i="0" dirty="0">
                <a:solidFill>
                  <a:srgbClr val="33413D"/>
                </a:solidFill>
                <a:latin typeface="Aptos"/>
              </a:rPr>
              <a:t> </a:t>
            </a:r>
            <a:r>
              <a:rPr sz="1150" b="1" i="0" dirty="0" err="1">
                <a:solidFill>
                  <a:srgbClr val="33413D"/>
                </a:solidFill>
                <a:latin typeface="Aptos"/>
              </a:rPr>
              <a:t>rollenbasiertes</a:t>
            </a:r>
            <a:r>
              <a:rPr sz="1150" b="1" i="0" dirty="0">
                <a:solidFill>
                  <a:srgbClr val="33413D"/>
                </a:solidFill>
                <a:latin typeface="Aptos"/>
              </a:rPr>
              <a:t>, </a:t>
            </a:r>
            <a:r>
              <a:rPr sz="1150" b="1" i="0" dirty="0" err="1">
                <a:solidFill>
                  <a:srgbClr val="33413D"/>
                </a:solidFill>
                <a:latin typeface="Aptos"/>
              </a:rPr>
              <a:t>viersprachiges</a:t>
            </a:r>
            <a:r>
              <a:rPr sz="1150" b="1" i="0" dirty="0">
                <a:solidFill>
                  <a:srgbClr val="33413D"/>
                </a:solidFill>
                <a:latin typeface="Aptos"/>
              </a:rPr>
              <a:t> </a:t>
            </a:r>
            <a:r>
              <a:rPr sz="1150" b="1" i="0" dirty="0" err="1">
                <a:solidFill>
                  <a:srgbClr val="33413D"/>
                </a:solidFill>
                <a:latin typeface="Aptos"/>
              </a:rPr>
              <a:t>Betriebssystem</a:t>
            </a:r>
            <a:r>
              <a:rPr sz="1150" i="0" dirty="0">
                <a:solidFill>
                  <a:srgbClr val="33413D"/>
                </a:solidFill>
                <a:latin typeface="Aptos"/>
              </a:rPr>
              <a:t> (</a:t>
            </a:r>
            <a:r>
              <a:rPr sz="1150" i="0" dirty="0" err="1">
                <a:solidFill>
                  <a:srgbClr val="33413D"/>
                </a:solidFill>
                <a:latin typeface="Aptos"/>
              </a:rPr>
              <a:t>Türkisch</a:t>
            </a:r>
            <a:r>
              <a:rPr sz="1150" i="0" dirty="0">
                <a:solidFill>
                  <a:srgbClr val="33413D"/>
                </a:solidFill>
                <a:latin typeface="Aptos"/>
              </a:rPr>
              <a:t>, Englisch, Deutsch, </a:t>
            </a:r>
            <a:r>
              <a:rPr sz="1150" i="0" dirty="0" err="1">
                <a:solidFill>
                  <a:srgbClr val="33413D"/>
                </a:solidFill>
                <a:latin typeface="Aptos"/>
              </a:rPr>
              <a:t>Russisch</a:t>
            </a:r>
            <a:r>
              <a:rPr sz="1150" i="0" dirty="0">
                <a:solidFill>
                  <a:srgbClr val="33413D"/>
                </a:solidFill>
                <a:latin typeface="Aptos"/>
              </a:rPr>
              <a:t>) für </a:t>
            </a:r>
            <a:r>
              <a:rPr sz="1150" i="0" dirty="0" err="1">
                <a:solidFill>
                  <a:srgbClr val="33413D"/>
                </a:solidFill>
                <a:latin typeface="Aptos"/>
              </a:rPr>
              <a:t>Eigentümer</a:t>
            </a:r>
            <a:r>
              <a:rPr sz="1150" i="0" dirty="0">
                <a:solidFill>
                  <a:srgbClr val="33413D"/>
                </a:solidFill>
                <a:latin typeface="Aptos"/>
              </a:rPr>
              <a:t>, </a:t>
            </a:r>
            <a:r>
              <a:rPr sz="1150" i="0" dirty="0" err="1">
                <a:solidFill>
                  <a:srgbClr val="33413D"/>
                </a:solidFill>
                <a:latin typeface="Aptos"/>
              </a:rPr>
              <a:t>Mieter</a:t>
            </a:r>
            <a:r>
              <a:rPr sz="1150" i="0" dirty="0">
                <a:solidFill>
                  <a:srgbClr val="33413D"/>
                </a:solidFill>
                <a:latin typeface="Aptos"/>
              </a:rPr>
              <a:t>, Personal, </a:t>
            </a:r>
            <a:r>
              <a:rPr sz="1150" i="0" dirty="0" err="1">
                <a:solidFill>
                  <a:srgbClr val="33413D"/>
                </a:solidFill>
                <a:latin typeface="Aptos"/>
              </a:rPr>
              <a:t>Buchhaltung</a:t>
            </a:r>
            <a:r>
              <a:rPr sz="1150" i="0" dirty="0">
                <a:solidFill>
                  <a:srgbClr val="33413D"/>
                </a:solidFill>
                <a:latin typeface="Aptos"/>
              </a:rPr>
              <a:t> und </a:t>
            </a:r>
            <a:r>
              <a:rPr sz="1150" i="0" dirty="0" err="1">
                <a:solidFill>
                  <a:srgbClr val="33413D"/>
                </a:solidFill>
                <a:latin typeface="Aptos"/>
              </a:rPr>
              <a:t>Geschäftsführung</a:t>
            </a:r>
            <a:r>
              <a:rPr sz="1150" i="0" dirty="0">
                <a:solidFill>
                  <a:srgbClr val="33413D"/>
                </a:solidFill>
                <a:latin typeface="Aptos"/>
              </a:rPr>
              <a:t> </a:t>
            </a:r>
            <a:r>
              <a:rPr sz="1150" i="0" dirty="0" err="1">
                <a:solidFill>
                  <a:srgbClr val="33413D"/>
                </a:solidFill>
                <a:latin typeface="Aptos"/>
              </a:rPr>
              <a:t>abgelöst</a:t>
            </a:r>
            <a:r>
              <a:rPr sz="1150" i="0" dirty="0">
                <a:solidFill>
                  <a:srgbClr val="33413D"/>
                </a:solidFill>
                <a:latin typeface="Aptos"/>
              </a:rPr>
              <a:t>.</a:t>
            </a:r>
          </a:p>
        </p:txBody>
      </p:sp>
      <p:sp>
        <p:nvSpPr>
          <p:cNvPr id="10" name="Rounded Rectangle 9"/>
          <p:cNvSpPr/>
          <p:nvPr/>
        </p:nvSpPr>
        <p:spPr>
          <a:xfrm>
            <a:off x="64008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3209544"/>
            <a:ext cx="2183130" cy="640080"/>
          </a:xfrm>
          <a:prstGeom prst="rect">
            <a:avLst/>
          </a:prstGeom>
          <a:noFill/>
        </p:spPr>
        <p:txBody>
          <a:bodyPr wrap="square" lIns="0" tIns="0" rIns="0" bIns="0" anchor="t">
            <a:spAutoFit/>
          </a:bodyPr>
          <a:lstStyle/>
          <a:p>
            <a:r>
              <a:rPr sz="3200" b="1" i="0">
                <a:solidFill>
                  <a:srgbClr val="066B63"/>
                </a:solidFill>
                <a:latin typeface="Aptos"/>
              </a:rPr>
              <a:t>769</a:t>
            </a:r>
          </a:p>
        </p:txBody>
      </p:sp>
      <p:sp>
        <p:nvSpPr>
          <p:cNvPr id="12" name="TextBox 11"/>
          <p:cNvSpPr txBox="1"/>
          <p:nvPr/>
        </p:nvSpPr>
        <p:spPr>
          <a:xfrm>
            <a:off x="822960" y="3813048"/>
            <a:ext cx="2183130" cy="411480"/>
          </a:xfrm>
          <a:prstGeom prst="rect">
            <a:avLst/>
          </a:prstGeom>
          <a:noFill/>
        </p:spPr>
        <p:txBody>
          <a:bodyPr wrap="square" lIns="0" tIns="0" rIns="0" bIns="0" anchor="t">
            <a:spAutoFit/>
          </a:bodyPr>
          <a:lstStyle/>
          <a:p>
            <a:r>
              <a:rPr sz="1050" b="0" i="0">
                <a:solidFill>
                  <a:srgbClr val="64716D"/>
                </a:solidFill>
                <a:latin typeface="Aptos"/>
              </a:rPr>
              <a:t>Wohneinheiten im Referenzobjekt</a:t>
            </a:r>
          </a:p>
        </p:txBody>
      </p:sp>
      <p:sp>
        <p:nvSpPr>
          <p:cNvPr id="13" name="Rounded Rectangle 12"/>
          <p:cNvSpPr/>
          <p:nvPr/>
        </p:nvSpPr>
        <p:spPr>
          <a:xfrm>
            <a:off x="341757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00450" y="3209544"/>
            <a:ext cx="2183130" cy="640080"/>
          </a:xfrm>
          <a:prstGeom prst="rect">
            <a:avLst/>
          </a:prstGeom>
          <a:noFill/>
        </p:spPr>
        <p:txBody>
          <a:bodyPr wrap="square" lIns="0" tIns="0" rIns="0" bIns="0" anchor="t">
            <a:spAutoFit/>
          </a:bodyPr>
          <a:lstStyle/>
          <a:p>
            <a:r>
              <a:rPr sz="3200" b="1" i="0">
                <a:solidFill>
                  <a:srgbClr val="066B63"/>
                </a:solidFill>
                <a:latin typeface="Aptos"/>
              </a:rPr>
              <a:t>4</a:t>
            </a:r>
          </a:p>
        </p:txBody>
      </p:sp>
      <p:sp>
        <p:nvSpPr>
          <p:cNvPr id="15" name="TextBox 14"/>
          <p:cNvSpPr txBox="1"/>
          <p:nvPr/>
        </p:nvSpPr>
        <p:spPr>
          <a:xfrm>
            <a:off x="3600450" y="3813048"/>
            <a:ext cx="2183130" cy="411480"/>
          </a:xfrm>
          <a:prstGeom prst="rect">
            <a:avLst/>
          </a:prstGeom>
          <a:noFill/>
        </p:spPr>
        <p:txBody>
          <a:bodyPr wrap="square" lIns="0" tIns="0" rIns="0" bIns="0" anchor="t">
            <a:spAutoFit/>
          </a:bodyPr>
          <a:lstStyle/>
          <a:p>
            <a:r>
              <a:rPr sz="1050" b="0" i="0">
                <a:solidFill>
                  <a:srgbClr val="64716D"/>
                </a:solidFill>
                <a:latin typeface="Aptos"/>
              </a:rPr>
              <a:t>Sprachen (TR · EN · DE · RU)</a:t>
            </a:r>
          </a:p>
        </p:txBody>
      </p:sp>
      <p:sp>
        <p:nvSpPr>
          <p:cNvPr id="16" name="Rounded Rectangle 15"/>
          <p:cNvSpPr/>
          <p:nvPr/>
        </p:nvSpPr>
        <p:spPr>
          <a:xfrm>
            <a:off x="619506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7940" y="3209544"/>
            <a:ext cx="2183130" cy="640080"/>
          </a:xfrm>
          <a:prstGeom prst="rect">
            <a:avLst/>
          </a:prstGeom>
          <a:noFill/>
        </p:spPr>
        <p:txBody>
          <a:bodyPr wrap="square" lIns="0" tIns="0" rIns="0" bIns="0" anchor="t">
            <a:spAutoFit/>
          </a:bodyPr>
          <a:lstStyle/>
          <a:p>
            <a:r>
              <a:rPr sz="3200" b="1" i="0">
                <a:solidFill>
                  <a:srgbClr val="066B63"/>
                </a:solidFill>
                <a:latin typeface="Aptos"/>
              </a:rPr>
              <a:t>6</a:t>
            </a:r>
          </a:p>
        </p:txBody>
      </p:sp>
      <p:sp>
        <p:nvSpPr>
          <p:cNvPr id="18" name="TextBox 17"/>
          <p:cNvSpPr txBox="1"/>
          <p:nvPr/>
        </p:nvSpPr>
        <p:spPr>
          <a:xfrm>
            <a:off x="6377940" y="3813048"/>
            <a:ext cx="2183130" cy="411480"/>
          </a:xfrm>
          <a:prstGeom prst="rect">
            <a:avLst/>
          </a:prstGeom>
          <a:noFill/>
        </p:spPr>
        <p:txBody>
          <a:bodyPr wrap="square" lIns="0" tIns="0" rIns="0" bIns="0" anchor="t">
            <a:spAutoFit/>
          </a:bodyPr>
          <a:lstStyle/>
          <a:p>
            <a:r>
              <a:rPr sz="1050" b="0" i="0">
                <a:solidFill>
                  <a:srgbClr val="64716D"/>
                </a:solidFill>
                <a:latin typeface="Aptos"/>
              </a:rPr>
              <a:t>Rollen mit fein abgestuften Rechten</a:t>
            </a:r>
          </a:p>
        </p:txBody>
      </p:sp>
      <p:sp>
        <p:nvSpPr>
          <p:cNvPr id="19" name="Rounded Rectangle 18"/>
          <p:cNvSpPr/>
          <p:nvPr/>
        </p:nvSpPr>
        <p:spPr>
          <a:xfrm>
            <a:off x="897255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55430" y="3209544"/>
            <a:ext cx="2183130" cy="640080"/>
          </a:xfrm>
          <a:prstGeom prst="rect">
            <a:avLst/>
          </a:prstGeom>
          <a:noFill/>
        </p:spPr>
        <p:txBody>
          <a:bodyPr wrap="square" lIns="0" tIns="0" rIns="0" bIns="0" anchor="t">
            <a:spAutoFit/>
          </a:bodyPr>
          <a:lstStyle/>
          <a:p>
            <a:r>
              <a:rPr sz="3200" b="1" i="0">
                <a:solidFill>
                  <a:srgbClr val="066B63"/>
                </a:solidFill>
                <a:latin typeface="Aptos"/>
              </a:rPr>
              <a:t>13</a:t>
            </a:r>
          </a:p>
        </p:txBody>
      </p:sp>
      <p:sp>
        <p:nvSpPr>
          <p:cNvPr id="21" name="TextBox 20"/>
          <p:cNvSpPr txBox="1"/>
          <p:nvPr/>
        </p:nvSpPr>
        <p:spPr>
          <a:xfrm>
            <a:off x="9155430" y="3813048"/>
            <a:ext cx="2183130" cy="411480"/>
          </a:xfrm>
          <a:prstGeom prst="rect">
            <a:avLst/>
          </a:prstGeom>
          <a:noFill/>
        </p:spPr>
        <p:txBody>
          <a:bodyPr wrap="square" lIns="0" tIns="0" rIns="0" bIns="0" anchor="t">
            <a:spAutoFit/>
          </a:bodyPr>
          <a:lstStyle/>
          <a:p>
            <a:r>
              <a:rPr sz="1050" b="0" i="0">
                <a:solidFill>
                  <a:srgbClr val="64716D"/>
                </a:solidFill>
                <a:latin typeface="Aptos"/>
              </a:rPr>
              <a:t>Arbeitsbereiche im Portal</a:t>
            </a:r>
          </a:p>
        </p:txBody>
      </p:sp>
      <p:sp>
        <p:nvSpPr>
          <p:cNvPr id="22" name="Rounded Rectangle 21"/>
          <p:cNvSpPr/>
          <p:nvPr/>
        </p:nvSpPr>
        <p:spPr>
          <a:xfrm>
            <a:off x="640080" y="4617720"/>
            <a:ext cx="10881360" cy="16002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4617720"/>
            <a:ext cx="54864" cy="160020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5144668"/>
            <a:ext cx="10469880" cy="546303"/>
          </a:xfrm>
          <a:prstGeom prst="rect">
            <a:avLst/>
          </a:prstGeom>
          <a:noFill/>
        </p:spPr>
        <p:txBody>
          <a:bodyPr wrap="square" lIns="0" tIns="0" rIns="0" bIns="0" anchor="ctr">
            <a:spAutoFit/>
          </a:bodyPr>
          <a:lstStyle/>
          <a:p>
            <a:r>
              <a:rPr sz="1250" b="1" i="0" dirty="0">
                <a:solidFill>
                  <a:srgbClr val="044F49"/>
                </a:solidFill>
                <a:latin typeface="Aptos"/>
              </a:rPr>
              <a:t>Der </a:t>
            </a:r>
            <a:r>
              <a:rPr sz="1250" b="1" i="0" dirty="0" err="1">
                <a:solidFill>
                  <a:srgbClr val="044F49"/>
                </a:solidFill>
                <a:latin typeface="Aptos"/>
              </a:rPr>
              <a:t>Leitgedanke</a:t>
            </a:r>
            <a:r>
              <a:rPr sz="1250" b="1" i="0" dirty="0">
                <a:solidFill>
                  <a:srgbClr val="044F49"/>
                </a:solidFill>
                <a:latin typeface="Aptos"/>
              </a:rPr>
              <a:t> von 1Çatı.  </a:t>
            </a:r>
            <a:r>
              <a:rPr sz="1150" b="0" i="0" dirty="0">
                <a:solidFill>
                  <a:srgbClr val="33413D"/>
                </a:solidFill>
                <a:latin typeface="Aptos"/>
              </a:rPr>
              <a:t>Sensible </a:t>
            </a:r>
            <a:r>
              <a:rPr sz="1150" b="0" i="0" dirty="0" err="1">
                <a:solidFill>
                  <a:srgbClr val="33413D"/>
                </a:solidFill>
                <a:latin typeface="Aptos"/>
              </a:rPr>
              <a:t>Vorgänge</a:t>
            </a:r>
            <a:r>
              <a:rPr sz="1150" b="0" i="0" dirty="0">
                <a:solidFill>
                  <a:srgbClr val="33413D"/>
                </a:solidFill>
                <a:latin typeface="Aptos"/>
              </a:rPr>
              <a:t> </a:t>
            </a:r>
            <a:r>
              <a:rPr lang="de-DE" sz="1150" b="0" i="0" dirty="0">
                <a:solidFill>
                  <a:srgbClr val="33413D"/>
                </a:solidFill>
                <a:latin typeface="Aptos"/>
              </a:rPr>
              <a:t>-</a:t>
            </a:r>
            <a:r>
              <a:rPr sz="1150" b="0" i="0" dirty="0">
                <a:solidFill>
                  <a:srgbClr val="33413D"/>
                </a:solidFill>
                <a:latin typeface="Aptos"/>
              </a:rPr>
              <a:t> </a:t>
            </a:r>
            <a:r>
              <a:rPr sz="1150" b="0" i="0" dirty="0" err="1">
                <a:solidFill>
                  <a:srgbClr val="33413D"/>
                </a:solidFill>
                <a:latin typeface="Aptos"/>
              </a:rPr>
              <a:t>Zahlungen</a:t>
            </a:r>
            <a:r>
              <a:rPr sz="1150" b="0" i="0" dirty="0">
                <a:solidFill>
                  <a:srgbClr val="33413D"/>
                </a:solidFill>
                <a:latin typeface="Aptos"/>
              </a:rPr>
              <a:t>, </a:t>
            </a:r>
            <a:r>
              <a:rPr sz="1150" b="0" i="0" dirty="0" err="1">
                <a:solidFill>
                  <a:srgbClr val="33413D"/>
                </a:solidFill>
                <a:latin typeface="Aptos"/>
              </a:rPr>
              <a:t>Zugangssperren</a:t>
            </a:r>
            <a:r>
              <a:rPr sz="1150" b="0" i="0" dirty="0">
                <a:solidFill>
                  <a:srgbClr val="33413D"/>
                </a:solidFill>
                <a:latin typeface="Aptos"/>
              </a:rPr>
              <a:t>, </a:t>
            </a:r>
            <a:r>
              <a:rPr sz="1150" b="0" i="0" dirty="0" err="1">
                <a:solidFill>
                  <a:srgbClr val="33413D"/>
                </a:solidFill>
                <a:latin typeface="Aptos"/>
              </a:rPr>
              <a:t>Rückerstattungen</a:t>
            </a:r>
            <a:r>
              <a:rPr sz="1150" b="0" i="0" dirty="0">
                <a:solidFill>
                  <a:srgbClr val="33413D"/>
                </a:solidFill>
                <a:latin typeface="Aptos"/>
              </a:rPr>
              <a:t> </a:t>
            </a:r>
            <a:r>
              <a:rPr lang="de-DE" sz="1150" b="0" i="0" dirty="0">
                <a:solidFill>
                  <a:srgbClr val="33413D"/>
                </a:solidFill>
                <a:latin typeface="Aptos"/>
              </a:rPr>
              <a:t>-</a:t>
            </a:r>
            <a:r>
              <a:rPr sz="1150" b="0" i="0" dirty="0">
                <a:solidFill>
                  <a:srgbClr val="33413D"/>
                </a:solidFill>
                <a:latin typeface="Aptos"/>
              </a:rPr>
              <a:t> </a:t>
            </a:r>
            <a:r>
              <a:rPr sz="1150" b="0" i="0" dirty="0" err="1">
                <a:solidFill>
                  <a:srgbClr val="33413D"/>
                </a:solidFill>
                <a:latin typeface="Aptos"/>
              </a:rPr>
              <a:t>werden</a:t>
            </a:r>
            <a:r>
              <a:rPr sz="1150" b="0" i="0" dirty="0">
                <a:solidFill>
                  <a:srgbClr val="33413D"/>
                </a:solidFill>
                <a:latin typeface="Aptos"/>
              </a:rPr>
              <a:t> </a:t>
            </a:r>
            <a:r>
              <a:rPr sz="1150" b="0" i="0" dirty="0" err="1">
                <a:solidFill>
                  <a:srgbClr val="33413D"/>
                </a:solidFill>
                <a:latin typeface="Aptos"/>
              </a:rPr>
              <a:t>vom</a:t>
            </a:r>
            <a:r>
              <a:rPr sz="1150" b="0" i="0" dirty="0">
                <a:solidFill>
                  <a:srgbClr val="33413D"/>
                </a:solidFill>
                <a:latin typeface="Aptos"/>
              </a:rPr>
              <a:t> System </a:t>
            </a:r>
            <a:r>
              <a:rPr sz="1150" b="0" i="0" dirty="0" err="1">
                <a:solidFill>
                  <a:srgbClr val="33413D"/>
                </a:solidFill>
                <a:latin typeface="Aptos"/>
              </a:rPr>
              <a:t>nie</a:t>
            </a:r>
            <a:r>
              <a:rPr sz="1150" b="0" i="0" dirty="0">
                <a:solidFill>
                  <a:srgbClr val="33413D"/>
                </a:solidFill>
                <a:latin typeface="Aptos"/>
              </a:rPr>
              <a:t> </a:t>
            </a:r>
            <a:r>
              <a:rPr sz="1150" b="0" i="0" dirty="0" err="1">
                <a:solidFill>
                  <a:srgbClr val="33413D"/>
                </a:solidFill>
                <a:latin typeface="Aptos"/>
              </a:rPr>
              <a:t>eigenmächtig</a:t>
            </a:r>
            <a:r>
              <a:rPr sz="1150" b="0" i="0" dirty="0">
                <a:solidFill>
                  <a:srgbClr val="33413D"/>
                </a:solidFill>
                <a:latin typeface="Aptos"/>
              </a:rPr>
              <a:t> </a:t>
            </a:r>
            <a:r>
              <a:rPr sz="1150" b="0" i="0" dirty="0" err="1">
                <a:solidFill>
                  <a:srgbClr val="33413D"/>
                </a:solidFill>
                <a:latin typeface="Aptos"/>
              </a:rPr>
              <a:t>ausgeführt</a:t>
            </a:r>
            <a:r>
              <a:rPr sz="1150" b="0" i="0" dirty="0">
                <a:solidFill>
                  <a:srgbClr val="33413D"/>
                </a:solidFill>
                <a:latin typeface="Aptos"/>
              </a:rPr>
              <a:t>. Sie </a:t>
            </a:r>
            <a:r>
              <a:rPr sz="1150" b="0" i="0" dirty="0" err="1">
                <a:solidFill>
                  <a:srgbClr val="33413D"/>
                </a:solidFill>
                <a:latin typeface="Aptos"/>
              </a:rPr>
              <a:t>werden</a:t>
            </a:r>
            <a:r>
              <a:rPr sz="1150" b="0" i="0" dirty="0">
                <a:solidFill>
                  <a:srgbClr val="33413D"/>
                </a:solidFill>
                <a:latin typeface="Aptos"/>
              </a:rPr>
              <a:t> </a:t>
            </a:r>
            <a:r>
              <a:rPr sz="1150" b="0" i="0" dirty="0" err="1">
                <a:solidFill>
                  <a:srgbClr val="33413D"/>
                </a:solidFill>
                <a:latin typeface="Aptos"/>
              </a:rPr>
              <a:t>vorbereitet</a:t>
            </a:r>
            <a:r>
              <a:rPr sz="1150" b="0" i="0" dirty="0">
                <a:solidFill>
                  <a:srgbClr val="33413D"/>
                </a:solidFill>
                <a:latin typeface="Aptos"/>
              </a:rPr>
              <a:t>, </a:t>
            </a:r>
            <a:r>
              <a:rPr sz="1150" b="0" i="0" dirty="0" err="1">
                <a:solidFill>
                  <a:srgbClr val="33413D"/>
                </a:solidFill>
                <a:latin typeface="Aptos"/>
              </a:rPr>
              <a:t>dokumentiert</a:t>
            </a:r>
            <a:r>
              <a:rPr sz="1150" b="0" i="0" dirty="0">
                <a:solidFill>
                  <a:srgbClr val="33413D"/>
                </a:solidFill>
                <a:latin typeface="Aptos"/>
              </a:rPr>
              <a:t> und </a:t>
            </a:r>
            <a:r>
              <a:rPr sz="1150" b="0" i="0" dirty="0" err="1">
                <a:solidFill>
                  <a:srgbClr val="33413D"/>
                </a:solidFill>
                <a:latin typeface="Aptos"/>
              </a:rPr>
              <a:t>einem</a:t>
            </a:r>
            <a:r>
              <a:rPr sz="1150" b="0" i="0" dirty="0">
                <a:solidFill>
                  <a:srgbClr val="33413D"/>
                </a:solidFill>
                <a:latin typeface="Aptos"/>
              </a:rPr>
              <a:t> </a:t>
            </a:r>
            <a:r>
              <a:rPr sz="1150" b="0" i="0" dirty="0" err="1">
                <a:solidFill>
                  <a:srgbClr val="33413D"/>
                </a:solidFill>
                <a:latin typeface="Aptos"/>
              </a:rPr>
              <a:t>berechtigten</a:t>
            </a:r>
            <a:r>
              <a:rPr sz="1150" b="0" i="0" dirty="0">
                <a:solidFill>
                  <a:srgbClr val="33413D"/>
                </a:solidFill>
                <a:latin typeface="Aptos"/>
              </a:rPr>
              <a:t> Menschen </a:t>
            </a:r>
            <a:r>
              <a:rPr sz="1150" b="0" i="0" dirty="0" err="1">
                <a:solidFill>
                  <a:srgbClr val="33413D"/>
                </a:solidFill>
                <a:latin typeface="Aptos"/>
              </a:rPr>
              <a:t>zur</a:t>
            </a:r>
            <a:r>
              <a:rPr sz="1150" b="0" i="0" dirty="0">
                <a:solidFill>
                  <a:srgbClr val="33413D"/>
                </a:solidFill>
                <a:latin typeface="Aptos"/>
              </a:rPr>
              <a:t> </a:t>
            </a:r>
            <a:r>
              <a:rPr sz="1150" b="0" i="0" dirty="0" err="1">
                <a:solidFill>
                  <a:srgbClr val="33413D"/>
                </a:solidFill>
                <a:latin typeface="Aptos"/>
              </a:rPr>
              <a:t>Freigabe</a:t>
            </a:r>
            <a:r>
              <a:rPr sz="1150" b="0" i="0" dirty="0">
                <a:solidFill>
                  <a:srgbClr val="33413D"/>
                </a:solidFill>
                <a:latin typeface="Aptos"/>
              </a:rPr>
              <a:t> </a:t>
            </a:r>
            <a:r>
              <a:rPr sz="1150" b="0" i="0" dirty="0" err="1">
                <a:solidFill>
                  <a:srgbClr val="33413D"/>
                </a:solidFill>
                <a:latin typeface="Aptos"/>
              </a:rPr>
              <a:t>vorgelegt</a:t>
            </a:r>
            <a:r>
              <a:rPr sz="1150" b="0" i="0" dirty="0">
                <a:solidFill>
                  <a:srgbClr val="33413D"/>
                </a:solidFill>
                <a:latin typeface="Aptos"/>
              </a:rPr>
              <a:t>. So </a:t>
            </a:r>
            <a:r>
              <a:rPr sz="1150" b="0" i="0" dirty="0" err="1">
                <a:solidFill>
                  <a:srgbClr val="33413D"/>
                </a:solidFill>
                <a:latin typeface="Aptos"/>
              </a:rPr>
              <a:t>bleibt</a:t>
            </a:r>
            <a:r>
              <a:rPr sz="1150" b="0" i="0" dirty="0">
                <a:solidFill>
                  <a:srgbClr val="33413D"/>
                </a:solidFill>
                <a:latin typeface="Aptos"/>
              </a:rPr>
              <a:t> </a:t>
            </a:r>
            <a:r>
              <a:rPr sz="1150" b="0" i="0" dirty="0" err="1">
                <a:solidFill>
                  <a:srgbClr val="33413D"/>
                </a:solidFill>
                <a:latin typeface="Aptos"/>
              </a:rPr>
              <a:t>jede</a:t>
            </a:r>
            <a:r>
              <a:rPr sz="1150" b="0" i="0" dirty="0">
                <a:solidFill>
                  <a:srgbClr val="33413D"/>
                </a:solidFill>
                <a:latin typeface="Aptos"/>
              </a:rPr>
              <a:t> </a:t>
            </a:r>
            <a:r>
              <a:rPr sz="1150" b="0" i="0" dirty="0" err="1">
                <a:solidFill>
                  <a:srgbClr val="33413D"/>
                </a:solidFill>
                <a:latin typeface="Aptos"/>
              </a:rPr>
              <a:t>finanzielle</a:t>
            </a:r>
            <a:r>
              <a:rPr sz="1150" b="0" i="0" dirty="0">
                <a:solidFill>
                  <a:srgbClr val="33413D"/>
                </a:solidFill>
                <a:latin typeface="Aptos"/>
              </a:rPr>
              <a:t> und </a:t>
            </a:r>
            <a:r>
              <a:rPr sz="1150" b="0" i="0" dirty="0" err="1">
                <a:solidFill>
                  <a:srgbClr val="33413D"/>
                </a:solidFill>
                <a:latin typeface="Aptos"/>
              </a:rPr>
              <a:t>sicherheitsrelevante</a:t>
            </a:r>
            <a:r>
              <a:rPr sz="1150" b="0" i="0" dirty="0">
                <a:solidFill>
                  <a:srgbClr val="33413D"/>
                </a:solidFill>
                <a:latin typeface="Aptos"/>
              </a:rPr>
              <a:t> </a:t>
            </a:r>
            <a:r>
              <a:rPr sz="1150" b="0" i="0" dirty="0" err="1">
                <a:solidFill>
                  <a:srgbClr val="33413D"/>
                </a:solidFill>
                <a:latin typeface="Aptos"/>
              </a:rPr>
              <a:t>Entscheidung</a:t>
            </a:r>
            <a:r>
              <a:rPr sz="1150" b="0" i="0" dirty="0">
                <a:solidFill>
                  <a:srgbClr val="33413D"/>
                </a:solidFill>
                <a:latin typeface="Aptos"/>
              </a:rPr>
              <a:t> </a:t>
            </a:r>
            <a:r>
              <a:rPr sz="1150" b="0" i="0" dirty="0" err="1">
                <a:solidFill>
                  <a:srgbClr val="33413D"/>
                </a:solidFill>
                <a:latin typeface="Aptos"/>
              </a:rPr>
              <a:t>nachvollziehbar</a:t>
            </a:r>
            <a:r>
              <a:rPr sz="1150" b="0" i="0" dirty="0">
                <a:solidFill>
                  <a:srgbClr val="33413D"/>
                </a:solidFill>
                <a:latin typeface="Aptos"/>
              </a:rPr>
              <a:t> in </a:t>
            </a:r>
            <a:r>
              <a:rPr sz="1150" b="0" i="0" dirty="0" err="1">
                <a:solidFill>
                  <a:srgbClr val="33413D"/>
                </a:solidFill>
                <a:latin typeface="Aptos"/>
              </a:rPr>
              <a:t>menschlicher</a:t>
            </a:r>
            <a:r>
              <a:rPr sz="1150" b="0" i="0" dirty="0">
                <a:solidFill>
                  <a:srgbClr val="33413D"/>
                </a:solidFill>
                <a:latin typeface="Aptos"/>
              </a:rPr>
              <a:t> Hand </a:t>
            </a:r>
            <a:r>
              <a:rPr lang="de-DE" sz="1150" b="0" i="0" dirty="0">
                <a:solidFill>
                  <a:srgbClr val="33413D"/>
                </a:solidFill>
                <a:latin typeface="Aptos"/>
              </a:rPr>
              <a:t>-</a:t>
            </a:r>
            <a:r>
              <a:rPr sz="1150" b="0" i="0" dirty="0">
                <a:solidFill>
                  <a:srgbClr val="33413D"/>
                </a:solidFill>
                <a:latin typeface="Aptos"/>
              </a:rPr>
              <a:t> </a:t>
            </a:r>
            <a:r>
              <a:rPr sz="1150" b="0" i="0" dirty="0" err="1">
                <a:solidFill>
                  <a:srgbClr val="33413D"/>
                </a:solidFill>
                <a:latin typeface="Aptos"/>
              </a:rPr>
              <a:t>ein</a:t>
            </a:r>
            <a:r>
              <a:rPr sz="1150" b="0" i="0" dirty="0">
                <a:solidFill>
                  <a:srgbClr val="33413D"/>
                </a:solidFill>
                <a:latin typeface="Aptos"/>
              </a:rPr>
              <a:t> </a:t>
            </a:r>
            <a:r>
              <a:rPr sz="1150" b="0" i="0" dirty="0" err="1">
                <a:solidFill>
                  <a:srgbClr val="33413D"/>
                </a:solidFill>
                <a:latin typeface="Aptos"/>
              </a:rPr>
              <a:t>zentrales</a:t>
            </a:r>
            <a:r>
              <a:rPr sz="1150" b="0" i="0" dirty="0">
                <a:solidFill>
                  <a:srgbClr val="33413D"/>
                </a:solidFill>
                <a:latin typeface="Aptos"/>
              </a:rPr>
              <a:t> </a:t>
            </a:r>
            <a:r>
              <a:rPr sz="1150" b="0" i="0" dirty="0" err="1">
                <a:solidFill>
                  <a:srgbClr val="33413D"/>
                </a:solidFill>
                <a:latin typeface="Aptos"/>
              </a:rPr>
              <a:t>Vertrauensmerkmal</a:t>
            </a:r>
            <a:r>
              <a:rPr sz="1150" b="0" i="0" dirty="0">
                <a:solidFill>
                  <a:srgbClr val="33413D"/>
                </a:solidFill>
                <a:latin typeface="Aptos"/>
              </a:rPr>
              <a:t> der </a:t>
            </a:r>
            <a:r>
              <a:rPr sz="1150" b="0" i="0" dirty="0" err="1">
                <a:solidFill>
                  <a:srgbClr val="33413D"/>
                </a:solidFill>
                <a:latin typeface="Aptos"/>
              </a:rPr>
              <a:t>Plattform</a:t>
            </a:r>
            <a:r>
              <a:rPr sz="1150" b="0" i="0" dirty="0">
                <a:solidFill>
                  <a:srgbClr val="33413D"/>
                </a:solidFill>
                <a:latin typeface="Aptos"/>
              </a:rPr>
              <a:t>.</a:t>
            </a:r>
          </a:p>
        </p:txBody>
      </p:sp>
      <p:sp>
        <p:nvSpPr>
          <p:cNvPr id="25" name="TextBox 24"/>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26" name="TextBox 25"/>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3</a:t>
            </a:r>
          </a:p>
        </p:txBody>
      </p:sp>
      <p:pic>
        <p:nvPicPr>
          <p:cNvPr id="27" name="Picture 26"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01 · MANAGEMENT SUMMARY</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Was </a:t>
            </a:r>
            <a:r>
              <a:rPr sz="2700" b="1" i="0" dirty="0" err="1">
                <a:solidFill>
                  <a:srgbClr val="044F49"/>
                </a:solidFill>
                <a:latin typeface="Aptos"/>
              </a:rPr>
              <a:t>heute</a:t>
            </a:r>
            <a:r>
              <a:rPr sz="2700" b="1" i="0" dirty="0">
                <a:solidFill>
                  <a:srgbClr val="044F49"/>
                </a:solidFill>
                <a:latin typeface="Aptos"/>
              </a:rPr>
              <a:t> </a:t>
            </a:r>
            <a:r>
              <a:rPr sz="2700" b="1" i="0" dirty="0" err="1">
                <a:solidFill>
                  <a:srgbClr val="044F49"/>
                </a:solidFill>
                <a:latin typeface="Aptos"/>
              </a:rPr>
              <a:t>vorliegt</a:t>
            </a:r>
            <a:r>
              <a:rPr sz="2700" b="1" i="0" dirty="0">
                <a:solidFill>
                  <a:srgbClr val="044F49"/>
                </a:solidFill>
                <a:latin typeface="Aptos"/>
              </a:rPr>
              <a:t> </a:t>
            </a:r>
            <a:r>
              <a:rPr lang="de-DE" sz="2700" b="1" i="0" dirty="0">
                <a:solidFill>
                  <a:srgbClr val="044F49"/>
                </a:solidFill>
                <a:latin typeface="Aptos"/>
              </a:rPr>
              <a:t>-</a:t>
            </a:r>
            <a:r>
              <a:rPr sz="2700" b="1" i="0" dirty="0">
                <a:solidFill>
                  <a:srgbClr val="044F49"/>
                </a:solidFill>
                <a:latin typeface="Aptos"/>
              </a:rPr>
              <a:t> und was das </a:t>
            </a:r>
            <a:r>
              <a:rPr sz="2700" b="1" i="0" dirty="0" err="1">
                <a:solidFill>
                  <a:srgbClr val="044F49"/>
                </a:solidFill>
                <a:latin typeface="Aptos"/>
              </a:rPr>
              <a:t>bedeutet</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91640"/>
            <a:ext cx="5257800" cy="4297680"/>
          </a:xfrm>
          <a:prstGeom prst="roundRect">
            <a:avLst>
              <a:gd name="adj" fmla="val 5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1892808"/>
            <a:ext cx="4745736" cy="3931920"/>
          </a:xfrm>
          <a:prstGeom prst="rect">
            <a:avLst/>
          </a:prstGeom>
          <a:noFill/>
        </p:spPr>
        <p:txBody>
          <a:bodyPr wrap="square" lIns="0" tIns="0" rIns="0" bIns="0" anchor="t">
            <a:spAutoFit/>
          </a:bodyPr>
          <a:lstStyle/>
          <a:p>
            <a:r>
              <a:rPr sz="1400" b="1" i="0">
                <a:solidFill>
                  <a:srgbClr val="044F49"/>
                </a:solidFill>
                <a:latin typeface="Aptos"/>
              </a:rPr>
              <a:t>Was heute vorliegt</a:t>
            </a:r>
          </a:p>
          <a:p>
            <a:pPr>
              <a:spcBef>
                <a:spcPts val="600"/>
              </a:spcBef>
            </a:pPr>
            <a:r>
              <a:rPr sz="1100" b="0" i="0">
                <a:solidFill>
                  <a:srgbClr val="33413D"/>
                </a:solidFill>
                <a:latin typeface="Aptos"/>
              </a:rPr>
              <a:t>Die Plattform ist als durchgängig bedienbare Demonstrationsumgebung fertiggestellt und deckt das komplette Betriebsfundament ab:</a:t>
            </a:r>
          </a:p>
          <a:p>
            <a:pPr>
              <a:spcAft>
                <a:spcPts val="300"/>
              </a:spcAft>
            </a:pPr>
            <a:r>
              <a:rPr sz="1100" b="0" i="0">
                <a:solidFill>
                  <a:srgbClr val="33413D"/>
                </a:solidFill>
                <a:latin typeface="Aptos"/>
              </a:rPr>
              <a:t>•  Zugang &amp; Rollen</a:t>
            </a:r>
          </a:p>
          <a:p>
            <a:pPr>
              <a:spcAft>
                <a:spcPts val="300"/>
              </a:spcAft>
            </a:pPr>
            <a:r>
              <a:rPr sz="1100" b="0" i="0">
                <a:solidFill>
                  <a:srgbClr val="33413D"/>
                </a:solidFill>
                <a:latin typeface="Aptos"/>
              </a:rPr>
              <a:t>•  Portfolio- und Wohnungsverwaltung</a:t>
            </a:r>
          </a:p>
          <a:p>
            <a:pPr>
              <a:spcAft>
                <a:spcPts val="300"/>
              </a:spcAft>
            </a:pPr>
            <a:r>
              <a:rPr sz="1100" b="0" i="0">
                <a:solidFill>
                  <a:srgbClr val="33413D"/>
                </a:solidFill>
                <a:latin typeface="Aptos"/>
              </a:rPr>
              <a:t>•  Finanzen &amp; Beiträge</a:t>
            </a:r>
          </a:p>
          <a:p>
            <a:pPr>
              <a:spcAft>
                <a:spcPts val="300"/>
              </a:spcAft>
            </a:pPr>
            <a:r>
              <a:rPr sz="1100" b="0" i="0">
                <a:solidFill>
                  <a:srgbClr val="33413D"/>
                </a:solidFill>
                <a:latin typeface="Aptos"/>
              </a:rPr>
              <a:t>•  Service &amp; Aufgaben</a:t>
            </a:r>
          </a:p>
          <a:p>
            <a:pPr>
              <a:spcAft>
                <a:spcPts val="300"/>
              </a:spcAft>
            </a:pPr>
            <a:r>
              <a:rPr sz="1100" b="0" i="0">
                <a:solidFill>
                  <a:srgbClr val="33413D"/>
                </a:solidFill>
                <a:latin typeface="Aptos"/>
              </a:rPr>
              <a:t>•  Reservierung, Dokumente, Kommunikation</a:t>
            </a:r>
          </a:p>
          <a:p>
            <a:pPr>
              <a:spcAft>
                <a:spcPts val="300"/>
              </a:spcAft>
            </a:pPr>
            <a:r>
              <a:rPr sz="1100" b="0" i="0">
                <a:solidFill>
                  <a:srgbClr val="33413D"/>
                </a:solidFill>
                <a:latin typeface="Aptos"/>
              </a:rPr>
              <a:t>•  Berichte und Live-Dashboard</a:t>
            </a:r>
          </a:p>
          <a:p>
            <a:pPr>
              <a:spcAft>
                <a:spcPts val="300"/>
              </a:spcAft>
            </a:pPr>
            <a:r>
              <a:rPr sz="1100" b="0" i="0">
                <a:solidFill>
                  <a:srgbClr val="33413D"/>
                </a:solidFill>
                <a:latin typeface="Aptos"/>
              </a:rPr>
              <a:t>•  Öffentlicher New-Level-Premium-Bereich (Registrierung, Meldekanal, QR-Poster, KI-Concierge)</a:t>
            </a:r>
          </a:p>
        </p:txBody>
      </p:sp>
      <p:sp>
        <p:nvSpPr>
          <p:cNvPr id="11" name="Rounded Rectangle 10"/>
          <p:cNvSpPr/>
          <p:nvPr/>
        </p:nvSpPr>
        <p:spPr>
          <a:xfrm>
            <a:off x="6263640" y="1691640"/>
            <a:ext cx="5257800" cy="4297680"/>
          </a:xfrm>
          <a:prstGeom prst="roundRect">
            <a:avLst>
              <a:gd name="adj" fmla="val 5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9672" y="1892808"/>
            <a:ext cx="4745736" cy="1633781"/>
          </a:xfrm>
          <a:prstGeom prst="rect">
            <a:avLst/>
          </a:prstGeom>
          <a:noFill/>
        </p:spPr>
        <p:txBody>
          <a:bodyPr wrap="square" lIns="0" tIns="0" rIns="0" bIns="0" anchor="t">
            <a:spAutoFit/>
          </a:bodyPr>
          <a:lstStyle/>
          <a:p>
            <a:r>
              <a:rPr sz="1400" b="1" i="0" dirty="0">
                <a:solidFill>
                  <a:srgbClr val="044F49"/>
                </a:solidFill>
                <a:latin typeface="Aptos"/>
              </a:rPr>
              <a:t>Was das für </a:t>
            </a:r>
            <a:r>
              <a:rPr sz="1400" b="1" i="0" dirty="0" err="1">
                <a:solidFill>
                  <a:srgbClr val="044F49"/>
                </a:solidFill>
                <a:latin typeface="Aptos"/>
              </a:rPr>
              <a:t>Ataberk</a:t>
            </a:r>
            <a:r>
              <a:rPr sz="1400" b="1" i="0" dirty="0">
                <a:solidFill>
                  <a:srgbClr val="044F49"/>
                </a:solidFill>
                <a:latin typeface="Aptos"/>
              </a:rPr>
              <a:t> Estate </a:t>
            </a:r>
            <a:r>
              <a:rPr sz="1400" b="1" i="0" dirty="0" err="1">
                <a:solidFill>
                  <a:srgbClr val="044F49"/>
                </a:solidFill>
                <a:latin typeface="Aptos"/>
              </a:rPr>
              <a:t>bedeutet</a:t>
            </a:r>
            <a:endParaRPr sz="1400" b="1" i="0" dirty="0">
              <a:solidFill>
                <a:srgbClr val="044F49"/>
              </a:solidFill>
              <a:latin typeface="Aptos"/>
            </a:endParaRPr>
          </a:p>
          <a:p>
            <a:pPr>
              <a:spcBef>
                <a:spcPts val="600"/>
              </a:spcBef>
            </a:pPr>
            <a:r>
              <a:rPr sz="1150" b="0" i="0" dirty="0">
                <a:solidFill>
                  <a:srgbClr val="33413D"/>
                </a:solidFill>
                <a:latin typeface="Aptos"/>
              </a:rPr>
              <a:t>Sie </a:t>
            </a:r>
            <a:r>
              <a:rPr sz="1150" b="0" i="0" dirty="0" err="1">
                <a:solidFill>
                  <a:srgbClr val="33413D"/>
                </a:solidFill>
                <a:latin typeface="Aptos"/>
              </a:rPr>
              <a:t>können</a:t>
            </a:r>
            <a:r>
              <a:rPr sz="1150" b="0" i="0" dirty="0">
                <a:solidFill>
                  <a:srgbClr val="33413D"/>
                </a:solidFill>
                <a:latin typeface="Aptos"/>
              </a:rPr>
              <a:t> den </a:t>
            </a:r>
            <a:r>
              <a:rPr sz="1150" b="0" i="0" dirty="0" err="1">
                <a:solidFill>
                  <a:srgbClr val="33413D"/>
                </a:solidFill>
                <a:latin typeface="Aptos"/>
              </a:rPr>
              <a:t>vollständigen</a:t>
            </a:r>
            <a:r>
              <a:rPr sz="1150" b="0" i="0" dirty="0">
                <a:solidFill>
                  <a:srgbClr val="33413D"/>
                </a:solidFill>
                <a:latin typeface="Aptos"/>
              </a:rPr>
              <a:t> </a:t>
            </a:r>
            <a:r>
              <a:rPr sz="1150" b="0" i="0" dirty="0" err="1">
                <a:solidFill>
                  <a:srgbClr val="33413D"/>
                </a:solidFill>
                <a:latin typeface="Aptos"/>
              </a:rPr>
              <a:t>Funktionsumfang</a:t>
            </a:r>
            <a:r>
              <a:rPr sz="1150" b="0" i="0" dirty="0">
                <a:solidFill>
                  <a:srgbClr val="33413D"/>
                </a:solidFill>
                <a:latin typeface="Aptos"/>
              </a:rPr>
              <a:t> </a:t>
            </a:r>
            <a:r>
              <a:rPr sz="1150" b="0" i="0" dirty="0" err="1">
                <a:solidFill>
                  <a:srgbClr val="33413D"/>
                </a:solidFill>
                <a:latin typeface="Aptos"/>
              </a:rPr>
              <a:t>heute</a:t>
            </a:r>
            <a:r>
              <a:rPr sz="1150" b="0" i="0" dirty="0">
                <a:solidFill>
                  <a:srgbClr val="33413D"/>
                </a:solidFill>
                <a:latin typeface="Aptos"/>
              </a:rPr>
              <a:t> </a:t>
            </a:r>
            <a:r>
              <a:rPr sz="1150" b="0" i="0" dirty="0" err="1">
                <a:solidFill>
                  <a:srgbClr val="33413D"/>
                </a:solidFill>
                <a:latin typeface="Aptos"/>
              </a:rPr>
              <a:t>erleben</a:t>
            </a:r>
            <a:r>
              <a:rPr sz="1150" b="0" i="0" dirty="0">
                <a:solidFill>
                  <a:srgbClr val="33413D"/>
                </a:solidFill>
                <a:latin typeface="Aptos"/>
              </a:rPr>
              <a:t>, </a:t>
            </a:r>
            <a:r>
              <a:rPr sz="1150" b="0" i="0" dirty="0" err="1">
                <a:solidFill>
                  <a:srgbClr val="33413D"/>
                </a:solidFill>
                <a:latin typeface="Aptos"/>
              </a:rPr>
              <a:t>durchklicken</a:t>
            </a:r>
            <a:r>
              <a:rPr sz="1150" b="0" i="0" dirty="0">
                <a:solidFill>
                  <a:srgbClr val="33413D"/>
                </a:solidFill>
                <a:latin typeface="Aptos"/>
              </a:rPr>
              <a:t> und </a:t>
            </a:r>
            <a:r>
              <a:rPr sz="1150" b="0" i="0" dirty="0" err="1">
                <a:solidFill>
                  <a:srgbClr val="33413D"/>
                </a:solidFill>
                <a:latin typeface="Aptos"/>
              </a:rPr>
              <a:t>bewerten</a:t>
            </a:r>
            <a:r>
              <a:rPr sz="1150" b="0" i="0" dirty="0">
                <a:solidFill>
                  <a:srgbClr val="33413D"/>
                </a:solidFill>
                <a:latin typeface="Aptos"/>
              </a:rPr>
              <a:t> </a:t>
            </a:r>
            <a:r>
              <a:rPr lang="de-DE" sz="1150" b="0" i="0" dirty="0">
                <a:solidFill>
                  <a:srgbClr val="33413D"/>
                </a:solidFill>
                <a:latin typeface="Aptos"/>
              </a:rPr>
              <a:t>-</a:t>
            </a:r>
            <a:r>
              <a:rPr sz="1150" b="0" i="0" dirty="0">
                <a:solidFill>
                  <a:srgbClr val="33413D"/>
                </a:solidFill>
                <a:latin typeface="Aptos"/>
              </a:rPr>
              <a:t> in </a:t>
            </a:r>
            <a:r>
              <a:rPr sz="1150" b="0" i="0" dirty="0" err="1">
                <a:solidFill>
                  <a:srgbClr val="33413D"/>
                </a:solidFill>
                <a:latin typeface="Aptos"/>
              </a:rPr>
              <a:t>allen</a:t>
            </a:r>
            <a:r>
              <a:rPr sz="1150" b="0" i="0" dirty="0">
                <a:solidFill>
                  <a:srgbClr val="33413D"/>
                </a:solidFill>
                <a:latin typeface="Aptos"/>
              </a:rPr>
              <a:t> Rollen und </a:t>
            </a:r>
            <a:r>
              <a:rPr sz="1150" b="0" i="0" dirty="0" err="1">
                <a:solidFill>
                  <a:srgbClr val="33413D"/>
                </a:solidFill>
                <a:latin typeface="Aptos"/>
              </a:rPr>
              <a:t>allen</a:t>
            </a:r>
            <a:r>
              <a:rPr sz="1150" b="0" i="0" dirty="0">
                <a:solidFill>
                  <a:srgbClr val="33413D"/>
                </a:solidFill>
                <a:latin typeface="Aptos"/>
              </a:rPr>
              <a:t> vier Sprachen.</a:t>
            </a:r>
          </a:p>
          <a:p>
            <a:pPr>
              <a:spcBef>
                <a:spcPts val="800"/>
              </a:spcBef>
            </a:pPr>
            <a:r>
              <a:rPr sz="1150" b="0" i="0" dirty="0">
                <a:solidFill>
                  <a:srgbClr val="33413D"/>
                </a:solidFill>
                <a:latin typeface="Aptos"/>
              </a:rPr>
              <a:t>Der Schritt </a:t>
            </a:r>
            <a:r>
              <a:rPr sz="1150" b="0" i="0" dirty="0" err="1">
                <a:solidFill>
                  <a:srgbClr val="33413D"/>
                </a:solidFill>
                <a:latin typeface="Aptos"/>
              </a:rPr>
              <a:t>zum</a:t>
            </a:r>
            <a:r>
              <a:rPr sz="1150" b="0" i="0" dirty="0">
                <a:solidFill>
                  <a:srgbClr val="33413D"/>
                </a:solidFill>
                <a:latin typeface="Aptos"/>
              </a:rPr>
              <a:t> </a:t>
            </a:r>
            <a:r>
              <a:rPr sz="1150" b="0" i="0" dirty="0" err="1">
                <a:solidFill>
                  <a:srgbClr val="33413D"/>
                </a:solidFill>
                <a:latin typeface="Aptos"/>
              </a:rPr>
              <a:t>produktiven</a:t>
            </a:r>
            <a:r>
              <a:rPr sz="1150" b="0" i="0" dirty="0">
                <a:solidFill>
                  <a:srgbClr val="33413D"/>
                </a:solidFill>
                <a:latin typeface="Aptos"/>
              </a:rPr>
              <a:t> </a:t>
            </a:r>
            <a:r>
              <a:rPr sz="1150" b="0" i="0" dirty="0" err="1">
                <a:solidFill>
                  <a:srgbClr val="33413D"/>
                </a:solidFill>
                <a:latin typeface="Aptos"/>
              </a:rPr>
              <a:t>Livebetrieb</a:t>
            </a:r>
            <a:r>
              <a:rPr sz="1150" b="0" i="0" dirty="0">
                <a:solidFill>
                  <a:srgbClr val="33413D"/>
                </a:solidFill>
                <a:latin typeface="Aptos"/>
              </a:rPr>
              <a:t> </a:t>
            </a:r>
            <a:r>
              <a:rPr sz="1150" b="0" i="0" dirty="0" err="1">
                <a:solidFill>
                  <a:srgbClr val="33413D"/>
                </a:solidFill>
                <a:latin typeface="Aptos"/>
              </a:rPr>
              <a:t>erfordert</a:t>
            </a:r>
            <a:r>
              <a:rPr sz="1150" b="0" i="0" dirty="0">
                <a:solidFill>
                  <a:srgbClr val="33413D"/>
                </a:solidFill>
                <a:latin typeface="Aptos"/>
              </a:rPr>
              <a:t> </a:t>
            </a:r>
            <a:r>
              <a:rPr sz="1150" b="0" i="0" dirty="0" err="1">
                <a:solidFill>
                  <a:srgbClr val="33413D"/>
                </a:solidFill>
                <a:latin typeface="Aptos"/>
              </a:rPr>
              <a:t>einige</a:t>
            </a:r>
            <a:r>
              <a:rPr sz="1150" b="0" i="0" dirty="0">
                <a:solidFill>
                  <a:srgbClr val="33413D"/>
                </a:solidFill>
                <a:latin typeface="Aptos"/>
              </a:rPr>
              <a:t> </a:t>
            </a:r>
            <a:r>
              <a:rPr sz="1150" b="0" i="0" dirty="0" err="1">
                <a:solidFill>
                  <a:srgbClr val="33413D"/>
                </a:solidFill>
                <a:latin typeface="Aptos"/>
              </a:rPr>
              <a:t>klar</a:t>
            </a:r>
            <a:r>
              <a:rPr sz="1150" b="0" i="0" dirty="0">
                <a:solidFill>
                  <a:srgbClr val="33413D"/>
                </a:solidFill>
                <a:latin typeface="Aptos"/>
              </a:rPr>
              <a:t> </a:t>
            </a:r>
            <a:r>
              <a:rPr sz="1150" b="0" i="0" dirty="0" err="1">
                <a:solidFill>
                  <a:srgbClr val="33413D"/>
                </a:solidFill>
                <a:latin typeface="Aptos"/>
              </a:rPr>
              <a:t>benannte</a:t>
            </a:r>
            <a:r>
              <a:rPr sz="1150" b="0" i="0" dirty="0">
                <a:solidFill>
                  <a:srgbClr val="33413D"/>
                </a:solidFill>
                <a:latin typeface="Aptos"/>
              </a:rPr>
              <a:t> </a:t>
            </a:r>
            <a:r>
              <a:rPr sz="1150" b="0" i="0" dirty="0" err="1">
                <a:solidFill>
                  <a:srgbClr val="33413D"/>
                </a:solidFill>
                <a:latin typeface="Aptos"/>
              </a:rPr>
              <a:t>Freigaben</a:t>
            </a:r>
            <a:r>
              <a:rPr sz="1150" b="0" i="0" dirty="0">
                <a:solidFill>
                  <a:srgbClr val="33413D"/>
                </a:solidFill>
                <a:latin typeface="Aptos"/>
              </a:rPr>
              <a:t> </a:t>
            </a:r>
            <a:r>
              <a:rPr lang="de-DE" sz="1150" b="0" i="0" dirty="0">
                <a:solidFill>
                  <a:srgbClr val="33413D"/>
                </a:solidFill>
                <a:latin typeface="Aptos"/>
              </a:rPr>
              <a:t>-</a:t>
            </a:r>
            <a:r>
              <a:rPr sz="1150" b="0" i="0" dirty="0">
                <a:solidFill>
                  <a:srgbClr val="33413D"/>
                </a:solidFill>
                <a:latin typeface="Aptos"/>
              </a:rPr>
              <a:t> </a:t>
            </a:r>
            <a:r>
              <a:rPr sz="1150" b="0" i="0" dirty="0" err="1">
                <a:solidFill>
                  <a:srgbClr val="33413D"/>
                </a:solidFill>
                <a:latin typeface="Aptos"/>
              </a:rPr>
              <a:t>echte</a:t>
            </a:r>
            <a:r>
              <a:rPr sz="1150" b="0" i="0" dirty="0">
                <a:solidFill>
                  <a:srgbClr val="33413D"/>
                </a:solidFill>
                <a:latin typeface="Aptos"/>
              </a:rPr>
              <a:t> </a:t>
            </a:r>
            <a:r>
              <a:rPr sz="1150" b="0" i="0" dirty="0" err="1">
                <a:solidFill>
                  <a:srgbClr val="33413D"/>
                </a:solidFill>
                <a:latin typeface="Aptos"/>
              </a:rPr>
              <a:t>Kundendaten</a:t>
            </a:r>
            <a:r>
              <a:rPr sz="1150" b="0" i="0" dirty="0">
                <a:solidFill>
                  <a:srgbClr val="33413D"/>
                </a:solidFill>
                <a:latin typeface="Aptos"/>
              </a:rPr>
              <a:t>, </a:t>
            </a:r>
            <a:r>
              <a:rPr sz="1150" b="0" i="0" dirty="0" err="1">
                <a:solidFill>
                  <a:srgbClr val="33413D"/>
                </a:solidFill>
                <a:latin typeface="Aptos"/>
              </a:rPr>
              <a:t>Zahlungs</a:t>
            </a:r>
            <a:r>
              <a:rPr sz="1150" b="0" i="0" dirty="0">
                <a:solidFill>
                  <a:srgbClr val="33413D"/>
                </a:solidFill>
                <a:latin typeface="Aptos"/>
              </a:rPr>
              <a:t>-/Bank-</a:t>
            </a:r>
            <a:r>
              <a:rPr sz="1150" b="0" i="0" dirty="0" err="1">
                <a:solidFill>
                  <a:srgbClr val="33413D"/>
                </a:solidFill>
                <a:latin typeface="Aptos"/>
              </a:rPr>
              <a:t>Anbindung</a:t>
            </a:r>
            <a:r>
              <a:rPr sz="1150" b="0" i="0" dirty="0">
                <a:solidFill>
                  <a:srgbClr val="33413D"/>
                </a:solidFill>
                <a:latin typeface="Aptos"/>
              </a:rPr>
              <a:t>, </a:t>
            </a:r>
            <a:r>
              <a:rPr sz="1150" b="0" i="0" dirty="0" err="1">
                <a:solidFill>
                  <a:srgbClr val="33413D"/>
                </a:solidFill>
                <a:latin typeface="Aptos"/>
              </a:rPr>
              <a:t>rechtliche</a:t>
            </a:r>
            <a:r>
              <a:rPr sz="1150" b="0" i="0" dirty="0">
                <a:solidFill>
                  <a:srgbClr val="33413D"/>
                </a:solidFill>
                <a:latin typeface="Aptos"/>
              </a:rPr>
              <a:t> </a:t>
            </a:r>
            <a:r>
              <a:rPr sz="1150" b="0" i="0" dirty="0" err="1">
                <a:solidFill>
                  <a:srgbClr val="33413D"/>
                </a:solidFill>
                <a:latin typeface="Aptos"/>
              </a:rPr>
              <a:t>Bestätigungen</a:t>
            </a:r>
            <a:r>
              <a:rPr sz="1150" b="0" i="0" dirty="0">
                <a:solidFill>
                  <a:srgbClr val="33413D"/>
                </a:solidFill>
                <a:latin typeface="Aptos"/>
              </a:rPr>
              <a:t> und </a:t>
            </a:r>
            <a:r>
              <a:rPr sz="1150" b="0" i="0" dirty="0" err="1">
                <a:solidFill>
                  <a:srgbClr val="33413D"/>
                </a:solidFill>
                <a:latin typeface="Aptos"/>
              </a:rPr>
              <a:t>einen</a:t>
            </a:r>
            <a:r>
              <a:rPr sz="1150" b="0" i="0" dirty="0">
                <a:solidFill>
                  <a:srgbClr val="33413D"/>
                </a:solidFill>
                <a:latin typeface="Aptos"/>
              </a:rPr>
              <a:t> </a:t>
            </a:r>
            <a:r>
              <a:rPr sz="1150" b="0" i="0" dirty="0" err="1">
                <a:solidFill>
                  <a:srgbClr val="33413D"/>
                </a:solidFill>
                <a:latin typeface="Aptos"/>
              </a:rPr>
              <a:t>Abnahmetest</a:t>
            </a:r>
            <a:r>
              <a:rPr sz="1150" b="0" i="0" dirty="0">
                <a:solidFill>
                  <a:srgbClr val="33413D"/>
                </a:solidFill>
                <a:latin typeface="Aptos"/>
              </a:rPr>
              <a:t>. </a:t>
            </a:r>
            <a:r>
              <a:rPr sz="1150" b="0" i="0" dirty="0" err="1">
                <a:solidFill>
                  <a:srgbClr val="33413D"/>
                </a:solidFill>
                <a:latin typeface="Aptos"/>
              </a:rPr>
              <a:t>Diese</a:t>
            </a:r>
            <a:r>
              <a:rPr sz="1150" b="0" i="0" dirty="0">
                <a:solidFill>
                  <a:srgbClr val="33413D"/>
                </a:solidFill>
                <a:latin typeface="Aptos"/>
              </a:rPr>
              <a:t> </a:t>
            </a:r>
            <a:r>
              <a:rPr sz="1150" b="0" i="0" dirty="0" err="1">
                <a:solidFill>
                  <a:srgbClr val="33413D"/>
                </a:solidFill>
                <a:latin typeface="Aptos"/>
              </a:rPr>
              <a:t>sind</a:t>
            </a:r>
            <a:r>
              <a:rPr sz="1150" b="0" i="0" dirty="0">
                <a:solidFill>
                  <a:srgbClr val="33413D"/>
                </a:solidFill>
                <a:latin typeface="Aptos"/>
              </a:rPr>
              <a:t> in </a:t>
            </a:r>
            <a:r>
              <a:rPr sz="1150" b="0" i="0" dirty="0" err="1">
                <a:solidFill>
                  <a:srgbClr val="33413D"/>
                </a:solidFill>
                <a:latin typeface="Aptos"/>
              </a:rPr>
              <a:t>Kapitel</a:t>
            </a:r>
            <a:r>
              <a:rPr sz="1150" b="0" i="0" dirty="0">
                <a:solidFill>
                  <a:srgbClr val="33413D"/>
                </a:solidFill>
                <a:latin typeface="Aptos"/>
              </a:rPr>
              <a:t> 9 und 11 transparent </a:t>
            </a:r>
            <a:r>
              <a:rPr sz="1150" b="0" i="0" dirty="0" err="1">
                <a:solidFill>
                  <a:srgbClr val="33413D"/>
                </a:solidFill>
                <a:latin typeface="Aptos"/>
              </a:rPr>
              <a:t>aufgeführt</a:t>
            </a:r>
            <a:r>
              <a:rPr sz="1150" b="0" i="0" dirty="0">
                <a:solidFill>
                  <a:srgbClr val="33413D"/>
                </a:solidFill>
                <a:latin typeface="Aptos"/>
              </a:rPr>
              <a:t> und </a:t>
            </a:r>
            <a:r>
              <a:rPr sz="1150" b="0" i="0" dirty="0" err="1">
                <a:solidFill>
                  <a:srgbClr val="33413D"/>
                </a:solidFill>
                <a:latin typeface="Aptos"/>
              </a:rPr>
              <a:t>liegen</a:t>
            </a:r>
            <a:r>
              <a:rPr sz="1150" b="0" i="0" dirty="0">
                <a:solidFill>
                  <a:srgbClr val="33413D"/>
                </a:solidFill>
                <a:latin typeface="Aptos"/>
              </a:rPr>
              <a:t> </a:t>
            </a:r>
            <a:r>
              <a:rPr sz="1150" b="0" i="0" dirty="0" err="1">
                <a:solidFill>
                  <a:srgbClr val="33413D"/>
                </a:solidFill>
                <a:latin typeface="Aptos"/>
              </a:rPr>
              <a:t>bei</a:t>
            </a:r>
            <a:r>
              <a:rPr sz="1150" b="0" i="0" dirty="0">
                <a:solidFill>
                  <a:srgbClr val="33413D"/>
                </a:solidFill>
                <a:latin typeface="Aptos"/>
              </a:rPr>
              <a:t> Ihnen </a:t>
            </a:r>
            <a:r>
              <a:rPr sz="1150" b="0" i="0" dirty="0" err="1">
                <a:solidFill>
                  <a:srgbClr val="33413D"/>
                </a:solidFill>
                <a:latin typeface="Aptos"/>
              </a:rPr>
              <a:t>bzw</a:t>
            </a:r>
            <a:r>
              <a:rPr sz="1150" b="0" i="0" dirty="0">
                <a:solidFill>
                  <a:srgbClr val="33413D"/>
                </a:solidFill>
                <a:latin typeface="Aptos"/>
              </a:rPr>
              <a:t>. den </a:t>
            </a:r>
            <a:r>
              <a:rPr sz="1150" b="0" i="0" dirty="0" err="1">
                <a:solidFill>
                  <a:srgbClr val="33413D"/>
                </a:solidFill>
                <a:latin typeface="Aptos"/>
              </a:rPr>
              <a:t>jeweiligen</a:t>
            </a:r>
            <a:r>
              <a:rPr sz="1150" b="0" i="0" dirty="0">
                <a:solidFill>
                  <a:srgbClr val="33413D"/>
                </a:solidFill>
                <a:latin typeface="Aptos"/>
              </a:rPr>
              <a:t> </a:t>
            </a:r>
            <a:r>
              <a:rPr sz="1150" b="0" i="0" dirty="0" err="1">
                <a:solidFill>
                  <a:srgbClr val="33413D"/>
                </a:solidFill>
                <a:latin typeface="Aptos"/>
              </a:rPr>
              <a:t>Fachpartnern</a:t>
            </a:r>
            <a:r>
              <a:rPr sz="1150" b="0" i="0" dirty="0">
                <a:solidFill>
                  <a:srgbClr val="33413D"/>
                </a:solidFill>
                <a:latin typeface="Aptos"/>
              </a:rPr>
              <a:t>.</a:t>
            </a:r>
          </a:p>
        </p:txBody>
      </p:sp>
      <p:sp>
        <p:nvSpPr>
          <p:cNvPr id="13" name="TextBox 12"/>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4" name="TextBox 13"/>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4</a:t>
            </a:r>
          </a:p>
        </p:txBody>
      </p:sp>
      <p:pic>
        <p:nvPicPr>
          <p:cNvPr id="15" name="Picture 14"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02</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Marktumfeld &amp; Zeitpunkt</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554480"/>
            <a:ext cx="10881360" cy="1110560"/>
          </a:xfrm>
          <a:prstGeom prst="rect">
            <a:avLst/>
          </a:prstGeom>
          <a:noFill/>
        </p:spPr>
        <p:txBody>
          <a:bodyPr wrap="square" lIns="0" tIns="0" rIns="0" bIns="0" anchor="t">
            <a:spAutoFit/>
          </a:bodyPr>
          <a:lstStyle/>
          <a:p>
            <a:pPr>
              <a:spcAft>
                <a:spcPts val="600"/>
              </a:spcAft>
            </a:pPr>
            <a:r>
              <a:rPr sz="1200" i="0" dirty="0">
                <a:solidFill>
                  <a:srgbClr val="33413D"/>
                </a:solidFill>
                <a:latin typeface="Aptos"/>
              </a:rPr>
              <a:t>Zwei </a:t>
            </a:r>
            <a:r>
              <a:rPr sz="1200" i="0" dirty="0" err="1">
                <a:solidFill>
                  <a:srgbClr val="33413D"/>
                </a:solidFill>
                <a:latin typeface="Aptos"/>
              </a:rPr>
              <a:t>gegenläufige</a:t>
            </a:r>
            <a:r>
              <a:rPr sz="1200" i="0" dirty="0">
                <a:solidFill>
                  <a:srgbClr val="33413D"/>
                </a:solidFill>
                <a:latin typeface="Aptos"/>
              </a:rPr>
              <a:t> </a:t>
            </a:r>
            <a:r>
              <a:rPr sz="1200" i="0" dirty="0" err="1">
                <a:solidFill>
                  <a:srgbClr val="33413D"/>
                </a:solidFill>
                <a:latin typeface="Aptos"/>
              </a:rPr>
              <a:t>Marktbewegungen</a:t>
            </a:r>
            <a:r>
              <a:rPr sz="1200" i="0" dirty="0">
                <a:solidFill>
                  <a:srgbClr val="33413D"/>
                </a:solidFill>
                <a:latin typeface="Aptos"/>
              </a:rPr>
              <a:t> </a:t>
            </a:r>
            <a:r>
              <a:rPr sz="1200" i="0" dirty="0" err="1">
                <a:solidFill>
                  <a:srgbClr val="33413D"/>
                </a:solidFill>
                <a:latin typeface="Aptos"/>
              </a:rPr>
              <a:t>begründen</a:t>
            </a:r>
            <a:r>
              <a:rPr sz="1200" i="0" dirty="0">
                <a:solidFill>
                  <a:srgbClr val="33413D"/>
                </a:solidFill>
                <a:latin typeface="Aptos"/>
              </a:rPr>
              <a:t>, </a:t>
            </a:r>
            <a:r>
              <a:rPr sz="1200" i="0" dirty="0" err="1">
                <a:solidFill>
                  <a:srgbClr val="33413D"/>
                </a:solidFill>
                <a:latin typeface="Aptos"/>
              </a:rPr>
              <a:t>warum</a:t>
            </a:r>
            <a:r>
              <a:rPr sz="1200" i="0" dirty="0">
                <a:solidFill>
                  <a:srgbClr val="33413D"/>
                </a:solidFill>
                <a:latin typeface="Aptos"/>
              </a:rPr>
              <a:t> die </a:t>
            </a:r>
            <a:r>
              <a:rPr sz="1200" i="0" dirty="0" err="1">
                <a:solidFill>
                  <a:srgbClr val="33413D"/>
                </a:solidFill>
                <a:latin typeface="Aptos"/>
              </a:rPr>
              <a:t>Weiterentwicklung</a:t>
            </a:r>
            <a:r>
              <a:rPr sz="1200" i="0" dirty="0">
                <a:solidFill>
                  <a:srgbClr val="33413D"/>
                </a:solidFill>
                <a:latin typeface="Aptos"/>
              </a:rPr>
              <a:t> von 1Çatı </a:t>
            </a:r>
            <a:r>
              <a:rPr sz="1200" i="0" dirty="0" err="1">
                <a:solidFill>
                  <a:srgbClr val="33413D"/>
                </a:solidFill>
                <a:latin typeface="Aptos"/>
              </a:rPr>
              <a:t>gerade</a:t>
            </a:r>
            <a:r>
              <a:rPr sz="1200" i="0" dirty="0">
                <a:solidFill>
                  <a:srgbClr val="33413D"/>
                </a:solidFill>
                <a:latin typeface="Aptos"/>
              </a:rPr>
              <a:t> </a:t>
            </a:r>
            <a:r>
              <a:rPr sz="1200" i="0" dirty="0" err="1">
                <a:solidFill>
                  <a:srgbClr val="33413D"/>
                </a:solidFill>
                <a:latin typeface="Aptos"/>
              </a:rPr>
              <a:t>jetzt</a:t>
            </a:r>
            <a:r>
              <a:rPr sz="1200" i="0" dirty="0">
                <a:solidFill>
                  <a:srgbClr val="33413D"/>
                </a:solidFill>
                <a:latin typeface="Aptos"/>
              </a:rPr>
              <a:t> </a:t>
            </a:r>
            <a:r>
              <a:rPr sz="1200" i="0" dirty="0" err="1">
                <a:solidFill>
                  <a:srgbClr val="33413D"/>
                </a:solidFill>
                <a:latin typeface="Aptos"/>
              </a:rPr>
              <a:t>strategisch</a:t>
            </a:r>
            <a:r>
              <a:rPr sz="1200" i="0" dirty="0">
                <a:solidFill>
                  <a:srgbClr val="33413D"/>
                </a:solidFill>
                <a:latin typeface="Aptos"/>
              </a:rPr>
              <a:t> </a:t>
            </a:r>
            <a:r>
              <a:rPr sz="1200" i="0" dirty="0" err="1">
                <a:solidFill>
                  <a:srgbClr val="33413D"/>
                </a:solidFill>
                <a:latin typeface="Aptos"/>
              </a:rPr>
              <a:t>sinnvoll</a:t>
            </a:r>
            <a:r>
              <a:rPr sz="1200" i="0" dirty="0">
                <a:solidFill>
                  <a:srgbClr val="33413D"/>
                </a:solidFill>
                <a:latin typeface="Aptos"/>
              </a:rPr>
              <a:t> </a:t>
            </a:r>
            <a:r>
              <a:rPr sz="1200" i="0" dirty="0" err="1">
                <a:solidFill>
                  <a:srgbClr val="33413D"/>
                </a:solidFill>
                <a:latin typeface="Aptos"/>
              </a:rPr>
              <a:t>ist</a:t>
            </a:r>
            <a:r>
              <a:rPr sz="1200" i="0" dirty="0">
                <a:solidFill>
                  <a:srgbClr val="33413D"/>
                </a:solidFill>
                <a:latin typeface="Aptos"/>
              </a:rPr>
              <a:t>.</a:t>
            </a:r>
          </a:p>
          <a:p>
            <a:pPr>
              <a:spcBef>
                <a:spcPts val="800"/>
              </a:spcBef>
              <a:spcAft>
                <a:spcPts val="300"/>
              </a:spcAft>
            </a:pPr>
            <a:r>
              <a:rPr sz="1300" b="1" i="0" dirty="0">
                <a:solidFill>
                  <a:srgbClr val="066B63"/>
                </a:solidFill>
                <a:latin typeface="Aptos"/>
              </a:rPr>
              <a:t>Der </a:t>
            </a:r>
            <a:r>
              <a:rPr sz="1300" b="1" i="0" dirty="0" err="1">
                <a:solidFill>
                  <a:srgbClr val="066B63"/>
                </a:solidFill>
                <a:latin typeface="Aptos"/>
              </a:rPr>
              <a:t>Auslandsimmobilienmarkt</a:t>
            </a:r>
            <a:r>
              <a:rPr sz="1300" b="1" i="0" dirty="0">
                <a:solidFill>
                  <a:srgbClr val="066B63"/>
                </a:solidFill>
                <a:latin typeface="Aptos"/>
              </a:rPr>
              <a:t> </a:t>
            </a:r>
            <a:r>
              <a:rPr sz="1300" b="1" i="0" dirty="0" err="1">
                <a:solidFill>
                  <a:srgbClr val="066B63"/>
                </a:solidFill>
                <a:latin typeface="Aptos"/>
              </a:rPr>
              <a:t>wird</a:t>
            </a:r>
            <a:r>
              <a:rPr sz="1300" b="1" i="0" dirty="0">
                <a:solidFill>
                  <a:srgbClr val="066B63"/>
                </a:solidFill>
                <a:latin typeface="Aptos"/>
              </a:rPr>
              <a:t> </a:t>
            </a:r>
            <a:r>
              <a:rPr sz="1300" b="1" i="0" dirty="0" err="1">
                <a:solidFill>
                  <a:srgbClr val="066B63"/>
                </a:solidFill>
                <a:latin typeface="Aptos"/>
              </a:rPr>
              <a:t>kleiner</a:t>
            </a:r>
            <a:r>
              <a:rPr sz="1300" b="1" i="0" dirty="0">
                <a:solidFill>
                  <a:srgbClr val="066B63"/>
                </a:solidFill>
                <a:latin typeface="Aptos"/>
              </a:rPr>
              <a:t> </a:t>
            </a:r>
            <a:r>
              <a:rPr lang="de-DE" sz="1300" b="1" i="0" dirty="0">
                <a:solidFill>
                  <a:srgbClr val="066B63"/>
                </a:solidFill>
                <a:latin typeface="Aptos"/>
              </a:rPr>
              <a:t>-</a:t>
            </a:r>
            <a:r>
              <a:rPr sz="1300" b="1" i="0" dirty="0">
                <a:solidFill>
                  <a:srgbClr val="066B63"/>
                </a:solidFill>
                <a:latin typeface="Aptos"/>
              </a:rPr>
              <a:t> </a:t>
            </a:r>
            <a:r>
              <a:rPr sz="1300" b="1" i="0" dirty="0" err="1">
                <a:solidFill>
                  <a:srgbClr val="066B63"/>
                </a:solidFill>
                <a:latin typeface="Aptos"/>
              </a:rPr>
              <a:t>aber</a:t>
            </a:r>
            <a:r>
              <a:rPr sz="1300" b="1" i="0" dirty="0">
                <a:solidFill>
                  <a:srgbClr val="066B63"/>
                </a:solidFill>
                <a:latin typeface="Aptos"/>
              </a:rPr>
              <a:t> Alanya </a:t>
            </a:r>
            <a:r>
              <a:rPr sz="1300" b="1" i="0" dirty="0" err="1">
                <a:solidFill>
                  <a:srgbClr val="066B63"/>
                </a:solidFill>
                <a:latin typeface="Aptos"/>
              </a:rPr>
              <a:t>bleibt</a:t>
            </a:r>
            <a:r>
              <a:rPr sz="1300" b="1" i="0" dirty="0">
                <a:solidFill>
                  <a:srgbClr val="066B63"/>
                </a:solidFill>
                <a:latin typeface="Aptos"/>
              </a:rPr>
              <a:t> </a:t>
            </a:r>
            <a:r>
              <a:rPr sz="1300" b="1" i="0" dirty="0" err="1">
                <a:solidFill>
                  <a:srgbClr val="066B63"/>
                </a:solidFill>
                <a:latin typeface="Aptos"/>
              </a:rPr>
              <a:t>führend</a:t>
            </a:r>
            <a:endParaRPr sz="1300" b="1" i="0" dirty="0">
              <a:solidFill>
                <a:srgbClr val="066B63"/>
              </a:solidFill>
              <a:latin typeface="Aptos"/>
            </a:endParaRPr>
          </a:p>
          <a:p>
            <a:pPr>
              <a:spcAft>
                <a:spcPts val="600"/>
              </a:spcAft>
            </a:pPr>
            <a:r>
              <a:rPr sz="1100" i="0" dirty="0" err="1">
                <a:solidFill>
                  <a:srgbClr val="33413D"/>
                </a:solidFill>
                <a:latin typeface="Aptos"/>
              </a:rPr>
              <a:t>Landesweit</a:t>
            </a:r>
            <a:r>
              <a:rPr sz="1100" i="0" dirty="0">
                <a:solidFill>
                  <a:srgbClr val="33413D"/>
                </a:solidFill>
                <a:latin typeface="Aptos"/>
              </a:rPr>
              <a:t> </a:t>
            </a:r>
            <a:r>
              <a:rPr sz="1100" i="0" dirty="0" err="1">
                <a:solidFill>
                  <a:srgbClr val="33413D"/>
                </a:solidFill>
                <a:latin typeface="Aptos"/>
              </a:rPr>
              <a:t>wurden</a:t>
            </a:r>
            <a:r>
              <a:rPr sz="1100" i="0" dirty="0">
                <a:solidFill>
                  <a:srgbClr val="33413D"/>
                </a:solidFill>
                <a:latin typeface="Aptos"/>
              </a:rPr>
              <a:t> 2025 </a:t>
            </a:r>
            <a:r>
              <a:rPr sz="1100" i="0" dirty="0" err="1">
                <a:solidFill>
                  <a:srgbClr val="33413D"/>
                </a:solidFill>
                <a:latin typeface="Aptos"/>
              </a:rPr>
              <a:t>nur</a:t>
            </a:r>
            <a:r>
              <a:rPr sz="1100" i="0" dirty="0">
                <a:solidFill>
                  <a:srgbClr val="33413D"/>
                </a:solidFill>
                <a:latin typeface="Aptos"/>
              </a:rPr>
              <a:t> </a:t>
            </a:r>
            <a:r>
              <a:rPr sz="1100" i="0" dirty="0" err="1">
                <a:solidFill>
                  <a:srgbClr val="33413D"/>
                </a:solidFill>
                <a:latin typeface="Aptos"/>
              </a:rPr>
              <a:t>noch</a:t>
            </a:r>
            <a:r>
              <a:rPr sz="1100" i="0" dirty="0">
                <a:solidFill>
                  <a:srgbClr val="33413D"/>
                </a:solidFill>
                <a:latin typeface="Aptos"/>
              </a:rPr>
              <a:t> </a:t>
            </a:r>
            <a:r>
              <a:rPr sz="1100" i="0" dirty="0" err="1">
                <a:solidFill>
                  <a:srgbClr val="33413D"/>
                </a:solidFill>
                <a:latin typeface="Aptos"/>
              </a:rPr>
              <a:t>rund</a:t>
            </a:r>
            <a:r>
              <a:rPr sz="1100" i="0" dirty="0">
                <a:solidFill>
                  <a:srgbClr val="33413D"/>
                </a:solidFill>
                <a:latin typeface="Aptos"/>
              </a:rPr>
              <a:t> 21.500 </a:t>
            </a:r>
            <a:r>
              <a:rPr sz="1100" i="0" dirty="0" err="1">
                <a:solidFill>
                  <a:srgbClr val="33413D"/>
                </a:solidFill>
                <a:latin typeface="Aptos"/>
              </a:rPr>
              <a:t>Wohnungen</a:t>
            </a:r>
            <a:r>
              <a:rPr sz="1100" i="0" dirty="0">
                <a:solidFill>
                  <a:srgbClr val="33413D"/>
                </a:solidFill>
                <a:latin typeface="Aptos"/>
              </a:rPr>
              <a:t> an Ausländer </a:t>
            </a:r>
            <a:r>
              <a:rPr sz="1100" i="0" dirty="0" err="1">
                <a:solidFill>
                  <a:srgbClr val="33413D"/>
                </a:solidFill>
                <a:latin typeface="Aptos"/>
              </a:rPr>
              <a:t>verkauft</a:t>
            </a:r>
            <a:r>
              <a:rPr sz="1100" i="0" dirty="0">
                <a:solidFill>
                  <a:srgbClr val="33413D"/>
                </a:solidFill>
                <a:latin typeface="Aptos"/>
              </a:rPr>
              <a:t> </a:t>
            </a:r>
            <a:r>
              <a:rPr lang="de-DE" sz="1100" i="0" dirty="0">
                <a:solidFill>
                  <a:srgbClr val="33413D"/>
                </a:solidFill>
                <a:latin typeface="Aptos"/>
              </a:rPr>
              <a:t>-</a:t>
            </a:r>
            <a:r>
              <a:rPr sz="1100" i="0" dirty="0">
                <a:solidFill>
                  <a:srgbClr val="33413D"/>
                </a:solidFill>
                <a:latin typeface="Aptos"/>
              </a:rPr>
              <a:t> der </a:t>
            </a:r>
            <a:r>
              <a:rPr sz="1100" i="0" dirty="0" err="1">
                <a:solidFill>
                  <a:srgbClr val="33413D"/>
                </a:solidFill>
                <a:latin typeface="Aptos"/>
              </a:rPr>
              <a:t>niedrigste</a:t>
            </a:r>
            <a:r>
              <a:rPr sz="1100" i="0" dirty="0">
                <a:solidFill>
                  <a:srgbClr val="33413D"/>
                </a:solidFill>
                <a:latin typeface="Aptos"/>
              </a:rPr>
              <a:t> Wert </a:t>
            </a:r>
            <a:r>
              <a:rPr sz="1100" i="0" dirty="0" err="1">
                <a:solidFill>
                  <a:srgbClr val="33413D"/>
                </a:solidFill>
                <a:latin typeface="Aptos"/>
              </a:rPr>
              <a:t>seit</a:t>
            </a:r>
            <a:r>
              <a:rPr sz="1100" i="0" dirty="0">
                <a:solidFill>
                  <a:srgbClr val="33413D"/>
                </a:solidFill>
                <a:latin typeface="Aptos"/>
              </a:rPr>
              <a:t> </a:t>
            </a:r>
            <a:r>
              <a:rPr sz="1100" i="0" dirty="0" err="1">
                <a:solidFill>
                  <a:srgbClr val="33413D"/>
                </a:solidFill>
                <a:latin typeface="Aptos"/>
              </a:rPr>
              <a:t>neun</a:t>
            </a:r>
            <a:r>
              <a:rPr sz="1100" i="0" dirty="0">
                <a:solidFill>
                  <a:srgbClr val="33413D"/>
                </a:solidFill>
                <a:latin typeface="Aptos"/>
              </a:rPr>
              <a:t> Jahren. Bei </a:t>
            </a:r>
            <a:r>
              <a:rPr sz="1100" i="0" dirty="0" err="1">
                <a:solidFill>
                  <a:srgbClr val="33413D"/>
                </a:solidFill>
                <a:latin typeface="Aptos"/>
              </a:rPr>
              <a:t>russischen</a:t>
            </a:r>
            <a:r>
              <a:rPr sz="1100" i="0" dirty="0">
                <a:solidFill>
                  <a:srgbClr val="33413D"/>
                </a:solidFill>
                <a:latin typeface="Aptos"/>
              </a:rPr>
              <a:t> </a:t>
            </a:r>
            <a:r>
              <a:rPr sz="1100" i="0" dirty="0" err="1">
                <a:solidFill>
                  <a:srgbClr val="33413D"/>
                </a:solidFill>
                <a:latin typeface="Aptos"/>
              </a:rPr>
              <a:t>Käufern</a:t>
            </a:r>
            <a:r>
              <a:rPr sz="1100" i="0" dirty="0">
                <a:solidFill>
                  <a:srgbClr val="33413D"/>
                </a:solidFill>
                <a:latin typeface="Aptos"/>
              </a:rPr>
              <a:t> </a:t>
            </a:r>
            <a:r>
              <a:rPr sz="1100" i="0" dirty="0" err="1">
                <a:solidFill>
                  <a:srgbClr val="33413D"/>
                </a:solidFill>
                <a:latin typeface="Aptos"/>
              </a:rPr>
              <a:t>ging</a:t>
            </a:r>
            <a:r>
              <a:rPr sz="1100" i="0" dirty="0">
                <a:solidFill>
                  <a:srgbClr val="33413D"/>
                </a:solidFill>
                <a:latin typeface="Aptos"/>
              </a:rPr>
              <a:t> die Zahl in Alanya von 6.640 (2022) auf 1.662 </a:t>
            </a:r>
            <a:r>
              <a:rPr sz="1100" i="0" dirty="0" err="1">
                <a:solidFill>
                  <a:srgbClr val="33413D"/>
                </a:solidFill>
                <a:latin typeface="Aptos"/>
              </a:rPr>
              <a:t>Einheiten</a:t>
            </a:r>
            <a:r>
              <a:rPr sz="1100" i="0" dirty="0">
                <a:solidFill>
                  <a:srgbClr val="33413D"/>
                </a:solidFill>
                <a:latin typeface="Aptos"/>
              </a:rPr>
              <a:t> (2025) </a:t>
            </a:r>
            <a:r>
              <a:rPr sz="1100" i="0" dirty="0" err="1">
                <a:solidFill>
                  <a:srgbClr val="33413D"/>
                </a:solidFill>
                <a:latin typeface="Aptos"/>
              </a:rPr>
              <a:t>zurück</a:t>
            </a:r>
            <a:r>
              <a:rPr sz="1100" i="0" dirty="0">
                <a:solidFill>
                  <a:srgbClr val="33413D"/>
                </a:solidFill>
                <a:latin typeface="Aptos"/>
              </a:rPr>
              <a:t>. </a:t>
            </a:r>
            <a:r>
              <a:rPr sz="1100" i="0" dirty="0" err="1">
                <a:solidFill>
                  <a:srgbClr val="33413D"/>
                </a:solidFill>
                <a:latin typeface="Aptos"/>
              </a:rPr>
              <a:t>Zugleich</a:t>
            </a:r>
            <a:r>
              <a:rPr sz="1100" i="0" dirty="0">
                <a:solidFill>
                  <a:srgbClr val="33413D"/>
                </a:solidFill>
                <a:latin typeface="Aptos"/>
              </a:rPr>
              <a:t> </a:t>
            </a:r>
            <a:r>
              <a:rPr sz="1100" i="0" dirty="0" err="1">
                <a:solidFill>
                  <a:srgbClr val="33413D"/>
                </a:solidFill>
                <a:latin typeface="Aptos"/>
              </a:rPr>
              <a:t>bleibt</a:t>
            </a:r>
            <a:r>
              <a:rPr sz="1100" i="0" dirty="0">
                <a:solidFill>
                  <a:srgbClr val="33413D"/>
                </a:solidFill>
                <a:latin typeface="Aptos"/>
              </a:rPr>
              <a:t> Alanya </a:t>
            </a:r>
            <a:r>
              <a:rPr sz="1100" i="0" dirty="0" err="1">
                <a:solidFill>
                  <a:srgbClr val="33413D"/>
                </a:solidFill>
                <a:latin typeface="Aptos"/>
              </a:rPr>
              <a:t>seit</a:t>
            </a:r>
            <a:r>
              <a:rPr sz="1100" i="0" dirty="0">
                <a:solidFill>
                  <a:srgbClr val="33413D"/>
                </a:solidFill>
                <a:latin typeface="Aptos"/>
              </a:rPr>
              <a:t> vier Jahren in </a:t>
            </a:r>
            <a:r>
              <a:rPr sz="1100" i="0" dirty="0" err="1">
                <a:solidFill>
                  <a:srgbClr val="33413D"/>
                </a:solidFill>
                <a:latin typeface="Aptos"/>
              </a:rPr>
              <a:t>Folge</a:t>
            </a:r>
            <a:r>
              <a:rPr sz="1100" i="0" dirty="0">
                <a:solidFill>
                  <a:srgbClr val="33413D"/>
                </a:solidFill>
                <a:latin typeface="Aptos"/>
              </a:rPr>
              <a:t> der von </a:t>
            </a:r>
            <a:r>
              <a:rPr sz="1100" i="0" dirty="0" err="1">
                <a:solidFill>
                  <a:srgbClr val="33413D"/>
                </a:solidFill>
                <a:latin typeface="Aptos"/>
              </a:rPr>
              <a:t>russischen</a:t>
            </a:r>
            <a:r>
              <a:rPr sz="1100" i="0" dirty="0">
                <a:solidFill>
                  <a:srgbClr val="33413D"/>
                </a:solidFill>
                <a:latin typeface="Aptos"/>
              </a:rPr>
              <a:t> </a:t>
            </a:r>
            <a:r>
              <a:rPr sz="1100" i="0" dirty="0" err="1">
                <a:solidFill>
                  <a:srgbClr val="33413D"/>
                </a:solidFill>
                <a:latin typeface="Aptos"/>
              </a:rPr>
              <a:t>Käufern</a:t>
            </a:r>
            <a:r>
              <a:rPr sz="1100" i="0" dirty="0">
                <a:solidFill>
                  <a:srgbClr val="33413D"/>
                </a:solidFill>
                <a:latin typeface="Aptos"/>
              </a:rPr>
              <a:t> </a:t>
            </a:r>
            <a:r>
              <a:rPr sz="1100" i="0" dirty="0" err="1">
                <a:solidFill>
                  <a:srgbClr val="33413D"/>
                </a:solidFill>
                <a:latin typeface="Aptos"/>
              </a:rPr>
              <a:t>meistgewählte</a:t>
            </a:r>
            <a:r>
              <a:rPr sz="1100" i="0" dirty="0">
                <a:solidFill>
                  <a:srgbClr val="33413D"/>
                </a:solidFill>
                <a:latin typeface="Aptos"/>
              </a:rPr>
              <a:t> Landkreis der </a:t>
            </a:r>
            <a:r>
              <a:rPr sz="1100" i="0" dirty="0" err="1">
                <a:solidFill>
                  <a:srgbClr val="33413D"/>
                </a:solidFill>
                <a:latin typeface="Aptos"/>
              </a:rPr>
              <a:t>gesamten</a:t>
            </a:r>
            <a:r>
              <a:rPr sz="1100" i="0" dirty="0">
                <a:solidFill>
                  <a:srgbClr val="33413D"/>
                </a:solidFill>
                <a:latin typeface="Aptos"/>
              </a:rPr>
              <a:t> </a:t>
            </a:r>
            <a:r>
              <a:rPr sz="1100" i="0" dirty="0" err="1">
                <a:solidFill>
                  <a:srgbClr val="33413D"/>
                </a:solidFill>
                <a:latin typeface="Aptos"/>
              </a:rPr>
              <a:t>Türkei</a:t>
            </a:r>
            <a:r>
              <a:rPr sz="1100" i="0" dirty="0">
                <a:solidFill>
                  <a:srgbClr val="33413D"/>
                </a:solidFill>
                <a:latin typeface="Aptos"/>
              </a:rPr>
              <a:t>. In </a:t>
            </a:r>
            <a:r>
              <a:rPr sz="1100" i="0" dirty="0" err="1">
                <a:solidFill>
                  <a:srgbClr val="33413D"/>
                </a:solidFill>
                <a:latin typeface="Aptos"/>
              </a:rPr>
              <a:t>einem</a:t>
            </a:r>
            <a:r>
              <a:rPr sz="1100" i="0" dirty="0">
                <a:solidFill>
                  <a:srgbClr val="33413D"/>
                </a:solidFill>
                <a:latin typeface="Aptos"/>
              </a:rPr>
              <a:t> </a:t>
            </a:r>
            <a:r>
              <a:rPr sz="1100" i="0" dirty="0" err="1">
                <a:solidFill>
                  <a:srgbClr val="33413D"/>
                </a:solidFill>
                <a:latin typeface="Aptos"/>
              </a:rPr>
              <a:t>schrumpfenden</a:t>
            </a:r>
            <a:r>
              <a:rPr sz="1100" i="0" dirty="0">
                <a:solidFill>
                  <a:srgbClr val="33413D"/>
                </a:solidFill>
                <a:latin typeface="Aptos"/>
              </a:rPr>
              <a:t> Markt </a:t>
            </a:r>
            <a:r>
              <a:rPr sz="1100" i="0" dirty="0" err="1">
                <a:solidFill>
                  <a:srgbClr val="33413D"/>
                </a:solidFill>
                <a:latin typeface="Aptos"/>
              </a:rPr>
              <a:t>entscheidet</a:t>
            </a:r>
            <a:r>
              <a:rPr sz="1100" i="0" dirty="0">
                <a:solidFill>
                  <a:srgbClr val="33413D"/>
                </a:solidFill>
                <a:latin typeface="Aptos"/>
              </a:rPr>
              <a:t> operative </a:t>
            </a:r>
            <a:r>
              <a:rPr sz="1100" i="0" dirty="0" err="1">
                <a:solidFill>
                  <a:srgbClr val="33413D"/>
                </a:solidFill>
                <a:latin typeface="Aptos"/>
              </a:rPr>
              <a:t>Exzellenz</a:t>
            </a:r>
            <a:r>
              <a:rPr sz="1100" i="0" dirty="0">
                <a:solidFill>
                  <a:srgbClr val="33413D"/>
                </a:solidFill>
                <a:latin typeface="Aptos"/>
              </a:rPr>
              <a:t> und </a:t>
            </a:r>
            <a:r>
              <a:rPr sz="1100" i="0" dirty="0" err="1">
                <a:solidFill>
                  <a:srgbClr val="33413D"/>
                </a:solidFill>
                <a:latin typeface="Aptos"/>
              </a:rPr>
              <a:t>digitales</a:t>
            </a:r>
            <a:r>
              <a:rPr sz="1100" i="0" dirty="0">
                <a:solidFill>
                  <a:srgbClr val="33413D"/>
                </a:solidFill>
                <a:latin typeface="Aptos"/>
              </a:rPr>
              <a:t> </a:t>
            </a:r>
            <a:r>
              <a:rPr sz="1100" i="0" dirty="0" err="1">
                <a:solidFill>
                  <a:srgbClr val="33413D"/>
                </a:solidFill>
                <a:latin typeface="Aptos"/>
              </a:rPr>
              <a:t>Vertrauen</a:t>
            </a:r>
            <a:r>
              <a:rPr sz="1100" i="0" dirty="0">
                <a:solidFill>
                  <a:srgbClr val="33413D"/>
                </a:solidFill>
                <a:latin typeface="Aptos"/>
              </a:rPr>
              <a:t> </a:t>
            </a:r>
            <a:r>
              <a:rPr sz="1100" i="0" dirty="0" err="1">
                <a:solidFill>
                  <a:srgbClr val="33413D"/>
                </a:solidFill>
                <a:latin typeface="Aptos"/>
              </a:rPr>
              <a:t>stärker</a:t>
            </a:r>
            <a:r>
              <a:rPr sz="1100" i="0" dirty="0">
                <a:solidFill>
                  <a:srgbClr val="33413D"/>
                </a:solidFill>
                <a:latin typeface="Aptos"/>
              </a:rPr>
              <a:t> </a:t>
            </a:r>
            <a:r>
              <a:rPr sz="1100" i="0" dirty="0" err="1">
                <a:solidFill>
                  <a:srgbClr val="33413D"/>
                </a:solidFill>
                <a:latin typeface="Aptos"/>
              </a:rPr>
              <a:t>über</a:t>
            </a:r>
            <a:r>
              <a:rPr sz="1100" i="0" dirty="0">
                <a:solidFill>
                  <a:srgbClr val="33413D"/>
                </a:solidFill>
                <a:latin typeface="Aptos"/>
              </a:rPr>
              <a:t> </a:t>
            </a:r>
            <a:r>
              <a:rPr sz="1100" i="0" dirty="0" err="1">
                <a:solidFill>
                  <a:srgbClr val="33413D"/>
                </a:solidFill>
                <a:latin typeface="Aptos"/>
              </a:rPr>
              <a:t>Kundenbindung</a:t>
            </a:r>
            <a:r>
              <a:rPr sz="1100" i="0" dirty="0">
                <a:solidFill>
                  <a:srgbClr val="33413D"/>
                </a:solidFill>
                <a:latin typeface="Aptos"/>
              </a:rPr>
              <a:t> </a:t>
            </a:r>
            <a:r>
              <a:rPr sz="1100" i="0" dirty="0" err="1">
                <a:solidFill>
                  <a:srgbClr val="33413D"/>
                </a:solidFill>
                <a:latin typeface="Aptos"/>
              </a:rPr>
              <a:t>als</a:t>
            </a:r>
            <a:r>
              <a:rPr sz="1100" i="0" dirty="0">
                <a:solidFill>
                  <a:srgbClr val="33413D"/>
                </a:solidFill>
                <a:latin typeface="Aptos"/>
              </a:rPr>
              <a:t> in </a:t>
            </a:r>
            <a:r>
              <a:rPr sz="1100" i="0" dirty="0" err="1">
                <a:solidFill>
                  <a:srgbClr val="33413D"/>
                </a:solidFill>
                <a:latin typeface="Aptos"/>
              </a:rPr>
              <a:t>einem</a:t>
            </a:r>
            <a:r>
              <a:rPr sz="1100" i="0" dirty="0">
                <a:solidFill>
                  <a:srgbClr val="33413D"/>
                </a:solidFill>
                <a:latin typeface="Aptos"/>
              </a:rPr>
              <a:t> </a:t>
            </a:r>
            <a:r>
              <a:rPr sz="1100" i="0" dirty="0" err="1">
                <a:solidFill>
                  <a:srgbClr val="33413D"/>
                </a:solidFill>
                <a:latin typeface="Aptos"/>
              </a:rPr>
              <a:t>wachsenden</a:t>
            </a:r>
            <a:r>
              <a:rPr sz="1100" i="0" dirty="0">
                <a:solidFill>
                  <a:srgbClr val="33413D"/>
                </a:solidFill>
                <a:latin typeface="Aptos"/>
              </a:rPr>
              <a:t> Markt.</a:t>
            </a:r>
          </a:p>
        </p:txBody>
      </p:sp>
      <p:sp>
        <p:nvSpPr>
          <p:cNvPr id="10" name="Rounded Rectangle 9"/>
          <p:cNvSpPr/>
          <p:nvPr/>
        </p:nvSpPr>
        <p:spPr>
          <a:xfrm>
            <a:off x="64008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3941064"/>
            <a:ext cx="2183130" cy="492443"/>
          </a:xfrm>
          <a:prstGeom prst="rect">
            <a:avLst/>
          </a:prstGeom>
          <a:noFill/>
        </p:spPr>
        <p:txBody>
          <a:bodyPr wrap="square" lIns="0" tIns="0" rIns="0" bIns="0" anchor="t">
            <a:spAutoFit/>
          </a:bodyPr>
          <a:lstStyle/>
          <a:p>
            <a:r>
              <a:rPr lang="de-DE" sz="3200" b="1" dirty="0">
                <a:solidFill>
                  <a:srgbClr val="066B63"/>
                </a:solidFill>
                <a:latin typeface="Aptos"/>
              </a:rPr>
              <a:t>-</a:t>
            </a:r>
            <a:r>
              <a:rPr sz="3200" b="1" i="0" dirty="0">
                <a:solidFill>
                  <a:srgbClr val="066B63"/>
                </a:solidFill>
                <a:latin typeface="Aptos"/>
              </a:rPr>
              <a:t>9,4</a:t>
            </a:r>
            <a:r>
              <a:rPr lang="de-DE" sz="3200" b="1" i="0" dirty="0">
                <a:solidFill>
                  <a:srgbClr val="066B63"/>
                </a:solidFill>
                <a:latin typeface="Aptos"/>
              </a:rPr>
              <a:t> </a:t>
            </a:r>
            <a:r>
              <a:rPr sz="3200" b="1" i="0" dirty="0">
                <a:solidFill>
                  <a:srgbClr val="B9822B"/>
                </a:solidFill>
                <a:latin typeface="Aptos"/>
              </a:rPr>
              <a:t>%</a:t>
            </a:r>
          </a:p>
        </p:txBody>
      </p:sp>
      <p:sp>
        <p:nvSpPr>
          <p:cNvPr id="12" name="TextBox 11"/>
          <p:cNvSpPr txBox="1"/>
          <p:nvPr/>
        </p:nvSpPr>
        <p:spPr>
          <a:xfrm>
            <a:off x="822960" y="4544568"/>
            <a:ext cx="2183130" cy="411480"/>
          </a:xfrm>
          <a:prstGeom prst="rect">
            <a:avLst/>
          </a:prstGeom>
          <a:noFill/>
        </p:spPr>
        <p:txBody>
          <a:bodyPr wrap="square" lIns="0" tIns="0" rIns="0" bIns="0" anchor="t">
            <a:spAutoFit/>
          </a:bodyPr>
          <a:lstStyle/>
          <a:p>
            <a:r>
              <a:rPr sz="1050" b="0" i="0">
                <a:solidFill>
                  <a:srgbClr val="64716D"/>
                </a:solidFill>
                <a:latin typeface="Aptos"/>
              </a:rPr>
              <a:t>Ausländerverkäufe Türkei 2025 ggü. Vorjahr</a:t>
            </a:r>
          </a:p>
        </p:txBody>
      </p:sp>
      <p:sp>
        <p:nvSpPr>
          <p:cNvPr id="13" name="Rounded Rectangle 12"/>
          <p:cNvSpPr/>
          <p:nvPr/>
        </p:nvSpPr>
        <p:spPr>
          <a:xfrm>
            <a:off x="341757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00450" y="3941064"/>
            <a:ext cx="2183130" cy="640080"/>
          </a:xfrm>
          <a:prstGeom prst="rect">
            <a:avLst/>
          </a:prstGeom>
          <a:noFill/>
        </p:spPr>
        <p:txBody>
          <a:bodyPr wrap="square" lIns="0" tIns="0" rIns="0" bIns="0" anchor="t">
            <a:spAutoFit/>
          </a:bodyPr>
          <a:lstStyle/>
          <a:p>
            <a:r>
              <a:rPr sz="3200" b="1" i="0">
                <a:solidFill>
                  <a:srgbClr val="066B63"/>
                </a:solidFill>
                <a:latin typeface="Aptos"/>
              </a:rPr>
              <a:t>4</a:t>
            </a:r>
          </a:p>
        </p:txBody>
      </p:sp>
      <p:sp>
        <p:nvSpPr>
          <p:cNvPr id="15" name="TextBox 14"/>
          <p:cNvSpPr txBox="1"/>
          <p:nvPr/>
        </p:nvSpPr>
        <p:spPr>
          <a:xfrm>
            <a:off x="3600450" y="4544568"/>
            <a:ext cx="2183130" cy="411480"/>
          </a:xfrm>
          <a:prstGeom prst="rect">
            <a:avLst/>
          </a:prstGeom>
          <a:noFill/>
        </p:spPr>
        <p:txBody>
          <a:bodyPr wrap="square" lIns="0" tIns="0" rIns="0" bIns="0" anchor="t">
            <a:spAutoFit/>
          </a:bodyPr>
          <a:lstStyle/>
          <a:p>
            <a:r>
              <a:rPr sz="1050" b="0" i="0">
                <a:solidFill>
                  <a:srgbClr val="64716D"/>
                </a:solidFill>
                <a:latin typeface="Aptos"/>
              </a:rPr>
              <a:t>Jahre in Folge: Alanya Nr. 1 (russische Käufer)</a:t>
            </a:r>
          </a:p>
        </p:txBody>
      </p:sp>
      <p:sp>
        <p:nvSpPr>
          <p:cNvPr id="16" name="Rounded Rectangle 15"/>
          <p:cNvSpPr/>
          <p:nvPr/>
        </p:nvSpPr>
        <p:spPr>
          <a:xfrm>
            <a:off x="619506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7940" y="3941064"/>
            <a:ext cx="2183130" cy="492443"/>
          </a:xfrm>
          <a:prstGeom prst="rect">
            <a:avLst/>
          </a:prstGeom>
          <a:noFill/>
        </p:spPr>
        <p:txBody>
          <a:bodyPr wrap="square" lIns="0" tIns="0" rIns="0" bIns="0" anchor="t">
            <a:spAutoFit/>
          </a:bodyPr>
          <a:lstStyle/>
          <a:p>
            <a:r>
              <a:rPr sz="3200" b="1" i="0" dirty="0">
                <a:solidFill>
                  <a:srgbClr val="066B63"/>
                </a:solidFill>
                <a:latin typeface="Aptos"/>
              </a:rPr>
              <a:t>88,6</a:t>
            </a:r>
            <a:r>
              <a:rPr lang="de-DE" sz="3200" b="1" i="0" dirty="0">
                <a:solidFill>
                  <a:srgbClr val="066B63"/>
                </a:solidFill>
                <a:latin typeface="Aptos"/>
              </a:rPr>
              <a:t> </a:t>
            </a:r>
            <a:r>
              <a:rPr sz="3200" b="1" i="0" dirty="0">
                <a:solidFill>
                  <a:srgbClr val="B9822B"/>
                </a:solidFill>
                <a:latin typeface="Aptos"/>
              </a:rPr>
              <a:t>%</a:t>
            </a:r>
          </a:p>
        </p:txBody>
      </p:sp>
      <p:sp>
        <p:nvSpPr>
          <p:cNvPr id="18" name="TextBox 17"/>
          <p:cNvSpPr txBox="1"/>
          <p:nvPr/>
        </p:nvSpPr>
        <p:spPr>
          <a:xfrm>
            <a:off x="6377940" y="4544568"/>
            <a:ext cx="2183130" cy="411480"/>
          </a:xfrm>
          <a:prstGeom prst="rect">
            <a:avLst/>
          </a:prstGeom>
          <a:noFill/>
        </p:spPr>
        <p:txBody>
          <a:bodyPr wrap="square" lIns="0" tIns="0" rIns="0" bIns="0" anchor="t">
            <a:spAutoFit/>
          </a:bodyPr>
          <a:lstStyle/>
          <a:p>
            <a:r>
              <a:rPr sz="1050" b="0" i="0">
                <a:solidFill>
                  <a:srgbClr val="64716D"/>
                </a:solidFill>
                <a:latin typeface="Aptos"/>
              </a:rPr>
              <a:t>WhatsApp-Nutzung in der Türkei</a:t>
            </a:r>
          </a:p>
        </p:txBody>
      </p:sp>
      <p:sp>
        <p:nvSpPr>
          <p:cNvPr id="19" name="Rounded Rectangle 18"/>
          <p:cNvSpPr/>
          <p:nvPr/>
        </p:nvSpPr>
        <p:spPr>
          <a:xfrm>
            <a:off x="897255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55430" y="3941064"/>
            <a:ext cx="2183130" cy="492443"/>
          </a:xfrm>
          <a:prstGeom prst="rect">
            <a:avLst/>
          </a:prstGeom>
          <a:noFill/>
        </p:spPr>
        <p:txBody>
          <a:bodyPr wrap="square" lIns="0" tIns="0" rIns="0" bIns="0" anchor="t">
            <a:spAutoFit/>
          </a:bodyPr>
          <a:lstStyle/>
          <a:p>
            <a:r>
              <a:rPr sz="3200" b="1" i="0" dirty="0">
                <a:solidFill>
                  <a:srgbClr val="066B63"/>
                </a:solidFill>
                <a:latin typeface="Aptos"/>
              </a:rPr>
              <a:t>34</a:t>
            </a:r>
            <a:r>
              <a:rPr lang="de-DE" sz="3200" b="1" i="0" dirty="0">
                <a:solidFill>
                  <a:srgbClr val="066B63"/>
                </a:solidFill>
                <a:latin typeface="Aptos"/>
              </a:rPr>
              <a:t> </a:t>
            </a:r>
            <a:r>
              <a:rPr sz="3200" b="1" i="0" dirty="0">
                <a:solidFill>
                  <a:srgbClr val="B9822B"/>
                </a:solidFill>
                <a:latin typeface="Aptos"/>
              </a:rPr>
              <a:t>%</a:t>
            </a:r>
          </a:p>
        </p:txBody>
      </p:sp>
      <p:sp>
        <p:nvSpPr>
          <p:cNvPr id="21" name="TextBox 20"/>
          <p:cNvSpPr txBox="1"/>
          <p:nvPr/>
        </p:nvSpPr>
        <p:spPr>
          <a:xfrm>
            <a:off x="9155430" y="4544568"/>
            <a:ext cx="2183130" cy="411480"/>
          </a:xfrm>
          <a:prstGeom prst="rect">
            <a:avLst/>
          </a:prstGeom>
          <a:noFill/>
        </p:spPr>
        <p:txBody>
          <a:bodyPr wrap="square" lIns="0" tIns="0" rIns="0" bIns="0" anchor="t">
            <a:spAutoFit/>
          </a:bodyPr>
          <a:lstStyle/>
          <a:p>
            <a:r>
              <a:rPr sz="1050" b="0" i="0">
                <a:solidFill>
                  <a:srgbClr val="64716D"/>
                </a:solidFill>
                <a:latin typeface="Aptos"/>
              </a:rPr>
              <a:t>KI-Nutzung unter Property-Managern (von 21%)</a:t>
            </a:r>
          </a:p>
        </p:txBody>
      </p:sp>
      <p:sp>
        <p:nvSpPr>
          <p:cNvPr id="22" name="Rounded Rectangle 21"/>
          <p:cNvSpPr/>
          <p:nvPr/>
        </p:nvSpPr>
        <p:spPr>
          <a:xfrm>
            <a:off x="640080" y="5349240"/>
            <a:ext cx="10881360" cy="86868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5349240"/>
            <a:ext cx="54864" cy="86868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5477256"/>
            <a:ext cx="10469880" cy="612648"/>
          </a:xfrm>
          <a:prstGeom prst="rect">
            <a:avLst/>
          </a:prstGeom>
          <a:noFill/>
        </p:spPr>
        <p:txBody>
          <a:bodyPr wrap="square" lIns="0" tIns="0" rIns="0" bIns="0" anchor="ctr">
            <a:spAutoFit/>
          </a:bodyPr>
          <a:lstStyle/>
          <a:p>
            <a:r>
              <a:rPr sz="1250" b="1" i="0">
                <a:solidFill>
                  <a:srgbClr val="044F49"/>
                </a:solidFill>
                <a:latin typeface="Aptos"/>
              </a:rPr>
              <a:t>Strategische Folge.  </a:t>
            </a:r>
            <a:r>
              <a:rPr sz="1150" b="0" i="0">
                <a:solidFill>
                  <a:srgbClr val="33413D"/>
                </a:solidFill>
                <a:latin typeface="Aptos"/>
              </a:rPr>
              <a:t>Wer bestehende Eigentümer und Mieter mit spürbar besserer Verwaltung, Transparenz und Self-Service bindet, gewinnt in einem engeren Markt relativ an Boden.</a:t>
            </a:r>
          </a:p>
        </p:txBody>
      </p:sp>
      <p:sp>
        <p:nvSpPr>
          <p:cNvPr id="25" name="TextBox 24"/>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26" name="TextBox 25"/>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5</a:t>
            </a:r>
          </a:p>
        </p:txBody>
      </p:sp>
      <p:pic>
        <p:nvPicPr>
          <p:cNvPr id="27" name="Picture 26"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02 · MARKTUMFELD</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KI als Wettbewerbsstandard &amp; digitale Erreichbarkeit</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91640"/>
            <a:ext cx="5326380" cy="19202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837944"/>
            <a:ext cx="4869180" cy="897682"/>
          </a:xfrm>
          <a:prstGeom prst="rect">
            <a:avLst/>
          </a:prstGeom>
          <a:noFill/>
        </p:spPr>
        <p:txBody>
          <a:bodyPr wrap="square" lIns="0" tIns="0" rIns="0" bIns="0" anchor="t">
            <a:spAutoFit/>
          </a:bodyPr>
          <a:lstStyle/>
          <a:p>
            <a:r>
              <a:rPr sz="1300" b="1" i="0" dirty="0">
                <a:solidFill>
                  <a:srgbClr val="044F49"/>
                </a:solidFill>
                <a:latin typeface="Aptos"/>
              </a:rPr>
              <a:t>KI </a:t>
            </a:r>
            <a:r>
              <a:rPr sz="1300" b="1" i="0" dirty="0" err="1">
                <a:solidFill>
                  <a:srgbClr val="044F49"/>
                </a:solidFill>
                <a:latin typeface="Aptos"/>
              </a:rPr>
              <a:t>wird</a:t>
            </a:r>
            <a:r>
              <a:rPr sz="1300" b="1" i="0" dirty="0">
                <a:solidFill>
                  <a:srgbClr val="044F49"/>
                </a:solidFill>
                <a:latin typeface="Aptos"/>
              </a:rPr>
              <a:t> </a:t>
            </a:r>
            <a:r>
              <a:rPr sz="1300" b="1" i="0" dirty="0" err="1">
                <a:solidFill>
                  <a:srgbClr val="044F49"/>
                </a:solidFill>
                <a:latin typeface="Aptos"/>
              </a:rPr>
              <a:t>zum</a:t>
            </a:r>
            <a:r>
              <a:rPr sz="1300" b="1" i="0" dirty="0">
                <a:solidFill>
                  <a:srgbClr val="044F49"/>
                </a:solidFill>
                <a:latin typeface="Aptos"/>
              </a:rPr>
              <a:t> Standard</a:t>
            </a:r>
          </a:p>
          <a:p>
            <a:pPr>
              <a:spcBef>
                <a:spcPts val="400"/>
              </a:spcBef>
            </a:pPr>
            <a:r>
              <a:rPr sz="1050" b="0" i="0" dirty="0">
                <a:solidFill>
                  <a:srgbClr val="64716D"/>
                </a:solidFill>
                <a:latin typeface="Aptos"/>
              </a:rPr>
              <a:t>Die </a:t>
            </a:r>
            <a:r>
              <a:rPr sz="1050" b="0" i="0" dirty="0" err="1">
                <a:solidFill>
                  <a:srgbClr val="64716D"/>
                </a:solidFill>
                <a:latin typeface="Aptos"/>
              </a:rPr>
              <a:t>aktive</a:t>
            </a:r>
            <a:r>
              <a:rPr sz="1050" b="0" i="0" dirty="0">
                <a:solidFill>
                  <a:srgbClr val="64716D"/>
                </a:solidFill>
                <a:latin typeface="Aptos"/>
              </a:rPr>
              <a:t> KI-</a:t>
            </a:r>
            <a:r>
              <a:rPr sz="1050" b="0" i="0" dirty="0" err="1">
                <a:solidFill>
                  <a:srgbClr val="64716D"/>
                </a:solidFill>
                <a:latin typeface="Aptos"/>
              </a:rPr>
              <a:t>Nutzung</a:t>
            </a:r>
            <a:r>
              <a:rPr sz="1050" b="0" i="0" dirty="0">
                <a:solidFill>
                  <a:srgbClr val="64716D"/>
                </a:solidFill>
                <a:latin typeface="Aptos"/>
              </a:rPr>
              <a:t> </a:t>
            </a:r>
            <a:r>
              <a:rPr sz="1050" b="0" i="0" dirty="0" err="1">
                <a:solidFill>
                  <a:srgbClr val="64716D"/>
                </a:solidFill>
                <a:latin typeface="Aptos"/>
              </a:rPr>
              <a:t>unter</a:t>
            </a:r>
            <a:r>
              <a:rPr sz="1050" b="0" i="0" dirty="0">
                <a:solidFill>
                  <a:srgbClr val="64716D"/>
                </a:solidFill>
                <a:latin typeface="Aptos"/>
              </a:rPr>
              <a:t> Property-</a:t>
            </a:r>
            <a:r>
              <a:rPr sz="1050" b="0" i="0" dirty="0" err="1">
                <a:solidFill>
                  <a:srgbClr val="64716D"/>
                </a:solidFill>
                <a:latin typeface="Aptos"/>
              </a:rPr>
              <a:t>Managern</a:t>
            </a:r>
            <a:r>
              <a:rPr sz="1050" b="0" i="0" dirty="0">
                <a:solidFill>
                  <a:srgbClr val="64716D"/>
                </a:solidFill>
                <a:latin typeface="Aptos"/>
              </a:rPr>
              <a:t> </a:t>
            </a:r>
            <a:r>
              <a:rPr sz="1050" b="0" i="0" dirty="0" err="1">
                <a:solidFill>
                  <a:srgbClr val="64716D"/>
                </a:solidFill>
                <a:latin typeface="Aptos"/>
              </a:rPr>
              <a:t>stieg</a:t>
            </a:r>
            <a:r>
              <a:rPr sz="1050" b="0" i="0" dirty="0">
                <a:solidFill>
                  <a:srgbClr val="64716D"/>
                </a:solidFill>
                <a:latin typeface="Aptos"/>
              </a:rPr>
              <a:t> in </a:t>
            </a:r>
            <a:r>
              <a:rPr sz="1050" b="0" i="0" dirty="0" err="1">
                <a:solidFill>
                  <a:srgbClr val="64716D"/>
                </a:solidFill>
                <a:latin typeface="Aptos"/>
              </a:rPr>
              <a:t>einem</a:t>
            </a:r>
            <a:r>
              <a:rPr sz="1050" b="0" i="0" dirty="0">
                <a:solidFill>
                  <a:srgbClr val="64716D"/>
                </a:solidFill>
                <a:latin typeface="Aptos"/>
              </a:rPr>
              <a:t> Jahr von 21 % auf 34 %. </a:t>
            </a:r>
            <a:r>
              <a:rPr sz="1050" b="0" i="0" dirty="0" err="1">
                <a:solidFill>
                  <a:srgbClr val="64716D"/>
                </a:solidFill>
                <a:latin typeface="Aptos"/>
              </a:rPr>
              <a:t>Führende</a:t>
            </a:r>
            <a:r>
              <a:rPr sz="1050" b="0" i="0" dirty="0">
                <a:solidFill>
                  <a:srgbClr val="64716D"/>
                </a:solidFill>
                <a:latin typeface="Aptos"/>
              </a:rPr>
              <a:t> </a:t>
            </a:r>
            <a:r>
              <a:rPr sz="1050" b="0" i="0" dirty="0" err="1">
                <a:solidFill>
                  <a:srgbClr val="64716D"/>
                </a:solidFill>
                <a:latin typeface="Aptos"/>
              </a:rPr>
              <a:t>internationale</a:t>
            </a:r>
            <a:r>
              <a:rPr sz="1050" b="0" i="0" dirty="0">
                <a:solidFill>
                  <a:srgbClr val="64716D"/>
                </a:solidFill>
                <a:latin typeface="Aptos"/>
              </a:rPr>
              <a:t> </a:t>
            </a:r>
            <a:r>
              <a:rPr sz="1050" b="0" i="0" dirty="0" err="1">
                <a:solidFill>
                  <a:srgbClr val="64716D"/>
                </a:solidFill>
                <a:latin typeface="Aptos"/>
              </a:rPr>
              <a:t>Anbieter</a:t>
            </a:r>
            <a:r>
              <a:rPr sz="1050" b="0" i="0" dirty="0">
                <a:solidFill>
                  <a:srgbClr val="64716D"/>
                </a:solidFill>
                <a:latin typeface="Aptos"/>
              </a:rPr>
              <a:t> </a:t>
            </a:r>
            <a:r>
              <a:rPr sz="1050" b="0" i="0" dirty="0" err="1">
                <a:solidFill>
                  <a:srgbClr val="64716D"/>
                </a:solidFill>
                <a:latin typeface="Aptos"/>
              </a:rPr>
              <a:t>haben</a:t>
            </a:r>
            <a:r>
              <a:rPr sz="1050" b="0" i="0" dirty="0">
                <a:solidFill>
                  <a:srgbClr val="64716D"/>
                </a:solidFill>
                <a:latin typeface="Aptos"/>
              </a:rPr>
              <a:t> KI-</a:t>
            </a:r>
            <a:r>
              <a:rPr sz="1050" b="0" i="0" dirty="0" err="1">
                <a:solidFill>
                  <a:srgbClr val="64716D"/>
                </a:solidFill>
                <a:latin typeface="Aptos"/>
              </a:rPr>
              <a:t>Assistenten</a:t>
            </a:r>
            <a:r>
              <a:rPr sz="1050" b="0" i="0" dirty="0">
                <a:solidFill>
                  <a:srgbClr val="64716D"/>
                </a:solidFill>
                <a:latin typeface="Aptos"/>
              </a:rPr>
              <a:t> </a:t>
            </a:r>
            <a:r>
              <a:rPr sz="1050" b="0" i="0" dirty="0" err="1">
                <a:solidFill>
                  <a:srgbClr val="64716D"/>
                </a:solidFill>
                <a:latin typeface="Aptos"/>
              </a:rPr>
              <a:t>nachgerüstet</a:t>
            </a:r>
            <a:r>
              <a:rPr sz="1050" b="0" i="0" dirty="0">
                <a:solidFill>
                  <a:srgbClr val="64716D"/>
                </a:solidFill>
                <a:latin typeface="Aptos"/>
              </a:rPr>
              <a:t> </a:t>
            </a:r>
            <a:r>
              <a:rPr lang="de-DE" sz="1050" b="0" i="0" dirty="0">
                <a:solidFill>
                  <a:srgbClr val="64716D"/>
                </a:solidFill>
                <a:latin typeface="Aptos"/>
              </a:rPr>
              <a:t>-</a:t>
            </a:r>
            <a:r>
              <a:rPr sz="1050" b="0" i="0" dirty="0">
                <a:solidFill>
                  <a:srgbClr val="64716D"/>
                </a:solidFill>
                <a:latin typeface="Aptos"/>
              </a:rPr>
              <a:t> </a:t>
            </a:r>
            <a:r>
              <a:rPr sz="1050" b="0" i="0" dirty="0" err="1">
                <a:solidFill>
                  <a:srgbClr val="64716D"/>
                </a:solidFill>
                <a:latin typeface="Aptos"/>
              </a:rPr>
              <a:t>durchweg</a:t>
            </a:r>
            <a:r>
              <a:rPr sz="1050" b="0" i="0" dirty="0">
                <a:solidFill>
                  <a:srgbClr val="64716D"/>
                </a:solidFill>
                <a:latin typeface="Aptos"/>
              </a:rPr>
              <a:t> </a:t>
            </a:r>
            <a:r>
              <a:rPr sz="1050" b="0" i="0" dirty="0" err="1">
                <a:solidFill>
                  <a:srgbClr val="64716D"/>
                </a:solidFill>
                <a:latin typeface="Aptos"/>
              </a:rPr>
              <a:t>mit</a:t>
            </a:r>
            <a:r>
              <a:rPr sz="1050" b="0" i="0" dirty="0">
                <a:solidFill>
                  <a:srgbClr val="64716D"/>
                </a:solidFill>
                <a:latin typeface="Aptos"/>
              </a:rPr>
              <a:t> dem </a:t>
            </a:r>
            <a:r>
              <a:rPr sz="1050" b="0" i="0" dirty="0" err="1">
                <a:solidFill>
                  <a:srgbClr val="64716D"/>
                </a:solidFill>
                <a:latin typeface="Aptos"/>
              </a:rPr>
              <a:t>Prinzip</a:t>
            </a:r>
            <a:r>
              <a:rPr sz="1050" b="0" i="0" dirty="0">
                <a:solidFill>
                  <a:srgbClr val="64716D"/>
                </a:solidFill>
                <a:latin typeface="Aptos"/>
              </a:rPr>
              <a:t>, </a:t>
            </a:r>
            <a:r>
              <a:rPr sz="1050" b="0" i="0" dirty="0" err="1">
                <a:solidFill>
                  <a:srgbClr val="64716D"/>
                </a:solidFill>
                <a:latin typeface="Aptos"/>
              </a:rPr>
              <a:t>dass</a:t>
            </a:r>
            <a:r>
              <a:rPr sz="1050" b="0" i="0" dirty="0">
                <a:solidFill>
                  <a:srgbClr val="64716D"/>
                </a:solidFill>
                <a:latin typeface="Aptos"/>
              </a:rPr>
              <a:t> sensible </a:t>
            </a:r>
            <a:r>
              <a:rPr sz="1050" b="0" i="0" dirty="0" err="1">
                <a:solidFill>
                  <a:srgbClr val="64716D"/>
                </a:solidFill>
                <a:latin typeface="Aptos"/>
              </a:rPr>
              <a:t>Entscheidungen</a:t>
            </a:r>
            <a:r>
              <a:rPr sz="1050" b="0" i="0" dirty="0">
                <a:solidFill>
                  <a:srgbClr val="64716D"/>
                </a:solidFill>
                <a:latin typeface="Aptos"/>
              </a:rPr>
              <a:t> </a:t>
            </a:r>
            <a:r>
              <a:rPr sz="1050" b="0" i="0" dirty="0" err="1">
                <a:solidFill>
                  <a:srgbClr val="64716D"/>
                </a:solidFill>
                <a:latin typeface="Aptos"/>
              </a:rPr>
              <a:t>menschlicher</a:t>
            </a:r>
            <a:r>
              <a:rPr sz="1050" b="0" i="0" dirty="0">
                <a:solidFill>
                  <a:srgbClr val="64716D"/>
                </a:solidFill>
                <a:latin typeface="Aptos"/>
              </a:rPr>
              <a:t> </a:t>
            </a:r>
            <a:r>
              <a:rPr sz="1050" b="0" i="0" dirty="0" err="1">
                <a:solidFill>
                  <a:srgbClr val="64716D"/>
                </a:solidFill>
                <a:latin typeface="Aptos"/>
              </a:rPr>
              <a:t>Prüfung</a:t>
            </a:r>
            <a:r>
              <a:rPr sz="1050" b="0" i="0" dirty="0">
                <a:solidFill>
                  <a:srgbClr val="64716D"/>
                </a:solidFill>
                <a:latin typeface="Aptos"/>
              </a:rPr>
              <a:t> </a:t>
            </a:r>
            <a:r>
              <a:rPr sz="1050" b="0" i="0" dirty="0" err="1">
                <a:solidFill>
                  <a:srgbClr val="64716D"/>
                </a:solidFill>
                <a:latin typeface="Aptos"/>
              </a:rPr>
              <a:t>bedürfen</a:t>
            </a:r>
            <a:r>
              <a:rPr sz="1050" b="0" i="0" dirty="0">
                <a:solidFill>
                  <a:srgbClr val="64716D"/>
                </a:solidFill>
                <a:latin typeface="Aptos"/>
              </a:rPr>
              <a:t>. </a:t>
            </a:r>
            <a:r>
              <a:rPr sz="1050" b="0" i="0" dirty="0" err="1">
                <a:solidFill>
                  <a:srgbClr val="64716D"/>
                </a:solidFill>
                <a:latin typeface="Aptos"/>
              </a:rPr>
              <a:t>Genau</a:t>
            </a:r>
            <a:r>
              <a:rPr sz="1050" b="0" i="0" dirty="0">
                <a:solidFill>
                  <a:srgbClr val="64716D"/>
                </a:solidFill>
                <a:latin typeface="Aptos"/>
              </a:rPr>
              <a:t> dieses </a:t>
            </a:r>
            <a:r>
              <a:rPr sz="1050" b="0" i="0" dirty="0" err="1">
                <a:solidFill>
                  <a:srgbClr val="64716D"/>
                </a:solidFill>
                <a:latin typeface="Aptos"/>
              </a:rPr>
              <a:t>Prinzip</a:t>
            </a:r>
            <a:r>
              <a:rPr sz="1050" b="0" i="0" dirty="0">
                <a:solidFill>
                  <a:srgbClr val="64716D"/>
                </a:solidFill>
                <a:latin typeface="Aptos"/>
              </a:rPr>
              <a:t> </a:t>
            </a:r>
            <a:r>
              <a:rPr sz="1050" b="0" i="0" dirty="0" err="1">
                <a:solidFill>
                  <a:srgbClr val="64716D"/>
                </a:solidFill>
                <a:latin typeface="Aptos"/>
              </a:rPr>
              <a:t>ist</a:t>
            </a:r>
            <a:r>
              <a:rPr sz="1050" b="0" i="0" dirty="0">
                <a:solidFill>
                  <a:srgbClr val="64716D"/>
                </a:solidFill>
                <a:latin typeface="Aptos"/>
              </a:rPr>
              <a:t> in 1Çatı von Grund auf </a:t>
            </a:r>
            <a:r>
              <a:rPr sz="1050" b="0" i="0" dirty="0" err="1">
                <a:solidFill>
                  <a:srgbClr val="64716D"/>
                </a:solidFill>
                <a:latin typeface="Aptos"/>
              </a:rPr>
              <a:t>verankert</a:t>
            </a:r>
            <a:r>
              <a:rPr sz="1050" b="0" i="0" dirty="0">
                <a:solidFill>
                  <a:srgbClr val="64716D"/>
                </a:solidFill>
                <a:latin typeface="Aptos"/>
              </a:rPr>
              <a:t>.</a:t>
            </a:r>
          </a:p>
        </p:txBody>
      </p:sp>
      <p:sp>
        <p:nvSpPr>
          <p:cNvPr id="11" name="Rounded Rectangle 10"/>
          <p:cNvSpPr/>
          <p:nvPr/>
        </p:nvSpPr>
        <p:spPr>
          <a:xfrm>
            <a:off x="6195060" y="1691640"/>
            <a:ext cx="5326380" cy="19202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837944"/>
            <a:ext cx="4869180" cy="1645920"/>
          </a:xfrm>
          <a:prstGeom prst="rect">
            <a:avLst/>
          </a:prstGeom>
          <a:noFill/>
        </p:spPr>
        <p:txBody>
          <a:bodyPr wrap="square" lIns="0" tIns="0" rIns="0" bIns="0" anchor="t">
            <a:spAutoFit/>
          </a:bodyPr>
          <a:lstStyle/>
          <a:p>
            <a:r>
              <a:rPr sz="1300" b="1" i="0">
                <a:solidFill>
                  <a:srgbClr val="044F49"/>
                </a:solidFill>
                <a:latin typeface="Aptos"/>
              </a:rPr>
              <a:t>Digitale Erreichbarkeit</a:t>
            </a:r>
          </a:p>
          <a:p>
            <a:pPr>
              <a:spcBef>
                <a:spcPts val="400"/>
              </a:spcBef>
            </a:pPr>
            <a:r>
              <a:rPr sz="1050" b="0" i="0">
                <a:solidFill>
                  <a:srgbClr val="64716D"/>
                </a:solidFill>
                <a:latin typeface="Aptos"/>
              </a:rPr>
              <a:t>Die internationale Eigentümer- und Mieterschaft ist digital hervorragend erreichbar: 88,6 % WhatsApp-Nutzung, über 90 % Internetnutzung in der Türkei. Das trägt den Ansatz einer installierbaren, mehrsprachigen Web-App, die auf jedem Gerät ohne App-Store-Hürde läuft.</a:t>
            </a:r>
          </a:p>
        </p:txBody>
      </p:sp>
      <p:sp>
        <p:nvSpPr>
          <p:cNvPr id="13" name="Rounded Rectangle 12"/>
          <p:cNvSpPr/>
          <p:nvPr/>
        </p:nvSpPr>
        <p:spPr>
          <a:xfrm>
            <a:off x="640080" y="5669280"/>
            <a:ext cx="10881360" cy="5486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5669280"/>
            <a:ext cx="54864" cy="5486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5797296"/>
            <a:ext cx="10469880" cy="292608"/>
          </a:xfrm>
          <a:prstGeom prst="rect">
            <a:avLst/>
          </a:prstGeom>
          <a:noFill/>
        </p:spPr>
        <p:txBody>
          <a:bodyPr wrap="square" lIns="0" tIns="0" rIns="0" bIns="0" anchor="ctr">
            <a:spAutoFit/>
          </a:bodyPr>
          <a:lstStyle/>
          <a:p>
            <a:r>
              <a:rPr sz="1250" b="1" i="0">
                <a:solidFill>
                  <a:srgbClr val="044F49"/>
                </a:solidFill>
                <a:latin typeface="Aptos"/>
              </a:rPr>
              <a:t>Fazit.  </a:t>
            </a:r>
            <a:r>
              <a:rPr sz="1150" b="0" i="0">
                <a:solidFill>
                  <a:srgbClr val="33413D"/>
                </a:solidFill>
                <a:latin typeface="Aptos"/>
              </a:rPr>
              <a:t>Schrumpfender Markt + steigende KI-Akzeptanz = idealer Zeitpunkt für vertrauensbildende, KI-gestützte operative Exzellenz.</a:t>
            </a:r>
          </a:p>
        </p:txBody>
      </p:sp>
      <p:sp>
        <p:nvSpPr>
          <p:cNvPr id="16" name="TextBox 15"/>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7" name="TextBox 16"/>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6</a:t>
            </a:r>
          </a:p>
        </p:txBody>
      </p:sp>
      <p:pic>
        <p:nvPicPr>
          <p:cNvPr id="18" name="Picture 17"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03</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Wettbewerb &amp; Positionierung</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508760"/>
            <a:ext cx="10881360" cy="176972"/>
          </a:xfrm>
          <a:prstGeom prst="rect">
            <a:avLst/>
          </a:prstGeom>
          <a:noFill/>
        </p:spPr>
        <p:txBody>
          <a:bodyPr wrap="square" lIns="0" tIns="0" rIns="0" bIns="0" anchor="t">
            <a:spAutoFit/>
          </a:bodyPr>
          <a:lstStyle/>
          <a:p>
            <a:pPr>
              <a:spcAft>
                <a:spcPts val="600"/>
              </a:spcAft>
            </a:pPr>
            <a:r>
              <a:rPr sz="1150" i="0" dirty="0">
                <a:solidFill>
                  <a:srgbClr val="33413D"/>
                </a:solidFill>
                <a:latin typeface="Aptos"/>
              </a:rPr>
              <a:t>Der </a:t>
            </a:r>
            <a:r>
              <a:rPr sz="1150" i="0" dirty="0" err="1">
                <a:solidFill>
                  <a:srgbClr val="33413D"/>
                </a:solidFill>
                <a:latin typeface="Aptos"/>
              </a:rPr>
              <a:t>türkische</a:t>
            </a:r>
            <a:r>
              <a:rPr sz="1150" i="0" dirty="0">
                <a:solidFill>
                  <a:srgbClr val="33413D"/>
                </a:solidFill>
                <a:latin typeface="Aptos"/>
              </a:rPr>
              <a:t> Markt </a:t>
            </a:r>
            <a:r>
              <a:rPr sz="1150" i="0" dirty="0" err="1">
                <a:solidFill>
                  <a:srgbClr val="33413D"/>
                </a:solidFill>
                <a:latin typeface="Aptos"/>
              </a:rPr>
              <a:t>bietet</a:t>
            </a:r>
            <a:r>
              <a:rPr sz="1150" i="0" dirty="0">
                <a:solidFill>
                  <a:srgbClr val="33413D"/>
                </a:solidFill>
                <a:latin typeface="Aptos"/>
              </a:rPr>
              <a:t> </a:t>
            </a:r>
            <a:r>
              <a:rPr sz="1150" i="0" dirty="0" err="1">
                <a:solidFill>
                  <a:srgbClr val="33413D"/>
                </a:solidFill>
                <a:latin typeface="Aptos"/>
              </a:rPr>
              <a:t>etablierte</a:t>
            </a:r>
            <a:r>
              <a:rPr sz="1150" i="0" dirty="0">
                <a:solidFill>
                  <a:srgbClr val="33413D"/>
                </a:solidFill>
                <a:latin typeface="Aptos"/>
              </a:rPr>
              <a:t> </a:t>
            </a:r>
            <a:r>
              <a:rPr sz="1150" i="0" dirty="0" err="1">
                <a:solidFill>
                  <a:srgbClr val="33413D"/>
                </a:solidFill>
                <a:latin typeface="Aptos"/>
              </a:rPr>
              <a:t>Lösungen</a:t>
            </a:r>
            <a:r>
              <a:rPr sz="1150" i="0" dirty="0">
                <a:solidFill>
                  <a:srgbClr val="33413D"/>
                </a:solidFill>
                <a:latin typeface="Aptos"/>
              </a:rPr>
              <a:t> </a:t>
            </a:r>
            <a:r>
              <a:rPr lang="de-DE" sz="1150" i="0" dirty="0">
                <a:solidFill>
                  <a:srgbClr val="33413D"/>
                </a:solidFill>
                <a:latin typeface="Aptos"/>
              </a:rPr>
              <a:t>-</a:t>
            </a:r>
            <a:r>
              <a:rPr sz="1150" i="0" dirty="0">
                <a:solidFill>
                  <a:srgbClr val="33413D"/>
                </a:solidFill>
                <a:latin typeface="Aptos"/>
              </a:rPr>
              <a:t> </a:t>
            </a:r>
            <a:r>
              <a:rPr sz="1150" i="0" dirty="0" err="1">
                <a:solidFill>
                  <a:srgbClr val="33413D"/>
                </a:solidFill>
                <a:latin typeface="Aptos"/>
              </a:rPr>
              <a:t>keine</a:t>
            </a:r>
            <a:r>
              <a:rPr sz="1150" i="0" dirty="0">
                <a:solidFill>
                  <a:srgbClr val="33413D"/>
                </a:solidFill>
                <a:latin typeface="Aptos"/>
              </a:rPr>
              <a:t> </a:t>
            </a:r>
            <a:r>
              <a:rPr sz="1150" i="0" dirty="0" err="1">
                <a:solidFill>
                  <a:srgbClr val="33413D"/>
                </a:solidFill>
                <a:latin typeface="Aptos"/>
              </a:rPr>
              <a:t>vereint</a:t>
            </a:r>
            <a:r>
              <a:rPr sz="1150" i="0" dirty="0">
                <a:solidFill>
                  <a:srgbClr val="33413D"/>
                </a:solidFill>
                <a:latin typeface="Aptos"/>
              </a:rPr>
              <a:t> </a:t>
            </a:r>
            <a:r>
              <a:rPr sz="1150" i="0" dirty="0" err="1">
                <a:solidFill>
                  <a:srgbClr val="33413D"/>
                </a:solidFill>
                <a:latin typeface="Aptos"/>
              </a:rPr>
              <a:t>jedoch</a:t>
            </a:r>
            <a:r>
              <a:rPr sz="1150" i="0" dirty="0">
                <a:solidFill>
                  <a:srgbClr val="33413D"/>
                </a:solidFill>
                <a:latin typeface="Aptos"/>
              </a:rPr>
              <a:t> die vier </a:t>
            </a:r>
            <a:r>
              <a:rPr sz="1150" i="0" dirty="0" err="1">
                <a:solidFill>
                  <a:srgbClr val="33413D"/>
                </a:solidFill>
                <a:latin typeface="Aptos"/>
              </a:rPr>
              <a:t>Stärken</a:t>
            </a:r>
            <a:r>
              <a:rPr sz="1150" i="0" dirty="0">
                <a:solidFill>
                  <a:srgbClr val="33413D"/>
                </a:solidFill>
                <a:latin typeface="Aptos"/>
              </a:rPr>
              <a:t>, in die 1Çatı </a:t>
            </a:r>
            <a:r>
              <a:rPr sz="1150" i="0" dirty="0" err="1">
                <a:solidFill>
                  <a:srgbClr val="33413D"/>
                </a:solidFill>
                <a:latin typeface="Aptos"/>
              </a:rPr>
              <a:t>stößt</a:t>
            </a:r>
            <a:r>
              <a:rPr sz="1150" i="0" dirty="0">
                <a:solidFill>
                  <a:srgbClr val="33413D"/>
                </a:solidFill>
                <a:latin typeface="Aptos"/>
              </a:rPr>
              <a:t>.</a:t>
            </a:r>
          </a:p>
        </p:txBody>
      </p:sp>
      <p:graphicFrame>
        <p:nvGraphicFramePr>
          <p:cNvPr id="10" name="Table 9"/>
          <p:cNvGraphicFramePr>
            <a:graphicFrameLocks noGrp="1"/>
          </p:cNvGraphicFramePr>
          <p:nvPr/>
        </p:nvGraphicFramePr>
        <p:xfrm>
          <a:off x="640080" y="2057400"/>
          <a:ext cx="10881359" cy="1911096"/>
        </p:xfrm>
        <a:graphic>
          <a:graphicData uri="http://schemas.openxmlformats.org/drawingml/2006/table">
            <a:tbl>
              <a:tblPr>
                <a:tableStyleId>{5C22544A-7EE6-4342-B048-85BDC9FD1C3A}</a:tableStyleId>
              </a:tblPr>
              <a:tblGrid>
                <a:gridCol w="2393899">
                  <a:extLst>
                    <a:ext uri="{9D8B030D-6E8A-4147-A177-3AD203B41FA5}">
                      <a16:colId xmlns:a16="http://schemas.microsoft.com/office/drawing/2014/main" val="20000"/>
                    </a:ext>
                  </a:extLst>
                </a:gridCol>
                <a:gridCol w="4352544">
                  <a:extLst>
                    <a:ext uri="{9D8B030D-6E8A-4147-A177-3AD203B41FA5}">
                      <a16:colId xmlns:a16="http://schemas.microsoft.com/office/drawing/2014/main" val="20001"/>
                    </a:ext>
                  </a:extLst>
                </a:gridCol>
                <a:gridCol w="4134916">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Anbieter</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Profil</a:t>
                      </a:r>
                    </a:p>
                  </a:txBody>
                  <a:tcPr marL="73152" marR="73152" marT="36576" marB="36576" anchor="ctr">
                    <a:solidFill>
                      <a:srgbClr val="066B63"/>
                    </a:solidFill>
                  </a:tcPr>
                </a:tc>
                <a:tc>
                  <a:txBody>
                    <a:bodyPr/>
                    <a:lstStyle/>
                    <a:p>
                      <a:r>
                        <a:rPr sz="1050" b="1" i="0">
                          <a:solidFill>
                            <a:srgbClr val="FFFFFF"/>
                          </a:solidFill>
                          <a:latin typeface="Aptos"/>
                        </a:rPr>
                        <a:t>Chance für 1Çatı</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Apsiyon</a:t>
                      </a:r>
                    </a:p>
                  </a:txBody>
                  <a:tcPr marL="73152" marR="73152" marT="36576" marB="36576" anchor="ctr">
                    <a:solidFill>
                      <a:srgbClr val="FFFFFF"/>
                    </a:solidFill>
                  </a:tcPr>
                </a:tc>
                <a:tc>
                  <a:txBody>
                    <a:bodyPr/>
                    <a:lstStyle/>
                    <a:p>
                      <a:r>
                        <a:rPr sz="1050" b="0" i="0">
                          <a:solidFill>
                            <a:srgbClr val="33413D"/>
                          </a:solidFill>
                          <a:latin typeface="Aptos"/>
                        </a:rPr>
                        <a:t>Stärkste lokale Referenz, breite Suite, zwei WhatsApp-KI-Assistenten seit 2024.</a:t>
                      </a:r>
                    </a:p>
                  </a:txBody>
                  <a:tcPr marL="73152" marR="73152" marT="36576" marB="36576" anchor="ctr">
                    <a:solidFill>
                      <a:srgbClr val="FFFFFF"/>
                    </a:solidFill>
                  </a:tcPr>
                </a:tc>
                <a:tc>
                  <a:txBody>
                    <a:bodyPr/>
                    <a:lstStyle/>
                    <a:p>
                      <a:r>
                        <a:rPr sz="1050" b="0" i="0">
                          <a:solidFill>
                            <a:srgbClr val="33413D"/>
                          </a:solidFill>
                          <a:latin typeface="Aptos"/>
                        </a:rPr>
                        <a:t>Keine buchhalterisch belastbare Finanz-Tiefe; 1Çatı setzt strikte menschliche Freigaben über alle sensiblen KI-Aktionen.</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Senyonet / Yönetimcell</a:t>
                      </a:r>
                    </a:p>
                  </a:txBody>
                  <a:tcPr marL="73152" marR="73152" marT="36576" marB="36576" anchor="ctr">
                    <a:solidFill>
                      <a:srgbClr val="F1F5F4"/>
                    </a:solidFill>
                  </a:tcPr>
                </a:tc>
                <a:tc>
                  <a:txBody>
                    <a:bodyPr/>
                    <a:lstStyle/>
                    <a:p>
                      <a:r>
                        <a:rPr sz="1050" b="0" i="0">
                          <a:solidFill>
                            <a:srgbClr val="33413D"/>
                          </a:solidFill>
                          <a:latin typeface="Aptos"/>
                        </a:rPr>
                        <a:t>Solide Verwaltungsmodule, Facility-Fokus bzw. Einfachheit.</a:t>
                      </a:r>
                    </a:p>
                  </a:txBody>
                  <a:tcPr marL="73152" marR="73152" marT="36576" marB="36576" anchor="ctr">
                    <a:solidFill>
                      <a:srgbClr val="F1F5F4"/>
                    </a:solidFill>
                  </a:tcPr>
                </a:tc>
                <a:tc>
                  <a:txBody>
                    <a:bodyPr/>
                    <a:lstStyle/>
                    <a:p>
                      <a:r>
                        <a:rPr sz="1050" b="0" i="0" dirty="0">
                          <a:solidFill>
                            <a:srgbClr val="33413D"/>
                          </a:solidFill>
                          <a:latin typeface="Aptos"/>
                        </a:rPr>
                        <a:t>Keine </a:t>
                      </a:r>
                      <a:r>
                        <a:rPr sz="1050" b="0" i="0" dirty="0" err="1">
                          <a:solidFill>
                            <a:srgbClr val="33413D"/>
                          </a:solidFill>
                          <a:latin typeface="Aptos"/>
                        </a:rPr>
                        <a:t>dokumentierten</a:t>
                      </a:r>
                      <a:r>
                        <a:rPr sz="1050" b="0" i="0" dirty="0">
                          <a:solidFill>
                            <a:srgbClr val="33413D"/>
                          </a:solidFill>
                          <a:latin typeface="Aptos"/>
                        </a:rPr>
                        <a:t> KI-</a:t>
                      </a:r>
                      <a:r>
                        <a:rPr sz="1050" b="0" i="0" dirty="0" err="1">
                          <a:solidFill>
                            <a:srgbClr val="33413D"/>
                          </a:solidFill>
                          <a:latin typeface="Aptos"/>
                        </a:rPr>
                        <a:t>Funktionen</a:t>
                      </a:r>
                      <a:r>
                        <a:rPr sz="1050" b="0" i="0" dirty="0">
                          <a:solidFill>
                            <a:srgbClr val="33413D"/>
                          </a:solidFill>
                          <a:latin typeface="Aptos"/>
                        </a:rPr>
                        <a:t> </a:t>
                      </a:r>
                      <a:r>
                        <a:rPr lang="de-DE" sz="1050" b="0" i="0" dirty="0">
                          <a:solidFill>
                            <a:srgbClr val="33413D"/>
                          </a:solidFill>
                          <a:latin typeface="Aptos"/>
                        </a:rPr>
                        <a:t>-</a:t>
                      </a:r>
                      <a:r>
                        <a:rPr sz="1050" b="0" i="0" dirty="0">
                          <a:solidFill>
                            <a:srgbClr val="33413D"/>
                          </a:solidFill>
                          <a:latin typeface="Aptos"/>
                        </a:rPr>
                        <a:t> Raum für </a:t>
                      </a:r>
                      <a:r>
                        <a:rPr sz="1050" b="0" i="0" dirty="0" err="1">
                          <a:solidFill>
                            <a:srgbClr val="33413D"/>
                          </a:solidFill>
                          <a:latin typeface="Aptos"/>
                        </a:rPr>
                        <a:t>tiefere</a:t>
                      </a:r>
                      <a:r>
                        <a:rPr sz="1050" b="0" i="0" dirty="0">
                          <a:solidFill>
                            <a:srgbClr val="33413D"/>
                          </a:solidFill>
                          <a:latin typeface="Aptos"/>
                        </a:rPr>
                        <a:t> Rechte-</a:t>
                      </a:r>
                      <a:r>
                        <a:rPr sz="1050" b="0" i="0" dirty="0" err="1">
                          <a:solidFill>
                            <a:srgbClr val="33413D"/>
                          </a:solidFill>
                          <a:latin typeface="Aptos"/>
                        </a:rPr>
                        <a:t>Struktur</a:t>
                      </a:r>
                      <a:r>
                        <a:rPr sz="1050" b="0" i="0" dirty="0">
                          <a:solidFill>
                            <a:srgbClr val="33413D"/>
                          </a:solidFill>
                          <a:latin typeface="Aptos"/>
                        </a:rPr>
                        <a:t> und </a:t>
                      </a:r>
                      <a:r>
                        <a:rPr sz="1050" b="0" i="0" dirty="0" err="1">
                          <a:solidFill>
                            <a:srgbClr val="33413D"/>
                          </a:solidFill>
                          <a:latin typeface="Aptos"/>
                        </a:rPr>
                        <a:t>Nachvollziehbarkeit</a:t>
                      </a:r>
                      <a:r>
                        <a:rPr sz="1050" b="0" i="0" dirty="0">
                          <a:solidFill>
                            <a:srgbClr val="33413D"/>
                          </a:solidFill>
                          <a:latin typeface="Aptos"/>
                        </a:rPr>
                        <a:t>.</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Aidatım / Siteplus</a:t>
                      </a:r>
                    </a:p>
                  </a:txBody>
                  <a:tcPr marL="73152" marR="73152" marT="36576" marB="36576" anchor="ctr">
                    <a:solidFill>
                      <a:srgbClr val="FFFFFF"/>
                    </a:solidFill>
                  </a:tcPr>
                </a:tc>
                <a:tc>
                  <a:txBody>
                    <a:bodyPr/>
                    <a:lstStyle/>
                    <a:p>
                      <a:r>
                        <a:rPr sz="1050" b="0" i="0">
                          <a:solidFill>
                            <a:srgbClr val="33413D"/>
                          </a:solidFill>
                          <a:latin typeface="Aptos"/>
                        </a:rPr>
                        <a:t>Software-plus-Service-Hybrid bzw. Facility-Dienstleister.</a:t>
                      </a:r>
                    </a:p>
                  </a:txBody>
                  <a:tcPr marL="73152" marR="73152" marT="36576" marB="36576" anchor="ctr">
                    <a:solidFill>
                      <a:srgbClr val="FFFFFF"/>
                    </a:solidFill>
                  </a:tcPr>
                </a:tc>
                <a:tc>
                  <a:txBody>
                    <a:bodyPr/>
                    <a:lstStyle/>
                    <a:p>
                      <a:r>
                        <a:rPr sz="1050" b="0" i="0">
                          <a:solidFill>
                            <a:srgbClr val="33413D"/>
                          </a:solidFill>
                          <a:latin typeface="Aptos"/>
                        </a:rPr>
                        <a:t>Kein durchgängiges Self-Service-Portal im 1Çatı-Sinne.</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Neue KI-native (Çardak, Odyosi)</a:t>
                      </a:r>
                    </a:p>
                  </a:txBody>
                  <a:tcPr marL="73152" marR="73152" marT="36576" marB="36576" anchor="ctr">
                    <a:solidFill>
                      <a:srgbClr val="F1F5F4"/>
                    </a:solidFill>
                  </a:tcPr>
                </a:tc>
                <a:tc>
                  <a:txBody>
                    <a:bodyPr/>
                    <a:lstStyle/>
                    <a:p>
                      <a:r>
                        <a:rPr sz="1050" b="0" i="0">
                          <a:solidFill>
                            <a:srgbClr val="33413D"/>
                          </a:solidFill>
                          <a:latin typeface="Aptos"/>
                        </a:rPr>
                        <a:t>Junge türkische Wettbewerber mit KI-Fokus auf Vorbuchhaltung und Risikoanalyse.</a:t>
                      </a:r>
                    </a:p>
                  </a:txBody>
                  <a:tcPr marL="73152" marR="73152" marT="36576" marB="36576" anchor="ctr">
                    <a:solidFill>
                      <a:srgbClr val="F1F5F4"/>
                    </a:solidFill>
                  </a:tcPr>
                </a:tc>
                <a:tc>
                  <a:txBody>
                    <a:bodyPr/>
                    <a:lstStyle/>
                    <a:p>
                      <a:r>
                        <a:rPr sz="1050" b="0" i="0" dirty="0" err="1">
                          <a:solidFill>
                            <a:srgbClr val="33413D"/>
                          </a:solidFill>
                          <a:latin typeface="Aptos"/>
                        </a:rPr>
                        <a:t>Frühwarnsignal</a:t>
                      </a:r>
                      <a:r>
                        <a:rPr sz="1050" b="0" i="0" dirty="0">
                          <a:solidFill>
                            <a:srgbClr val="33413D"/>
                          </a:solidFill>
                          <a:latin typeface="Aptos"/>
                        </a:rPr>
                        <a:t> </a:t>
                      </a:r>
                      <a:r>
                        <a:rPr lang="de-DE" sz="1050" b="0" i="0" dirty="0">
                          <a:solidFill>
                            <a:srgbClr val="33413D"/>
                          </a:solidFill>
                          <a:latin typeface="Aptos"/>
                        </a:rPr>
                        <a:t>-</a:t>
                      </a:r>
                      <a:r>
                        <a:rPr sz="1050" b="0" i="0" dirty="0">
                          <a:solidFill>
                            <a:srgbClr val="33413D"/>
                          </a:solidFill>
                          <a:latin typeface="Aptos"/>
                        </a:rPr>
                        <a:t> </a:t>
                      </a:r>
                      <a:r>
                        <a:rPr sz="1050" b="0" i="0" dirty="0" err="1">
                          <a:solidFill>
                            <a:srgbClr val="33413D"/>
                          </a:solidFill>
                          <a:latin typeface="Aptos"/>
                        </a:rPr>
                        <a:t>bestätigt</a:t>
                      </a:r>
                      <a:r>
                        <a:rPr sz="1050" b="0" i="0" dirty="0">
                          <a:solidFill>
                            <a:srgbClr val="33413D"/>
                          </a:solidFill>
                          <a:latin typeface="Aptos"/>
                        </a:rPr>
                        <a:t> die </a:t>
                      </a:r>
                      <a:r>
                        <a:rPr sz="1050" b="0" i="0" dirty="0" err="1">
                          <a:solidFill>
                            <a:srgbClr val="33413D"/>
                          </a:solidFill>
                          <a:latin typeface="Aptos"/>
                        </a:rPr>
                        <a:t>Nachfrage</a:t>
                      </a:r>
                      <a:r>
                        <a:rPr sz="1050" b="0" i="0" dirty="0">
                          <a:solidFill>
                            <a:srgbClr val="33413D"/>
                          </a:solidFill>
                          <a:latin typeface="Aptos"/>
                        </a:rPr>
                        <a:t> </a:t>
                      </a:r>
                      <a:r>
                        <a:rPr sz="1050" b="0" i="0" dirty="0" err="1">
                          <a:solidFill>
                            <a:srgbClr val="33413D"/>
                          </a:solidFill>
                          <a:latin typeface="Aptos"/>
                        </a:rPr>
                        <a:t>nach</a:t>
                      </a:r>
                      <a:r>
                        <a:rPr sz="1050" b="0" i="0" dirty="0">
                          <a:solidFill>
                            <a:srgbClr val="33413D"/>
                          </a:solidFill>
                          <a:latin typeface="Aptos"/>
                        </a:rPr>
                        <a:t> </a:t>
                      </a:r>
                      <a:r>
                        <a:rPr sz="1050" b="0" i="0" dirty="0" err="1">
                          <a:solidFill>
                            <a:srgbClr val="33413D"/>
                          </a:solidFill>
                          <a:latin typeface="Aptos"/>
                        </a:rPr>
                        <a:t>genau</a:t>
                      </a:r>
                      <a:r>
                        <a:rPr sz="1050" b="0" i="0" dirty="0">
                          <a:solidFill>
                            <a:srgbClr val="33413D"/>
                          </a:solidFill>
                          <a:latin typeface="Aptos"/>
                        </a:rPr>
                        <a:t> den </a:t>
                      </a:r>
                      <a:r>
                        <a:rPr sz="1050" b="0" i="0" dirty="0" err="1">
                          <a:solidFill>
                            <a:srgbClr val="33413D"/>
                          </a:solidFill>
                          <a:latin typeface="Aptos"/>
                        </a:rPr>
                        <a:t>Funktionen</a:t>
                      </a:r>
                      <a:r>
                        <a:rPr sz="1050" b="0" i="0" dirty="0">
                          <a:solidFill>
                            <a:srgbClr val="33413D"/>
                          </a:solidFill>
                          <a:latin typeface="Aptos"/>
                        </a:rPr>
                        <a:t> der 1Çatı-Roadmap.</a:t>
                      </a:r>
                    </a:p>
                  </a:txBody>
                  <a:tcPr marL="73152" marR="73152" marT="36576" marB="36576" anchor="ctr">
                    <a:solidFill>
                      <a:srgbClr val="F1F5F4"/>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2" name="TextBox 11"/>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7</a:t>
            </a:r>
          </a:p>
        </p:txBody>
      </p:sp>
      <p:pic>
        <p:nvPicPr>
          <p:cNvPr id="13" name="Picture 12"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356"/>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03 · WETTBEWERB</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Die Marktlücke, die 1Çatı besetzt</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73736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883664"/>
            <a:ext cx="4869180" cy="1188720"/>
          </a:xfrm>
          <a:prstGeom prst="rect">
            <a:avLst/>
          </a:prstGeom>
          <a:noFill/>
        </p:spPr>
        <p:txBody>
          <a:bodyPr wrap="square" lIns="0" tIns="0" rIns="0" bIns="0" anchor="t">
            <a:spAutoFit/>
          </a:bodyPr>
          <a:lstStyle/>
          <a:p>
            <a:r>
              <a:rPr sz="1300" b="1" i="0">
                <a:solidFill>
                  <a:srgbClr val="044F49"/>
                </a:solidFill>
                <a:latin typeface="Aptos"/>
              </a:rPr>
              <a:t>(a)  Belastbare Finanzführung</a:t>
            </a:r>
          </a:p>
          <a:p>
            <a:pPr>
              <a:spcBef>
                <a:spcPts val="400"/>
              </a:spcBef>
            </a:pPr>
            <a:r>
              <a:rPr sz="1050" b="0" i="0">
                <a:solidFill>
                  <a:srgbClr val="64716D"/>
                </a:solidFill>
                <a:latin typeface="Aptos"/>
              </a:rPr>
              <a:t>Buchhalterisch tragfähige Konten- und Beitragsführung mit unveränderlichen Buchungen.</a:t>
            </a:r>
          </a:p>
        </p:txBody>
      </p:sp>
      <p:sp>
        <p:nvSpPr>
          <p:cNvPr id="11" name="Rounded Rectangle 10"/>
          <p:cNvSpPr/>
          <p:nvPr/>
        </p:nvSpPr>
        <p:spPr>
          <a:xfrm>
            <a:off x="6195060" y="173736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883664"/>
            <a:ext cx="4869180" cy="1188720"/>
          </a:xfrm>
          <a:prstGeom prst="rect">
            <a:avLst/>
          </a:prstGeom>
          <a:noFill/>
        </p:spPr>
        <p:txBody>
          <a:bodyPr wrap="square" lIns="0" tIns="0" rIns="0" bIns="0" anchor="t">
            <a:spAutoFit/>
          </a:bodyPr>
          <a:lstStyle/>
          <a:p>
            <a:r>
              <a:rPr sz="1300" b="1" i="0">
                <a:solidFill>
                  <a:srgbClr val="044F49"/>
                </a:solidFill>
                <a:latin typeface="Aptos"/>
              </a:rPr>
              <a:t>(b)  Strukturiertes Service-Desk</a:t>
            </a:r>
          </a:p>
          <a:p>
            <a:pPr>
              <a:spcBef>
                <a:spcPts val="400"/>
              </a:spcBef>
            </a:pPr>
            <a:r>
              <a:rPr sz="1050" b="0" i="0">
                <a:solidFill>
                  <a:srgbClr val="64716D"/>
                </a:solidFill>
                <a:latin typeface="Aptos"/>
              </a:rPr>
              <a:t>Ticket-System mit klaren Bearbeitungszeiten (SLA) und Eskalation.</a:t>
            </a:r>
          </a:p>
        </p:txBody>
      </p:sp>
      <p:sp>
        <p:nvSpPr>
          <p:cNvPr id="13" name="Rounded Rectangle 12"/>
          <p:cNvSpPr/>
          <p:nvPr/>
        </p:nvSpPr>
        <p:spPr>
          <a:xfrm>
            <a:off x="640080" y="342900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575304"/>
            <a:ext cx="4869180" cy="1188720"/>
          </a:xfrm>
          <a:prstGeom prst="rect">
            <a:avLst/>
          </a:prstGeom>
          <a:noFill/>
        </p:spPr>
        <p:txBody>
          <a:bodyPr wrap="square" lIns="0" tIns="0" rIns="0" bIns="0" anchor="t">
            <a:spAutoFit/>
          </a:bodyPr>
          <a:lstStyle/>
          <a:p>
            <a:r>
              <a:rPr sz="1300" b="1" i="0">
                <a:solidFill>
                  <a:srgbClr val="044F49"/>
                </a:solidFill>
                <a:latin typeface="Aptos"/>
              </a:rPr>
              <a:t>(c)  Öffentlicher Zugangskanal</a:t>
            </a:r>
          </a:p>
          <a:p>
            <a:pPr>
              <a:spcBef>
                <a:spcPts val="400"/>
              </a:spcBef>
            </a:pPr>
            <a:r>
              <a:rPr sz="1050" b="0" i="0">
                <a:solidFill>
                  <a:srgbClr val="64716D"/>
                </a:solidFill>
                <a:latin typeface="Aptos"/>
              </a:rPr>
              <a:t>Kontofreier Registrierungs- und Meldekanal für ein konkretes Neubauprojekt.</a:t>
            </a:r>
          </a:p>
        </p:txBody>
      </p:sp>
      <p:sp>
        <p:nvSpPr>
          <p:cNvPr id="15" name="Rounded Rectangle 14"/>
          <p:cNvSpPr/>
          <p:nvPr/>
        </p:nvSpPr>
        <p:spPr>
          <a:xfrm>
            <a:off x="6195060" y="342900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575304"/>
            <a:ext cx="4869180" cy="1188720"/>
          </a:xfrm>
          <a:prstGeom prst="rect">
            <a:avLst/>
          </a:prstGeom>
          <a:noFill/>
        </p:spPr>
        <p:txBody>
          <a:bodyPr wrap="square" lIns="0" tIns="0" rIns="0" bIns="0" anchor="t">
            <a:spAutoFit/>
          </a:bodyPr>
          <a:lstStyle/>
          <a:p>
            <a:r>
              <a:rPr sz="1300" b="1" i="0" dirty="0">
                <a:solidFill>
                  <a:srgbClr val="044F49"/>
                </a:solidFill>
                <a:latin typeface="Aptos"/>
              </a:rPr>
              <a:t>(d)  </a:t>
            </a:r>
            <a:r>
              <a:rPr sz="1300" b="1" i="0" dirty="0" err="1">
                <a:solidFill>
                  <a:srgbClr val="044F49"/>
                </a:solidFill>
                <a:latin typeface="Aptos"/>
              </a:rPr>
              <a:t>Kontrollierte</a:t>
            </a:r>
            <a:r>
              <a:rPr sz="1300" b="1" i="0" dirty="0">
                <a:solidFill>
                  <a:srgbClr val="044F49"/>
                </a:solidFill>
                <a:latin typeface="Aptos"/>
              </a:rPr>
              <a:t> KI</a:t>
            </a:r>
          </a:p>
          <a:p>
            <a:pPr>
              <a:spcBef>
                <a:spcPts val="400"/>
              </a:spcBef>
            </a:pPr>
            <a:r>
              <a:rPr sz="1050" b="0" i="0" dirty="0">
                <a:solidFill>
                  <a:srgbClr val="64716D"/>
                </a:solidFill>
                <a:latin typeface="Aptos"/>
              </a:rPr>
              <a:t>Eine KI, die sensible </a:t>
            </a:r>
            <a:r>
              <a:rPr sz="1050" b="0" i="0" dirty="0" err="1">
                <a:solidFill>
                  <a:srgbClr val="64716D"/>
                </a:solidFill>
                <a:latin typeface="Aptos"/>
              </a:rPr>
              <a:t>Aktionen</a:t>
            </a:r>
            <a:r>
              <a:rPr sz="1050" b="0" i="0" dirty="0">
                <a:solidFill>
                  <a:srgbClr val="64716D"/>
                </a:solidFill>
                <a:latin typeface="Aptos"/>
              </a:rPr>
              <a:t> </a:t>
            </a:r>
            <a:r>
              <a:rPr sz="1050" b="0" i="0" dirty="0" err="1">
                <a:solidFill>
                  <a:srgbClr val="64716D"/>
                </a:solidFill>
                <a:latin typeface="Aptos"/>
              </a:rPr>
              <a:t>grundsätzlich</a:t>
            </a:r>
            <a:r>
              <a:rPr sz="1050" b="0" i="0" dirty="0">
                <a:solidFill>
                  <a:srgbClr val="64716D"/>
                </a:solidFill>
                <a:latin typeface="Aptos"/>
              </a:rPr>
              <a:t> </a:t>
            </a:r>
            <a:r>
              <a:rPr sz="1050" b="0" i="0" dirty="0" err="1">
                <a:solidFill>
                  <a:srgbClr val="64716D"/>
                </a:solidFill>
                <a:latin typeface="Aptos"/>
              </a:rPr>
              <a:t>nur</a:t>
            </a:r>
            <a:r>
              <a:rPr sz="1050" b="0" i="0" dirty="0">
                <a:solidFill>
                  <a:srgbClr val="64716D"/>
                </a:solidFill>
                <a:latin typeface="Aptos"/>
              </a:rPr>
              <a:t> </a:t>
            </a:r>
            <a:r>
              <a:rPr sz="1050" b="0" i="0" dirty="0" err="1">
                <a:solidFill>
                  <a:srgbClr val="64716D"/>
                </a:solidFill>
                <a:latin typeface="Aptos"/>
              </a:rPr>
              <a:t>empfiehlt</a:t>
            </a:r>
            <a:r>
              <a:rPr sz="1050" b="0" i="0" dirty="0">
                <a:solidFill>
                  <a:srgbClr val="64716D"/>
                </a:solidFill>
                <a:latin typeface="Aptos"/>
              </a:rPr>
              <a:t> </a:t>
            </a:r>
            <a:r>
              <a:rPr sz="1050" b="0" i="0" dirty="0" err="1">
                <a:solidFill>
                  <a:srgbClr val="64716D"/>
                </a:solidFill>
                <a:latin typeface="Aptos"/>
              </a:rPr>
              <a:t>statt</a:t>
            </a:r>
            <a:r>
              <a:rPr sz="1050" b="0" i="0" dirty="0">
                <a:solidFill>
                  <a:srgbClr val="64716D"/>
                </a:solidFill>
                <a:latin typeface="Aptos"/>
              </a:rPr>
              <a:t> </a:t>
            </a:r>
            <a:r>
              <a:rPr sz="1050" b="0" i="0" dirty="0" err="1">
                <a:solidFill>
                  <a:srgbClr val="64716D"/>
                </a:solidFill>
                <a:latin typeface="Aptos"/>
              </a:rPr>
              <a:t>selbst</a:t>
            </a:r>
            <a:r>
              <a:rPr sz="1050" b="0" i="0" dirty="0">
                <a:solidFill>
                  <a:srgbClr val="64716D"/>
                </a:solidFill>
                <a:latin typeface="Aptos"/>
              </a:rPr>
              <a:t> </a:t>
            </a:r>
            <a:r>
              <a:rPr sz="1050" b="0" i="0" dirty="0" err="1">
                <a:solidFill>
                  <a:srgbClr val="64716D"/>
                </a:solidFill>
                <a:latin typeface="Aptos"/>
              </a:rPr>
              <a:t>auszuführen</a:t>
            </a:r>
            <a:r>
              <a:rPr sz="1050" b="0" i="0" dirty="0">
                <a:solidFill>
                  <a:srgbClr val="64716D"/>
                </a:solidFill>
                <a:latin typeface="Aptos"/>
              </a:rPr>
              <a:t>.</a:t>
            </a:r>
          </a:p>
        </p:txBody>
      </p:sp>
      <p:sp>
        <p:nvSpPr>
          <p:cNvPr id="17" name="Rounded Rectangle 16"/>
          <p:cNvSpPr/>
          <p:nvPr/>
        </p:nvSpPr>
        <p:spPr>
          <a:xfrm>
            <a:off x="640080" y="5074920"/>
            <a:ext cx="10881360" cy="11430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074920"/>
            <a:ext cx="54864" cy="114300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461754"/>
            <a:ext cx="10469880" cy="369332"/>
          </a:xfrm>
          <a:prstGeom prst="rect">
            <a:avLst/>
          </a:prstGeom>
          <a:noFill/>
        </p:spPr>
        <p:txBody>
          <a:bodyPr wrap="square" lIns="0" tIns="0" rIns="0" bIns="0" anchor="ctr">
            <a:spAutoFit/>
          </a:bodyPr>
          <a:lstStyle/>
          <a:p>
            <a:r>
              <a:rPr sz="1250" b="1" i="0" dirty="0">
                <a:solidFill>
                  <a:srgbClr val="044F49"/>
                </a:solidFill>
                <a:latin typeface="Aptos"/>
              </a:rPr>
              <a:t>Die </a:t>
            </a:r>
            <a:r>
              <a:rPr sz="1250" b="1" i="0" dirty="0" err="1">
                <a:solidFill>
                  <a:srgbClr val="044F49"/>
                </a:solidFill>
                <a:latin typeface="Aptos"/>
              </a:rPr>
              <a:t>Positionierung</a:t>
            </a:r>
            <a:r>
              <a:rPr sz="1250" b="1" i="0" dirty="0">
                <a:solidFill>
                  <a:srgbClr val="044F49"/>
                </a:solidFill>
                <a:latin typeface="Aptos"/>
              </a:rPr>
              <a:t>.  </a:t>
            </a:r>
            <a:r>
              <a:rPr sz="1150" b="0" i="0" dirty="0">
                <a:solidFill>
                  <a:srgbClr val="33413D"/>
                </a:solidFill>
                <a:latin typeface="Aptos"/>
              </a:rPr>
              <a:t>Kein </a:t>
            </a:r>
            <a:r>
              <a:rPr sz="1150" b="0" i="0" dirty="0" err="1">
                <a:solidFill>
                  <a:srgbClr val="33413D"/>
                </a:solidFill>
                <a:latin typeface="Aptos"/>
              </a:rPr>
              <a:t>recherchierter</a:t>
            </a:r>
            <a:r>
              <a:rPr sz="1150" b="0" i="0" dirty="0">
                <a:solidFill>
                  <a:srgbClr val="33413D"/>
                </a:solidFill>
                <a:latin typeface="Aptos"/>
              </a:rPr>
              <a:t> </a:t>
            </a:r>
            <a:r>
              <a:rPr sz="1150" b="0" i="0" dirty="0" err="1">
                <a:solidFill>
                  <a:srgbClr val="33413D"/>
                </a:solidFill>
                <a:latin typeface="Aptos"/>
              </a:rPr>
              <a:t>türkischer</a:t>
            </a:r>
            <a:r>
              <a:rPr sz="1150" b="0" i="0" dirty="0">
                <a:solidFill>
                  <a:srgbClr val="33413D"/>
                </a:solidFill>
                <a:latin typeface="Aptos"/>
              </a:rPr>
              <a:t> </a:t>
            </a:r>
            <a:r>
              <a:rPr sz="1150" b="0" i="0" dirty="0" err="1">
                <a:solidFill>
                  <a:srgbClr val="33413D"/>
                </a:solidFill>
                <a:latin typeface="Aptos"/>
              </a:rPr>
              <a:t>oder</a:t>
            </a:r>
            <a:r>
              <a:rPr sz="1150" b="0" i="0" dirty="0">
                <a:solidFill>
                  <a:srgbClr val="33413D"/>
                </a:solidFill>
                <a:latin typeface="Aptos"/>
              </a:rPr>
              <a:t> </a:t>
            </a:r>
            <a:r>
              <a:rPr sz="1150" b="0" i="0" dirty="0" err="1">
                <a:solidFill>
                  <a:srgbClr val="33413D"/>
                </a:solidFill>
                <a:latin typeface="Aptos"/>
              </a:rPr>
              <a:t>internationaler</a:t>
            </a:r>
            <a:r>
              <a:rPr sz="1150" b="0" i="0" dirty="0">
                <a:solidFill>
                  <a:srgbClr val="33413D"/>
                </a:solidFill>
                <a:latin typeface="Aptos"/>
              </a:rPr>
              <a:t> </a:t>
            </a:r>
            <a:r>
              <a:rPr sz="1150" b="0" i="0" dirty="0" err="1">
                <a:solidFill>
                  <a:srgbClr val="33413D"/>
                </a:solidFill>
                <a:latin typeface="Aptos"/>
              </a:rPr>
              <a:t>Anbieter</a:t>
            </a:r>
            <a:r>
              <a:rPr sz="1150" b="0" i="0" dirty="0">
                <a:solidFill>
                  <a:srgbClr val="33413D"/>
                </a:solidFill>
                <a:latin typeface="Aptos"/>
              </a:rPr>
              <a:t> </a:t>
            </a:r>
            <a:r>
              <a:rPr sz="1150" b="0" i="0" dirty="0" err="1">
                <a:solidFill>
                  <a:srgbClr val="33413D"/>
                </a:solidFill>
                <a:latin typeface="Aptos"/>
              </a:rPr>
              <a:t>vereint</a:t>
            </a:r>
            <a:r>
              <a:rPr sz="1150" b="0" i="0" dirty="0">
                <a:solidFill>
                  <a:srgbClr val="33413D"/>
                </a:solidFill>
                <a:latin typeface="Aptos"/>
              </a:rPr>
              <a:t> </a:t>
            </a:r>
            <a:r>
              <a:rPr sz="1150" b="0" i="0" dirty="0" err="1">
                <a:solidFill>
                  <a:srgbClr val="33413D"/>
                </a:solidFill>
                <a:latin typeface="Aptos"/>
              </a:rPr>
              <a:t>diese</a:t>
            </a:r>
            <a:r>
              <a:rPr sz="1150" b="0" i="0" dirty="0">
                <a:solidFill>
                  <a:srgbClr val="33413D"/>
                </a:solidFill>
                <a:latin typeface="Aptos"/>
              </a:rPr>
              <a:t> vier </a:t>
            </a:r>
            <a:r>
              <a:rPr sz="1150" b="0" i="0" dirty="0" err="1">
                <a:solidFill>
                  <a:srgbClr val="33413D"/>
                </a:solidFill>
                <a:latin typeface="Aptos"/>
              </a:rPr>
              <a:t>Elemente</a:t>
            </a:r>
            <a:r>
              <a:rPr sz="1150" b="0" i="0" dirty="0">
                <a:solidFill>
                  <a:srgbClr val="33413D"/>
                </a:solidFill>
                <a:latin typeface="Aptos"/>
              </a:rPr>
              <a:t> in </a:t>
            </a:r>
            <a:r>
              <a:rPr sz="1150" b="0" i="0" dirty="0" err="1">
                <a:solidFill>
                  <a:srgbClr val="33413D"/>
                </a:solidFill>
                <a:latin typeface="Aptos"/>
              </a:rPr>
              <a:t>einem</a:t>
            </a:r>
            <a:r>
              <a:rPr sz="1150" b="0" i="0" dirty="0">
                <a:solidFill>
                  <a:srgbClr val="33413D"/>
                </a:solidFill>
                <a:latin typeface="Aptos"/>
              </a:rPr>
              <a:t> </a:t>
            </a:r>
            <a:r>
              <a:rPr sz="1150" b="0" i="0" dirty="0" err="1">
                <a:solidFill>
                  <a:srgbClr val="33413D"/>
                </a:solidFill>
                <a:latin typeface="Aptos"/>
              </a:rPr>
              <a:t>Produkt</a:t>
            </a:r>
            <a:r>
              <a:rPr sz="1150" b="0" i="0" dirty="0">
                <a:solidFill>
                  <a:srgbClr val="33413D"/>
                </a:solidFill>
                <a:latin typeface="Aptos"/>
              </a:rPr>
              <a:t>. </a:t>
            </a:r>
            <a:r>
              <a:rPr sz="1150" b="0" i="0" dirty="0" err="1">
                <a:solidFill>
                  <a:srgbClr val="33413D"/>
                </a:solidFill>
                <a:latin typeface="Aptos"/>
              </a:rPr>
              <a:t>Apsiyon</a:t>
            </a:r>
            <a:r>
              <a:rPr sz="1150" b="0" i="0" dirty="0">
                <a:solidFill>
                  <a:srgbClr val="33413D"/>
                </a:solidFill>
                <a:latin typeface="Aptos"/>
              </a:rPr>
              <a:t> </a:t>
            </a:r>
            <a:r>
              <a:rPr sz="1150" b="0" i="0" dirty="0" err="1">
                <a:solidFill>
                  <a:srgbClr val="33413D"/>
                </a:solidFill>
                <a:latin typeface="Aptos"/>
              </a:rPr>
              <a:t>kommt</a:t>
            </a:r>
            <a:r>
              <a:rPr sz="1150" b="0" i="0" dirty="0">
                <a:solidFill>
                  <a:srgbClr val="33413D"/>
                </a:solidFill>
                <a:latin typeface="Aptos"/>
              </a:rPr>
              <a:t> am </a:t>
            </a:r>
            <a:r>
              <a:rPr sz="1150" b="0" i="0" dirty="0" err="1">
                <a:solidFill>
                  <a:srgbClr val="33413D"/>
                </a:solidFill>
                <a:latin typeface="Aptos"/>
              </a:rPr>
              <a:t>nächsten</a:t>
            </a:r>
            <a:r>
              <a:rPr sz="1150" b="0" i="0" dirty="0">
                <a:solidFill>
                  <a:srgbClr val="33413D"/>
                </a:solidFill>
                <a:latin typeface="Aptos"/>
              </a:rPr>
              <a:t>, </a:t>
            </a:r>
            <a:r>
              <a:rPr sz="1150" b="0" i="0" dirty="0" err="1">
                <a:solidFill>
                  <a:srgbClr val="33413D"/>
                </a:solidFill>
                <a:latin typeface="Aptos"/>
              </a:rPr>
              <a:t>deckt</a:t>
            </a:r>
            <a:r>
              <a:rPr sz="1150" b="0" i="0" dirty="0">
                <a:solidFill>
                  <a:srgbClr val="33413D"/>
                </a:solidFill>
                <a:latin typeface="Aptos"/>
              </a:rPr>
              <a:t> </a:t>
            </a:r>
            <a:r>
              <a:rPr sz="1150" b="0" i="0" dirty="0" err="1">
                <a:solidFill>
                  <a:srgbClr val="33413D"/>
                </a:solidFill>
                <a:latin typeface="Aptos"/>
              </a:rPr>
              <a:t>aber</a:t>
            </a:r>
            <a:r>
              <a:rPr sz="1150" b="0" i="0" dirty="0">
                <a:solidFill>
                  <a:srgbClr val="33413D"/>
                </a:solidFill>
                <a:latin typeface="Aptos"/>
              </a:rPr>
              <a:t> </a:t>
            </a:r>
            <a:r>
              <a:rPr sz="1150" b="0" i="0" dirty="0" err="1">
                <a:solidFill>
                  <a:srgbClr val="33413D"/>
                </a:solidFill>
                <a:latin typeface="Aptos"/>
              </a:rPr>
              <a:t>weder</a:t>
            </a:r>
            <a:r>
              <a:rPr sz="1150" b="0" i="0" dirty="0">
                <a:solidFill>
                  <a:srgbClr val="33413D"/>
                </a:solidFill>
                <a:latin typeface="Aptos"/>
              </a:rPr>
              <a:t> die Finanz-</a:t>
            </a:r>
            <a:r>
              <a:rPr sz="1150" b="0" i="0" dirty="0" err="1">
                <a:solidFill>
                  <a:srgbClr val="33413D"/>
                </a:solidFill>
                <a:latin typeface="Aptos"/>
              </a:rPr>
              <a:t>Tiefe</a:t>
            </a:r>
            <a:r>
              <a:rPr sz="1150" b="0" i="0" dirty="0">
                <a:solidFill>
                  <a:srgbClr val="33413D"/>
                </a:solidFill>
                <a:latin typeface="Aptos"/>
              </a:rPr>
              <a:t> </a:t>
            </a:r>
            <a:r>
              <a:rPr sz="1150" b="0" i="0" dirty="0" err="1">
                <a:solidFill>
                  <a:srgbClr val="33413D"/>
                </a:solidFill>
                <a:latin typeface="Aptos"/>
              </a:rPr>
              <a:t>noch</a:t>
            </a:r>
            <a:r>
              <a:rPr sz="1150" b="0" i="0" dirty="0">
                <a:solidFill>
                  <a:srgbClr val="33413D"/>
                </a:solidFill>
                <a:latin typeface="Aptos"/>
              </a:rPr>
              <a:t> den </a:t>
            </a:r>
            <a:r>
              <a:rPr sz="1150" b="0" i="0" dirty="0" err="1">
                <a:solidFill>
                  <a:srgbClr val="33413D"/>
                </a:solidFill>
                <a:latin typeface="Aptos"/>
              </a:rPr>
              <a:t>öffentlichen</a:t>
            </a:r>
            <a:r>
              <a:rPr sz="1150" b="0" i="0" dirty="0">
                <a:solidFill>
                  <a:srgbClr val="33413D"/>
                </a:solidFill>
                <a:latin typeface="Aptos"/>
              </a:rPr>
              <a:t> </a:t>
            </a:r>
            <a:r>
              <a:rPr sz="1150" b="0" i="0" dirty="0" err="1">
                <a:solidFill>
                  <a:srgbClr val="33413D"/>
                </a:solidFill>
                <a:latin typeface="Aptos"/>
              </a:rPr>
              <a:t>Registrierungskanal</a:t>
            </a:r>
            <a:r>
              <a:rPr sz="1150" b="0" i="0" dirty="0">
                <a:solidFill>
                  <a:srgbClr val="33413D"/>
                </a:solidFill>
                <a:latin typeface="Aptos"/>
              </a:rPr>
              <a:t> ab. </a:t>
            </a:r>
            <a:r>
              <a:rPr sz="1150" b="0" i="0" dirty="0" err="1">
                <a:solidFill>
                  <a:srgbClr val="33413D"/>
                </a:solidFill>
                <a:latin typeface="Aptos"/>
              </a:rPr>
              <a:t>Genau</a:t>
            </a:r>
            <a:r>
              <a:rPr sz="1150" b="0" i="0" dirty="0">
                <a:solidFill>
                  <a:srgbClr val="33413D"/>
                </a:solidFill>
                <a:latin typeface="Aptos"/>
              </a:rPr>
              <a:t> </a:t>
            </a:r>
            <a:r>
              <a:rPr sz="1150" b="0" i="0" dirty="0" err="1">
                <a:solidFill>
                  <a:srgbClr val="33413D"/>
                </a:solidFill>
                <a:latin typeface="Aptos"/>
              </a:rPr>
              <a:t>diese</a:t>
            </a:r>
            <a:r>
              <a:rPr sz="1150" b="0" i="0" dirty="0">
                <a:solidFill>
                  <a:srgbClr val="33413D"/>
                </a:solidFill>
                <a:latin typeface="Aptos"/>
              </a:rPr>
              <a:t> </a:t>
            </a:r>
            <a:r>
              <a:rPr sz="1150" b="0" i="0" dirty="0" err="1">
                <a:solidFill>
                  <a:srgbClr val="33413D"/>
                </a:solidFill>
                <a:latin typeface="Aptos"/>
              </a:rPr>
              <a:t>Kombination</a:t>
            </a:r>
            <a:r>
              <a:rPr sz="1150" b="0" i="0" dirty="0">
                <a:solidFill>
                  <a:srgbClr val="33413D"/>
                </a:solidFill>
                <a:latin typeface="Aptos"/>
              </a:rPr>
              <a:t> </a:t>
            </a:r>
            <a:r>
              <a:rPr lang="de-DE" sz="1150" b="0" i="0" dirty="0">
                <a:solidFill>
                  <a:srgbClr val="33413D"/>
                </a:solidFill>
                <a:latin typeface="Aptos"/>
              </a:rPr>
              <a:t>-</a:t>
            </a:r>
            <a:r>
              <a:rPr sz="1150" b="0" i="0" dirty="0">
                <a:solidFill>
                  <a:srgbClr val="33413D"/>
                </a:solidFill>
                <a:latin typeface="Aptos"/>
              </a:rPr>
              <a:t> nicht </a:t>
            </a:r>
            <a:r>
              <a:rPr sz="1150" b="0" i="0" dirty="0" err="1">
                <a:solidFill>
                  <a:srgbClr val="33413D"/>
                </a:solidFill>
                <a:latin typeface="Aptos"/>
              </a:rPr>
              <a:t>ein</a:t>
            </a:r>
            <a:r>
              <a:rPr sz="1150" b="0" i="0" dirty="0">
                <a:solidFill>
                  <a:srgbClr val="33413D"/>
                </a:solidFill>
                <a:latin typeface="Aptos"/>
              </a:rPr>
              <a:t> </a:t>
            </a:r>
            <a:r>
              <a:rPr sz="1150" b="0" i="0" dirty="0" err="1">
                <a:solidFill>
                  <a:srgbClr val="33413D"/>
                </a:solidFill>
                <a:latin typeface="Aptos"/>
              </a:rPr>
              <a:t>einzelnes</a:t>
            </a:r>
            <a:r>
              <a:rPr sz="1150" b="0" i="0" dirty="0">
                <a:solidFill>
                  <a:srgbClr val="33413D"/>
                </a:solidFill>
                <a:latin typeface="Aptos"/>
              </a:rPr>
              <a:t> Feature </a:t>
            </a:r>
            <a:r>
              <a:rPr lang="de-DE" sz="1150" b="0" i="0" dirty="0">
                <a:solidFill>
                  <a:srgbClr val="33413D"/>
                </a:solidFill>
                <a:latin typeface="Aptos"/>
              </a:rPr>
              <a:t>-</a:t>
            </a:r>
            <a:r>
              <a:rPr sz="1150" b="0" i="0" dirty="0">
                <a:solidFill>
                  <a:srgbClr val="33413D"/>
                </a:solidFill>
                <a:latin typeface="Aptos"/>
              </a:rPr>
              <a:t> </a:t>
            </a:r>
            <a:r>
              <a:rPr sz="1150" b="0" i="0" dirty="0" err="1">
                <a:solidFill>
                  <a:srgbClr val="33413D"/>
                </a:solidFill>
                <a:latin typeface="Aptos"/>
              </a:rPr>
              <a:t>ist</a:t>
            </a:r>
            <a:r>
              <a:rPr sz="1150" b="0" i="0" dirty="0">
                <a:solidFill>
                  <a:srgbClr val="33413D"/>
                </a:solidFill>
                <a:latin typeface="Aptos"/>
              </a:rPr>
              <a:t> die </a:t>
            </a:r>
            <a:r>
              <a:rPr sz="1150" b="0" i="0" dirty="0" err="1">
                <a:solidFill>
                  <a:srgbClr val="33413D"/>
                </a:solidFill>
                <a:latin typeface="Aptos"/>
              </a:rPr>
              <a:t>Positionierung</a:t>
            </a:r>
            <a:r>
              <a:rPr sz="1150" b="0" i="0" dirty="0">
                <a:solidFill>
                  <a:srgbClr val="33413D"/>
                </a:solidFill>
                <a:latin typeface="Aptos"/>
              </a:rPr>
              <a:t> von 1Çatı.</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8</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04</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Zielgruppe</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92224"/>
            <a:ext cx="4869180" cy="1417320"/>
          </a:xfrm>
          <a:prstGeom prst="rect">
            <a:avLst/>
          </a:prstGeom>
          <a:noFill/>
        </p:spPr>
        <p:txBody>
          <a:bodyPr wrap="square" lIns="0" tIns="0" rIns="0" bIns="0" anchor="t">
            <a:spAutoFit/>
          </a:bodyPr>
          <a:lstStyle/>
          <a:p>
            <a:r>
              <a:rPr sz="1300" b="1" i="0">
                <a:solidFill>
                  <a:srgbClr val="044F49"/>
                </a:solidFill>
                <a:latin typeface="Aptos"/>
              </a:rPr>
              <a:t>🌍  Internationale Eigentümer &amp; Käufer</a:t>
            </a:r>
          </a:p>
          <a:p>
            <a:pPr>
              <a:spcBef>
                <a:spcPts val="400"/>
              </a:spcBef>
            </a:pPr>
            <a:r>
              <a:rPr sz="1050" b="0" i="0">
                <a:solidFill>
                  <a:srgbClr val="64716D"/>
                </a:solidFill>
                <a:latin typeface="Aptos"/>
              </a:rPr>
              <a:t>Vor allem aus Deutschland, Russland, der Ukraine und dem Iran, die eine Wohnung besitzen oder kaufen, sich aber nicht dauerhaft vor Ort aufhalten und einen digitalen, mehrsprachigen Einblick in Zahlungsstand, Service und Dokumente benötigen.</a:t>
            </a:r>
          </a:p>
        </p:txBody>
      </p:sp>
      <p:sp>
        <p:nvSpPr>
          <p:cNvPr id="11" name="Rounded Rectangle 10"/>
          <p:cNvSpPr/>
          <p:nvPr/>
        </p:nvSpPr>
        <p:spPr>
          <a:xfrm>
            <a:off x="6195060" y="164592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792224"/>
            <a:ext cx="4869180" cy="574516"/>
          </a:xfrm>
          <a:prstGeom prst="rect">
            <a:avLst/>
          </a:prstGeom>
          <a:noFill/>
        </p:spPr>
        <p:txBody>
          <a:bodyPr wrap="square" lIns="0" tIns="0" rIns="0" bIns="0" anchor="t">
            <a:spAutoFit/>
          </a:bodyPr>
          <a:lstStyle/>
          <a:p>
            <a:r>
              <a:rPr sz="1300" b="1" i="0" dirty="0">
                <a:solidFill>
                  <a:srgbClr val="044F49"/>
                </a:solidFill>
                <a:latin typeface="Aptos"/>
              </a:rPr>
              <a:t>🔑  </a:t>
            </a:r>
            <a:r>
              <a:rPr sz="1300" b="1" i="0" dirty="0" err="1">
                <a:solidFill>
                  <a:srgbClr val="044F49"/>
                </a:solidFill>
                <a:latin typeface="Aptos"/>
              </a:rPr>
              <a:t>Mieter</a:t>
            </a:r>
            <a:endParaRPr sz="1300" b="1" i="0" dirty="0">
              <a:solidFill>
                <a:srgbClr val="044F49"/>
              </a:solidFill>
              <a:latin typeface="Aptos"/>
            </a:endParaRPr>
          </a:p>
          <a:p>
            <a:pPr>
              <a:spcBef>
                <a:spcPts val="400"/>
              </a:spcBef>
            </a:pPr>
            <a:r>
              <a:rPr sz="1050" b="0" i="0" dirty="0" err="1">
                <a:solidFill>
                  <a:srgbClr val="64716D"/>
                </a:solidFill>
                <a:latin typeface="Aptos"/>
              </a:rPr>
              <a:t>Erhalten</a:t>
            </a:r>
            <a:r>
              <a:rPr sz="1050" b="0" i="0" dirty="0">
                <a:solidFill>
                  <a:srgbClr val="64716D"/>
                </a:solidFill>
                <a:latin typeface="Aptos"/>
              </a:rPr>
              <a:t> </a:t>
            </a:r>
            <a:r>
              <a:rPr sz="1050" b="0" i="0" dirty="0" err="1">
                <a:solidFill>
                  <a:srgbClr val="64716D"/>
                </a:solidFill>
                <a:latin typeface="Aptos"/>
              </a:rPr>
              <a:t>über</a:t>
            </a:r>
            <a:r>
              <a:rPr sz="1050" b="0" i="0" dirty="0">
                <a:solidFill>
                  <a:srgbClr val="64716D"/>
                </a:solidFill>
                <a:latin typeface="Aptos"/>
              </a:rPr>
              <a:t> </a:t>
            </a:r>
            <a:r>
              <a:rPr sz="1050" b="0" i="0" dirty="0" err="1">
                <a:solidFill>
                  <a:srgbClr val="64716D"/>
                </a:solidFill>
                <a:latin typeface="Aptos"/>
              </a:rPr>
              <a:t>ein</a:t>
            </a:r>
            <a:r>
              <a:rPr sz="1050" b="0" i="0" dirty="0">
                <a:solidFill>
                  <a:srgbClr val="64716D"/>
                </a:solidFill>
                <a:latin typeface="Aptos"/>
              </a:rPr>
              <a:t> </a:t>
            </a:r>
            <a:r>
              <a:rPr sz="1050" b="0" i="0" dirty="0" err="1">
                <a:solidFill>
                  <a:srgbClr val="64716D"/>
                </a:solidFill>
                <a:latin typeface="Aptos"/>
              </a:rPr>
              <a:t>eigentümer-gesponsertes</a:t>
            </a:r>
            <a:r>
              <a:rPr sz="1050" b="0" i="0" dirty="0">
                <a:solidFill>
                  <a:srgbClr val="64716D"/>
                </a:solidFill>
                <a:latin typeface="Aptos"/>
              </a:rPr>
              <a:t> </a:t>
            </a:r>
            <a:r>
              <a:rPr sz="1050" b="0" i="0" dirty="0" err="1">
                <a:solidFill>
                  <a:srgbClr val="64716D"/>
                </a:solidFill>
                <a:latin typeface="Aptos"/>
              </a:rPr>
              <a:t>Zeitzugangsmodell</a:t>
            </a:r>
            <a:r>
              <a:rPr sz="1050" b="0" i="0" dirty="0">
                <a:solidFill>
                  <a:srgbClr val="64716D"/>
                </a:solidFill>
                <a:latin typeface="Aptos"/>
              </a:rPr>
              <a:t> </a:t>
            </a:r>
            <a:r>
              <a:rPr sz="1050" b="0" i="0" dirty="0" err="1">
                <a:solidFill>
                  <a:srgbClr val="64716D"/>
                </a:solidFill>
                <a:latin typeface="Aptos"/>
              </a:rPr>
              <a:t>einen</a:t>
            </a:r>
            <a:r>
              <a:rPr sz="1050" b="0" i="0" dirty="0">
                <a:solidFill>
                  <a:srgbClr val="64716D"/>
                </a:solidFill>
                <a:latin typeface="Aptos"/>
              </a:rPr>
              <a:t> </a:t>
            </a:r>
            <a:r>
              <a:rPr sz="1050" b="0" i="0" dirty="0" err="1">
                <a:solidFill>
                  <a:srgbClr val="64716D"/>
                </a:solidFill>
                <a:latin typeface="Aptos"/>
              </a:rPr>
              <a:t>berechtigten</a:t>
            </a:r>
            <a:r>
              <a:rPr sz="1050" b="0" i="0" dirty="0">
                <a:solidFill>
                  <a:srgbClr val="64716D"/>
                </a:solidFill>
                <a:latin typeface="Aptos"/>
              </a:rPr>
              <a:t>, </a:t>
            </a:r>
            <a:r>
              <a:rPr sz="1050" b="0" i="0" dirty="0" err="1">
                <a:solidFill>
                  <a:srgbClr val="64716D"/>
                </a:solidFill>
                <a:latin typeface="Aptos"/>
              </a:rPr>
              <a:t>zeitlich</a:t>
            </a:r>
            <a:r>
              <a:rPr sz="1050" b="0" i="0" dirty="0">
                <a:solidFill>
                  <a:srgbClr val="64716D"/>
                </a:solidFill>
                <a:latin typeface="Aptos"/>
              </a:rPr>
              <a:t> </a:t>
            </a:r>
            <a:r>
              <a:rPr sz="1050" b="0" i="0" dirty="0" err="1">
                <a:solidFill>
                  <a:srgbClr val="64716D"/>
                </a:solidFill>
                <a:latin typeface="Aptos"/>
              </a:rPr>
              <a:t>begrenzten</a:t>
            </a:r>
            <a:r>
              <a:rPr sz="1050" b="0" i="0" dirty="0">
                <a:solidFill>
                  <a:srgbClr val="64716D"/>
                </a:solidFill>
                <a:latin typeface="Aptos"/>
              </a:rPr>
              <a:t> </a:t>
            </a:r>
            <a:r>
              <a:rPr sz="1050" b="0" i="0" dirty="0" err="1">
                <a:solidFill>
                  <a:srgbClr val="64716D"/>
                </a:solidFill>
                <a:latin typeface="Aptos"/>
              </a:rPr>
              <a:t>Zugriff</a:t>
            </a:r>
            <a:r>
              <a:rPr sz="1050" b="0" i="0" dirty="0">
                <a:solidFill>
                  <a:srgbClr val="64716D"/>
                </a:solidFill>
                <a:latin typeface="Aptos"/>
              </a:rPr>
              <a:t> auf </a:t>
            </a:r>
            <a:r>
              <a:rPr sz="1050" b="0" i="0" dirty="0" err="1">
                <a:solidFill>
                  <a:srgbClr val="64716D"/>
                </a:solidFill>
                <a:latin typeface="Aptos"/>
              </a:rPr>
              <a:t>ihre</a:t>
            </a:r>
            <a:r>
              <a:rPr sz="1050" b="0" i="0" dirty="0">
                <a:solidFill>
                  <a:srgbClr val="64716D"/>
                </a:solidFill>
                <a:latin typeface="Aptos"/>
              </a:rPr>
              <a:t> Einheit </a:t>
            </a:r>
            <a:r>
              <a:rPr lang="de-DE" sz="1050" b="0" i="0" dirty="0">
                <a:solidFill>
                  <a:srgbClr val="64716D"/>
                </a:solidFill>
                <a:latin typeface="Aptos"/>
              </a:rPr>
              <a:t>-</a:t>
            </a:r>
            <a:r>
              <a:rPr sz="1050" b="0" i="0" dirty="0">
                <a:solidFill>
                  <a:srgbClr val="64716D"/>
                </a:solidFill>
                <a:latin typeface="Aptos"/>
              </a:rPr>
              <a:t> </a:t>
            </a:r>
            <a:r>
              <a:rPr sz="1050" b="0" i="0" dirty="0" err="1">
                <a:solidFill>
                  <a:srgbClr val="64716D"/>
                </a:solidFill>
                <a:latin typeface="Aptos"/>
              </a:rPr>
              <a:t>mit</a:t>
            </a:r>
            <a:r>
              <a:rPr sz="1050" b="0" i="0" dirty="0">
                <a:solidFill>
                  <a:srgbClr val="64716D"/>
                </a:solidFill>
                <a:latin typeface="Aptos"/>
              </a:rPr>
              <a:t> </a:t>
            </a:r>
            <a:r>
              <a:rPr sz="1050" b="0" i="0" dirty="0" err="1">
                <a:solidFill>
                  <a:srgbClr val="64716D"/>
                </a:solidFill>
                <a:latin typeface="Aptos"/>
              </a:rPr>
              <a:t>klar</a:t>
            </a:r>
            <a:r>
              <a:rPr sz="1050" b="0" i="0" dirty="0">
                <a:solidFill>
                  <a:srgbClr val="64716D"/>
                </a:solidFill>
                <a:latin typeface="Aptos"/>
              </a:rPr>
              <a:t> </a:t>
            </a:r>
            <a:r>
              <a:rPr sz="1050" b="0" i="0" dirty="0" err="1">
                <a:solidFill>
                  <a:srgbClr val="64716D"/>
                </a:solidFill>
                <a:latin typeface="Aptos"/>
              </a:rPr>
              <a:t>abgegrenzten</a:t>
            </a:r>
            <a:r>
              <a:rPr sz="1050" b="0" i="0" dirty="0">
                <a:solidFill>
                  <a:srgbClr val="64716D"/>
                </a:solidFill>
                <a:latin typeface="Aptos"/>
              </a:rPr>
              <a:t> </a:t>
            </a:r>
            <a:r>
              <a:rPr sz="1050" b="0" i="0" dirty="0" err="1">
                <a:solidFill>
                  <a:srgbClr val="64716D"/>
                </a:solidFill>
                <a:latin typeface="Aptos"/>
              </a:rPr>
              <a:t>Rechten</a:t>
            </a:r>
            <a:r>
              <a:rPr sz="1050" b="0" i="0" dirty="0">
                <a:solidFill>
                  <a:srgbClr val="64716D"/>
                </a:solidFill>
                <a:latin typeface="Aptos"/>
              </a:rPr>
              <a:t>.</a:t>
            </a:r>
          </a:p>
        </p:txBody>
      </p:sp>
      <p:sp>
        <p:nvSpPr>
          <p:cNvPr id="13" name="Rounded Rectangle 12"/>
          <p:cNvSpPr/>
          <p:nvPr/>
        </p:nvSpPr>
        <p:spPr>
          <a:xfrm>
            <a:off x="640080" y="356616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712464"/>
            <a:ext cx="4869180" cy="736099"/>
          </a:xfrm>
          <a:prstGeom prst="rect">
            <a:avLst/>
          </a:prstGeom>
          <a:noFill/>
        </p:spPr>
        <p:txBody>
          <a:bodyPr wrap="square" lIns="0" tIns="0" rIns="0" bIns="0" anchor="t">
            <a:spAutoFit/>
          </a:bodyPr>
          <a:lstStyle/>
          <a:p>
            <a:r>
              <a:rPr sz="1300" b="1" i="0" dirty="0">
                <a:solidFill>
                  <a:srgbClr val="044F49"/>
                </a:solidFill>
                <a:latin typeface="Aptos"/>
              </a:rPr>
              <a:t>🏢  Internes </a:t>
            </a:r>
            <a:r>
              <a:rPr sz="1300" b="1" i="0" dirty="0" err="1">
                <a:solidFill>
                  <a:srgbClr val="044F49"/>
                </a:solidFill>
                <a:latin typeface="Aptos"/>
              </a:rPr>
              <a:t>Betriebsteam</a:t>
            </a:r>
            <a:endParaRPr sz="1300" b="1" i="0" dirty="0">
              <a:solidFill>
                <a:srgbClr val="044F49"/>
              </a:solidFill>
              <a:latin typeface="Aptos"/>
            </a:endParaRPr>
          </a:p>
          <a:p>
            <a:pPr>
              <a:spcBef>
                <a:spcPts val="400"/>
              </a:spcBef>
            </a:pPr>
            <a:r>
              <a:rPr sz="1050" b="0" i="0" dirty="0">
                <a:solidFill>
                  <a:srgbClr val="64716D"/>
                </a:solidFill>
                <a:latin typeface="Aptos"/>
              </a:rPr>
              <a:t>Sechs Rollen </a:t>
            </a:r>
            <a:r>
              <a:rPr sz="1050" b="0" i="0" dirty="0" err="1">
                <a:solidFill>
                  <a:srgbClr val="64716D"/>
                </a:solidFill>
                <a:latin typeface="Aptos"/>
              </a:rPr>
              <a:t>bei</a:t>
            </a:r>
            <a:r>
              <a:rPr sz="1050" b="0" i="0" dirty="0">
                <a:solidFill>
                  <a:srgbClr val="64716D"/>
                </a:solidFill>
                <a:latin typeface="Aptos"/>
              </a:rPr>
              <a:t> </a:t>
            </a:r>
            <a:r>
              <a:rPr sz="1050" b="0" i="0" dirty="0" err="1">
                <a:solidFill>
                  <a:srgbClr val="64716D"/>
                </a:solidFill>
                <a:latin typeface="Aptos"/>
              </a:rPr>
              <a:t>Ataberk</a:t>
            </a:r>
            <a:r>
              <a:rPr sz="1050" b="0" i="0" dirty="0">
                <a:solidFill>
                  <a:srgbClr val="64716D"/>
                </a:solidFill>
                <a:latin typeface="Aptos"/>
              </a:rPr>
              <a:t> Estate: Verwaltung, </a:t>
            </a:r>
            <a:r>
              <a:rPr sz="1050" b="0" i="0" dirty="0" err="1">
                <a:solidFill>
                  <a:srgbClr val="64716D"/>
                </a:solidFill>
                <a:latin typeface="Aptos"/>
              </a:rPr>
              <a:t>Standortverantwortliche</a:t>
            </a:r>
            <a:r>
              <a:rPr sz="1050" b="0" i="0" dirty="0">
                <a:solidFill>
                  <a:srgbClr val="64716D"/>
                </a:solidFill>
                <a:latin typeface="Aptos"/>
              </a:rPr>
              <a:t>, </a:t>
            </a:r>
            <a:r>
              <a:rPr sz="1050" b="0" i="0" dirty="0" err="1">
                <a:solidFill>
                  <a:srgbClr val="64716D"/>
                </a:solidFill>
                <a:latin typeface="Aptos"/>
              </a:rPr>
              <a:t>Buchhaltung</a:t>
            </a:r>
            <a:r>
              <a:rPr sz="1050" b="0" i="0" dirty="0">
                <a:solidFill>
                  <a:srgbClr val="64716D"/>
                </a:solidFill>
                <a:latin typeface="Aptos"/>
              </a:rPr>
              <a:t>, </a:t>
            </a:r>
            <a:r>
              <a:rPr sz="1050" b="0" i="0" dirty="0" err="1">
                <a:solidFill>
                  <a:srgbClr val="64716D"/>
                </a:solidFill>
                <a:latin typeface="Aptos"/>
              </a:rPr>
              <a:t>Außendienst</a:t>
            </a:r>
            <a:r>
              <a:rPr sz="1050" b="0" i="0" dirty="0">
                <a:solidFill>
                  <a:srgbClr val="64716D"/>
                </a:solidFill>
                <a:latin typeface="Aptos"/>
              </a:rPr>
              <a:t>/Technik, Sicherheit </a:t>
            </a:r>
            <a:r>
              <a:rPr sz="1050" b="0" i="0" dirty="0" err="1">
                <a:solidFill>
                  <a:srgbClr val="64716D"/>
                </a:solidFill>
                <a:latin typeface="Aptos"/>
              </a:rPr>
              <a:t>sowie</a:t>
            </a:r>
            <a:r>
              <a:rPr sz="1050" b="0" i="0" dirty="0">
                <a:solidFill>
                  <a:srgbClr val="64716D"/>
                </a:solidFill>
                <a:latin typeface="Aptos"/>
              </a:rPr>
              <a:t> Support/</a:t>
            </a:r>
            <a:r>
              <a:rPr sz="1050" b="0" i="0" dirty="0" err="1">
                <a:solidFill>
                  <a:srgbClr val="64716D"/>
                </a:solidFill>
                <a:latin typeface="Aptos"/>
              </a:rPr>
              <a:t>Einführung</a:t>
            </a:r>
            <a:r>
              <a:rPr sz="1050" b="0" i="0" dirty="0">
                <a:solidFill>
                  <a:srgbClr val="64716D"/>
                </a:solidFill>
                <a:latin typeface="Aptos"/>
              </a:rPr>
              <a:t> </a:t>
            </a:r>
            <a:r>
              <a:rPr lang="de-DE" sz="1050" b="0" i="0" dirty="0">
                <a:solidFill>
                  <a:srgbClr val="64716D"/>
                </a:solidFill>
                <a:latin typeface="Aptos"/>
              </a:rPr>
              <a:t>-</a:t>
            </a:r>
            <a:r>
              <a:rPr sz="1050" b="0" i="0" dirty="0">
                <a:solidFill>
                  <a:srgbClr val="64716D"/>
                </a:solidFill>
                <a:latin typeface="Aptos"/>
              </a:rPr>
              <a:t> </a:t>
            </a:r>
            <a:r>
              <a:rPr sz="1050" b="0" i="0" dirty="0" err="1">
                <a:solidFill>
                  <a:srgbClr val="64716D"/>
                </a:solidFill>
                <a:latin typeface="Aptos"/>
              </a:rPr>
              <a:t>jede</a:t>
            </a:r>
            <a:r>
              <a:rPr sz="1050" b="0" i="0" dirty="0">
                <a:solidFill>
                  <a:srgbClr val="64716D"/>
                </a:solidFill>
                <a:latin typeface="Aptos"/>
              </a:rPr>
              <a:t> </a:t>
            </a:r>
            <a:r>
              <a:rPr sz="1050" b="0" i="0" dirty="0" err="1">
                <a:solidFill>
                  <a:srgbClr val="64716D"/>
                </a:solidFill>
                <a:latin typeface="Aptos"/>
              </a:rPr>
              <a:t>mit</a:t>
            </a:r>
            <a:r>
              <a:rPr sz="1050" b="0" i="0" dirty="0">
                <a:solidFill>
                  <a:srgbClr val="64716D"/>
                </a:solidFill>
                <a:latin typeface="Aptos"/>
              </a:rPr>
              <a:t> </a:t>
            </a:r>
            <a:r>
              <a:rPr sz="1050" b="0" i="0" dirty="0" err="1">
                <a:solidFill>
                  <a:srgbClr val="64716D"/>
                </a:solidFill>
                <a:latin typeface="Aptos"/>
              </a:rPr>
              <a:t>exakt</a:t>
            </a:r>
            <a:r>
              <a:rPr sz="1050" b="0" i="0" dirty="0">
                <a:solidFill>
                  <a:srgbClr val="64716D"/>
                </a:solidFill>
                <a:latin typeface="Aptos"/>
              </a:rPr>
              <a:t> den </a:t>
            </a:r>
            <a:r>
              <a:rPr sz="1050" b="0" i="0" dirty="0" err="1">
                <a:solidFill>
                  <a:srgbClr val="64716D"/>
                </a:solidFill>
                <a:latin typeface="Aptos"/>
              </a:rPr>
              <a:t>nötigen</a:t>
            </a:r>
            <a:r>
              <a:rPr sz="1050" b="0" i="0" dirty="0">
                <a:solidFill>
                  <a:srgbClr val="64716D"/>
                </a:solidFill>
                <a:latin typeface="Aptos"/>
              </a:rPr>
              <a:t> </a:t>
            </a:r>
            <a:r>
              <a:rPr sz="1050" b="0" i="0" dirty="0" err="1">
                <a:solidFill>
                  <a:srgbClr val="64716D"/>
                </a:solidFill>
                <a:latin typeface="Aptos"/>
              </a:rPr>
              <a:t>Rechten</a:t>
            </a:r>
            <a:r>
              <a:rPr sz="1050" b="0" i="0" dirty="0">
                <a:solidFill>
                  <a:srgbClr val="64716D"/>
                </a:solidFill>
                <a:latin typeface="Aptos"/>
              </a:rPr>
              <a:t>.</a:t>
            </a:r>
          </a:p>
        </p:txBody>
      </p:sp>
      <p:sp>
        <p:nvSpPr>
          <p:cNvPr id="15" name="Rounded Rectangle 14"/>
          <p:cNvSpPr/>
          <p:nvPr/>
        </p:nvSpPr>
        <p:spPr>
          <a:xfrm>
            <a:off x="6195060" y="356616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712464"/>
            <a:ext cx="4869180" cy="1417320"/>
          </a:xfrm>
          <a:prstGeom prst="rect">
            <a:avLst/>
          </a:prstGeom>
          <a:noFill/>
        </p:spPr>
        <p:txBody>
          <a:bodyPr wrap="square" lIns="0" tIns="0" rIns="0" bIns="0" anchor="t">
            <a:spAutoFit/>
          </a:bodyPr>
          <a:lstStyle/>
          <a:p>
            <a:r>
              <a:rPr sz="1300" b="1" i="0">
                <a:solidFill>
                  <a:srgbClr val="044F49"/>
                </a:solidFill>
                <a:latin typeface="Aptos"/>
              </a:rPr>
              <a:t>🤝  Dienstleister &amp; Interessenten</a:t>
            </a:r>
          </a:p>
          <a:p>
            <a:pPr>
              <a:spcBef>
                <a:spcPts val="400"/>
              </a:spcBef>
            </a:pPr>
            <a:r>
              <a:rPr sz="1050" b="0" i="0">
                <a:solidFill>
                  <a:srgbClr val="64716D"/>
                </a:solidFill>
                <a:latin typeface="Aptos"/>
              </a:rPr>
              <a:t>Dienstleister werden über das Service-Desk eingebunden; Kaufinteressenten und Gäste nutzen den öffentlichen Bereich ohne Konto (Registrierung, Meldung).</a:t>
            </a:r>
          </a:p>
        </p:txBody>
      </p:sp>
      <p:sp>
        <p:nvSpPr>
          <p:cNvPr id="17" name="Rounded Rectangle 16"/>
          <p:cNvSpPr/>
          <p:nvPr/>
        </p:nvSpPr>
        <p:spPr>
          <a:xfrm>
            <a:off x="640080" y="5440680"/>
            <a:ext cx="10881360" cy="7772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440680"/>
            <a:ext cx="54864" cy="77724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568696"/>
            <a:ext cx="10469880" cy="521208"/>
          </a:xfrm>
          <a:prstGeom prst="rect">
            <a:avLst/>
          </a:prstGeom>
          <a:noFill/>
        </p:spPr>
        <p:txBody>
          <a:bodyPr wrap="square" lIns="0" tIns="0" rIns="0" bIns="0" anchor="ctr">
            <a:spAutoFit/>
          </a:bodyPr>
          <a:lstStyle/>
          <a:p>
            <a:r>
              <a:rPr sz="1250" b="1" i="0">
                <a:solidFill>
                  <a:srgbClr val="044F49"/>
                </a:solidFill>
                <a:latin typeface="Aptos"/>
              </a:rPr>
              <a:t>Bewusst nicht adressiert:  </a:t>
            </a:r>
            <a:r>
              <a:rPr sz="1150" b="0" i="0">
                <a:solidFill>
                  <a:srgbClr val="33413D"/>
                </a:solidFill>
                <a:latin typeface="Aptos"/>
              </a:rPr>
              <a:t>der anonyme Immobilien-Massenmarkt außerhalb konkreter Referenzobjekte sowie jeder vollautomatisierte Zahlungs- oder Zugangsbetrieb ohne menschliche Freigabe.</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9</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05</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Nutzen für Ataberk Estate</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92224"/>
            <a:ext cx="4869180" cy="1280160"/>
          </a:xfrm>
          <a:prstGeom prst="rect">
            <a:avLst/>
          </a:prstGeom>
          <a:noFill/>
        </p:spPr>
        <p:txBody>
          <a:bodyPr wrap="square" lIns="0" tIns="0" rIns="0" bIns="0" anchor="t">
            <a:spAutoFit/>
          </a:bodyPr>
          <a:lstStyle/>
          <a:p>
            <a:r>
              <a:rPr sz="1300" b="1" i="0">
                <a:solidFill>
                  <a:srgbClr val="044F49"/>
                </a:solidFill>
                <a:latin typeface="Aptos"/>
              </a:rPr>
              <a:t>Eine Quelle der Wahrheit</a:t>
            </a:r>
          </a:p>
          <a:p>
            <a:pPr>
              <a:spcBef>
                <a:spcPts val="400"/>
              </a:spcBef>
            </a:pPr>
            <a:r>
              <a:rPr sz="1050" b="0" i="0">
                <a:solidFill>
                  <a:srgbClr val="64716D"/>
                </a:solidFill>
                <a:latin typeface="Aptos"/>
              </a:rPr>
              <a:t>Eine zentrale, rollenbasierte Datengrundlage für bis zu 769 Einheiten ersetzt verstreute Excel-Listen und WhatsApp-Verläufe. Vertrieb, Portfolio, Finanzen und Service auf demselben Datensatz.</a:t>
            </a:r>
          </a:p>
        </p:txBody>
      </p:sp>
      <p:sp>
        <p:nvSpPr>
          <p:cNvPr id="11" name="Rounded Rectangle 10"/>
          <p:cNvSpPr/>
          <p:nvPr/>
        </p:nvSpPr>
        <p:spPr>
          <a:xfrm>
            <a:off x="619506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792224"/>
            <a:ext cx="4869180" cy="574516"/>
          </a:xfrm>
          <a:prstGeom prst="rect">
            <a:avLst/>
          </a:prstGeom>
          <a:noFill/>
        </p:spPr>
        <p:txBody>
          <a:bodyPr wrap="square" lIns="0" tIns="0" rIns="0" bIns="0" anchor="t">
            <a:spAutoFit/>
          </a:bodyPr>
          <a:lstStyle/>
          <a:p>
            <a:r>
              <a:rPr sz="1300" b="1" i="0" dirty="0" err="1">
                <a:solidFill>
                  <a:srgbClr val="044F49"/>
                </a:solidFill>
                <a:latin typeface="Aptos"/>
              </a:rPr>
              <a:t>Nachvollziehbarkeit</a:t>
            </a:r>
            <a:endParaRPr sz="1300" b="1" i="0" dirty="0">
              <a:solidFill>
                <a:srgbClr val="044F49"/>
              </a:solidFill>
              <a:latin typeface="Aptos"/>
            </a:endParaRPr>
          </a:p>
          <a:p>
            <a:pPr>
              <a:spcBef>
                <a:spcPts val="400"/>
              </a:spcBef>
            </a:pPr>
            <a:r>
              <a:rPr sz="1050" b="0" i="0" dirty="0" err="1">
                <a:solidFill>
                  <a:srgbClr val="64716D"/>
                </a:solidFill>
                <a:latin typeface="Aptos"/>
              </a:rPr>
              <a:t>Jeder</a:t>
            </a:r>
            <a:r>
              <a:rPr sz="1050" b="0" i="0" dirty="0">
                <a:solidFill>
                  <a:srgbClr val="64716D"/>
                </a:solidFill>
                <a:latin typeface="Aptos"/>
              </a:rPr>
              <a:t> sensible </a:t>
            </a:r>
            <a:r>
              <a:rPr sz="1050" b="0" i="0" dirty="0" err="1">
                <a:solidFill>
                  <a:srgbClr val="64716D"/>
                </a:solidFill>
                <a:latin typeface="Aptos"/>
              </a:rPr>
              <a:t>Vorgang</a:t>
            </a:r>
            <a:r>
              <a:rPr sz="1050" b="0" i="0" dirty="0">
                <a:solidFill>
                  <a:srgbClr val="64716D"/>
                </a:solidFill>
                <a:latin typeface="Aptos"/>
              </a:rPr>
              <a:t> </a:t>
            </a:r>
            <a:r>
              <a:rPr sz="1050" b="0" i="0" dirty="0" err="1">
                <a:solidFill>
                  <a:srgbClr val="64716D"/>
                </a:solidFill>
                <a:latin typeface="Aptos"/>
              </a:rPr>
              <a:t>wird</a:t>
            </a:r>
            <a:r>
              <a:rPr sz="1050" b="0" i="0" dirty="0">
                <a:solidFill>
                  <a:srgbClr val="64716D"/>
                </a:solidFill>
                <a:latin typeface="Aptos"/>
              </a:rPr>
              <a:t> </a:t>
            </a:r>
            <a:r>
              <a:rPr sz="1050" b="0" i="0" dirty="0" err="1">
                <a:solidFill>
                  <a:srgbClr val="64716D"/>
                </a:solidFill>
                <a:latin typeface="Aptos"/>
              </a:rPr>
              <a:t>mit</a:t>
            </a:r>
            <a:r>
              <a:rPr sz="1050" b="0" i="0" dirty="0">
                <a:solidFill>
                  <a:srgbClr val="64716D"/>
                </a:solidFill>
                <a:latin typeface="Aptos"/>
              </a:rPr>
              <a:t> </a:t>
            </a:r>
            <a:r>
              <a:rPr sz="1050" b="0" i="0" dirty="0" err="1">
                <a:solidFill>
                  <a:srgbClr val="64716D"/>
                </a:solidFill>
                <a:latin typeface="Aptos"/>
              </a:rPr>
              <a:t>Nutzer</a:t>
            </a:r>
            <a:r>
              <a:rPr sz="1050" b="0" i="0" dirty="0">
                <a:solidFill>
                  <a:srgbClr val="64716D"/>
                </a:solidFill>
                <a:latin typeface="Aptos"/>
              </a:rPr>
              <a:t>, Rolle, </a:t>
            </a:r>
            <a:r>
              <a:rPr sz="1050" b="0" i="0" dirty="0" err="1">
                <a:solidFill>
                  <a:srgbClr val="64716D"/>
                </a:solidFill>
                <a:latin typeface="Aptos"/>
              </a:rPr>
              <a:t>Zeitpunkt</a:t>
            </a:r>
            <a:r>
              <a:rPr sz="1050" b="0" i="0" dirty="0">
                <a:solidFill>
                  <a:srgbClr val="64716D"/>
                </a:solidFill>
                <a:latin typeface="Aptos"/>
              </a:rPr>
              <a:t> und Grund </a:t>
            </a:r>
            <a:r>
              <a:rPr sz="1050" b="0" i="0" dirty="0" err="1">
                <a:solidFill>
                  <a:srgbClr val="64716D"/>
                </a:solidFill>
                <a:latin typeface="Aptos"/>
              </a:rPr>
              <a:t>protokolliert</a:t>
            </a:r>
            <a:r>
              <a:rPr sz="1050" b="0" i="0" dirty="0">
                <a:solidFill>
                  <a:srgbClr val="64716D"/>
                </a:solidFill>
                <a:latin typeface="Aptos"/>
              </a:rPr>
              <a:t> </a:t>
            </a:r>
            <a:r>
              <a:rPr lang="de-DE" sz="1050" b="0" i="0" dirty="0">
                <a:solidFill>
                  <a:srgbClr val="64716D"/>
                </a:solidFill>
                <a:latin typeface="Aptos"/>
              </a:rPr>
              <a:t>-</a:t>
            </a:r>
            <a:r>
              <a:rPr sz="1050" b="0" i="0" dirty="0">
                <a:solidFill>
                  <a:srgbClr val="64716D"/>
                </a:solidFill>
                <a:latin typeface="Aptos"/>
              </a:rPr>
              <a:t> das </a:t>
            </a:r>
            <a:r>
              <a:rPr sz="1050" b="0" i="0" dirty="0" err="1">
                <a:solidFill>
                  <a:srgbClr val="64716D"/>
                </a:solidFill>
                <a:latin typeface="Aptos"/>
              </a:rPr>
              <a:t>schafft</a:t>
            </a:r>
            <a:r>
              <a:rPr sz="1050" b="0" i="0" dirty="0">
                <a:solidFill>
                  <a:srgbClr val="64716D"/>
                </a:solidFill>
                <a:latin typeface="Aptos"/>
              </a:rPr>
              <a:t> </a:t>
            </a:r>
            <a:r>
              <a:rPr sz="1050" b="0" i="0" dirty="0" err="1">
                <a:solidFill>
                  <a:srgbClr val="64716D"/>
                </a:solidFill>
                <a:latin typeface="Aptos"/>
              </a:rPr>
              <a:t>Vertrauen</a:t>
            </a:r>
            <a:r>
              <a:rPr sz="1050" b="0" i="0" dirty="0">
                <a:solidFill>
                  <a:srgbClr val="64716D"/>
                </a:solidFill>
                <a:latin typeface="Aptos"/>
              </a:rPr>
              <a:t> </a:t>
            </a:r>
            <a:r>
              <a:rPr sz="1050" b="0" i="0" dirty="0" err="1">
                <a:solidFill>
                  <a:srgbClr val="64716D"/>
                </a:solidFill>
                <a:latin typeface="Aptos"/>
              </a:rPr>
              <a:t>bei</a:t>
            </a:r>
            <a:r>
              <a:rPr sz="1050" b="0" i="0" dirty="0">
                <a:solidFill>
                  <a:srgbClr val="64716D"/>
                </a:solidFill>
                <a:latin typeface="Aptos"/>
              </a:rPr>
              <a:t> </a:t>
            </a:r>
            <a:r>
              <a:rPr sz="1050" b="0" i="0" dirty="0" err="1">
                <a:solidFill>
                  <a:srgbClr val="64716D"/>
                </a:solidFill>
                <a:latin typeface="Aptos"/>
              </a:rPr>
              <a:t>Eigentümern</a:t>
            </a:r>
            <a:r>
              <a:rPr sz="1050" b="0" i="0" dirty="0">
                <a:solidFill>
                  <a:srgbClr val="64716D"/>
                </a:solidFill>
                <a:latin typeface="Aptos"/>
              </a:rPr>
              <a:t> und </a:t>
            </a:r>
            <a:r>
              <a:rPr sz="1050" b="0" i="0" dirty="0" err="1">
                <a:solidFill>
                  <a:srgbClr val="64716D"/>
                </a:solidFill>
                <a:latin typeface="Aptos"/>
              </a:rPr>
              <a:t>Prüfern</a:t>
            </a:r>
            <a:r>
              <a:rPr sz="1050" b="0" i="0" dirty="0">
                <a:solidFill>
                  <a:srgbClr val="64716D"/>
                </a:solidFill>
                <a:latin typeface="Aptos"/>
              </a:rPr>
              <a:t>.</a:t>
            </a:r>
          </a:p>
        </p:txBody>
      </p:sp>
      <p:sp>
        <p:nvSpPr>
          <p:cNvPr id="13" name="Rounded Rectangle 12"/>
          <p:cNvSpPr/>
          <p:nvPr/>
        </p:nvSpPr>
        <p:spPr>
          <a:xfrm>
            <a:off x="64008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575304"/>
            <a:ext cx="4869180" cy="736099"/>
          </a:xfrm>
          <a:prstGeom prst="rect">
            <a:avLst/>
          </a:prstGeom>
          <a:noFill/>
        </p:spPr>
        <p:txBody>
          <a:bodyPr wrap="square" lIns="0" tIns="0" rIns="0" bIns="0" anchor="t">
            <a:spAutoFit/>
          </a:bodyPr>
          <a:lstStyle/>
          <a:p>
            <a:r>
              <a:rPr sz="1300" b="1" i="0" dirty="0" err="1">
                <a:solidFill>
                  <a:srgbClr val="044F49"/>
                </a:solidFill>
                <a:latin typeface="Aptos"/>
              </a:rPr>
              <a:t>Niedrigere</a:t>
            </a:r>
            <a:r>
              <a:rPr sz="1300" b="1" i="0" dirty="0">
                <a:solidFill>
                  <a:srgbClr val="044F49"/>
                </a:solidFill>
                <a:latin typeface="Aptos"/>
              </a:rPr>
              <a:t> </a:t>
            </a:r>
            <a:r>
              <a:rPr sz="1300" b="1" i="0" dirty="0" err="1">
                <a:solidFill>
                  <a:srgbClr val="044F49"/>
                </a:solidFill>
                <a:latin typeface="Aptos"/>
              </a:rPr>
              <a:t>Einstiegshürde</a:t>
            </a:r>
            <a:endParaRPr sz="1300" b="1" i="0" dirty="0">
              <a:solidFill>
                <a:srgbClr val="044F49"/>
              </a:solidFill>
              <a:latin typeface="Aptos"/>
            </a:endParaRPr>
          </a:p>
          <a:p>
            <a:pPr>
              <a:spcBef>
                <a:spcPts val="400"/>
              </a:spcBef>
            </a:pPr>
            <a:r>
              <a:rPr sz="1050" b="0" i="0" dirty="0">
                <a:solidFill>
                  <a:srgbClr val="64716D"/>
                </a:solidFill>
                <a:latin typeface="Aptos"/>
              </a:rPr>
              <a:t>Der </a:t>
            </a:r>
            <a:r>
              <a:rPr sz="1050" b="0" i="0" dirty="0" err="1">
                <a:solidFill>
                  <a:srgbClr val="64716D"/>
                </a:solidFill>
                <a:latin typeface="Aptos"/>
              </a:rPr>
              <a:t>öffentliche</a:t>
            </a:r>
            <a:r>
              <a:rPr sz="1050" b="0" i="0" dirty="0">
                <a:solidFill>
                  <a:srgbClr val="64716D"/>
                </a:solidFill>
                <a:latin typeface="Aptos"/>
              </a:rPr>
              <a:t> </a:t>
            </a:r>
            <a:r>
              <a:rPr sz="1050" b="0" i="0" dirty="0" err="1">
                <a:solidFill>
                  <a:srgbClr val="64716D"/>
                </a:solidFill>
                <a:latin typeface="Aptos"/>
              </a:rPr>
              <a:t>Bereich</a:t>
            </a:r>
            <a:r>
              <a:rPr sz="1050" b="0" i="0" dirty="0">
                <a:solidFill>
                  <a:srgbClr val="64716D"/>
                </a:solidFill>
                <a:latin typeface="Aptos"/>
              </a:rPr>
              <a:t> </a:t>
            </a:r>
            <a:r>
              <a:rPr sz="1050" b="0" i="0" dirty="0" err="1">
                <a:solidFill>
                  <a:srgbClr val="64716D"/>
                </a:solidFill>
                <a:latin typeface="Aptos"/>
              </a:rPr>
              <a:t>senkt</a:t>
            </a:r>
            <a:r>
              <a:rPr sz="1050" b="0" i="0" dirty="0">
                <a:solidFill>
                  <a:srgbClr val="64716D"/>
                </a:solidFill>
                <a:latin typeface="Aptos"/>
              </a:rPr>
              <a:t> die </a:t>
            </a:r>
            <a:r>
              <a:rPr sz="1050" b="0" i="0" dirty="0" err="1">
                <a:solidFill>
                  <a:srgbClr val="64716D"/>
                </a:solidFill>
                <a:latin typeface="Aptos"/>
              </a:rPr>
              <a:t>Hürde</a:t>
            </a:r>
            <a:r>
              <a:rPr sz="1050" b="0" i="0" dirty="0">
                <a:solidFill>
                  <a:srgbClr val="64716D"/>
                </a:solidFill>
                <a:latin typeface="Aptos"/>
              </a:rPr>
              <a:t> für </a:t>
            </a:r>
            <a:r>
              <a:rPr sz="1050" b="0" i="0" dirty="0" err="1">
                <a:solidFill>
                  <a:srgbClr val="64716D"/>
                </a:solidFill>
                <a:latin typeface="Aptos"/>
              </a:rPr>
              <a:t>internationale</a:t>
            </a:r>
            <a:r>
              <a:rPr sz="1050" b="0" i="0" dirty="0">
                <a:solidFill>
                  <a:srgbClr val="64716D"/>
                </a:solidFill>
                <a:latin typeface="Aptos"/>
              </a:rPr>
              <a:t> </a:t>
            </a:r>
            <a:r>
              <a:rPr sz="1050" b="0" i="0" dirty="0" err="1">
                <a:solidFill>
                  <a:srgbClr val="64716D"/>
                </a:solidFill>
                <a:latin typeface="Aptos"/>
              </a:rPr>
              <a:t>Eigentümer</a:t>
            </a:r>
            <a:r>
              <a:rPr sz="1050" b="0" i="0" dirty="0">
                <a:solidFill>
                  <a:srgbClr val="64716D"/>
                </a:solidFill>
                <a:latin typeface="Aptos"/>
              </a:rPr>
              <a:t> und </a:t>
            </a:r>
            <a:r>
              <a:rPr sz="1050" b="0" i="0" dirty="0" err="1">
                <a:solidFill>
                  <a:srgbClr val="64716D"/>
                </a:solidFill>
                <a:latin typeface="Aptos"/>
              </a:rPr>
              <a:t>Mieter</a:t>
            </a:r>
            <a:r>
              <a:rPr sz="1050" b="0" i="0" dirty="0">
                <a:solidFill>
                  <a:srgbClr val="64716D"/>
                </a:solidFill>
                <a:latin typeface="Aptos"/>
              </a:rPr>
              <a:t> </a:t>
            </a:r>
            <a:r>
              <a:rPr sz="1050" b="0" i="0" dirty="0" err="1">
                <a:solidFill>
                  <a:srgbClr val="64716D"/>
                </a:solidFill>
                <a:latin typeface="Aptos"/>
              </a:rPr>
              <a:t>durch</a:t>
            </a:r>
            <a:r>
              <a:rPr sz="1050" b="0" i="0" dirty="0">
                <a:solidFill>
                  <a:srgbClr val="64716D"/>
                </a:solidFill>
                <a:latin typeface="Aptos"/>
              </a:rPr>
              <a:t> </a:t>
            </a:r>
            <a:r>
              <a:rPr sz="1050" b="0" i="0" dirty="0" err="1">
                <a:solidFill>
                  <a:srgbClr val="64716D"/>
                </a:solidFill>
                <a:latin typeface="Aptos"/>
              </a:rPr>
              <a:t>einen</a:t>
            </a:r>
            <a:r>
              <a:rPr sz="1050" b="0" i="0" dirty="0">
                <a:solidFill>
                  <a:srgbClr val="64716D"/>
                </a:solidFill>
                <a:latin typeface="Aptos"/>
              </a:rPr>
              <a:t> </a:t>
            </a:r>
            <a:r>
              <a:rPr sz="1050" b="0" i="0" dirty="0" err="1">
                <a:solidFill>
                  <a:srgbClr val="64716D"/>
                </a:solidFill>
                <a:latin typeface="Aptos"/>
              </a:rPr>
              <a:t>verifizierten</a:t>
            </a:r>
            <a:r>
              <a:rPr sz="1050" b="0" i="0" dirty="0">
                <a:solidFill>
                  <a:srgbClr val="64716D"/>
                </a:solidFill>
                <a:latin typeface="Aptos"/>
              </a:rPr>
              <a:t>, </a:t>
            </a:r>
            <a:r>
              <a:rPr sz="1050" b="0" i="0" dirty="0" err="1">
                <a:solidFill>
                  <a:srgbClr val="64716D"/>
                </a:solidFill>
                <a:latin typeface="Aptos"/>
              </a:rPr>
              <a:t>mehrsprachigen</a:t>
            </a:r>
            <a:r>
              <a:rPr sz="1050" b="0" i="0" dirty="0">
                <a:solidFill>
                  <a:srgbClr val="64716D"/>
                </a:solidFill>
                <a:latin typeface="Aptos"/>
              </a:rPr>
              <a:t> </a:t>
            </a:r>
            <a:r>
              <a:rPr sz="1050" b="0" i="0" dirty="0" err="1">
                <a:solidFill>
                  <a:srgbClr val="64716D"/>
                </a:solidFill>
                <a:latin typeface="Aptos"/>
              </a:rPr>
              <a:t>Registrierungs-Zugang</a:t>
            </a:r>
            <a:r>
              <a:rPr sz="1050" b="0" i="0" dirty="0">
                <a:solidFill>
                  <a:srgbClr val="64716D"/>
                </a:solidFill>
                <a:latin typeface="Aptos"/>
              </a:rPr>
              <a:t> </a:t>
            </a:r>
            <a:r>
              <a:rPr lang="de-DE" sz="1050" b="0" i="0" dirty="0">
                <a:solidFill>
                  <a:srgbClr val="64716D"/>
                </a:solidFill>
                <a:latin typeface="Aptos"/>
              </a:rPr>
              <a:t>-</a:t>
            </a:r>
            <a:r>
              <a:rPr sz="1050" b="0" i="0" dirty="0">
                <a:solidFill>
                  <a:srgbClr val="64716D"/>
                </a:solidFill>
                <a:latin typeface="Aptos"/>
              </a:rPr>
              <a:t> </a:t>
            </a:r>
            <a:r>
              <a:rPr sz="1050" b="0" i="0" dirty="0" err="1">
                <a:solidFill>
                  <a:srgbClr val="64716D"/>
                </a:solidFill>
                <a:latin typeface="Aptos"/>
              </a:rPr>
              <a:t>ohne</a:t>
            </a:r>
            <a:r>
              <a:rPr sz="1050" b="0" i="0" dirty="0">
                <a:solidFill>
                  <a:srgbClr val="64716D"/>
                </a:solidFill>
                <a:latin typeface="Aptos"/>
              </a:rPr>
              <a:t> </a:t>
            </a:r>
            <a:r>
              <a:rPr sz="1050" b="0" i="0" dirty="0" err="1">
                <a:solidFill>
                  <a:srgbClr val="64716D"/>
                </a:solidFill>
                <a:latin typeface="Aptos"/>
              </a:rPr>
              <a:t>Systemkonto</a:t>
            </a:r>
            <a:r>
              <a:rPr sz="1050" b="0" i="0" dirty="0">
                <a:solidFill>
                  <a:srgbClr val="64716D"/>
                </a:solidFill>
                <a:latin typeface="Aptos"/>
              </a:rPr>
              <a:t> </a:t>
            </a:r>
            <a:r>
              <a:rPr sz="1050" b="0" i="0" dirty="0" err="1">
                <a:solidFill>
                  <a:srgbClr val="64716D"/>
                </a:solidFill>
                <a:latin typeface="Aptos"/>
              </a:rPr>
              <a:t>als</a:t>
            </a:r>
            <a:r>
              <a:rPr sz="1050" b="0" i="0" dirty="0">
                <a:solidFill>
                  <a:srgbClr val="64716D"/>
                </a:solidFill>
                <a:latin typeface="Aptos"/>
              </a:rPr>
              <a:t> </a:t>
            </a:r>
            <a:r>
              <a:rPr sz="1050" b="0" i="0" dirty="0" err="1">
                <a:solidFill>
                  <a:srgbClr val="64716D"/>
                </a:solidFill>
                <a:latin typeface="Aptos"/>
              </a:rPr>
              <a:t>Voraussetzung</a:t>
            </a:r>
            <a:r>
              <a:rPr sz="1050" b="0" i="0" dirty="0">
                <a:solidFill>
                  <a:srgbClr val="64716D"/>
                </a:solidFill>
                <a:latin typeface="Aptos"/>
              </a:rPr>
              <a:t>.</a:t>
            </a:r>
          </a:p>
        </p:txBody>
      </p:sp>
      <p:sp>
        <p:nvSpPr>
          <p:cNvPr id="15" name="Rounded Rectangle 14"/>
          <p:cNvSpPr/>
          <p:nvPr/>
        </p:nvSpPr>
        <p:spPr>
          <a:xfrm>
            <a:off x="619506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575304"/>
            <a:ext cx="4869180" cy="736099"/>
          </a:xfrm>
          <a:prstGeom prst="rect">
            <a:avLst/>
          </a:prstGeom>
          <a:noFill/>
        </p:spPr>
        <p:txBody>
          <a:bodyPr wrap="square" lIns="0" tIns="0" rIns="0" bIns="0" anchor="t">
            <a:spAutoFit/>
          </a:bodyPr>
          <a:lstStyle/>
          <a:p>
            <a:r>
              <a:rPr sz="1300" b="1" i="0" dirty="0" err="1">
                <a:solidFill>
                  <a:srgbClr val="044F49"/>
                </a:solidFill>
                <a:latin typeface="Aptos"/>
              </a:rPr>
              <a:t>Entlastung</a:t>
            </a:r>
            <a:r>
              <a:rPr sz="1300" b="1" i="0" dirty="0">
                <a:solidFill>
                  <a:srgbClr val="044F49"/>
                </a:solidFill>
                <a:latin typeface="Aptos"/>
              </a:rPr>
              <a:t> </a:t>
            </a:r>
            <a:r>
              <a:rPr sz="1300" b="1" i="0" dirty="0" err="1">
                <a:solidFill>
                  <a:srgbClr val="044F49"/>
                </a:solidFill>
                <a:latin typeface="Aptos"/>
              </a:rPr>
              <a:t>durch</a:t>
            </a:r>
            <a:r>
              <a:rPr sz="1300" b="1" i="0" dirty="0">
                <a:solidFill>
                  <a:srgbClr val="044F49"/>
                </a:solidFill>
                <a:latin typeface="Aptos"/>
              </a:rPr>
              <a:t> KI</a:t>
            </a:r>
          </a:p>
          <a:p>
            <a:pPr>
              <a:spcBef>
                <a:spcPts val="400"/>
              </a:spcBef>
            </a:pPr>
            <a:r>
              <a:rPr sz="1050" b="0" i="0" dirty="0">
                <a:solidFill>
                  <a:srgbClr val="64716D"/>
                </a:solidFill>
                <a:latin typeface="Aptos"/>
              </a:rPr>
              <a:t>Die KI-</a:t>
            </a:r>
            <a:r>
              <a:rPr sz="1050" b="0" i="0" dirty="0" err="1">
                <a:solidFill>
                  <a:srgbClr val="64716D"/>
                </a:solidFill>
                <a:latin typeface="Aptos"/>
              </a:rPr>
              <a:t>Schicht</a:t>
            </a:r>
            <a:r>
              <a:rPr sz="1050" b="0" i="0" dirty="0">
                <a:solidFill>
                  <a:srgbClr val="64716D"/>
                </a:solidFill>
                <a:latin typeface="Aptos"/>
              </a:rPr>
              <a:t> </a:t>
            </a:r>
            <a:r>
              <a:rPr sz="1050" b="0" i="0" dirty="0" err="1">
                <a:solidFill>
                  <a:srgbClr val="64716D"/>
                </a:solidFill>
                <a:latin typeface="Aptos"/>
              </a:rPr>
              <a:t>entlastet</a:t>
            </a:r>
            <a:r>
              <a:rPr sz="1050" b="0" i="0" dirty="0">
                <a:solidFill>
                  <a:srgbClr val="64716D"/>
                </a:solidFill>
                <a:latin typeface="Aptos"/>
              </a:rPr>
              <a:t> Management und </a:t>
            </a:r>
            <a:r>
              <a:rPr sz="1050" b="0" i="0" dirty="0" err="1">
                <a:solidFill>
                  <a:srgbClr val="64716D"/>
                </a:solidFill>
                <a:latin typeface="Aptos"/>
              </a:rPr>
              <a:t>Buchhaltung</a:t>
            </a:r>
            <a:r>
              <a:rPr sz="1050" b="0" i="0" dirty="0">
                <a:solidFill>
                  <a:srgbClr val="64716D"/>
                </a:solidFill>
                <a:latin typeface="Aptos"/>
              </a:rPr>
              <a:t> </a:t>
            </a:r>
            <a:r>
              <a:rPr sz="1050" b="0" i="0" dirty="0" err="1">
                <a:solidFill>
                  <a:srgbClr val="64716D"/>
                </a:solidFill>
                <a:latin typeface="Aptos"/>
              </a:rPr>
              <a:t>bei</a:t>
            </a:r>
            <a:r>
              <a:rPr sz="1050" b="0" i="0" dirty="0">
                <a:solidFill>
                  <a:srgbClr val="64716D"/>
                </a:solidFill>
                <a:latin typeface="Aptos"/>
              </a:rPr>
              <a:t> </a:t>
            </a:r>
            <a:r>
              <a:rPr sz="1050" b="0" i="0" dirty="0" err="1">
                <a:solidFill>
                  <a:srgbClr val="64716D"/>
                </a:solidFill>
                <a:latin typeface="Aptos"/>
              </a:rPr>
              <a:t>Routineabfragen</a:t>
            </a:r>
            <a:r>
              <a:rPr sz="1050" b="0" i="0" dirty="0">
                <a:solidFill>
                  <a:srgbClr val="64716D"/>
                </a:solidFill>
                <a:latin typeface="Aptos"/>
              </a:rPr>
              <a:t> und </a:t>
            </a:r>
            <a:r>
              <a:rPr sz="1050" b="0" i="0" dirty="0" err="1">
                <a:solidFill>
                  <a:srgbClr val="64716D"/>
                </a:solidFill>
                <a:latin typeface="Aptos"/>
              </a:rPr>
              <a:t>Priorisierung</a:t>
            </a:r>
            <a:r>
              <a:rPr sz="1050" b="0" i="0" dirty="0">
                <a:solidFill>
                  <a:srgbClr val="64716D"/>
                </a:solidFill>
                <a:latin typeface="Aptos"/>
              </a:rPr>
              <a:t> </a:t>
            </a:r>
            <a:r>
              <a:rPr lang="de-DE" sz="1050" b="0" i="0" dirty="0">
                <a:solidFill>
                  <a:srgbClr val="64716D"/>
                </a:solidFill>
                <a:latin typeface="Aptos"/>
              </a:rPr>
              <a:t>-</a:t>
            </a:r>
            <a:r>
              <a:rPr sz="1050" b="0" i="0" dirty="0">
                <a:solidFill>
                  <a:srgbClr val="64716D"/>
                </a:solidFill>
                <a:latin typeface="Aptos"/>
              </a:rPr>
              <a:t> </a:t>
            </a:r>
            <a:r>
              <a:rPr sz="1050" b="0" i="0" dirty="0" err="1">
                <a:solidFill>
                  <a:srgbClr val="64716D"/>
                </a:solidFill>
                <a:latin typeface="Aptos"/>
              </a:rPr>
              <a:t>ohne</a:t>
            </a:r>
            <a:r>
              <a:rPr sz="1050" b="0" i="0" dirty="0">
                <a:solidFill>
                  <a:srgbClr val="64716D"/>
                </a:solidFill>
                <a:latin typeface="Aptos"/>
              </a:rPr>
              <a:t> </a:t>
            </a:r>
            <a:r>
              <a:rPr sz="1050" b="0" i="0" dirty="0" err="1">
                <a:solidFill>
                  <a:srgbClr val="64716D"/>
                </a:solidFill>
                <a:latin typeface="Aptos"/>
              </a:rPr>
              <a:t>dass</a:t>
            </a:r>
            <a:r>
              <a:rPr sz="1050" b="0" i="0" dirty="0">
                <a:solidFill>
                  <a:srgbClr val="64716D"/>
                </a:solidFill>
                <a:latin typeface="Aptos"/>
              </a:rPr>
              <a:t> Finanz- </a:t>
            </a:r>
            <a:r>
              <a:rPr sz="1050" b="0" i="0" dirty="0" err="1">
                <a:solidFill>
                  <a:srgbClr val="64716D"/>
                </a:solidFill>
                <a:latin typeface="Aptos"/>
              </a:rPr>
              <a:t>oder</a:t>
            </a:r>
            <a:r>
              <a:rPr sz="1050" b="0" i="0" dirty="0">
                <a:solidFill>
                  <a:srgbClr val="64716D"/>
                </a:solidFill>
                <a:latin typeface="Aptos"/>
              </a:rPr>
              <a:t> </a:t>
            </a:r>
            <a:r>
              <a:rPr sz="1050" b="0" i="0" dirty="0" err="1">
                <a:solidFill>
                  <a:srgbClr val="64716D"/>
                </a:solidFill>
                <a:latin typeface="Aptos"/>
              </a:rPr>
              <a:t>Zugangsentscheidungen</a:t>
            </a:r>
            <a:r>
              <a:rPr sz="1050" b="0" i="0" dirty="0">
                <a:solidFill>
                  <a:srgbClr val="64716D"/>
                </a:solidFill>
                <a:latin typeface="Aptos"/>
              </a:rPr>
              <a:t> </a:t>
            </a:r>
            <a:r>
              <a:rPr sz="1050" b="0" i="0" dirty="0" err="1">
                <a:solidFill>
                  <a:srgbClr val="64716D"/>
                </a:solidFill>
                <a:latin typeface="Aptos"/>
              </a:rPr>
              <a:t>aus</a:t>
            </a:r>
            <a:r>
              <a:rPr sz="1050" b="0" i="0" dirty="0">
                <a:solidFill>
                  <a:srgbClr val="64716D"/>
                </a:solidFill>
                <a:latin typeface="Aptos"/>
              </a:rPr>
              <a:t> der Hand </a:t>
            </a:r>
            <a:r>
              <a:rPr sz="1050" b="0" i="0" dirty="0" err="1">
                <a:solidFill>
                  <a:srgbClr val="64716D"/>
                </a:solidFill>
                <a:latin typeface="Aptos"/>
              </a:rPr>
              <a:t>gegeben</a:t>
            </a:r>
            <a:r>
              <a:rPr sz="1050" b="0" i="0" dirty="0">
                <a:solidFill>
                  <a:srgbClr val="64716D"/>
                </a:solidFill>
                <a:latin typeface="Aptos"/>
              </a:rPr>
              <a:t> </a:t>
            </a:r>
            <a:r>
              <a:rPr sz="1050" b="0" i="0" dirty="0" err="1">
                <a:solidFill>
                  <a:srgbClr val="64716D"/>
                </a:solidFill>
                <a:latin typeface="Aptos"/>
              </a:rPr>
              <a:t>werden</a:t>
            </a:r>
            <a:r>
              <a:rPr sz="1050" b="0" i="0" dirty="0">
                <a:solidFill>
                  <a:srgbClr val="64716D"/>
                </a:solidFill>
                <a:latin typeface="Aptos"/>
              </a:rPr>
              <a:t>.</a:t>
            </a:r>
          </a:p>
        </p:txBody>
      </p:sp>
      <p:sp>
        <p:nvSpPr>
          <p:cNvPr id="17" name="Rounded Rectangle 16"/>
          <p:cNvSpPr/>
          <p:nvPr/>
        </p:nvSpPr>
        <p:spPr>
          <a:xfrm>
            <a:off x="640080" y="5212080"/>
            <a:ext cx="10881360" cy="10058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212080"/>
            <a:ext cx="54864" cy="10058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530334"/>
            <a:ext cx="10469880" cy="369332"/>
          </a:xfrm>
          <a:prstGeom prst="rect">
            <a:avLst/>
          </a:prstGeom>
          <a:noFill/>
        </p:spPr>
        <p:txBody>
          <a:bodyPr wrap="square" lIns="0" tIns="0" rIns="0" bIns="0" anchor="ctr">
            <a:spAutoFit/>
          </a:bodyPr>
          <a:lstStyle/>
          <a:p>
            <a:r>
              <a:rPr sz="1250" b="1" i="0" dirty="0" err="1">
                <a:solidFill>
                  <a:srgbClr val="044F49"/>
                </a:solidFill>
                <a:latin typeface="Aptos"/>
              </a:rPr>
              <a:t>Strategischer</a:t>
            </a:r>
            <a:r>
              <a:rPr sz="1250" b="1" i="0" dirty="0">
                <a:solidFill>
                  <a:srgbClr val="044F49"/>
                </a:solidFill>
                <a:latin typeface="Aptos"/>
              </a:rPr>
              <a:t> </a:t>
            </a:r>
            <a:r>
              <a:rPr sz="1250" b="1" i="0" dirty="0" err="1">
                <a:solidFill>
                  <a:srgbClr val="044F49"/>
                </a:solidFill>
                <a:latin typeface="Aptos"/>
              </a:rPr>
              <a:t>Zusatznutzen</a:t>
            </a:r>
            <a:r>
              <a:rPr sz="1250" b="1" i="0" dirty="0">
                <a:solidFill>
                  <a:srgbClr val="044F49"/>
                </a:solidFill>
                <a:latin typeface="Aptos"/>
              </a:rPr>
              <a:t>.  </a:t>
            </a:r>
            <a:r>
              <a:rPr sz="1150" b="0" i="0" dirty="0">
                <a:solidFill>
                  <a:srgbClr val="33413D"/>
                </a:solidFill>
                <a:latin typeface="Aptos"/>
              </a:rPr>
              <a:t>Die </a:t>
            </a:r>
            <a:r>
              <a:rPr sz="1150" b="0" i="0" dirty="0" err="1">
                <a:solidFill>
                  <a:srgbClr val="33413D"/>
                </a:solidFill>
                <a:latin typeface="Aptos"/>
              </a:rPr>
              <a:t>Plattform</a:t>
            </a:r>
            <a:r>
              <a:rPr sz="1150" b="0" i="0" dirty="0">
                <a:solidFill>
                  <a:srgbClr val="33413D"/>
                </a:solidFill>
                <a:latin typeface="Aptos"/>
              </a:rPr>
              <a:t> </a:t>
            </a:r>
            <a:r>
              <a:rPr sz="1150" b="0" i="0" dirty="0" err="1">
                <a:solidFill>
                  <a:srgbClr val="33413D"/>
                </a:solidFill>
                <a:latin typeface="Aptos"/>
              </a:rPr>
              <a:t>ist</a:t>
            </a:r>
            <a:r>
              <a:rPr sz="1150" b="0" i="0" dirty="0">
                <a:solidFill>
                  <a:srgbClr val="33413D"/>
                </a:solidFill>
                <a:latin typeface="Aptos"/>
              </a:rPr>
              <a:t> so </a:t>
            </a:r>
            <a:r>
              <a:rPr sz="1150" b="0" i="0" dirty="0" err="1">
                <a:solidFill>
                  <a:srgbClr val="33413D"/>
                </a:solidFill>
                <a:latin typeface="Aptos"/>
              </a:rPr>
              <a:t>aufgebaut</a:t>
            </a:r>
            <a:r>
              <a:rPr sz="1150" b="0" i="0" dirty="0">
                <a:solidFill>
                  <a:srgbClr val="33413D"/>
                </a:solidFill>
                <a:latin typeface="Aptos"/>
              </a:rPr>
              <a:t>, </a:t>
            </a:r>
            <a:r>
              <a:rPr sz="1150" b="0" i="0" dirty="0" err="1">
                <a:solidFill>
                  <a:srgbClr val="33413D"/>
                </a:solidFill>
                <a:latin typeface="Aptos"/>
              </a:rPr>
              <a:t>dass</a:t>
            </a:r>
            <a:r>
              <a:rPr sz="1150" b="0" i="0" dirty="0">
                <a:solidFill>
                  <a:srgbClr val="33413D"/>
                </a:solidFill>
                <a:latin typeface="Aptos"/>
              </a:rPr>
              <a:t> </a:t>
            </a:r>
            <a:r>
              <a:rPr sz="1150" b="0" i="0" dirty="0" err="1">
                <a:solidFill>
                  <a:srgbClr val="33413D"/>
                </a:solidFill>
                <a:latin typeface="Aptos"/>
              </a:rPr>
              <a:t>sie</a:t>
            </a:r>
            <a:r>
              <a:rPr sz="1150" b="0" i="0" dirty="0">
                <a:solidFill>
                  <a:srgbClr val="33413D"/>
                </a:solidFill>
                <a:latin typeface="Aptos"/>
              </a:rPr>
              <a:t> auf </a:t>
            </a:r>
            <a:r>
              <a:rPr sz="1150" b="0" i="0" dirty="0" err="1">
                <a:solidFill>
                  <a:srgbClr val="33413D"/>
                </a:solidFill>
                <a:latin typeface="Aptos"/>
              </a:rPr>
              <a:t>weitere</a:t>
            </a:r>
            <a:r>
              <a:rPr sz="1150" b="0" i="0" dirty="0">
                <a:solidFill>
                  <a:srgbClr val="33413D"/>
                </a:solidFill>
                <a:latin typeface="Aptos"/>
              </a:rPr>
              <a:t> </a:t>
            </a:r>
            <a:r>
              <a:rPr sz="1150" b="0" i="0" dirty="0" err="1">
                <a:solidFill>
                  <a:srgbClr val="33413D"/>
                </a:solidFill>
                <a:latin typeface="Aptos"/>
              </a:rPr>
              <a:t>Standorte</a:t>
            </a:r>
            <a:r>
              <a:rPr sz="1150" b="0" i="0" dirty="0">
                <a:solidFill>
                  <a:srgbClr val="33413D"/>
                </a:solidFill>
                <a:latin typeface="Aptos"/>
              </a:rPr>
              <a:t> und </a:t>
            </a:r>
            <a:r>
              <a:rPr sz="1150" b="0" i="0" dirty="0" err="1">
                <a:solidFill>
                  <a:srgbClr val="33413D"/>
                </a:solidFill>
                <a:latin typeface="Aptos"/>
              </a:rPr>
              <a:t>Objekte</a:t>
            </a:r>
            <a:r>
              <a:rPr sz="1150" b="0" i="0" dirty="0">
                <a:solidFill>
                  <a:srgbClr val="33413D"/>
                </a:solidFill>
                <a:latin typeface="Aptos"/>
              </a:rPr>
              <a:t> </a:t>
            </a:r>
            <a:r>
              <a:rPr sz="1150" b="0" i="0" dirty="0" err="1">
                <a:solidFill>
                  <a:srgbClr val="33413D"/>
                </a:solidFill>
                <a:latin typeface="Aptos"/>
              </a:rPr>
              <a:t>übertragbar</a:t>
            </a:r>
            <a:r>
              <a:rPr sz="1150" b="0" i="0" dirty="0">
                <a:solidFill>
                  <a:srgbClr val="33413D"/>
                </a:solidFill>
                <a:latin typeface="Aptos"/>
              </a:rPr>
              <a:t> </a:t>
            </a:r>
            <a:r>
              <a:rPr sz="1150" b="0" i="0" dirty="0" err="1">
                <a:solidFill>
                  <a:srgbClr val="33413D"/>
                </a:solidFill>
                <a:latin typeface="Aptos"/>
              </a:rPr>
              <a:t>ist</a:t>
            </a:r>
            <a:r>
              <a:rPr sz="1150" b="0" i="0" dirty="0">
                <a:solidFill>
                  <a:srgbClr val="33413D"/>
                </a:solidFill>
                <a:latin typeface="Aptos"/>
              </a:rPr>
              <a:t> </a:t>
            </a:r>
            <a:r>
              <a:rPr lang="de-DE" sz="1150" b="0" i="0" dirty="0">
                <a:solidFill>
                  <a:srgbClr val="33413D"/>
                </a:solidFill>
                <a:latin typeface="Aptos"/>
              </a:rPr>
              <a:t>-</a:t>
            </a:r>
            <a:r>
              <a:rPr sz="1150" b="0" i="0" dirty="0">
                <a:solidFill>
                  <a:srgbClr val="33413D"/>
                </a:solidFill>
                <a:latin typeface="Aptos"/>
              </a:rPr>
              <a:t> </a:t>
            </a:r>
            <a:r>
              <a:rPr sz="1150" b="0" i="0" dirty="0" err="1">
                <a:solidFill>
                  <a:srgbClr val="33413D"/>
                </a:solidFill>
                <a:latin typeface="Aptos"/>
              </a:rPr>
              <a:t>eine</a:t>
            </a:r>
            <a:r>
              <a:rPr sz="1150" b="0" i="0" dirty="0">
                <a:solidFill>
                  <a:srgbClr val="33413D"/>
                </a:solidFill>
                <a:latin typeface="Aptos"/>
              </a:rPr>
              <a:t> </a:t>
            </a:r>
            <a:r>
              <a:rPr sz="1150" b="0" i="0" dirty="0" err="1">
                <a:solidFill>
                  <a:srgbClr val="33413D"/>
                </a:solidFill>
                <a:latin typeface="Aptos"/>
              </a:rPr>
              <a:t>tragfähige</a:t>
            </a:r>
            <a:r>
              <a:rPr sz="1150" b="0" i="0" dirty="0">
                <a:solidFill>
                  <a:srgbClr val="33413D"/>
                </a:solidFill>
                <a:latin typeface="Aptos"/>
              </a:rPr>
              <a:t> </a:t>
            </a:r>
            <a:r>
              <a:rPr sz="1150" b="0" i="0" dirty="0" err="1">
                <a:solidFill>
                  <a:srgbClr val="33413D"/>
                </a:solidFill>
                <a:latin typeface="Aptos"/>
              </a:rPr>
              <a:t>Grundlage</a:t>
            </a:r>
            <a:r>
              <a:rPr sz="1150" b="0" i="0" dirty="0">
                <a:solidFill>
                  <a:srgbClr val="33413D"/>
                </a:solidFill>
                <a:latin typeface="Aptos"/>
              </a:rPr>
              <a:t>, </a:t>
            </a:r>
            <a:r>
              <a:rPr sz="1150" b="0" i="0" dirty="0" err="1">
                <a:solidFill>
                  <a:srgbClr val="33413D"/>
                </a:solidFill>
                <a:latin typeface="Aptos"/>
              </a:rPr>
              <a:t>wenn</a:t>
            </a:r>
            <a:r>
              <a:rPr sz="1150" b="0" i="0" dirty="0">
                <a:solidFill>
                  <a:srgbClr val="33413D"/>
                </a:solidFill>
                <a:latin typeface="Aptos"/>
              </a:rPr>
              <a:t> </a:t>
            </a:r>
            <a:r>
              <a:rPr sz="1150" b="0" i="0" dirty="0" err="1">
                <a:solidFill>
                  <a:srgbClr val="33413D"/>
                </a:solidFill>
                <a:latin typeface="Aptos"/>
              </a:rPr>
              <a:t>Ataberk</a:t>
            </a:r>
            <a:r>
              <a:rPr sz="1150" b="0" i="0" dirty="0">
                <a:solidFill>
                  <a:srgbClr val="33413D"/>
                </a:solidFill>
                <a:latin typeface="Aptos"/>
              </a:rPr>
              <a:t> Estate den </a:t>
            </a:r>
            <a:r>
              <a:rPr sz="1150" b="0" i="0" dirty="0" err="1">
                <a:solidFill>
                  <a:srgbClr val="33413D"/>
                </a:solidFill>
                <a:latin typeface="Aptos"/>
              </a:rPr>
              <a:t>digitalen</a:t>
            </a:r>
            <a:r>
              <a:rPr sz="1150" b="0" i="0" dirty="0">
                <a:solidFill>
                  <a:srgbClr val="33413D"/>
                </a:solidFill>
                <a:latin typeface="Aptos"/>
              </a:rPr>
              <a:t> </a:t>
            </a:r>
            <a:r>
              <a:rPr sz="1150" b="0" i="0" dirty="0" err="1">
                <a:solidFill>
                  <a:srgbClr val="33413D"/>
                </a:solidFill>
                <a:latin typeface="Aptos"/>
              </a:rPr>
              <a:t>Betrieb</a:t>
            </a:r>
            <a:r>
              <a:rPr sz="1150" b="0" i="0" dirty="0">
                <a:solidFill>
                  <a:srgbClr val="33413D"/>
                </a:solidFill>
                <a:latin typeface="Aptos"/>
              </a:rPr>
              <a:t> </a:t>
            </a:r>
            <a:r>
              <a:rPr sz="1150" b="0" i="0" dirty="0" err="1">
                <a:solidFill>
                  <a:srgbClr val="33413D"/>
                </a:solidFill>
                <a:latin typeface="Aptos"/>
              </a:rPr>
              <a:t>über</a:t>
            </a:r>
            <a:r>
              <a:rPr sz="1150" b="0" i="0" dirty="0">
                <a:solidFill>
                  <a:srgbClr val="33413D"/>
                </a:solidFill>
                <a:latin typeface="Aptos"/>
              </a:rPr>
              <a:t> New Level Premium </a:t>
            </a:r>
            <a:r>
              <a:rPr sz="1150" b="0" i="0" dirty="0" err="1">
                <a:solidFill>
                  <a:srgbClr val="33413D"/>
                </a:solidFill>
                <a:latin typeface="Aptos"/>
              </a:rPr>
              <a:t>hinaus</a:t>
            </a:r>
            <a:r>
              <a:rPr sz="1150" b="0" i="0" dirty="0">
                <a:solidFill>
                  <a:srgbClr val="33413D"/>
                </a:solidFill>
                <a:latin typeface="Aptos"/>
              </a:rPr>
              <a:t> </a:t>
            </a:r>
            <a:r>
              <a:rPr sz="1150" b="0" i="0" dirty="0" err="1">
                <a:solidFill>
                  <a:srgbClr val="33413D"/>
                </a:solidFill>
                <a:latin typeface="Aptos"/>
              </a:rPr>
              <a:t>ausdehnen</a:t>
            </a:r>
            <a:r>
              <a:rPr sz="1150" b="0" i="0" dirty="0">
                <a:solidFill>
                  <a:srgbClr val="33413D"/>
                </a:solidFill>
                <a:latin typeface="Aptos"/>
              </a:rPr>
              <a:t> </a:t>
            </a:r>
            <a:r>
              <a:rPr sz="1150" b="0" i="0" dirty="0" err="1">
                <a:solidFill>
                  <a:srgbClr val="33413D"/>
                </a:solidFill>
                <a:latin typeface="Aptos"/>
              </a:rPr>
              <a:t>möchte</a:t>
            </a:r>
            <a:r>
              <a:rPr sz="1150" b="0" i="0" dirty="0">
                <a:solidFill>
                  <a:srgbClr val="33413D"/>
                </a:solidFill>
                <a:latin typeface="Aptos"/>
              </a:rPr>
              <a:t>.</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10</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ividerbg.jpg"/>
          <p:cNvPicPr>
            <a:picLocks noChangeAspect="1"/>
          </p:cNvPicPr>
          <p:nvPr/>
        </p:nvPicPr>
        <p:blipFill>
          <a:blip r:embed="rId2"/>
          <a:stretch>
            <a:fillRect/>
          </a:stretch>
        </p:blipFill>
        <p:spPr>
          <a:xfrm>
            <a:off x="0" y="0"/>
            <a:ext cx="12191695" cy="6858000"/>
          </a:xfrm>
          <a:prstGeom prst="rect">
            <a:avLst/>
          </a:prstGeom>
        </p:spPr>
      </p:pic>
      <p:sp>
        <p:nvSpPr>
          <p:cNvPr id="4" name="Rounded Rectangle 3"/>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taberk_logo_transparent.png"/>
          <p:cNvPicPr>
            <a:picLocks noChangeAspect="1"/>
          </p:cNvPicPr>
          <p:nvPr/>
        </p:nvPicPr>
        <p:blipFill>
          <a:blip r:embed="rId3"/>
          <a:stretch>
            <a:fillRect/>
          </a:stretch>
        </p:blipFill>
        <p:spPr>
          <a:xfrm>
            <a:off x="10104120" y="473659"/>
            <a:ext cx="1298448" cy="259689"/>
          </a:xfrm>
          <a:prstGeom prst="rect">
            <a:avLst/>
          </a:prstGeom>
        </p:spPr>
      </p:pic>
      <p:sp>
        <p:nvSpPr>
          <p:cNvPr id="6" name="TextBox 5"/>
          <p:cNvSpPr txBox="1"/>
          <p:nvPr/>
        </p:nvSpPr>
        <p:spPr>
          <a:xfrm>
            <a:off x="822960" y="2286000"/>
            <a:ext cx="10058400" cy="457200"/>
          </a:xfrm>
          <a:prstGeom prst="rect">
            <a:avLst/>
          </a:prstGeom>
          <a:noFill/>
        </p:spPr>
        <p:txBody>
          <a:bodyPr wrap="square" lIns="0" tIns="0" rIns="0" bIns="0" anchor="t">
            <a:spAutoFit/>
          </a:bodyPr>
          <a:lstStyle/>
          <a:p>
            <a:r>
              <a:rPr sz="1300" b="1" i="0">
                <a:solidFill>
                  <a:srgbClr val="E2B75D"/>
                </a:solidFill>
                <a:latin typeface="Aptos"/>
              </a:rPr>
              <a:t>KAPITEL 06</a:t>
            </a:r>
          </a:p>
        </p:txBody>
      </p:sp>
      <p:sp>
        <p:nvSpPr>
          <p:cNvPr id="7" name="TextBox 6"/>
          <p:cNvSpPr txBox="1"/>
          <p:nvPr/>
        </p:nvSpPr>
        <p:spPr>
          <a:xfrm>
            <a:off x="822960" y="2697480"/>
            <a:ext cx="10515600" cy="523220"/>
          </a:xfrm>
          <a:prstGeom prst="rect">
            <a:avLst/>
          </a:prstGeom>
          <a:noFill/>
        </p:spPr>
        <p:txBody>
          <a:bodyPr wrap="square" lIns="0" tIns="0" rIns="0" bIns="0" anchor="t">
            <a:spAutoFit/>
          </a:bodyPr>
          <a:lstStyle/>
          <a:p>
            <a:r>
              <a:rPr sz="3400" b="1" i="0" dirty="0" err="1">
                <a:solidFill>
                  <a:srgbClr val="FFFFFF"/>
                </a:solidFill>
                <a:latin typeface="Aptos"/>
              </a:rPr>
              <a:t>Funktionsumfang</a:t>
            </a:r>
            <a:r>
              <a:rPr sz="3400" b="1" i="0" dirty="0">
                <a:solidFill>
                  <a:srgbClr val="FFFFFF"/>
                </a:solidFill>
                <a:latin typeface="Aptos"/>
              </a:rPr>
              <a:t> </a:t>
            </a:r>
            <a:r>
              <a:rPr lang="de-DE" sz="3400" b="1" i="0" dirty="0">
                <a:solidFill>
                  <a:srgbClr val="FFFFFF"/>
                </a:solidFill>
                <a:latin typeface="Aptos"/>
              </a:rPr>
              <a:t>-</a:t>
            </a:r>
            <a:r>
              <a:rPr sz="3400" b="1" i="0" dirty="0">
                <a:solidFill>
                  <a:srgbClr val="FFFFFF"/>
                </a:solidFill>
                <a:latin typeface="Aptos"/>
              </a:rPr>
              <a:t> was 1Çatı </a:t>
            </a:r>
            <a:r>
              <a:rPr sz="3400" b="1" i="0" dirty="0" err="1">
                <a:solidFill>
                  <a:srgbClr val="FFFFFF"/>
                </a:solidFill>
                <a:latin typeface="Aptos"/>
              </a:rPr>
              <a:t>liefert</a:t>
            </a:r>
            <a:endParaRPr sz="3400" b="1" i="0" dirty="0">
              <a:solidFill>
                <a:srgbClr val="FFFFFF"/>
              </a:solidFill>
              <a:latin typeface="Aptos"/>
            </a:endParaRPr>
          </a:p>
        </p:txBody>
      </p:sp>
      <p:sp>
        <p:nvSpPr>
          <p:cNvPr id="8" name="TextBox 7"/>
          <p:cNvSpPr txBox="1"/>
          <p:nvPr/>
        </p:nvSpPr>
        <p:spPr>
          <a:xfrm>
            <a:off x="822960" y="3840480"/>
            <a:ext cx="9601200" cy="1097280"/>
          </a:xfrm>
          <a:prstGeom prst="rect">
            <a:avLst/>
          </a:prstGeom>
          <a:noFill/>
        </p:spPr>
        <p:txBody>
          <a:bodyPr wrap="square" lIns="0" tIns="0" rIns="0" bIns="0" anchor="t">
            <a:spAutoFit/>
          </a:bodyPr>
          <a:lstStyle/>
          <a:p>
            <a:r>
              <a:rPr sz="1300" b="0" i="0">
                <a:solidFill>
                  <a:srgbClr val="CDE7E1"/>
                </a:solidFill>
                <a:latin typeface="Aptos"/>
              </a:rPr>
              <a:t>Alle entwickelten Funktionsbereiche mit ihrem aktuellen Status. »Verfügbar« = in der Demonstration voll bedienbar; »Teilweise« = Ansicht steht, aktive Erfassung/Vollzug folgt für die Produktivversion.</a:t>
            </a:r>
          </a:p>
        </p:txBody>
      </p:sp>
      <p:sp>
        <p:nvSpPr>
          <p:cNvPr id="9" name="TextBox 8"/>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0" name="TextBox 9"/>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11</a:t>
            </a:r>
          </a:p>
        </p:txBody>
      </p:sp>
      <p:pic>
        <p:nvPicPr>
          <p:cNvPr id="11" name="Picture 10" descr="logo.png"/>
          <p:cNvPicPr>
            <a:picLocks noChangeAspect="1"/>
          </p:cNvPicPr>
          <p:nvPr/>
        </p:nvPicPr>
        <p:blipFill>
          <a:blip r:embed="rId4"/>
          <a:stretch>
            <a:fillRect/>
          </a:stretch>
        </p:blipFill>
        <p:spPr>
          <a:xfrm>
            <a:off x="10744200" y="6382512"/>
            <a:ext cx="310896" cy="3108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06 · FUNKTIONSUMFANG</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Zugang, Rollen &amp; Sicherheit</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83664"/>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Funktion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Beschreibung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Rollenbasierter Zugang</a:t>
                      </a:r>
                    </a:p>
                  </a:txBody>
                  <a:tcPr marL="73152" marR="73152" marT="36576" marB="36576" anchor="ctr">
                    <a:solidFill>
                      <a:srgbClr val="FFFFFF"/>
                    </a:solidFill>
                  </a:tcPr>
                </a:tc>
                <a:tc>
                  <a:txBody>
                    <a:bodyPr/>
                    <a:lstStyle/>
                    <a:p>
                      <a:r>
                        <a:rPr sz="1050" b="0" i="0">
                          <a:solidFill>
                            <a:srgbClr val="33413D"/>
                          </a:solidFill>
                          <a:latin typeface="Aptos"/>
                        </a:rPr>
                        <a:t>Sechs Rollen mit fein abgestuften Rechten; jede Rolle sieht ausschließlich die für ihre Arbeit vorgesehenen Bereiche.</a:t>
                      </a:r>
                    </a:p>
                  </a:txBody>
                  <a:tcPr marL="73152" marR="73152" marT="36576" marB="36576" anchor="ctr">
                    <a:solidFill>
                      <a:srgbClr val="FFFFFF"/>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Zweifache Zugriffsprüfung</a:t>
                      </a:r>
                    </a:p>
                  </a:txBody>
                  <a:tcPr marL="73152" marR="73152" marT="36576" marB="36576" anchor="ctr">
                    <a:solidFill>
                      <a:srgbClr val="F1F5F4"/>
                    </a:solidFill>
                  </a:tcPr>
                </a:tc>
                <a:tc>
                  <a:txBody>
                    <a:bodyPr/>
                    <a:lstStyle/>
                    <a:p>
                      <a:r>
                        <a:rPr sz="1050" b="0" i="0" dirty="0">
                          <a:solidFill>
                            <a:srgbClr val="33413D"/>
                          </a:solidFill>
                          <a:latin typeface="Aptos"/>
                        </a:rPr>
                        <a:t>Rechte </a:t>
                      </a:r>
                      <a:r>
                        <a:rPr sz="1050" b="0" i="0" dirty="0" err="1">
                          <a:solidFill>
                            <a:srgbClr val="33413D"/>
                          </a:solidFill>
                          <a:latin typeface="Aptos"/>
                        </a:rPr>
                        <a:t>werden</a:t>
                      </a:r>
                      <a:r>
                        <a:rPr sz="1050" b="0" i="0" dirty="0">
                          <a:solidFill>
                            <a:srgbClr val="33413D"/>
                          </a:solidFill>
                          <a:latin typeface="Aptos"/>
                        </a:rPr>
                        <a:t> in der </a:t>
                      </a:r>
                      <a:r>
                        <a:rPr sz="1050" b="0" i="0" dirty="0" err="1">
                          <a:solidFill>
                            <a:srgbClr val="33413D"/>
                          </a:solidFill>
                          <a:latin typeface="Aptos"/>
                        </a:rPr>
                        <a:t>Anwendung</a:t>
                      </a:r>
                      <a:r>
                        <a:rPr sz="1050" b="0" i="0" dirty="0">
                          <a:solidFill>
                            <a:srgbClr val="33413D"/>
                          </a:solidFill>
                          <a:latin typeface="Aptos"/>
                        </a:rPr>
                        <a:t> und in der </a:t>
                      </a:r>
                      <a:r>
                        <a:rPr sz="1050" b="0" i="0" dirty="0" err="1">
                          <a:solidFill>
                            <a:srgbClr val="33413D"/>
                          </a:solidFill>
                          <a:latin typeface="Aptos"/>
                        </a:rPr>
                        <a:t>Datenbank</a:t>
                      </a:r>
                      <a:r>
                        <a:rPr sz="1050" b="0" i="0" dirty="0">
                          <a:solidFill>
                            <a:srgbClr val="33413D"/>
                          </a:solidFill>
                          <a:latin typeface="Aptos"/>
                        </a:rPr>
                        <a:t> </a:t>
                      </a:r>
                      <a:r>
                        <a:rPr sz="1050" b="0" i="0" dirty="0" err="1">
                          <a:solidFill>
                            <a:srgbClr val="33413D"/>
                          </a:solidFill>
                          <a:latin typeface="Aptos"/>
                        </a:rPr>
                        <a:t>durchgesetzt</a:t>
                      </a:r>
                      <a:r>
                        <a:rPr sz="1050" b="0" i="0" dirty="0">
                          <a:solidFill>
                            <a:srgbClr val="33413D"/>
                          </a:solidFill>
                          <a:latin typeface="Aptos"/>
                        </a:rPr>
                        <a:t> </a:t>
                      </a:r>
                      <a:r>
                        <a:rPr lang="de-DE" sz="1050" b="0" i="0" dirty="0">
                          <a:solidFill>
                            <a:srgbClr val="33413D"/>
                          </a:solidFill>
                          <a:latin typeface="Aptos"/>
                        </a:rPr>
                        <a:t>-</a:t>
                      </a:r>
                      <a:r>
                        <a:rPr sz="1050" b="0" i="0" dirty="0">
                          <a:solidFill>
                            <a:srgbClr val="33413D"/>
                          </a:solidFill>
                          <a:latin typeface="Aptos"/>
                        </a:rPr>
                        <a:t> nicht </a:t>
                      </a:r>
                      <a:r>
                        <a:rPr sz="1050" b="0" i="0" dirty="0" err="1">
                          <a:solidFill>
                            <a:srgbClr val="33413D"/>
                          </a:solidFill>
                          <a:latin typeface="Aptos"/>
                        </a:rPr>
                        <a:t>nur</a:t>
                      </a:r>
                      <a:r>
                        <a:rPr sz="1050" b="0" i="0" dirty="0">
                          <a:solidFill>
                            <a:srgbClr val="33413D"/>
                          </a:solidFill>
                          <a:latin typeface="Aptos"/>
                        </a:rPr>
                        <a:t> </a:t>
                      </a:r>
                      <a:r>
                        <a:rPr sz="1050" b="0" i="0" dirty="0" err="1">
                          <a:solidFill>
                            <a:srgbClr val="33413D"/>
                          </a:solidFill>
                          <a:latin typeface="Aptos"/>
                        </a:rPr>
                        <a:t>oberflächlich</a:t>
                      </a:r>
                      <a:r>
                        <a:rPr sz="1050" b="0" i="0" dirty="0">
                          <a:solidFill>
                            <a:srgbClr val="33413D"/>
                          </a:solidFill>
                          <a:latin typeface="Aptos"/>
                        </a:rPr>
                        <a:t> </a:t>
                      </a:r>
                      <a:r>
                        <a:rPr sz="1050" b="0" i="0" dirty="0" err="1">
                          <a:solidFill>
                            <a:srgbClr val="33413D"/>
                          </a:solidFill>
                          <a:latin typeface="Aptos"/>
                        </a:rPr>
                        <a:t>ausgeblendet</a:t>
                      </a:r>
                      <a:r>
                        <a:rPr sz="1050" b="0" i="0" dirty="0">
                          <a:solidFill>
                            <a:srgbClr val="33413D"/>
                          </a:solidFill>
                          <a:latin typeface="Aptos"/>
                        </a:rPr>
                        <a:t>.</a:t>
                      </a:r>
                    </a:p>
                  </a:txBody>
                  <a:tcPr marL="73152" marR="73152" marT="36576" marB="36576" anchor="ctr">
                    <a:solidFill>
                      <a:srgbClr val="F1F5F4"/>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Lückenlose Protokollierung</a:t>
                      </a:r>
                    </a:p>
                  </a:txBody>
                  <a:tcPr marL="73152" marR="73152" marT="36576" marB="36576" anchor="ctr">
                    <a:solidFill>
                      <a:srgbClr val="FFFFFF"/>
                    </a:solidFill>
                  </a:tcPr>
                </a:tc>
                <a:tc>
                  <a:txBody>
                    <a:bodyPr/>
                    <a:lstStyle/>
                    <a:p>
                      <a:r>
                        <a:rPr sz="1050" b="0" i="0">
                          <a:solidFill>
                            <a:srgbClr val="33413D"/>
                          </a:solidFill>
                          <a:latin typeface="Aptos"/>
                        </a:rPr>
                        <a:t>Sensible Aktionen werden mit Nutzer, Rolle, Zeit, Grund und Status revisionssicher festgehalten.</a:t>
                      </a:r>
                    </a:p>
                  </a:txBody>
                  <a:tcPr marL="73152" marR="73152" marT="36576" marB="36576" anchor="ctr">
                    <a:solidFill>
                      <a:srgbClr val="FFFFFF"/>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Ein-Klick-Demo-Zugang</a:t>
                      </a:r>
                    </a:p>
                  </a:txBody>
                  <a:tcPr marL="73152" marR="73152" marT="36576" marB="36576" anchor="ctr">
                    <a:solidFill>
                      <a:srgbClr val="F1F5F4"/>
                    </a:solidFill>
                  </a:tcPr>
                </a:tc>
                <a:tc>
                  <a:txBody>
                    <a:bodyPr/>
                    <a:lstStyle/>
                    <a:p>
                      <a:r>
                        <a:rPr sz="1050" b="0" i="0">
                          <a:solidFill>
                            <a:srgbClr val="33413D"/>
                          </a:solidFill>
                          <a:latin typeface="Aptos"/>
                        </a:rPr>
                        <a:t>Passwortfreier Präsentationszugang; in der Produktivumgebung standardmäßig gesperrt.</a:t>
                      </a:r>
                    </a:p>
                  </a:txBody>
                  <a:tcPr marL="73152" marR="73152" marT="36576" marB="36576" anchor="ctr">
                    <a:solidFill>
                      <a:srgbClr val="F1F5F4"/>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12</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06 · FUNKTIONSUMFANG</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Portfolio- &amp; Wohnungsverwaltung</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5623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Funktion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Beschreibung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Wohnungs-Matrix (Daire Matrix)</a:t>
                      </a:r>
                    </a:p>
                  </a:txBody>
                  <a:tcPr marL="73152" marR="73152" marT="36576" marB="36576" anchor="ctr">
                    <a:solidFill>
                      <a:srgbClr val="FFFFFF"/>
                    </a:solidFill>
                  </a:tcPr>
                </a:tc>
                <a:tc>
                  <a:txBody>
                    <a:bodyPr/>
                    <a:lstStyle/>
                    <a:p>
                      <a:r>
                        <a:rPr sz="1050" b="0" i="0" dirty="0" err="1">
                          <a:solidFill>
                            <a:srgbClr val="33413D"/>
                          </a:solidFill>
                          <a:latin typeface="Aptos"/>
                        </a:rPr>
                        <a:t>Zentrale</a:t>
                      </a:r>
                      <a:r>
                        <a:rPr sz="1050" b="0" i="0" dirty="0">
                          <a:solidFill>
                            <a:srgbClr val="33413D"/>
                          </a:solidFill>
                          <a:latin typeface="Aptos"/>
                        </a:rPr>
                        <a:t> </a:t>
                      </a:r>
                      <a:r>
                        <a:rPr sz="1050" b="0" i="0" dirty="0" err="1">
                          <a:solidFill>
                            <a:srgbClr val="33413D"/>
                          </a:solidFill>
                          <a:latin typeface="Aptos"/>
                        </a:rPr>
                        <a:t>Übersicht</a:t>
                      </a:r>
                      <a:r>
                        <a:rPr sz="1050" b="0" i="0" dirty="0">
                          <a:solidFill>
                            <a:srgbClr val="33413D"/>
                          </a:solidFill>
                          <a:latin typeface="Aptos"/>
                        </a:rPr>
                        <a:t> </a:t>
                      </a:r>
                      <a:r>
                        <a:rPr sz="1050" b="0" i="0" dirty="0" err="1">
                          <a:solidFill>
                            <a:srgbClr val="33413D"/>
                          </a:solidFill>
                          <a:latin typeface="Aptos"/>
                        </a:rPr>
                        <a:t>aller</a:t>
                      </a:r>
                      <a:r>
                        <a:rPr sz="1050" b="0" i="0" dirty="0">
                          <a:solidFill>
                            <a:srgbClr val="33413D"/>
                          </a:solidFill>
                          <a:latin typeface="Aptos"/>
                        </a:rPr>
                        <a:t> </a:t>
                      </a:r>
                      <a:r>
                        <a:rPr sz="1050" b="0" i="0" dirty="0" err="1">
                          <a:solidFill>
                            <a:srgbClr val="33413D"/>
                          </a:solidFill>
                          <a:latin typeface="Aptos"/>
                        </a:rPr>
                        <a:t>Einheiten</a:t>
                      </a:r>
                      <a:r>
                        <a:rPr sz="1050" b="0" i="0" dirty="0">
                          <a:solidFill>
                            <a:srgbClr val="33413D"/>
                          </a:solidFill>
                          <a:latin typeface="Aptos"/>
                        </a:rPr>
                        <a:t> </a:t>
                      </a:r>
                      <a:r>
                        <a:rPr sz="1050" b="0" i="0" dirty="0" err="1">
                          <a:solidFill>
                            <a:srgbClr val="33413D"/>
                          </a:solidFill>
                          <a:latin typeface="Aptos"/>
                        </a:rPr>
                        <a:t>mit</a:t>
                      </a:r>
                      <a:r>
                        <a:rPr sz="1050" b="0" i="0" dirty="0">
                          <a:solidFill>
                            <a:srgbClr val="33413D"/>
                          </a:solidFill>
                          <a:latin typeface="Aptos"/>
                        </a:rPr>
                        <a:t> Block, Nummer, </a:t>
                      </a:r>
                      <a:r>
                        <a:rPr sz="1050" b="0" i="0" dirty="0" err="1">
                          <a:solidFill>
                            <a:srgbClr val="33413D"/>
                          </a:solidFill>
                          <a:latin typeface="Aptos"/>
                        </a:rPr>
                        <a:t>Eigentümer</a:t>
                      </a:r>
                      <a:r>
                        <a:rPr sz="1050" b="0" i="0" dirty="0">
                          <a:solidFill>
                            <a:srgbClr val="33413D"/>
                          </a:solidFill>
                          <a:latin typeface="Aptos"/>
                        </a:rPr>
                        <a:t>, </a:t>
                      </a:r>
                      <a:r>
                        <a:rPr sz="1050" b="0" i="0" dirty="0" err="1">
                          <a:solidFill>
                            <a:srgbClr val="33413D"/>
                          </a:solidFill>
                          <a:latin typeface="Aptos"/>
                        </a:rPr>
                        <a:t>Bewohner</a:t>
                      </a:r>
                      <a:r>
                        <a:rPr sz="1050" b="0" i="0" dirty="0">
                          <a:solidFill>
                            <a:srgbClr val="33413D"/>
                          </a:solidFill>
                          <a:latin typeface="Aptos"/>
                        </a:rPr>
                        <a:t>, Preis, </a:t>
                      </a:r>
                      <a:r>
                        <a:rPr sz="1050" b="0" i="0" dirty="0" err="1">
                          <a:solidFill>
                            <a:srgbClr val="33413D"/>
                          </a:solidFill>
                          <a:latin typeface="Aptos"/>
                        </a:rPr>
                        <a:t>Schuldstatus</a:t>
                      </a:r>
                      <a:r>
                        <a:rPr sz="1050" b="0" i="0" dirty="0">
                          <a:solidFill>
                            <a:srgbClr val="33413D"/>
                          </a:solidFill>
                          <a:latin typeface="Aptos"/>
                        </a:rPr>
                        <a:t>, </a:t>
                      </a:r>
                      <a:r>
                        <a:rPr sz="1050" b="0" i="0" dirty="0" err="1">
                          <a:solidFill>
                            <a:srgbClr val="33413D"/>
                          </a:solidFill>
                          <a:latin typeface="Aptos"/>
                        </a:rPr>
                        <a:t>Dokumenten</a:t>
                      </a:r>
                      <a:r>
                        <a:rPr sz="1050" b="0" i="0" dirty="0">
                          <a:solidFill>
                            <a:srgbClr val="33413D"/>
                          </a:solidFill>
                          <a:latin typeface="Aptos"/>
                        </a:rPr>
                        <a:t>, Service- und </a:t>
                      </a:r>
                      <a:r>
                        <a:rPr sz="1050" b="0" i="0" dirty="0" err="1">
                          <a:solidFill>
                            <a:srgbClr val="33413D"/>
                          </a:solidFill>
                          <a:latin typeface="Aptos"/>
                        </a:rPr>
                        <a:t>Zugangsstatus</a:t>
                      </a:r>
                      <a:r>
                        <a:rPr sz="1050" b="0" i="0" dirty="0">
                          <a:solidFill>
                            <a:srgbClr val="33413D"/>
                          </a:solidFill>
                          <a:latin typeface="Aptos"/>
                        </a:rPr>
                        <a:t> </a:t>
                      </a:r>
                      <a:r>
                        <a:rPr lang="de-DE" sz="1050" b="0" i="0" dirty="0">
                          <a:solidFill>
                            <a:srgbClr val="33413D"/>
                          </a:solidFill>
                          <a:latin typeface="Aptos"/>
                        </a:rPr>
                        <a:t>-</a:t>
                      </a:r>
                      <a:r>
                        <a:rPr sz="1050" b="0" i="0" dirty="0">
                          <a:solidFill>
                            <a:srgbClr val="33413D"/>
                          </a:solidFill>
                          <a:latin typeface="Aptos"/>
                        </a:rPr>
                        <a:t> </a:t>
                      </a:r>
                      <a:r>
                        <a:rPr sz="1050" b="0" i="0" dirty="0" err="1">
                          <a:solidFill>
                            <a:srgbClr val="33413D"/>
                          </a:solidFill>
                          <a:latin typeface="Aptos"/>
                        </a:rPr>
                        <a:t>durchsuchbar</a:t>
                      </a:r>
                      <a:r>
                        <a:rPr sz="1050" b="0" i="0" dirty="0">
                          <a:solidFill>
                            <a:srgbClr val="33413D"/>
                          </a:solidFill>
                          <a:latin typeface="Aptos"/>
                        </a:rPr>
                        <a:t> und </a:t>
                      </a:r>
                      <a:r>
                        <a:rPr sz="1050" b="0" i="0" dirty="0" err="1">
                          <a:solidFill>
                            <a:srgbClr val="33413D"/>
                          </a:solidFill>
                          <a:latin typeface="Aptos"/>
                        </a:rPr>
                        <a:t>filterbar</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Portfolio-Struktur</a:t>
                      </a:r>
                    </a:p>
                  </a:txBody>
                  <a:tcPr marL="73152" marR="73152" marT="36576" marB="36576" anchor="ctr">
                    <a:solidFill>
                      <a:srgbClr val="F1F5F4"/>
                    </a:solidFill>
                  </a:tcPr>
                </a:tc>
                <a:tc>
                  <a:txBody>
                    <a:bodyPr/>
                    <a:lstStyle/>
                    <a:p>
                      <a:r>
                        <a:rPr sz="1050" b="0" i="0">
                          <a:solidFill>
                            <a:srgbClr val="33413D"/>
                          </a:solidFill>
                          <a:latin typeface="Aptos"/>
                        </a:rPr>
                        <a:t>Vollständiges Modell Standort → Block → Etage → Wohnung, mit dem realen 769-Einheiten-Datensatz.</a:t>
                      </a:r>
                    </a:p>
                  </a:txBody>
                  <a:tcPr marL="73152" marR="73152" marT="36576" marB="36576" anchor="ctr">
                    <a:solidFill>
                      <a:srgbClr val="F1F5F4"/>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Verkaufs- &amp; Preisstatus</a:t>
                      </a:r>
                    </a:p>
                  </a:txBody>
                  <a:tcPr marL="73152" marR="73152" marT="36576" marB="36576" anchor="ctr">
                    <a:solidFill>
                      <a:srgbClr val="FFFFFF"/>
                    </a:solidFill>
                  </a:tcPr>
                </a:tc>
                <a:tc>
                  <a:txBody>
                    <a:bodyPr/>
                    <a:lstStyle/>
                    <a:p>
                      <a:r>
                        <a:rPr sz="1050" b="0" i="0" dirty="0" err="1">
                          <a:solidFill>
                            <a:srgbClr val="33413D"/>
                          </a:solidFill>
                          <a:latin typeface="Aptos"/>
                        </a:rPr>
                        <a:t>Verkaufsstatus</a:t>
                      </a:r>
                      <a:r>
                        <a:rPr sz="1050" b="0" i="0" dirty="0">
                          <a:solidFill>
                            <a:srgbClr val="33413D"/>
                          </a:solidFill>
                          <a:latin typeface="Aptos"/>
                        </a:rPr>
                        <a:t>, </a:t>
                      </a:r>
                      <a:r>
                        <a:rPr sz="1050" b="0" i="0" dirty="0" err="1">
                          <a:solidFill>
                            <a:srgbClr val="33413D"/>
                          </a:solidFill>
                          <a:latin typeface="Aptos"/>
                        </a:rPr>
                        <a:t>Listenpreis</a:t>
                      </a:r>
                      <a:r>
                        <a:rPr sz="1050" b="0" i="0" dirty="0">
                          <a:solidFill>
                            <a:srgbClr val="33413D"/>
                          </a:solidFill>
                          <a:latin typeface="Aptos"/>
                        </a:rPr>
                        <a:t> und </a:t>
                      </a:r>
                      <a:r>
                        <a:rPr sz="1050" b="0" i="0" dirty="0" err="1">
                          <a:solidFill>
                            <a:srgbClr val="33413D"/>
                          </a:solidFill>
                          <a:latin typeface="Aptos"/>
                        </a:rPr>
                        <a:t>Preisquelle</a:t>
                      </a:r>
                      <a:r>
                        <a:rPr sz="1050" b="0" i="0" dirty="0">
                          <a:solidFill>
                            <a:srgbClr val="33413D"/>
                          </a:solidFill>
                          <a:latin typeface="Aptos"/>
                        </a:rPr>
                        <a:t> je Einheit </a:t>
                      </a:r>
                      <a:r>
                        <a:rPr lang="de-DE" sz="1050" b="0" i="0" dirty="0">
                          <a:solidFill>
                            <a:srgbClr val="33413D"/>
                          </a:solidFill>
                          <a:latin typeface="Aptos"/>
                        </a:rPr>
                        <a:t>-</a:t>
                      </a:r>
                      <a:r>
                        <a:rPr sz="1050" b="0" i="0" dirty="0">
                          <a:solidFill>
                            <a:srgbClr val="33413D"/>
                          </a:solidFill>
                          <a:latin typeface="Aptos"/>
                        </a:rPr>
                        <a:t> auf Basis der </a:t>
                      </a:r>
                      <a:r>
                        <a:rPr sz="1050" b="0" i="0" dirty="0" err="1">
                          <a:solidFill>
                            <a:srgbClr val="33413D"/>
                          </a:solidFill>
                          <a:latin typeface="Aptos"/>
                        </a:rPr>
                        <a:t>tatsächlichen</a:t>
                      </a:r>
                      <a:r>
                        <a:rPr sz="1050" b="0" i="0" dirty="0">
                          <a:solidFill>
                            <a:srgbClr val="33413D"/>
                          </a:solidFill>
                          <a:latin typeface="Aptos"/>
                        </a:rPr>
                        <a:t> </a:t>
                      </a:r>
                      <a:r>
                        <a:rPr sz="1050" b="0" i="0" dirty="0" err="1">
                          <a:solidFill>
                            <a:srgbClr val="33413D"/>
                          </a:solidFill>
                          <a:latin typeface="Aptos"/>
                        </a:rPr>
                        <a:t>Preisliste</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Datenimport &amp; -prüfung</a:t>
                      </a:r>
                    </a:p>
                  </a:txBody>
                  <a:tcPr marL="73152" marR="73152" marT="36576" marB="36576" anchor="ctr">
                    <a:solidFill>
                      <a:srgbClr val="F1F5F4"/>
                    </a:solidFill>
                  </a:tcPr>
                </a:tc>
                <a:tc>
                  <a:txBody>
                    <a:bodyPr/>
                    <a:lstStyle/>
                    <a:p>
                      <a:r>
                        <a:rPr sz="1050" b="0" i="0">
                          <a:solidFill>
                            <a:srgbClr val="33413D"/>
                          </a:solidFill>
                          <a:latin typeface="Aptos"/>
                        </a:rPr>
                        <a:t>Prüfung und Qualitätsanzeige beim Datenimport (Zeilen, Warnungen, Freigabe).</a:t>
                      </a:r>
                    </a:p>
                  </a:txBody>
                  <a:tcPr marL="73152" marR="73152" marT="36576" marB="36576" anchor="ctr">
                    <a:solidFill>
                      <a:srgbClr val="F1F5F4"/>
                    </a:solidFill>
                  </a:tcPr>
                </a:tc>
                <a:tc>
                  <a:txBody>
                    <a:bodyPr/>
                    <a:lstStyle/>
                    <a:p>
                      <a:pPr algn="ctr"/>
                      <a:r>
                        <a:rPr sz="1000" b="1" i="0">
                          <a:solidFill>
                            <a:srgbClr val="7A5410"/>
                          </a:solidFill>
                          <a:latin typeface="Aptos"/>
                        </a:rPr>
                        <a:t>Teilweise</a:t>
                      </a:r>
                    </a:p>
                  </a:txBody>
                  <a:tcPr marL="73152" marR="73152" marT="36576" marB="36576" anchor="ctr">
                    <a:solidFill>
                      <a:srgbClr val="F4EBDD"/>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13</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06 · FUNKTIONSUMFANG</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Finanzen &amp; Beiträge</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2276856"/>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Funktion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Beschreibung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Konten &amp; Saldenübersicht</a:t>
                      </a:r>
                    </a:p>
                  </a:txBody>
                  <a:tcPr marL="73152" marR="73152" marT="36576" marB="36576" anchor="ctr">
                    <a:solidFill>
                      <a:srgbClr val="FFFFFF"/>
                    </a:solidFill>
                  </a:tcPr>
                </a:tc>
                <a:tc>
                  <a:txBody>
                    <a:bodyPr/>
                    <a:lstStyle/>
                    <a:p>
                      <a:r>
                        <a:rPr sz="1050" b="0" i="0">
                          <a:solidFill>
                            <a:srgbClr val="33413D"/>
                          </a:solidFill>
                          <a:latin typeface="Aptos"/>
                        </a:rPr>
                        <a:t>Offene Salden, überfällige Beträge, Beitrags- und Zahlungsstatus je Einheit und Person, mit Schuldenalterung.</a:t>
                      </a:r>
                    </a:p>
                  </a:txBody>
                  <a:tcPr marL="73152" marR="73152" marT="36576" marB="36576" anchor="ctr">
                    <a:solidFill>
                      <a:srgbClr val="FFFFFF"/>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Unveränderliche Buchungen</a:t>
                      </a:r>
                    </a:p>
                  </a:txBody>
                  <a:tcPr marL="73152" marR="73152" marT="36576" marB="36576" anchor="ctr">
                    <a:solidFill>
                      <a:srgbClr val="F1F5F4"/>
                    </a:solidFill>
                  </a:tcPr>
                </a:tc>
                <a:tc>
                  <a:txBody>
                    <a:bodyPr/>
                    <a:lstStyle/>
                    <a:p>
                      <a:r>
                        <a:rPr sz="1050" b="0" i="0" dirty="0" err="1">
                          <a:solidFill>
                            <a:srgbClr val="33413D"/>
                          </a:solidFill>
                          <a:latin typeface="Aptos"/>
                        </a:rPr>
                        <a:t>Einmal</a:t>
                      </a:r>
                      <a:r>
                        <a:rPr sz="1050" b="0" i="0" dirty="0">
                          <a:solidFill>
                            <a:srgbClr val="33413D"/>
                          </a:solidFill>
                          <a:latin typeface="Aptos"/>
                        </a:rPr>
                        <a:t> </a:t>
                      </a:r>
                      <a:r>
                        <a:rPr sz="1050" b="0" i="0" dirty="0" err="1">
                          <a:solidFill>
                            <a:srgbClr val="33413D"/>
                          </a:solidFill>
                          <a:latin typeface="Aptos"/>
                        </a:rPr>
                        <a:t>gebuchte</a:t>
                      </a:r>
                      <a:r>
                        <a:rPr sz="1050" b="0" i="0" dirty="0">
                          <a:solidFill>
                            <a:srgbClr val="33413D"/>
                          </a:solidFill>
                          <a:latin typeface="Aptos"/>
                        </a:rPr>
                        <a:t> </a:t>
                      </a:r>
                      <a:r>
                        <a:rPr sz="1050" b="0" i="0" dirty="0" err="1">
                          <a:solidFill>
                            <a:srgbClr val="33413D"/>
                          </a:solidFill>
                          <a:latin typeface="Aptos"/>
                        </a:rPr>
                        <a:t>Finanzeinträge</a:t>
                      </a:r>
                      <a:r>
                        <a:rPr sz="1050" b="0" i="0" dirty="0">
                          <a:solidFill>
                            <a:srgbClr val="33413D"/>
                          </a:solidFill>
                          <a:latin typeface="Aptos"/>
                        </a:rPr>
                        <a:t> </a:t>
                      </a:r>
                      <a:r>
                        <a:rPr sz="1050" b="0" i="0" dirty="0" err="1">
                          <a:solidFill>
                            <a:srgbClr val="33413D"/>
                          </a:solidFill>
                          <a:latin typeface="Aptos"/>
                        </a:rPr>
                        <a:t>können</a:t>
                      </a:r>
                      <a:r>
                        <a:rPr sz="1050" b="0" i="0" dirty="0">
                          <a:solidFill>
                            <a:srgbClr val="33413D"/>
                          </a:solidFill>
                          <a:latin typeface="Aptos"/>
                        </a:rPr>
                        <a:t> nicht </a:t>
                      </a:r>
                      <a:r>
                        <a:rPr sz="1050" b="0" i="0" dirty="0" err="1">
                          <a:solidFill>
                            <a:srgbClr val="33413D"/>
                          </a:solidFill>
                          <a:latin typeface="Aptos"/>
                        </a:rPr>
                        <a:t>mehr</a:t>
                      </a:r>
                      <a:r>
                        <a:rPr sz="1050" b="0" i="0" dirty="0">
                          <a:solidFill>
                            <a:srgbClr val="33413D"/>
                          </a:solidFill>
                          <a:latin typeface="Aptos"/>
                        </a:rPr>
                        <a:t> </a:t>
                      </a:r>
                      <a:r>
                        <a:rPr sz="1050" b="0" i="0" dirty="0" err="1">
                          <a:solidFill>
                            <a:srgbClr val="33413D"/>
                          </a:solidFill>
                          <a:latin typeface="Aptos"/>
                        </a:rPr>
                        <a:t>verändert</a:t>
                      </a:r>
                      <a:r>
                        <a:rPr sz="1050" b="0" i="0" dirty="0">
                          <a:solidFill>
                            <a:srgbClr val="33413D"/>
                          </a:solidFill>
                          <a:latin typeface="Aptos"/>
                        </a:rPr>
                        <a:t> </a:t>
                      </a:r>
                      <a:r>
                        <a:rPr sz="1050" b="0" i="0" dirty="0" err="1">
                          <a:solidFill>
                            <a:srgbClr val="33413D"/>
                          </a:solidFill>
                          <a:latin typeface="Aptos"/>
                        </a:rPr>
                        <a:t>werden</a:t>
                      </a:r>
                      <a:r>
                        <a:rPr sz="1050" b="0" i="0" dirty="0">
                          <a:solidFill>
                            <a:srgbClr val="33413D"/>
                          </a:solidFill>
                          <a:latin typeface="Aptos"/>
                        </a:rPr>
                        <a:t> </a:t>
                      </a:r>
                      <a:r>
                        <a:rPr lang="de-DE" sz="1050" b="0" i="0" dirty="0">
                          <a:solidFill>
                            <a:srgbClr val="33413D"/>
                          </a:solidFill>
                          <a:latin typeface="Aptos"/>
                        </a:rPr>
                        <a:t>-</a:t>
                      </a:r>
                      <a:r>
                        <a:rPr sz="1050" b="0" i="0" dirty="0">
                          <a:solidFill>
                            <a:srgbClr val="33413D"/>
                          </a:solidFill>
                          <a:latin typeface="Aptos"/>
                        </a:rPr>
                        <a:t> </a:t>
                      </a:r>
                      <a:r>
                        <a:rPr sz="1050" b="0" i="0" dirty="0" err="1">
                          <a:solidFill>
                            <a:srgbClr val="33413D"/>
                          </a:solidFill>
                          <a:latin typeface="Aptos"/>
                        </a:rPr>
                        <a:t>eine</a:t>
                      </a:r>
                      <a:r>
                        <a:rPr sz="1050" b="0" i="0" dirty="0">
                          <a:solidFill>
                            <a:srgbClr val="33413D"/>
                          </a:solidFill>
                          <a:latin typeface="Aptos"/>
                        </a:rPr>
                        <a:t> </a:t>
                      </a:r>
                      <a:r>
                        <a:rPr sz="1050" b="0" i="0" dirty="0" err="1">
                          <a:solidFill>
                            <a:srgbClr val="33413D"/>
                          </a:solidFill>
                          <a:latin typeface="Aptos"/>
                        </a:rPr>
                        <a:t>zentrale</a:t>
                      </a:r>
                      <a:r>
                        <a:rPr sz="1050" b="0" i="0" dirty="0">
                          <a:solidFill>
                            <a:srgbClr val="33413D"/>
                          </a:solidFill>
                          <a:latin typeface="Aptos"/>
                        </a:rPr>
                        <a:t> </a:t>
                      </a:r>
                      <a:r>
                        <a:rPr sz="1050" b="0" i="0" dirty="0" err="1">
                          <a:solidFill>
                            <a:srgbClr val="33413D"/>
                          </a:solidFill>
                          <a:latin typeface="Aptos"/>
                        </a:rPr>
                        <a:t>buchhalterische</a:t>
                      </a:r>
                      <a:r>
                        <a:rPr sz="1050" b="0" i="0" dirty="0">
                          <a:solidFill>
                            <a:srgbClr val="33413D"/>
                          </a:solidFill>
                          <a:latin typeface="Aptos"/>
                        </a:rPr>
                        <a:t> Sicherheit.</a:t>
                      </a:r>
                    </a:p>
                  </a:txBody>
                  <a:tcPr marL="73152" marR="73152" marT="36576" marB="36576" anchor="ctr">
                    <a:solidFill>
                      <a:srgbClr val="F1F5F4"/>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Zahlungs- &amp; Kautionskontrolle</a:t>
                      </a:r>
                    </a:p>
                  </a:txBody>
                  <a:tcPr marL="73152" marR="73152" marT="36576" marB="36576" anchor="ctr">
                    <a:solidFill>
                      <a:srgbClr val="FFFFFF"/>
                    </a:solidFill>
                  </a:tcPr>
                </a:tc>
                <a:tc>
                  <a:txBody>
                    <a:bodyPr/>
                    <a:lstStyle/>
                    <a:p>
                      <a:r>
                        <a:rPr sz="1050" b="0" i="0">
                          <a:solidFill>
                            <a:srgbClr val="33413D"/>
                          </a:solidFill>
                          <a:latin typeface="Aptos"/>
                        </a:rPr>
                        <a:t>Kontrollzentrum für Zahlungspläne, Kautionsentscheidungen und Bankabgleich.</a:t>
                      </a:r>
                    </a:p>
                  </a:txBody>
                  <a:tcPr marL="73152" marR="73152" marT="36576" marB="36576" anchor="ctr">
                    <a:solidFill>
                      <a:srgbClr val="FFFFFF"/>
                    </a:solidFill>
                  </a:tcPr>
                </a:tc>
                <a:tc>
                  <a:txBody>
                    <a:bodyPr/>
                    <a:lstStyle/>
                    <a:p>
                      <a:pPr algn="ctr"/>
                      <a:r>
                        <a:rPr sz="1000" b="1" i="0">
                          <a:solidFill>
                            <a:srgbClr val="7A5410"/>
                          </a:solidFill>
                          <a:latin typeface="Aptos"/>
                        </a:rPr>
                        <a:t>Teilweise</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Schuldner-Restriktionen</a:t>
                      </a:r>
                    </a:p>
                  </a:txBody>
                  <a:tcPr marL="73152" marR="73152" marT="36576" marB="36576" anchor="ctr">
                    <a:solidFill>
                      <a:srgbClr val="F1F5F4"/>
                    </a:solidFill>
                  </a:tcPr>
                </a:tc>
                <a:tc>
                  <a:txBody>
                    <a:bodyPr/>
                    <a:lstStyle/>
                    <a:p>
                      <a:r>
                        <a:rPr sz="1050" b="0" i="0" dirty="0" err="1">
                          <a:solidFill>
                            <a:srgbClr val="33413D"/>
                          </a:solidFill>
                          <a:latin typeface="Aptos"/>
                        </a:rPr>
                        <a:t>Erkennung</a:t>
                      </a:r>
                      <a:r>
                        <a:rPr sz="1050" b="0" i="0" dirty="0">
                          <a:solidFill>
                            <a:srgbClr val="33413D"/>
                          </a:solidFill>
                          <a:latin typeface="Aptos"/>
                        </a:rPr>
                        <a:t> und </a:t>
                      </a:r>
                      <a:r>
                        <a:rPr sz="1050" b="0" i="0" dirty="0" err="1">
                          <a:solidFill>
                            <a:srgbClr val="33413D"/>
                          </a:solidFill>
                          <a:latin typeface="Aptos"/>
                        </a:rPr>
                        <a:t>Empfehlung</a:t>
                      </a:r>
                      <a:r>
                        <a:rPr sz="1050" b="0" i="0" dirty="0">
                          <a:solidFill>
                            <a:srgbClr val="33413D"/>
                          </a:solidFill>
                          <a:latin typeface="Aptos"/>
                        </a:rPr>
                        <a:t> von </a:t>
                      </a:r>
                      <a:r>
                        <a:rPr sz="1050" b="0" i="0" dirty="0" err="1">
                          <a:solidFill>
                            <a:srgbClr val="33413D"/>
                          </a:solidFill>
                          <a:latin typeface="Aptos"/>
                        </a:rPr>
                        <a:t>Einschränkungen</a:t>
                      </a:r>
                      <a:r>
                        <a:rPr sz="1050" b="0" i="0" dirty="0">
                          <a:solidFill>
                            <a:srgbClr val="33413D"/>
                          </a:solidFill>
                          <a:latin typeface="Aptos"/>
                        </a:rPr>
                        <a:t> </a:t>
                      </a:r>
                      <a:r>
                        <a:rPr sz="1050" b="0" i="0" dirty="0" err="1">
                          <a:solidFill>
                            <a:srgbClr val="33413D"/>
                          </a:solidFill>
                          <a:latin typeface="Aptos"/>
                        </a:rPr>
                        <a:t>bei</a:t>
                      </a:r>
                      <a:r>
                        <a:rPr sz="1050" b="0" i="0" dirty="0">
                          <a:solidFill>
                            <a:srgbClr val="33413D"/>
                          </a:solidFill>
                          <a:latin typeface="Aptos"/>
                        </a:rPr>
                        <a:t> </a:t>
                      </a:r>
                      <a:r>
                        <a:rPr sz="1050" b="0" i="0" dirty="0" err="1">
                          <a:solidFill>
                            <a:srgbClr val="33413D"/>
                          </a:solidFill>
                          <a:latin typeface="Aptos"/>
                        </a:rPr>
                        <a:t>offenen</a:t>
                      </a:r>
                      <a:r>
                        <a:rPr sz="1050" b="0" i="0" dirty="0">
                          <a:solidFill>
                            <a:srgbClr val="33413D"/>
                          </a:solidFill>
                          <a:latin typeface="Aptos"/>
                        </a:rPr>
                        <a:t> </a:t>
                      </a:r>
                      <a:r>
                        <a:rPr sz="1050" b="0" i="0" dirty="0" err="1">
                          <a:solidFill>
                            <a:srgbClr val="33413D"/>
                          </a:solidFill>
                          <a:latin typeface="Aptos"/>
                        </a:rPr>
                        <a:t>Schulden</a:t>
                      </a:r>
                      <a:r>
                        <a:rPr sz="1050" b="0" i="0" dirty="0">
                          <a:solidFill>
                            <a:srgbClr val="33413D"/>
                          </a:solidFill>
                          <a:latin typeface="Aptos"/>
                        </a:rPr>
                        <a:t> </a:t>
                      </a:r>
                      <a:r>
                        <a:rPr lang="de-DE" sz="1050" b="0" i="0" dirty="0">
                          <a:solidFill>
                            <a:srgbClr val="33413D"/>
                          </a:solidFill>
                          <a:latin typeface="Aptos"/>
                        </a:rPr>
                        <a:t>-</a:t>
                      </a:r>
                      <a:r>
                        <a:rPr sz="1050" b="0" i="0" dirty="0">
                          <a:solidFill>
                            <a:srgbClr val="33413D"/>
                          </a:solidFill>
                          <a:latin typeface="Aptos"/>
                        </a:rPr>
                        <a:t> </a:t>
                      </a:r>
                      <a:r>
                        <a:rPr sz="1050" b="0" i="0" dirty="0" err="1">
                          <a:solidFill>
                            <a:srgbClr val="33413D"/>
                          </a:solidFill>
                          <a:latin typeface="Aptos"/>
                        </a:rPr>
                        <a:t>mit</a:t>
                      </a:r>
                      <a:r>
                        <a:rPr sz="1050" b="0" i="0" dirty="0">
                          <a:solidFill>
                            <a:srgbClr val="33413D"/>
                          </a:solidFill>
                          <a:latin typeface="Aptos"/>
                        </a:rPr>
                        <a:t> </a:t>
                      </a:r>
                      <a:r>
                        <a:rPr sz="1050" b="0" i="0" dirty="0" err="1">
                          <a:solidFill>
                            <a:srgbClr val="33413D"/>
                          </a:solidFill>
                          <a:latin typeface="Aptos"/>
                        </a:rPr>
                        <a:t>verpflichtender</a:t>
                      </a:r>
                      <a:r>
                        <a:rPr sz="1050" b="0" i="0" dirty="0">
                          <a:solidFill>
                            <a:srgbClr val="33413D"/>
                          </a:solidFill>
                          <a:latin typeface="Aptos"/>
                        </a:rPr>
                        <a:t> </a:t>
                      </a:r>
                      <a:r>
                        <a:rPr sz="1050" b="0" i="0" dirty="0" err="1">
                          <a:solidFill>
                            <a:srgbClr val="33413D"/>
                          </a:solidFill>
                          <a:latin typeface="Aptos"/>
                        </a:rPr>
                        <a:t>menschlicher</a:t>
                      </a:r>
                      <a:r>
                        <a:rPr sz="1050" b="0" i="0" dirty="0">
                          <a:solidFill>
                            <a:srgbClr val="33413D"/>
                          </a:solidFill>
                          <a:latin typeface="Aptos"/>
                        </a:rPr>
                        <a:t> </a:t>
                      </a:r>
                      <a:r>
                        <a:rPr sz="1050" b="0" i="0" dirty="0" err="1">
                          <a:solidFill>
                            <a:srgbClr val="33413D"/>
                          </a:solidFill>
                          <a:latin typeface="Aptos"/>
                        </a:rPr>
                        <a:t>Freigabe</a:t>
                      </a:r>
                      <a:r>
                        <a:rPr sz="1050" b="0" i="0" dirty="0">
                          <a:solidFill>
                            <a:srgbClr val="33413D"/>
                          </a:solidFill>
                          <a:latin typeface="Aptos"/>
                        </a:rPr>
                        <a:t>.</a:t>
                      </a:r>
                    </a:p>
                  </a:txBody>
                  <a:tcPr marL="73152" marR="73152" marT="36576" marB="36576" anchor="ctr">
                    <a:solidFill>
                      <a:srgbClr val="F1F5F4"/>
                    </a:solidFill>
                  </a:tcPr>
                </a:tc>
                <a:tc>
                  <a:txBody>
                    <a:bodyPr/>
                    <a:lstStyle/>
                    <a:p>
                      <a:pPr algn="ctr"/>
                      <a:r>
                        <a:rPr sz="1000" b="1" i="0">
                          <a:solidFill>
                            <a:srgbClr val="7A5410"/>
                          </a:solidFill>
                          <a:latin typeface="Aptos"/>
                        </a:rPr>
                        <a:t>Teilweise</a:t>
                      </a:r>
                    </a:p>
                  </a:txBody>
                  <a:tcPr marL="73152" marR="73152" marT="36576" marB="36576" anchor="ctr">
                    <a:solidFill>
                      <a:srgbClr val="F4EBDD"/>
                    </a:solidFill>
                  </a:tcPr>
                </a:tc>
                <a:extLst>
                  <a:ext uri="{0D108BD9-81ED-4DB2-BD59-A6C34878D82A}">
                    <a16:rowId xmlns:a16="http://schemas.microsoft.com/office/drawing/2014/main" val="10004"/>
                  </a:ext>
                </a:extLst>
              </a:tr>
              <a:tr h="365760">
                <a:tc>
                  <a:txBody>
                    <a:bodyPr/>
                    <a:lstStyle/>
                    <a:p>
                      <a:r>
                        <a:rPr sz="1050" b="1" i="0">
                          <a:solidFill>
                            <a:srgbClr val="101820"/>
                          </a:solidFill>
                          <a:latin typeface="Aptos"/>
                        </a:rPr>
                        <a:t>Neue Buchung erfassen</a:t>
                      </a:r>
                    </a:p>
                  </a:txBody>
                  <a:tcPr marL="73152" marR="73152" marT="36576" marB="36576" anchor="ctr">
                    <a:solidFill>
                      <a:srgbClr val="FFFFFF"/>
                    </a:solidFill>
                  </a:tcPr>
                </a:tc>
                <a:tc>
                  <a:txBody>
                    <a:bodyPr/>
                    <a:lstStyle/>
                    <a:p>
                      <a:r>
                        <a:rPr sz="1050" b="0" i="0">
                          <a:solidFill>
                            <a:srgbClr val="33413D"/>
                          </a:solidFill>
                          <a:latin typeface="Aptos"/>
                        </a:rPr>
                        <a:t>Aktives Anlegen neuer Zahlungen/Buchungen im System.</a:t>
                      </a:r>
                    </a:p>
                  </a:txBody>
                  <a:tcPr marL="73152" marR="73152" marT="36576" marB="36576" anchor="ctr">
                    <a:solidFill>
                      <a:srgbClr val="FFFFFF"/>
                    </a:solidFill>
                  </a:tcPr>
                </a:tc>
                <a:tc>
                  <a:txBody>
                    <a:bodyPr/>
                    <a:lstStyle/>
                    <a:p>
                      <a:pPr algn="ctr"/>
                      <a:r>
                        <a:rPr sz="1000" b="1" i="0">
                          <a:solidFill>
                            <a:srgbClr val="4B5652"/>
                          </a:solidFill>
                          <a:latin typeface="Aptos"/>
                        </a:rPr>
                        <a:t>In Vorbereitung</a:t>
                      </a:r>
                    </a:p>
                  </a:txBody>
                  <a:tcPr marL="73152" marR="73152" marT="36576" marB="36576" anchor="ctr">
                    <a:solidFill>
                      <a:srgbClr val="EAECEB"/>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14</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06 · FUNKTIONSUMFANG</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Service, Aufgaben &amp; Außendienst</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5623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Funktion</a:t>
                      </a:r>
                    </a:p>
                  </a:txBody>
                  <a:tcPr marL="73152" marR="73152" marT="36576" marB="36576" anchor="ctr">
                    <a:solidFill>
                      <a:srgbClr val="066B63"/>
                    </a:solidFill>
                  </a:tcPr>
                </a:tc>
                <a:tc>
                  <a:txBody>
                    <a:bodyPr/>
                    <a:lstStyle/>
                    <a:p>
                      <a:r>
                        <a:rPr sz="1050" b="1" i="0">
                          <a:solidFill>
                            <a:srgbClr val="FFFFFF"/>
                          </a:solidFill>
                          <a:latin typeface="Aptos"/>
                        </a:rPr>
                        <a:t>Beschreibung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Service-Katalog</a:t>
                      </a:r>
                    </a:p>
                  </a:txBody>
                  <a:tcPr marL="73152" marR="73152" marT="36576" marB="36576" anchor="ctr">
                    <a:solidFill>
                      <a:srgbClr val="FFFFFF"/>
                    </a:solidFill>
                  </a:tcPr>
                </a:tc>
                <a:tc>
                  <a:txBody>
                    <a:bodyPr/>
                    <a:lstStyle/>
                    <a:p>
                      <a:r>
                        <a:rPr sz="1050" b="0" i="0">
                          <a:solidFill>
                            <a:srgbClr val="33413D"/>
                          </a:solidFill>
                          <a:latin typeface="Aptos"/>
                        </a:rPr>
                        <a:t>Leistungen mit Preis, Bearbeitungszeit (SLA), Schuldenpolitik und zuständigem Team.</a:t>
                      </a:r>
                    </a:p>
                  </a:txBody>
                  <a:tcPr marL="73152" marR="73152" marT="36576" marB="36576" anchor="ctr">
                    <a:solidFill>
                      <a:srgbClr val="FFFFFF"/>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Service-Tickets &amp; SLA</a:t>
                      </a:r>
                    </a:p>
                  </a:txBody>
                  <a:tcPr marL="73152" marR="73152" marT="36576" marB="36576" anchor="ctr">
                    <a:solidFill>
                      <a:srgbClr val="F1F5F4"/>
                    </a:solidFill>
                  </a:tcPr>
                </a:tc>
                <a:tc>
                  <a:txBody>
                    <a:bodyPr/>
                    <a:lstStyle/>
                    <a:p>
                      <a:r>
                        <a:rPr sz="1050" b="0" i="0">
                          <a:solidFill>
                            <a:srgbClr val="33413D"/>
                          </a:solidFill>
                          <a:latin typeface="Aptos"/>
                        </a:rPr>
                        <a:t>Ticket-Übersicht nach Priorität, Status, SLA und Verantwortlichem; Neuanlage über Freigabe-Warteschlange.</a:t>
                      </a:r>
                    </a:p>
                  </a:txBody>
                  <a:tcPr marL="73152" marR="73152" marT="36576" marB="36576" anchor="ctr">
                    <a:solidFill>
                      <a:srgbClr val="F1F5F4"/>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Feld-/Aufgabenboard</a:t>
                      </a:r>
                    </a:p>
                  </a:txBody>
                  <a:tcPr marL="73152" marR="73152" marT="36576" marB="36576" anchor="ctr">
                    <a:solidFill>
                      <a:srgbClr val="FFFFFF"/>
                    </a:solidFill>
                  </a:tcPr>
                </a:tc>
                <a:tc>
                  <a:txBody>
                    <a:bodyPr/>
                    <a:lstStyle/>
                    <a:p>
                      <a:r>
                        <a:rPr sz="1050" b="0" i="0">
                          <a:solidFill>
                            <a:srgbClr val="33413D"/>
                          </a:solidFill>
                          <a:latin typeface="Aptos"/>
                        </a:rPr>
                        <a:t>Außendienstaufgaben mit Zeitfenster, Checkliste und Fertigstellungsgrad.</a:t>
                      </a:r>
                    </a:p>
                  </a:txBody>
                  <a:tcPr marL="73152" marR="73152" marT="36576" marB="36576" anchor="ctr">
                    <a:solidFill>
                      <a:srgbClr val="FFFFFF"/>
                    </a:solidFill>
                  </a:tcPr>
                </a:tc>
                <a:tc>
                  <a:txBody>
                    <a:bodyPr/>
                    <a:lstStyle/>
                    <a:p>
                      <a:pPr algn="ctr"/>
                      <a:r>
                        <a:rPr sz="1000" b="1" i="0">
                          <a:solidFill>
                            <a:srgbClr val="7A5410"/>
                          </a:solidFill>
                          <a:latin typeface="Aptos"/>
                        </a:rPr>
                        <a:t>Teilweise</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Foto-/Videonachweis</a:t>
                      </a:r>
                    </a:p>
                  </a:txBody>
                  <a:tcPr marL="73152" marR="73152" marT="36576" marB="36576" anchor="ctr">
                    <a:solidFill>
                      <a:srgbClr val="F1F5F4"/>
                    </a:solidFill>
                  </a:tcPr>
                </a:tc>
                <a:tc>
                  <a:txBody>
                    <a:bodyPr/>
                    <a:lstStyle/>
                    <a:p>
                      <a:r>
                        <a:rPr sz="1050" b="0" i="0">
                          <a:solidFill>
                            <a:srgbClr val="33413D"/>
                          </a:solidFill>
                          <a:latin typeface="Aptos"/>
                        </a:rPr>
                        <a:t>Hochladen von Bild-/Videonachweisen zu Serviceaufträgen durch den Außendienst.</a:t>
                      </a:r>
                    </a:p>
                  </a:txBody>
                  <a:tcPr marL="73152" marR="73152" marT="36576" marB="36576" anchor="ctr">
                    <a:solidFill>
                      <a:srgbClr val="F1F5F4"/>
                    </a:solidFill>
                  </a:tcPr>
                </a:tc>
                <a:tc>
                  <a:txBody>
                    <a:bodyPr/>
                    <a:lstStyle/>
                    <a:p>
                      <a:pPr algn="ctr"/>
                      <a:r>
                        <a:rPr sz="1000" b="1" i="0">
                          <a:solidFill>
                            <a:srgbClr val="4B5652"/>
                          </a:solidFill>
                          <a:latin typeface="Aptos"/>
                        </a:rPr>
                        <a:t>In Vorbereitung</a:t>
                      </a:r>
                    </a:p>
                  </a:txBody>
                  <a:tcPr marL="73152" marR="73152" marT="36576" marB="36576" anchor="ctr">
                    <a:solidFill>
                      <a:srgbClr val="EAECEB"/>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15</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06 · FUNKTIONSUMFANG</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Reservierung &amp; Vermietung</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49047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Funktion</a:t>
                      </a:r>
                    </a:p>
                  </a:txBody>
                  <a:tcPr marL="73152" marR="73152" marT="36576" marB="36576" anchor="ctr">
                    <a:solidFill>
                      <a:srgbClr val="066B63"/>
                    </a:solidFill>
                  </a:tcPr>
                </a:tc>
                <a:tc>
                  <a:txBody>
                    <a:bodyPr/>
                    <a:lstStyle/>
                    <a:p>
                      <a:r>
                        <a:rPr sz="1050" b="1" i="0">
                          <a:solidFill>
                            <a:srgbClr val="FFFFFF"/>
                          </a:solidFill>
                          <a:latin typeface="Aptos"/>
                        </a:rPr>
                        <a:t>Beschreibung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Belegungs- &amp; Buchungsübersicht</a:t>
                      </a:r>
                    </a:p>
                  </a:txBody>
                  <a:tcPr marL="73152" marR="73152" marT="36576" marB="36576" anchor="ctr">
                    <a:solidFill>
                      <a:srgbClr val="FFFFFF"/>
                    </a:solidFill>
                  </a:tcPr>
                </a:tc>
                <a:tc>
                  <a:txBody>
                    <a:bodyPr/>
                    <a:lstStyle/>
                    <a:p>
                      <a:r>
                        <a:rPr sz="1050" b="0" i="0">
                          <a:solidFill>
                            <a:srgbClr val="33413D"/>
                          </a:solidFill>
                          <a:latin typeface="Aptos"/>
                        </a:rPr>
                        <a:t>Buchungen mit Check-in/-out, Kaution, Zugang und Reinigungsstatus in einer Übersicht.</a:t>
                      </a:r>
                    </a:p>
                  </a:txBody>
                  <a:tcPr marL="73152" marR="73152" marT="36576" marB="36576" anchor="ctr">
                    <a:solidFill>
                      <a:srgbClr val="FFFFFF"/>
                    </a:solidFill>
                  </a:tcPr>
                </a:tc>
                <a:tc>
                  <a:txBody>
                    <a:bodyPr/>
                    <a:lstStyle/>
                    <a:p>
                      <a:pPr algn="ctr"/>
                      <a:r>
                        <a:rPr sz="1000" b="1" i="0">
                          <a:solidFill>
                            <a:srgbClr val="7A5410"/>
                          </a:solidFill>
                          <a:latin typeface="Aptos"/>
                        </a:rPr>
                        <a:t>Teilweise</a:t>
                      </a:r>
                    </a:p>
                  </a:txBody>
                  <a:tcPr marL="73152" marR="73152" marT="36576" marB="36576" anchor="ctr">
                    <a:solidFill>
                      <a:srgbClr val="F4EBDD"/>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Einzugs-Bereitschaft &amp; Übergabe</a:t>
                      </a:r>
                    </a:p>
                  </a:txBody>
                  <a:tcPr marL="73152" marR="73152" marT="36576" marB="36576" anchor="ctr">
                    <a:solidFill>
                      <a:srgbClr val="F1F5F4"/>
                    </a:solidFill>
                  </a:tcPr>
                </a:tc>
                <a:tc>
                  <a:txBody>
                    <a:bodyPr/>
                    <a:lstStyle/>
                    <a:p>
                      <a:r>
                        <a:rPr sz="1050" b="0" i="0">
                          <a:solidFill>
                            <a:srgbClr val="33413D"/>
                          </a:solidFill>
                          <a:latin typeface="Aptos"/>
                        </a:rPr>
                        <a:t>Bereitschafts-Board (Identität, Zahlung, Reinigung, Zugang, Begrüßung) und Checkout-/Übergabeaufgaben.</a:t>
                      </a:r>
                    </a:p>
                  </a:txBody>
                  <a:tcPr marL="73152" marR="73152" marT="36576" marB="36576" anchor="ctr">
                    <a:solidFill>
                      <a:srgbClr val="F1F5F4"/>
                    </a:solidFill>
                  </a:tcPr>
                </a:tc>
                <a:tc>
                  <a:txBody>
                    <a:bodyPr/>
                    <a:lstStyle/>
                    <a:p>
                      <a:pPr algn="ctr"/>
                      <a:r>
                        <a:rPr sz="1000" b="1" i="0">
                          <a:solidFill>
                            <a:srgbClr val="7A5410"/>
                          </a:solidFill>
                          <a:latin typeface="Aptos"/>
                        </a:rPr>
                        <a:t>Teilweise</a:t>
                      </a:r>
                    </a:p>
                  </a:txBody>
                  <a:tcPr marL="73152" marR="73152" marT="36576" marB="36576" anchor="ctr">
                    <a:solidFill>
                      <a:srgbClr val="F4EBDD"/>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Neue Reservierung anlegen</a:t>
                      </a:r>
                    </a:p>
                  </a:txBody>
                  <a:tcPr marL="73152" marR="73152" marT="36576" marB="36576" anchor="ctr">
                    <a:solidFill>
                      <a:srgbClr val="FFFFFF"/>
                    </a:solidFill>
                  </a:tcPr>
                </a:tc>
                <a:tc>
                  <a:txBody>
                    <a:bodyPr/>
                    <a:lstStyle/>
                    <a:p>
                      <a:r>
                        <a:rPr sz="1050" b="0" i="0">
                          <a:solidFill>
                            <a:srgbClr val="33413D"/>
                          </a:solidFill>
                          <a:latin typeface="Aptos"/>
                        </a:rPr>
                        <a:t>Erstellen einer neuen Buchung im System.</a:t>
                      </a:r>
                    </a:p>
                  </a:txBody>
                  <a:tcPr marL="73152" marR="73152" marT="36576" marB="36576" anchor="ctr">
                    <a:solidFill>
                      <a:srgbClr val="FFFFFF"/>
                    </a:solidFill>
                  </a:tcPr>
                </a:tc>
                <a:tc>
                  <a:txBody>
                    <a:bodyPr/>
                    <a:lstStyle/>
                    <a:p>
                      <a:pPr algn="ctr"/>
                      <a:r>
                        <a:rPr sz="1000" b="1" i="0">
                          <a:solidFill>
                            <a:srgbClr val="4B5652"/>
                          </a:solidFill>
                          <a:latin typeface="Aptos"/>
                        </a:rPr>
                        <a:t>In Vorbereitung</a:t>
                      </a:r>
                    </a:p>
                  </a:txBody>
                  <a:tcPr marL="73152" marR="73152" marT="36576" marB="36576" anchor="ctr">
                    <a:solidFill>
                      <a:srgbClr val="EAECEB"/>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16</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06 · FUNKTIONSUMFANG</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Kommunikation &amp; Dokumente</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83664"/>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Funktion</a:t>
                      </a:r>
                    </a:p>
                  </a:txBody>
                  <a:tcPr marL="73152" marR="73152" marT="36576" marB="36576" anchor="ctr">
                    <a:solidFill>
                      <a:srgbClr val="066B63"/>
                    </a:solidFill>
                  </a:tcPr>
                </a:tc>
                <a:tc>
                  <a:txBody>
                    <a:bodyPr/>
                    <a:lstStyle/>
                    <a:p>
                      <a:r>
                        <a:rPr sz="1050" b="1" i="0">
                          <a:solidFill>
                            <a:srgbClr val="FFFFFF"/>
                          </a:solidFill>
                          <a:latin typeface="Aptos"/>
                        </a:rPr>
                        <a:t>Beschreibung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Nachrichten-Postfach</a:t>
                      </a:r>
                    </a:p>
                  </a:txBody>
                  <a:tcPr marL="73152" marR="73152" marT="36576" marB="36576" anchor="ctr">
                    <a:solidFill>
                      <a:srgbClr val="FFFFFF"/>
                    </a:solidFill>
                  </a:tcPr>
                </a:tc>
                <a:tc>
                  <a:txBody>
                    <a:bodyPr/>
                    <a:lstStyle/>
                    <a:p>
                      <a:r>
                        <a:rPr sz="1050" b="0" i="0">
                          <a:solidFill>
                            <a:srgbClr val="33413D"/>
                          </a:solidFill>
                          <a:latin typeface="Aptos"/>
                        </a:rPr>
                        <a:t>Rollenbasierte Übersicht der Konversationen über alle Kanäle (WhatsApp, Portal, E-Mail, SMS), mit Vorlagen-Bibliothek in vier Sprachen.</a:t>
                      </a:r>
                    </a:p>
                  </a:txBody>
                  <a:tcPr marL="73152" marR="73152" marT="36576" marB="36576" anchor="ctr">
                    <a:solidFill>
                      <a:srgbClr val="FFFFFF"/>
                    </a:solidFill>
                  </a:tcPr>
                </a:tc>
                <a:tc>
                  <a:txBody>
                    <a:bodyPr/>
                    <a:lstStyle/>
                    <a:p>
                      <a:pPr algn="ctr"/>
                      <a:r>
                        <a:rPr sz="1000" b="1" i="0">
                          <a:solidFill>
                            <a:srgbClr val="7A5410"/>
                          </a:solidFill>
                          <a:latin typeface="Aptos"/>
                        </a:rPr>
                        <a:t>Teilweise</a:t>
                      </a:r>
                    </a:p>
                  </a:txBody>
                  <a:tcPr marL="73152" marR="73152" marT="36576" marB="36576" anchor="ctr">
                    <a:solidFill>
                      <a:srgbClr val="F4EBDD"/>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Dokumenten-Vault</a:t>
                      </a:r>
                    </a:p>
                  </a:txBody>
                  <a:tcPr marL="73152" marR="73152" marT="36576" marB="36576" anchor="ctr">
                    <a:solidFill>
                      <a:srgbClr val="F1F5F4"/>
                    </a:solidFill>
                  </a:tcPr>
                </a:tc>
                <a:tc>
                  <a:txBody>
                    <a:bodyPr/>
                    <a:lstStyle/>
                    <a:p>
                      <a:r>
                        <a:rPr sz="1050" b="0" i="0">
                          <a:solidFill>
                            <a:srgbClr val="33413D"/>
                          </a:solidFill>
                          <a:latin typeface="Aptos"/>
                        </a:rPr>
                        <a:t>Dokumente je Einheit/Person/Kategorie mit Status, Aufbewahrungsregel und Berechtigungsprüfung (u. a. TAPU, KYC, Verträge).</a:t>
                      </a:r>
                    </a:p>
                  </a:txBody>
                  <a:tcPr marL="73152" marR="73152" marT="36576" marB="36576" anchor="ctr">
                    <a:solidFill>
                      <a:srgbClr val="F1F5F4"/>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Sicherer Dokumenten-Upload</a:t>
                      </a:r>
                    </a:p>
                  </a:txBody>
                  <a:tcPr marL="73152" marR="73152" marT="36576" marB="36576" anchor="ctr">
                    <a:solidFill>
                      <a:srgbClr val="FFFFFF"/>
                    </a:solidFill>
                  </a:tcPr>
                </a:tc>
                <a:tc>
                  <a:txBody>
                    <a:bodyPr/>
                    <a:lstStyle/>
                    <a:p>
                      <a:r>
                        <a:rPr sz="1050" b="0" i="0">
                          <a:solidFill>
                            <a:srgbClr val="33413D"/>
                          </a:solidFill>
                          <a:latin typeface="Aptos"/>
                        </a:rPr>
                        <a:t>Upload mit Typ-/Größenprüfung und Prüfsumme; produktive Speicherung nach Freigabe aktivierbar.</a:t>
                      </a:r>
                    </a:p>
                  </a:txBody>
                  <a:tcPr marL="73152" marR="73152" marT="36576" marB="36576" anchor="ctr">
                    <a:solidFill>
                      <a:srgbClr val="FFFFFF"/>
                    </a:solidFill>
                  </a:tcPr>
                </a:tc>
                <a:tc>
                  <a:txBody>
                    <a:bodyPr/>
                    <a:lstStyle/>
                    <a:p>
                      <a:pPr algn="ctr"/>
                      <a:r>
                        <a:rPr sz="1000" b="1" i="0">
                          <a:solidFill>
                            <a:srgbClr val="7A5410"/>
                          </a:solidFill>
                          <a:latin typeface="Aptos"/>
                        </a:rPr>
                        <a:t>Teilweise</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Live-Versand (SMS/E-Mail/Push)</a:t>
                      </a:r>
                    </a:p>
                  </a:txBody>
                  <a:tcPr marL="73152" marR="73152" marT="36576" marB="36576" anchor="ctr">
                    <a:solidFill>
                      <a:srgbClr val="F1F5F4"/>
                    </a:solidFill>
                  </a:tcPr>
                </a:tc>
                <a:tc>
                  <a:txBody>
                    <a:bodyPr/>
                    <a:lstStyle/>
                    <a:p>
                      <a:r>
                        <a:rPr sz="1050" b="0" i="0">
                          <a:solidFill>
                            <a:srgbClr val="33413D"/>
                          </a:solidFill>
                          <a:latin typeface="Aptos"/>
                        </a:rPr>
                        <a:t>Tatsächlicher Nachrichtenversand über externe Anbieter.</a:t>
                      </a:r>
                    </a:p>
                  </a:txBody>
                  <a:tcPr marL="73152" marR="73152" marT="36576" marB="36576" anchor="ctr">
                    <a:solidFill>
                      <a:srgbClr val="F1F5F4"/>
                    </a:solidFill>
                  </a:tcPr>
                </a:tc>
                <a:tc>
                  <a:txBody>
                    <a:bodyPr/>
                    <a:lstStyle/>
                    <a:p>
                      <a:pPr algn="ctr"/>
                      <a:r>
                        <a:rPr sz="1000" b="1" i="0">
                          <a:solidFill>
                            <a:srgbClr val="4B5652"/>
                          </a:solidFill>
                          <a:latin typeface="Aptos"/>
                        </a:rPr>
                        <a:t>In Vorbereitung</a:t>
                      </a:r>
                    </a:p>
                  </a:txBody>
                  <a:tcPr marL="73152" marR="73152" marT="36576" marB="36576" anchor="ctr">
                    <a:solidFill>
                      <a:srgbClr val="EAECEB"/>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17</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06 · FUNKTIONSUMFANG</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Berichte, Dashboard &amp; Compliance</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49047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Funktion</a:t>
                      </a:r>
                    </a:p>
                  </a:txBody>
                  <a:tcPr marL="73152" marR="73152" marT="36576" marB="36576" anchor="ctr">
                    <a:solidFill>
                      <a:srgbClr val="066B63"/>
                    </a:solidFill>
                  </a:tcPr>
                </a:tc>
                <a:tc>
                  <a:txBody>
                    <a:bodyPr/>
                    <a:lstStyle/>
                    <a:p>
                      <a:r>
                        <a:rPr sz="1050" b="1" i="0">
                          <a:solidFill>
                            <a:srgbClr val="FFFFFF"/>
                          </a:solidFill>
                          <a:latin typeface="Aptos"/>
                        </a:rPr>
                        <a:t>Beschreibung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Live-Dashboard</a:t>
                      </a:r>
                    </a:p>
                  </a:txBody>
                  <a:tcPr marL="73152" marR="73152" marT="36576" marB="36576" anchor="ctr">
                    <a:solidFill>
                      <a:srgbClr val="FFFFFF"/>
                    </a:solidFill>
                  </a:tcPr>
                </a:tc>
                <a:tc>
                  <a:txBody>
                    <a:bodyPr/>
                    <a:lstStyle/>
                    <a:p>
                      <a:r>
                        <a:rPr sz="1050" b="0" i="0">
                          <a:solidFill>
                            <a:srgbClr val="33413D"/>
                          </a:solidFill>
                          <a:latin typeface="Aptos"/>
                        </a:rPr>
                        <a:t>Kennzahlen zu Einheiten, offenen Schulden, Tickets und Reservierungen mit automatischer Aktualisierung (für Verwaltung/Verantwortliche).</a:t>
                      </a:r>
                    </a:p>
                  </a:txBody>
                  <a:tcPr marL="73152" marR="73152" marT="36576" marB="36576" anchor="ctr">
                    <a:solidFill>
                      <a:srgbClr val="FFFFFF"/>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Berichtszentrum</a:t>
                      </a:r>
                    </a:p>
                  </a:txBody>
                  <a:tcPr marL="73152" marR="73152" marT="36576" marB="36576" anchor="ctr">
                    <a:solidFill>
                      <a:srgbClr val="F1F5F4"/>
                    </a:solidFill>
                  </a:tcPr>
                </a:tc>
                <a:tc>
                  <a:txBody>
                    <a:bodyPr/>
                    <a:lstStyle/>
                    <a:p>
                      <a:r>
                        <a:rPr sz="1050" b="0" i="0">
                          <a:solidFill>
                            <a:srgbClr val="33413D"/>
                          </a:solidFill>
                          <a:latin typeface="Aptos"/>
                        </a:rPr>
                        <a:t>Management-, Finanz-, Service- und Zugangsberichte mit Diagrammen und Export-Freigabe.</a:t>
                      </a:r>
                    </a:p>
                  </a:txBody>
                  <a:tcPr marL="73152" marR="73152" marT="36576" marB="36576" anchor="ctr">
                    <a:solidFill>
                      <a:srgbClr val="F1F5F4"/>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Zugang &amp; Compliance</a:t>
                      </a:r>
                    </a:p>
                  </a:txBody>
                  <a:tcPr marL="73152" marR="73152" marT="36576" marB="36576" anchor="ctr">
                    <a:solidFill>
                      <a:srgbClr val="FFFFFF"/>
                    </a:solidFill>
                  </a:tcPr>
                </a:tc>
                <a:tc>
                  <a:txBody>
                    <a:bodyPr/>
                    <a:lstStyle/>
                    <a:p>
                      <a:r>
                        <a:rPr sz="1050" b="0" i="0">
                          <a:solidFill>
                            <a:srgbClr val="33413D"/>
                          </a:solidFill>
                          <a:latin typeface="Aptos"/>
                        </a:rPr>
                        <a:t>Übersicht eingeschränkter Einheiten, Zugangszonen und Käufer-Eignungs-Vorprüfung für den Vertrieb.</a:t>
                      </a:r>
                    </a:p>
                  </a:txBody>
                  <a:tcPr marL="73152" marR="73152" marT="36576" marB="36576" anchor="ctr">
                    <a:solidFill>
                      <a:srgbClr val="FFFFFF"/>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18</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06 · FUNKTIONSUMFANG</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New Level Premium </a:t>
            </a:r>
            <a:r>
              <a:rPr lang="de-DE" sz="2700" b="1" i="0" dirty="0">
                <a:solidFill>
                  <a:srgbClr val="044F49"/>
                </a:solidFill>
                <a:latin typeface="Aptos"/>
              </a:rPr>
              <a:t>-</a:t>
            </a:r>
            <a:r>
              <a:rPr sz="2700" b="1" i="0" dirty="0">
                <a:solidFill>
                  <a:srgbClr val="044F49"/>
                </a:solidFill>
                <a:latin typeface="Aptos"/>
              </a:rPr>
              <a:t> </a:t>
            </a:r>
            <a:r>
              <a:rPr sz="2700" b="1" i="0" dirty="0" err="1">
                <a:solidFill>
                  <a:srgbClr val="044F49"/>
                </a:solidFill>
                <a:latin typeface="Aptos"/>
              </a:rPr>
              <a:t>öffentlicher</a:t>
            </a:r>
            <a:r>
              <a:rPr sz="2700" b="1" i="0" dirty="0">
                <a:solidFill>
                  <a:srgbClr val="044F49"/>
                </a:solidFill>
                <a:latin typeface="Aptos"/>
              </a:rPr>
              <a:t> </a:t>
            </a:r>
            <a:r>
              <a:rPr sz="2700" b="1" i="0" dirty="0" err="1">
                <a:solidFill>
                  <a:srgbClr val="044F49"/>
                </a:solidFill>
                <a:latin typeface="Aptos"/>
              </a:rPr>
              <a:t>Bereich</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2276856"/>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Funktion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Beschreibung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Öffentliche Landingpage</a:t>
                      </a:r>
                    </a:p>
                  </a:txBody>
                  <a:tcPr marL="73152" marR="73152" marT="36576" marB="36576" anchor="ctr">
                    <a:solidFill>
                      <a:srgbClr val="FFFFFF"/>
                    </a:solidFill>
                  </a:tcPr>
                </a:tc>
                <a:tc>
                  <a:txBody>
                    <a:bodyPr/>
                    <a:lstStyle/>
                    <a:p>
                      <a:r>
                        <a:rPr sz="1050" b="0" i="0">
                          <a:solidFill>
                            <a:srgbClr val="33413D"/>
                          </a:solidFill>
                          <a:latin typeface="Aptos"/>
                        </a:rPr>
                        <a:t>Mehrsprachige Projektseite, aufgebaut nach bewährter Marketing-Methodik, die Interessenten zur Registrierung führt.</a:t>
                      </a:r>
                    </a:p>
                  </a:txBody>
                  <a:tcPr marL="73152" marR="73152" marT="36576" marB="36576" anchor="ctr">
                    <a:solidFill>
                      <a:srgbClr val="FFFFFF"/>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Kontofreie Registrierung</a:t>
                      </a:r>
                    </a:p>
                  </a:txBody>
                  <a:tcPr marL="73152" marR="73152" marT="36576" marB="36576" anchor="ctr">
                    <a:solidFill>
                      <a:srgbClr val="F1F5F4"/>
                    </a:solidFill>
                  </a:tcPr>
                </a:tc>
                <a:tc>
                  <a:txBody>
                    <a:bodyPr/>
                    <a:lstStyle/>
                    <a:p>
                      <a:r>
                        <a:rPr sz="1050" b="0" i="0">
                          <a:solidFill>
                            <a:srgbClr val="33413D"/>
                          </a:solidFill>
                          <a:latin typeface="Aptos"/>
                        </a:rPr>
                        <a:t>Bewerbung als Eigentümer, Mieter oder Mitarbeiter ohne Konto; interne Rollen sind sicher ausgeschlossen.</a:t>
                      </a:r>
                    </a:p>
                  </a:txBody>
                  <a:tcPr marL="73152" marR="73152" marT="36576" marB="36576" anchor="ctr">
                    <a:solidFill>
                      <a:srgbClr val="F1F5F4"/>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Öffentlicher Meldekanal</a:t>
                      </a:r>
                    </a:p>
                  </a:txBody>
                  <a:tcPr marL="73152" marR="73152" marT="36576" marB="36576" anchor="ctr">
                    <a:solidFill>
                      <a:srgbClr val="FFFFFF"/>
                    </a:solidFill>
                  </a:tcPr>
                </a:tc>
                <a:tc>
                  <a:txBody>
                    <a:bodyPr/>
                    <a:lstStyle/>
                    <a:p>
                      <a:r>
                        <a:rPr sz="1050" b="0" i="0" dirty="0" err="1">
                          <a:solidFill>
                            <a:srgbClr val="33413D"/>
                          </a:solidFill>
                          <a:latin typeface="Aptos"/>
                        </a:rPr>
                        <a:t>Jede</a:t>
                      </a:r>
                      <a:r>
                        <a:rPr sz="1050" b="0" i="0" dirty="0">
                          <a:solidFill>
                            <a:srgbClr val="33413D"/>
                          </a:solidFill>
                          <a:latin typeface="Aptos"/>
                        </a:rPr>
                        <a:t> Person </a:t>
                      </a:r>
                      <a:r>
                        <a:rPr sz="1050" b="0" i="0" dirty="0" err="1">
                          <a:solidFill>
                            <a:srgbClr val="33413D"/>
                          </a:solidFill>
                          <a:latin typeface="Aptos"/>
                        </a:rPr>
                        <a:t>kann</a:t>
                      </a:r>
                      <a:r>
                        <a:rPr sz="1050" b="0" i="0" dirty="0">
                          <a:solidFill>
                            <a:srgbClr val="33413D"/>
                          </a:solidFill>
                          <a:latin typeface="Aptos"/>
                        </a:rPr>
                        <a:t> </a:t>
                      </a:r>
                      <a:r>
                        <a:rPr sz="1050" b="0" i="0" dirty="0" err="1">
                          <a:solidFill>
                            <a:srgbClr val="33413D"/>
                          </a:solidFill>
                          <a:latin typeface="Aptos"/>
                        </a:rPr>
                        <a:t>ohne</a:t>
                      </a:r>
                      <a:r>
                        <a:rPr sz="1050" b="0" i="0" dirty="0">
                          <a:solidFill>
                            <a:srgbClr val="33413D"/>
                          </a:solidFill>
                          <a:latin typeface="Aptos"/>
                        </a:rPr>
                        <a:t> </a:t>
                      </a:r>
                      <a:r>
                        <a:rPr sz="1050" b="0" i="0" dirty="0" err="1">
                          <a:solidFill>
                            <a:srgbClr val="33413D"/>
                          </a:solidFill>
                          <a:latin typeface="Aptos"/>
                        </a:rPr>
                        <a:t>Konto</a:t>
                      </a:r>
                      <a:r>
                        <a:rPr sz="1050" b="0" i="0" dirty="0">
                          <a:solidFill>
                            <a:srgbClr val="33413D"/>
                          </a:solidFill>
                          <a:latin typeface="Aptos"/>
                        </a:rPr>
                        <a:t> </a:t>
                      </a:r>
                      <a:r>
                        <a:rPr sz="1050" b="0" i="0" dirty="0" err="1">
                          <a:solidFill>
                            <a:srgbClr val="33413D"/>
                          </a:solidFill>
                          <a:latin typeface="Aptos"/>
                        </a:rPr>
                        <a:t>ein</a:t>
                      </a:r>
                      <a:r>
                        <a:rPr sz="1050" b="0" i="0" dirty="0">
                          <a:solidFill>
                            <a:srgbClr val="33413D"/>
                          </a:solidFill>
                          <a:latin typeface="Aptos"/>
                        </a:rPr>
                        <a:t> </a:t>
                      </a:r>
                      <a:r>
                        <a:rPr sz="1050" b="0" i="0" dirty="0" err="1">
                          <a:solidFill>
                            <a:srgbClr val="33413D"/>
                          </a:solidFill>
                          <a:latin typeface="Aptos"/>
                        </a:rPr>
                        <a:t>Anliegen</a:t>
                      </a:r>
                      <a:r>
                        <a:rPr sz="1050" b="0" i="0" dirty="0">
                          <a:solidFill>
                            <a:srgbClr val="33413D"/>
                          </a:solidFill>
                          <a:latin typeface="Aptos"/>
                        </a:rPr>
                        <a:t> </a:t>
                      </a:r>
                      <a:r>
                        <a:rPr sz="1050" b="0" i="0" dirty="0" err="1">
                          <a:solidFill>
                            <a:srgbClr val="33413D"/>
                          </a:solidFill>
                          <a:latin typeface="Aptos"/>
                        </a:rPr>
                        <a:t>melden</a:t>
                      </a:r>
                      <a:r>
                        <a:rPr sz="1050" b="0" i="0" dirty="0">
                          <a:solidFill>
                            <a:srgbClr val="33413D"/>
                          </a:solidFill>
                          <a:latin typeface="Aptos"/>
                        </a:rPr>
                        <a:t> </a:t>
                      </a:r>
                      <a:r>
                        <a:rPr lang="de-DE" sz="1050" b="0" i="0" dirty="0">
                          <a:solidFill>
                            <a:srgbClr val="33413D"/>
                          </a:solidFill>
                          <a:latin typeface="Aptos"/>
                        </a:rPr>
                        <a:t>-</a:t>
                      </a:r>
                      <a:r>
                        <a:rPr sz="1050" b="0" i="0" dirty="0">
                          <a:solidFill>
                            <a:srgbClr val="33413D"/>
                          </a:solidFill>
                          <a:latin typeface="Aptos"/>
                        </a:rPr>
                        <a:t> </a:t>
                      </a:r>
                      <a:r>
                        <a:rPr sz="1050" b="0" i="0" dirty="0" err="1">
                          <a:solidFill>
                            <a:srgbClr val="33413D"/>
                          </a:solidFill>
                          <a:latin typeface="Aptos"/>
                        </a:rPr>
                        <a:t>ausschließlich</a:t>
                      </a:r>
                      <a:r>
                        <a:rPr sz="1050" b="0" i="0" dirty="0">
                          <a:solidFill>
                            <a:srgbClr val="33413D"/>
                          </a:solidFill>
                          <a:latin typeface="Aptos"/>
                        </a:rPr>
                        <a:t> </a:t>
                      </a:r>
                      <a:r>
                        <a:rPr sz="1050" b="0" i="0" dirty="0" err="1">
                          <a:solidFill>
                            <a:srgbClr val="33413D"/>
                          </a:solidFill>
                          <a:latin typeface="Aptos"/>
                        </a:rPr>
                        <a:t>einreichend</a:t>
                      </a:r>
                      <a:r>
                        <a:rPr sz="1050" b="0" i="0" dirty="0">
                          <a:solidFill>
                            <a:srgbClr val="33413D"/>
                          </a:solidFill>
                          <a:latin typeface="Aptos"/>
                        </a:rPr>
                        <a:t>, </a:t>
                      </a:r>
                      <a:r>
                        <a:rPr sz="1050" b="0" i="0" dirty="0" err="1">
                          <a:solidFill>
                            <a:srgbClr val="33413D"/>
                          </a:solidFill>
                          <a:latin typeface="Aptos"/>
                        </a:rPr>
                        <a:t>keine</a:t>
                      </a:r>
                      <a:r>
                        <a:rPr sz="1050" b="0" i="0" dirty="0">
                          <a:solidFill>
                            <a:srgbClr val="33413D"/>
                          </a:solidFill>
                          <a:latin typeface="Aptos"/>
                        </a:rPr>
                        <a:t> </a:t>
                      </a:r>
                      <a:r>
                        <a:rPr sz="1050" b="0" i="0" dirty="0" err="1">
                          <a:solidFill>
                            <a:srgbClr val="33413D"/>
                          </a:solidFill>
                          <a:latin typeface="Aptos"/>
                        </a:rPr>
                        <a:t>Rückgabe</a:t>
                      </a:r>
                      <a:r>
                        <a:rPr sz="1050" b="0" i="0" dirty="0">
                          <a:solidFill>
                            <a:srgbClr val="33413D"/>
                          </a:solidFill>
                          <a:latin typeface="Aptos"/>
                        </a:rPr>
                        <a:t> </a:t>
                      </a:r>
                      <a:r>
                        <a:rPr sz="1050" b="0" i="0" dirty="0" err="1">
                          <a:solidFill>
                            <a:srgbClr val="33413D"/>
                          </a:solidFill>
                          <a:latin typeface="Aptos"/>
                        </a:rPr>
                        <a:t>interner</a:t>
                      </a:r>
                      <a:r>
                        <a:rPr sz="1050" b="0" i="0" dirty="0">
                          <a:solidFill>
                            <a:srgbClr val="33413D"/>
                          </a:solidFill>
                          <a:latin typeface="Aptos"/>
                        </a:rPr>
                        <a:t> </a:t>
                      </a:r>
                      <a:r>
                        <a:rPr sz="1050" b="0" i="0" dirty="0" err="1">
                          <a:solidFill>
                            <a:srgbClr val="33413D"/>
                          </a:solidFill>
                          <a:latin typeface="Aptos"/>
                        </a:rPr>
                        <a:t>Daten</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QR-Poster vor Ort</a:t>
                      </a:r>
                    </a:p>
                  </a:txBody>
                  <a:tcPr marL="73152" marR="73152" marT="36576" marB="36576" anchor="ctr">
                    <a:solidFill>
                      <a:srgbClr val="F1F5F4"/>
                    </a:solidFill>
                  </a:tcPr>
                </a:tc>
                <a:tc>
                  <a:txBody>
                    <a:bodyPr/>
                    <a:lstStyle/>
                    <a:p>
                      <a:r>
                        <a:rPr sz="1050" b="0" i="0">
                          <a:solidFill>
                            <a:srgbClr val="33413D"/>
                          </a:solidFill>
                          <a:latin typeface="Aptos"/>
                        </a:rPr>
                        <a:t>Druckfertiges Poster mit QR-Code, das direkt zum Meldeformular führt.</a:t>
                      </a:r>
                    </a:p>
                  </a:txBody>
                  <a:tcPr marL="73152" marR="73152" marT="36576" marB="36576" anchor="ctr">
                    <a:solidFill>
                      <a:srgbClr val="F1F5F4"/>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4"/>
                  </a:ext>
                </a:extLst>
              </a:tr>
              <a:tr h="365760">
                <a:tc>
                  <a:txBody>
                    <a:bodyPr/>
                    <a:lstStyle/>
                    <a:p>
                      <a:r>
                        <a:rPr sz="1050" b="1" i="0">
                          <a:solidFill>
                            <a:srgbClr val="101820"/>
                          </a:solidFill>
                          <a:latin typeface="Aptos"/>
                        </a:rPr>
                        <a:t>Mieter-Zeitzugang</a:t>
                      </a:r>
                    </a:p>
                  </a:txBody>
                  <a:tcPr marL="73152" marR="73152" marT="36576" marB="36576" anchor="ctr">
                    <a:solidFill>
                      <a:srgbClr val="FFFFFF"/>
                    </a:solidFill>
                  </a:tcPr>
                </a:tc>
                <a:tc>
                  <a:txBody>
                    <a:bodyPr/>
                    <a:lstStyle/>
                    <a:p>
                      <a:r>
                        <a:rPr sz="1050" b="0" i="0">
                          <a:solidFill>
                            <a:srgbClr val="33413D"/>
                          </a:solidFill>
                          <a:latin typeface="Aptos"/>
                        </a:rPr>
                        <a:t>Eigentümer-gesponserte, zeitlich begrenzte Zugangseinladungen für Mieter mit definiertem Umfang.</a:t>
                      </a:r>
                    </a:p>
                  </a:txBody>
                  <a:tcPr marL="73152" marR="73152" marT="36576" marB="36576" anchor="ctr">
                    <a:solidFill>
                      <a:srgbClr val="FFFFFF"/>
                    </a:solidFill>
                  </a:tcPr>
                </a:tc>
                <a:tc>
                  <a:txBody>
                    <a:bodyPr/>
                    <a:lstStyle/>
                    <a:p>
                      <a:pPr algn="ctr"/>
                      <a:r>
                        <a:rPr sz="1000" b="1" i="0">
                          <a:solidFill>
                            <a:srgbClr val="7A5410"/>
                          </a:solidFill>
                          <a:latin typeface="Aptos"/>
                        </a:rPr>
                        <a:t>Teilweise</a:t>
                      </a:r>
                    </a:p>
                  </a:txBody>
                  <a:tcPr marL="73152" marR="73152" marT="36576" marB="36576" anchor="ctr">
                    <a:solidFill>
                      <a:srgbClr val="F4EBDD"/>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19</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06 · FUNKTIONSUMFANG</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KI-Assistenten</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545336"/>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Funktion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Beschreibung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Interner Betriebsassistent</a:t>
                      </a:r>
                    </a:p>
                  </a:txBody>
                  <a:tcPr marL="73152" marR="73152" marT="36576" marB="36576" anchor="ctr">
                    <a:solidFill>
                      <a:srgbClr val="FFFFFF"/>
                    </a:solidFill>
                  </a:tcPr>
                </a:tc>
                <a:tc>
                  <a:txBody>
                    <a:bodyPr/>
                    <a:lstStyle/>
                    <a:p>
                      <a:r>
                        <a:rPr sz="1050" b="0" i="0" dirty="0" err="1">
                          <a:solidFill>
                            <a:srgbClr val="33413D"/>
                          </a:solidFill>
                          <a:latin typeface="Aptos"/>
                        </a:rPr>
                        <a:t>Rollenabhängiger</a:t>
                      </a:r>
                      <a:r>
                        <a:rPr sz="1050" b="0" i="0" dirty="0">
                          <a:solidFill>
                            <a:srgbClr val="33413D"/>
                          </a:solidFill>
                          <a:latin typeface="Aptos"/>
                        </a:rPr>
                        <a:t> </a:t>
                      </a:r>
                      <a:r>
                        <a:rPr sz="1050" b="0" i="0" dirty="0" err="1">
                          <a:solidFill>
                            <a:srgbClr val="33413D"/>
                          </a:solidFill>
                          <a:latin typeface="Aptos"/>
                        </a:rPr>
                        <a:t>Assistent</a:t>
                      </a:r>
                      <a:r>
                        <a:rPr sz="1050" b="0" i="0" dirty="0">
                          <a:solidFill>
                            <a:srgbClr val="33413D"/>
                          </a:solidFill>
                          <a:latin typeface="Aptos"/>
                        </a:rPr>
                        <a:t> </a:t>
                      </a:r>
                      <a:r>
                        <a:rPr sz="1050" b="0" i="0" dirty="0" err="1">
                          <a:solidFill>
                            <a:srgbClr val="33413D"/>
                          </a:solidFill>
                          <a:latin typeface="Aptos"/>
                        </a:rPr>
                        <a:t>im</a:t>
                      </a:r>
                      <a:r>
                        <a:rPr sz="1050" b="0" i="0" dirty="0">
                          <a:solidFill>
                            <a:srgbClr val="33413D"/>
                          </a:solidFill>
                          <a:latin typeface="Aptos"/>
                        </a:rPr>
                        <a:t> Portal für </a:t>
                      </a:r>
                      <a:r>
                        <a:rPr sz="1050" b="0" i="0" dirty="0" err="1">
                          <a:solidFill>
                            <a:srgbClr val="33413D"/>
                          </a:solidFill>
                          <a:latin typeface="Aptos"/>
                        </a:rPr>
                        <a:t>Zusammenfassungen</a:t>
                      </a:r>
                      <a:r>
                        <a:rPr sz="1050" b="0" i="0" dirty="0">
                          <a:solidFill>
                            <a:srgbClr val="33413D"/>
                          </a:solidFill>
                          <a:latin typeface="Aptos"/>
                        </a:rPr>
                        <a:t>, </a:t>
                      </a:r>
                      <a:r>
                        <a:rPr sz="1050" b="0" i="0" dirty="0" err="1">
                          <a:solidFill>
                            <a:srgbClr val="33413D"/>
                          </a:solidFill>
                          <a:latin typeface="Aptos"/>
                        </a:rPr>
                        <a:t>Prioritäten</a:t>
                      </a:r>
                      <a:r>
                        <a:rPr sz="1050" b="0" i="0" dirty="0">
                          <a:solidFill>
                            <a:srgbClr val="33413D"/>
                          </a:solidFill>
                          <a:latin typeface="Aptos"/>
                        </a:rPr>
                        <a:t> und </a:t>
                      </a:r>
                      <a:r>
                        <a:rPr sz="1050" b="0" i="0" dirty="0" err="1">
                          <a:solidFill>
                            <a:srgbClr val="33413D"/>
                          </a:solidFill>
                          <a:latin typeface="Aptos"/>
                        </a:rPr>
                        <a:t>Textentwürfe</a:t>
                      </a:r>
                      <a:r>
                        <a:rPr sz="1050" b="0" i="0" dirty="0">
                          <a:solidFill>
                            <a:srgbClr val="33413D"/>
                          </a:solidFill>
                          <a:latin typeface="Aptos"/>
                        </a:rPr>
                        <a:t> </a:t>
                      </a:r>
                      <a:r>
                        <a:rPr lang="de-DE" sz="1050" b="0" i="0" dirty="0">
                          <a:solidFill>
                            <a:srgbClr val="33413D"/>
                          </a:solidFill>
                          <a:latin typeface="Aptos"/>
                        </a:rPr>
                        <a:t>-</a:t>
                      </a:r>
                      <a:r>
                        <a:rPr sz="1050" b="0" i="0" dirty="0">
                          <a:solidFill>
                            <a:srgbClr val="33413D"/>
                          </a:solidFill>
                          <a:latin typeface="Aptos"/>
                        </a:rPr>
                        <a:t> </a:t>
                      </a:r>
                      <a:r>
                        <a:rPr sz="1050" b="0" i="0" dirty="0" err="1">
                          <a:solidFill>
                            <a:srgbClr val="33413D"/>
                          </a:solidFill>
                          <a:latin typeface="Aptos"/>
                        </a:rPr>
                        <a:t>führt</a:t>
                      </a:r>
                      <a:r>
                        <a:rPr sz="1050" b="0" i="0" dirty="0">
                          <a:solidFill>
                            <a:srgbClr val="33413D"/>
                          </a:solidFill>
                          <a:latin typeface="Aptos"/>
                        </a:rPr>
                        <a:t> </a:t>
                      </a:r>
                      <a:r>
                        <a:rPr sz="1050" b="0" i="0" dirty="0" err="1">
                          <a:solidFill>
                            <a:srgbClr val="33413D"/>
                          </a:solidFill>
                          <a:latin typeface="Aptos"/>
                        </a:rPr>
                        <a:t>nie</a:t>
                      </a:r>
                      <a:r>
                        <a:rPr sz="1050" b="0" i="0" dirty="0">
                          <a:solidFill>
                            <a:srgbClr val="33413D"/>
                          </a:solidFill>
                          <a:latin typeface="Aptos"/>
                        </a:rPr>
                        <a:t> </a:t>
                      </a:r>
                      <a:r>
                        <a:rPr sz="1050" b="0" i="0" dirty="0" err="1">
                          <a:solidFill>
                            <a:srgbClr val="33413D"/>
                          </a:solidFill>
                          <a:latin typeface="Aptos"/>
                        </a:rPr>
                        <a:t>eigenmächtig</a:t>
                      </a:r>
                      <a:r>
                        <a:rPr sz="1050" b="0" i="0" dirty="0">
                          <a:solidFill>
                            <a:srgbClr val="33413D"/>
                          </a:solidFill>
                          <a:latin typeface="Aptos"/>
                        </a:rPr>
                        <a:t> sensible </a:t>
                      </a:r>
                      <a:r>
                        <a:rPr sz="1050" b="0" i="0" dirty="0" err="1">
                          <a:solidFill>
                            <a:srgbClr val="33413D"/>
                          </a:solidFill>
                          <a:latin typeface="Aptos"/>
                        </a:rPr>
                        <a:t>Aktionen</a:t>
                      </a:r>
                      <a:r>
                        <a:rPr sz="1050" b="0" i="0" dirty="0">
                          <a:solidFill>
                            <a:srgbClr val="33413D"/>
                          </a:solidFill>
                          <a:latin typeface="Aptos"/>
                        </a:rPr>
                        <a:t> </a:t>
                      </a:r>
                      <a:r>
                        <a:rPr sz="1050" b="0" i="0" dirty="0" err="1">
                          <a:solidFill>
                            <a:srgbClr val="33413D"/>
                          </a:solidFill>
                          <a:latin typeface="Aptos"/>
                        </a:rPr>
                        <a:t>aus.</a:t>
                      </a:r>
                      <a:endParaRPr sz="1050" b="0" i="0" dirty="0">
                        <a:solidFill>
                          <a:srgbClr val="33413D"/>
                        </a:solidFill>
                        <a:latin typeface="Aptos"/>
                      </a:endParaRPr>
                    </a:p>
                  </a:txBody>
                  <a:tcPr marL="73152" marR="73152" marT="36576" marB="36576" anchor="ctr">
                    <a:solidFill>
                      <a:srgbClr val="FFFFFF"/>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Öffentlicher Concierge</a:t>
                      </a:r>
                    </a:p>
                  </a:txBody>
                  <a:tcPr marL="73152" marR="73152" marT="36576" marB="36576" anchor="ctr">
                    <a:solidFill>
                      <a:srgbClr val="F1F5F4"/>
                    </a:solidFill>
                  </a:tcPr>
                </a:tc>
                <a:tc>
                  <a:txBody>
                    <a:bodyPr/>
                    <a:lstStyle/>
                    <a:p>
                      <a:r>
                        <a:rPr sz="1050" b="0" i="0">
                          <a:solidFill>
                            <a:srgbClr val="33413D"/>
                          </a:solidFill>
                          <a:latin typeface="Aptos"/>
                        </a:rPr>
                        <a:t>Assistent auf der Landingpage, der Interessenten begleitet und zur Registrierung führt; hat bewusst keinen Zugriff auf interne Daten.</a:t>
                      </a:r>
                    </a:p>
                  </a:txBody>
                  <a:tcPr marL="73152" marR="73152" marT="36576" marB="36576" anchor="ctr">
                    <a:solidFill>
                      <a:srgbClr val="F1F5F4"/>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Verbindung beider Assistenten</a:t>
                      </a:r>
                    </a:p>
                  </a:txBody>
                  <a:tcPr marL="73152" marR="73152" marT="36576" marB="36576" anchor="ctr">
                    <a:solidFill>
                      <a:srgbClr val="FFFFFF"/>
                    </a:solidFill>
                  </a:tcPr>
                </a:tc>
                <a:tc>
                  <a:txBody>
                    <a:bodyPr/>
                    <a:lstStyle/>
                    <a:p>
                      <a:r>
                        <a:rPr sz="1050" b="0" i="0">
                          <a:solidFill>
                            <a:srgbClr val="33413D"/>
                          </a:solidFill>
                          <a:latin typeface="Aptos"/>
                        </a:rPr>
                        <a:t>Der öffentliche Concierge liefert anonymisierte Themen der Interessentenfragen an das interne System zurück.</a:t>
                      </a:r>
                    </a:p>
                  </a:txBody>
                  <a:tcPr marL="73152" marR="73152" marT="36576" marB="36576" anchor="ctr">
                    <a:solidFill>
                      <a:srgbClr val="FFFFFF"/>
                    </a:solidFill>
                  </a:tcPr>
                </a:tc>
                <a:tc>
                  <a:txBody>
                    <a:bodyPr/>
                    <a:lstStyle/>
                    <a:p>
                      <a:pPr algn="ctr"/>
                      <a:r>
                        <a:rPr sz="1000" b="1" i="0">
                          <a:solidFill>
                            <a:srgbClr val="044F49"/>
                          </a:solidFill>
                          <a:latin typeface="Aptos"/>
                        </a:rPr>
                        <a:t>Verfügbar</a:t>
                      </a:r>
                    </a:p>
                  </a:txBody>
                  <a:tcPr marL="73152" marR="73152" marT="36576" marB="36576" anchor="ctr">
                    <a:solidFill>
                      <a:srgbClr val="DAE9E8"/>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20</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06 · FUNKTIONSUMFANG</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Plattform-Grundlagen</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5623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Funktion</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Beschreibung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Mehrsprachigkeit</a:t>
                      </a:r>
                    </a:p>
                  </a:txBody>
                  <a:tcPr marL="73152" marR="73152" marT="36576" marB="36576" anchor="ctr">
                    <a:solidFill>
                      <a:srgbClr val="FFFFFF"/>
                    </a:solidFill>
                  </a:tcPr>
                </a:tc>
                <a:tc>
                  <a:txBody>
                    <a:bodyPr/>
                    <a:lstStyle/>
                    <a:p>
                      <a:r>
                        <a:rPr sz="1050" b="0" i="0" dirty="0" err="1">
                          <a:solidFill>
                            <a:srgbClr val="33413D"/>
                          </a:solidFill>
                          <a:latin typeface="Aptos"/>
                        </a:rPr>
                        <a:t>Vollständig</a:t>
                      </a:r>
                      <a:r>
                        <a:rPr sz="1050" b="0" i="0" dirty="0">
                          <a:solidFill>
                            <a:srgbClr val="33413D"/>
                          </a:solidFill>
                          <a:latin typeface="Aptos"/>
                        </a:rPr>
                        <a:t> in </a:t>
                      </a:r>
                      <a:r>
                        <a:rPr sz="1050" b="0" i="0" dirty="0" err="1">
                          <a:solidFill>
                            <a:srgbClr val="33413D"/>
                          </a:solidFill>
                          <a:latin typeface="Aptos"/>
                        </a:rPr>
                        <a:t>Türkisch</a:t>
                      </a:r>
                      <a:r>
                        <a:rPr sz="1050" b="0" i="0" dirty="0">
                          <a:solidFill>
                            <a:srgbClr val="33413D"/>
                          </a:solidFill>
                          <a:latin typeface="Aptos"/>
                        </a:rPr>
                        <a:t>, Englisch, Deutsch und </a:t>
                      </a:r>
                      <a:r>
                        <a:rPr sz="1050" b="0" i="0" dirty="0" err="1">
                          <a:solidFill>
                            <a:srgbClr val="33413D"/>
                          </a:solidFill>
                          <a:latin typeface="Aptos"/>
                        </a:rPr>
                        <a:t>Russisch</a:t>
                      </a:r>
                      <a:r>
                        <a:rPr sz="1050" b="0" i="0" dirty="0">
                          <a:solidFill>
                            <a:srgbClr val="33413D"/>
                          </a:solidFill>
                          <a:latin typeface="Aptos"/>
                        </a:rPr>
                        <a:t> </a:t>
                      </a:r>
                      <a:r>
                        <a:rPr lang="de-DE" sz="1050" b="0" i="0" dirty="0">
                          <a:solidFill>
                            <a:srgbClr val="33413D"/>
                          </a:solidFill>
                          <a:latin typeface="Aptos"/>
                        </a:rPr>
                        <a:t>-</a:t>
                      </a:r>
                      <a:r>
                        <a:rPr sz="1050" b="0" i="0" dirty="0">
                          <a:solidFill>
                            <a:srgbClr val="33413D"/>
                          </a:solidFill>
                          <a:latin typeface="Aptos"/>
                        </a:rPr>
                        <a:t> </a:t>
                      </a:r>
                      <a:r>
                        <a:rPr sz="1050" b="0" i="0" dirty="0" err="1">
                          <a:solidFill>
                            <a:srgbClr val="33413D"/>
                          </a:solidFill>
                          <a:latin typeface="Aptos"/>
                        </a:rPr>
                        <a:t>inhaltlich</a:t>
                      </a:r>
                      <a:r>
                        <a:rPr sz="1050" b="0" i="0" dirty="0">
                          <a:solidFill>
                            <a:srgbClr val="33413D"/>
                          </a:solidFill>
                          <a:latin typeface="Aptos"/>
                        </a:rPr>
                        <a:t> </a:t>
                      </a:r>
                      <a:r>
                        <a:rPr sz="1050" b="0" i="0" dirty="0" err="1">
                          <a:solidFill>
                            <a:srgbClr val="33413D"/>
                          </a:solidFill>
                          <a:latin typeface="Aptos"/>
                        </a:rPr>
                        <a:t>wie</a:t>
                      </a:r>
                      <a:r>
                        <a:rPr sz="1050" b="0" i="0" dirty="0">
                          <a:solidFill>
                            <a:srgbClr val="33413D"/>
                          </a:solidFill>
                          <a:latin typeface="Aptos"/>
                        </a:rPr>
                        <a:t> in der </a:t>
                      </a:r>
                      <a:r>
                        <a:rPr sz="1050" b="0" i="0" dirty="0" err="1">
                          <a:solidFill>
                            <a:srgbClr val="33413D"/>
                          </a:solidFill>
                          <a:latin typeface="Aptos"/>
                        </a:rPr>
                        <a:t>Oberfläche</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Installierbare Web-App (PWA)</a:t>
                      </a:r>
                    </a:p>
                  </a:txBody>
                  <a:tcPr marL="73152" marR="73152" marT="36576" marB="36576" anchor="ctr">
                    <a:solidFill>
                      <a:srgbClr val="F1F5F4"/>
                    </a:solidFill>
                  </a:tcPr>
                </a:tc>
                <a:tc>
                  <a:txBody>
                    <a:bodyPr/>
                    <a:lstStyle/>
                    <a:p>
                      <a:r>
                        <a:rPr sz="1050" b="0" i="0">
                          <a:solidFill>
                            <a:srgbClr val="33413D"/>
                          </a:solidFill>
                          <a:latin typeface="Aptos"/>
                        </a:rPr>
                        <a:t>Auf jedem Gerät ohne App-Store installierbar; Grundgerüst arbeitet auch bei schwacher Verbindung.</a:t>
                      </a:r>
                    </a:p>
                  </a:txBody>
                  <a:tcPr marL="73152" marR="73152" marT="36576" marB="36576" anchor="ctr">
                    <a:solidFill>
                      <a:srgbClr val="F1F5F4"/>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Hell-/Dunkel-Modus &amp; CI-Design</a:t>
                      </a:r>
                    </a:p>
                  </a:txBody>
                  <a:tcPr marL="73152" marR="73152" marT="36576" marB="36576" anchor="ctr">
                    <a:solidFill>
                      <a:srgbClr val="FFFFFF"/>
                    </a:solidFill>
                  </a:tcPr>
                </a:tc>
                <a:tc>
                  <a:txBody>
                    <a:bodyPr/>
                    <a:lstStyle/>
                    <a:p>
                      <a:r>
                        <a:rPr sz="1050" b="0" i="0">
                          <a:solidFill>
                            <a:srgbClr val="33413D"/>
                          </a:solidFill>
                          <a:latin typeface="Aptos"/>
                        </a:rPr>
                        <a:t>Durchgängiges Markendesign in Ihren Farben, mit Hell-/Dunkel-Umschaltung im Portal.</a:t>
                      </a:r>
                    </a:p>
                  </a:txBody>
                  <a:tcPr marL="73152" marR="73152" marT="36576" marB="36576" anchor="ctr">
                    <a:solidFill>
                      <a:srgbClr val="FFFFFF"/>
                    </a:solidFill>
                  </a:tcPr>
                </a:tc>
                <a:tc>
                  <a:txBody>
                    <a:bodyPr/>
                    <a:lstStyle/>
                    <a:p>
                      <a:pPr algn="ctr"/>
                      <a:r>
                        <a:rPr sz="1000" b="1" i="0">
                          <a:solidFill>
                            <a:srgbClr val="044F49"/>
                          </a:solidFill>
                          <a:latin typeface="Aptos"/>
                        </a:rPr>
                        <a:t>Live</a:t>
                      </a:r>
                    </a:p>
                  </a:txBody>
                  <a:tcPr marL="73152" marR="73152" marT="36576" marB="36576" anchor="ctr">
                    <a:solidFill>
                      <a:srgbClr val="D3E9E7"/>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Offline-Arbeitsbereich &amp; Push</a:t>
                      </a:r>
                    </a:p>
                  </a:txBody>
                  <a:tcPr marL="73152" marR="73152" marT="36576" marB="36576" anchor="ctr">
                    <a:solidFill>
                      <a:srgbClr val="F1F5F4"/>
                    </a:solidFill>
                  </a:tcPr>
                </a:tc>
                <a:tc>
                  <a:txBody>
                    <a:bodyPr/>
                    <a:lstStyle/>
                    <a:p>
                      <a:r>
                        <a:rPr sz="1050" b="0" i="0">
                          <a:solidFill>
                            <a:srgbClr val="33413D"/>
                          </a:solidFill>
                          <a:latin typeface="Aptos"/>
                        </a:rPr>
                        <a:t>Offline-Warteschlange für den Außendienst; produktive Offline-Synchronisation und Push-Benachrichtigungen.</a:t>
                      </a:r>
                    </a:p>
                  </a:txBody>
                  <a:tcPr marL="73152" marR="73152" marT="36576" marB="36576" anchor="ctr">
                    <a:solidFill>
                      <a:srgbClr val="F1F5F4"/>
                    </a:solidFill>
                  </a:tcPr>
                </a:tc>
                <a:tc>
                  <a:txBody>
                    <a:bodyPr/>
                    <a:lstStyle/>
                    <a:p>
                      <a:pPr algn="ctr"/>
                      <a:r>
                        <a:rPr sz="1000" b="1" i="0">
                          <a:solidFill>
                            <a:srgbClr val="4B5652"/>
                          </a:solidFill>
                          <a:latin typeface="Aptos"/>
                        </a:rPr>
                        <a:t>In Vorbereitung</a:t>
                      </a:r>
                    </a:p>
                  </a:txBody>
                  <a:tcPr marL="73152" marR="73152" marT="36576" marB="36576" anchor="ctr">
                    <a:solidFill>
                      <a:srgbClr val="EAECEB"/>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21</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07</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Abgleich Ihrer Anforderungen (1/2)</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463040"/>
          <a:ext cx="10881360" cy="4023360"/>
        </p:xfrm>
        <a:graphic>
          <a:graphicData uri="http://schemas.openxmlformats.org/drawingml/2006/table">
            <a:tbl>
              <a:tblPr>
                <a:tableStyleId>{5C22544A-7EE6-4342-B048-85BDC9FD1C3A}</a:tableStyleId>
              </a:tblPr>
              <a:tblGrid>
                <a:gridCol w="4352544">
                  <a:extLst>
                    <a:ext uri="{9D8B030D-6E8A-4147-A177-3AD203B41FA5}">
                      <a16:colId xmlns:a16="http://schemas.microsoft.com/office/drawing/2014/main" val="20000"/>
                    </a:ext>
                  </a:extLst>
                </a:gridCol>
                <a:gridCol w="1632204">
                  <a:extLst>
                    <a:ext uri="{9D8B030D-6E8A-4147-A177-3AD203B41FA5}">
                      <a16:colId xmlns:a16="http://schemas.microsoft.com/office/drawing/2014/main" val="20001"/>
                    </a:ext>
                  </a:extLst>
                </a:gridCol>
                <a:gridCol w="4896612">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Ihre Anforderung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tc>
                  <a:txBody>
                    <a:bodyPr/>
                    <a:lstStyle/>
                    <a:p>
                      <a:r>
                        <a:rPr sz="1050" b="1" i="0">
                          <a:solidFill>
                            <a:srgbClr val="FFFFFF"/>
                          </a:solidFill>
                          <a:latin typeface="Aptos"/>
                        </a:rPr>
                        <a:t>Anmerkung</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950" b="1" i="0">
                          <a:solidFill>
                            <a:srgbClr val="101820"/>
                          </a:solidFill>
                          <a:latin typeface="Aptos"/>
                        </a:rPr>
                        <a:t>Zentrale Plattform für 769 Wohnungen</a:t>
                      </a:r>
                    </a:p>
                  </a:txBody>
                  <a:tcPr marL="73152" marR="73152" marT="36576" marB="36576" anchor="ctr">
                    <a:solidFill>
                      <a:srgbClr val="FFFFFF"/>
                    </a:solidFill>
                  </a:tcPr>
                </a:tc>
                <a:tc>
                  <a:txBody>
                    <a:bodyPr/>
                    <a:lstStyle/>
                    <a:p>
                      <a:pPr algn="ctr"/>
                      <a:r>
                        <a:rPr sz="900" b="1" i="0">
                          <a:solidFill>
                            <a:srgbClr val="044F49"/>
                          </a:solidFill>
                          <a:latin typeface="Aptos"/>
                        </a:rPr>
                        <a:t>Vollständig</a:t>
                      </a:r>
                    </a:p>
                  </a:txBody>
                  <a:tcPr marL="73152" marR="73152" marT="36576" marB="36576" anchor="ctr">
                    <a:solidFill>
                      <a:srgbClr val="DAE9E8"/>
                    </a:solidFill>
                  </a:tcPr>
                </a:tc>
                <a:tc>
                  <a:txBody>
                    <a:bodyPr/>
                    <a:lstStyle/>
                    <a:p>
                      <a:r>
                        <a:rPr sz="950" b="0" i="0">
                          <a:solidFill>
                            <a:srgbClr val="33413D"/>
                          </a:solidFill>
                          <a:latin typeface="Aptos"/>
                        </a:rPr>
                        <a:t>Mit realem Referenzdatensatz umgesetzt.</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950" b="1" i="0">
                          <a:solidFill>
                            <a:srgbClr val="101820"/>
                          </a:solidFill>
                          <a:latin typeface="Aptos"/>
                        </a:rPr>
                        <a:t>Kern: Standort → Block → Wohnung, Beziehungen</a:t>
                      </a:r>
                    </a:p>
                  </a:txBody>
                  <a:tcPr marL="73152" marR="73152" marT="36576" marB="36576" anchor="ctr">
                    <a:solidFill>
                      <a:srgbClr val="F1F5F4"/>
                    </a:solidFill>
                  </a:tcPr>
                </a:tc>
                <a:tc>
                  <a:txBody>
                    <a:bodyPr/>
                    <a:lstStyle/>
                    <a:p>
                      <a:pPr algn="ctr"/>
                      <a:r>
                        <a:rPr sz="900" b="1" i="0">
                          <a:solidFill>
                            <a:srgbClr val="044F49"/>
                          </a:solidFill>
                          <a:latin typeface="Aptos"/>
                        </a:rPr>
                        <a:t>Vollständig</a:t>
                      </a:r>
                    </a:p>
                  </a:txBody>
                  <a:tcPr marL="73152" marR="73152" marT="36576" marB="36576" anchor="ctr">
                    <a:solidFill>
                      <a:srgbClr val="DAE9E8"/>
                    </a:solidFill>
                  </a:tcPr>
                </a:tc>
                <a:tc>
                  <a:txBody>
                    <a:bodyPr/>
                    <a:lstStyle/>
                    <a:p>
                      <a:r>
                        <a:rPr sz="950" b="0" i="0">
                          <a:solidFill>
                            <a:srgbClr val="33413D"/>
                          </a:solidFill>
                          <a:latin typeface="Aptos"/>
                        </a:rPr>
                        <a:t>Vollständiges Datenmodell mit Rechte- und Datensicherheit.</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950" b="1" i="0">
                          <a:solidFill>
                            <a:srgbClr val="101820"/>
                          </a:solidFill>
                          <a:latin typeface="Aptos"/>
                        </a:rPr>
                        <a:t>Finanzmodul (Konten, Salden, Abrechnung, Inkasso, Kaution)</a:t>
                      </a:r>
                    </a:p>
                  </a:txBody>
                  <a:tcPr marL="73152" marR="73152" marT="36576" marB="36576" anchor="ctr">
                    <a:solidFill>
                      <a:srgbClr val="FFFFFF"/>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Konten &amp; Salden vollständig; aktive Erfassung/automatische Verrechnung in Vorbereitung.</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950" b="1" i="0">
                          <a:solidFill>
                            <a:srgbClr val="101820"/>
                          </a:solidFill>
                          <a:latin typeface="Aptos"/>
                        </a:rPr>
                        <a:t>Operations (Aufgaben, Dienste, Personal)</a:t>
                      </a:r>
                    </a:p>
                  </a:txBody>
                  <a:tcPr marL="73152" marR="73152" marT="36576" marB="36576" anchor="ctr">
                    <a:solidFill>
                      <a:srgbClr val="F1F5F4"/>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Aufgaben &amp; Dienste verfügbar; Lagerverwaltung war optional nach MVP.</a:t>
                      </a:r>
                    </a:p>
                  </a:txBody>
                  <a:tcPr marL="73152" marR="73152" marT="36576" marB="36576" anchor="ctr">
                    <a:solidFill>
                      <a:srgbClr val="F1F5F4"/>
                    </a:solidFill>
                  </a:tcPr>
                </a:tc>
                <a:extLst>
                  <a:ext uri="{0D108BD9-81ED-4DB2-BD59-A6C34878D82A}">
                    <a16:rowId xmlns:a16="http://schemas.microsoft.com/office/drawing/2014/main" val="10004"/>
                  </a:ext>
                </a:extLst>
              </a:tr>
              <a:tr h="365760">
                <a:tc>
                  <a:txBody>
                    <a:bodyPr/>
                    <a:lstStyle/>
                    <a:p>
                      <a:r>
                        <a:rPr sz="950" b="1" i="0">
                          <a:solidFill>
                            <a:srgbClr val="101820"/>
                          </a:solidFill>
                          <a:latin typeface="Aptos"/>
                        </a:rPr>
                        <a:t>Benutzeroberflächen: Web-Panel &amp; Mobile App</a:t>
                      </a:r>
                    </a:p>
                  </a:txBody>
                  <a:tcPr marL="73152" marR="73152" marT="36576" marB="36576" anchor="ctr">
                    <a:solidFill>
                      <a:srgbClr val="FFFFFF"/>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Web-Panel vollständig; mobil als installierbare Web-App (PWA) statt nativer App.</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r>
                        <a:rPr sz="950" b="1" i="0">
                          <a:solidFill>
                            <a:srgbClr val="101820"/>
                          </a:solidFill>
                          <a:latin typeface="Aptos"/>
                        </a:rPr>
                        <a:t>Sechs Benutzerrollen mit spezifischen Rechten</a:t>
                      </a:r>
                    </a:p>
                  </a:txBody>
                  <a:tcPr marL="73152" marR="73152" marT="36576" marB="36576" anchor="ctr">
                    <a:solidFill>
                      <a:srgbClr val="F1F5F4"/>
                    </a:solidFill>
                  </a:tcPr>
                </a:tc>
                <a:tc>
                  <a:txBody>
                    <a:bodyPr/>
                    <a:lstStyle/>
                    <a:p>
                      <a:pPr algn="ctr"/>
                      <a:r>
                        <a:rPr sz="900" b="1" i="0">
                          <a:solidFill>
                            <a:srgbClr val="044F49"/>
                          </a:solidFill>
                          <a:latin typeface="Aptos"/>
                        </a:rPr>
                        <a:t>Vollständig</a:t>
                      </a:r>
                    </a:p>
                  </a:txBody>
                  <a:tcPr marL="73152" marR="73152" marT="36576" marB="36576" anchor="ctr">
                    <a:solidFill>
                      <a:srgbClr val="DAE9E8"/>
                    </a:solidFill>
                  </a:tcPr>
                </a:tc>
                <a:tc>
                  <a:txBody>
                    <a:bodyPr/>
                    <a:lstStyle/>
                    <a:p>
                      <a:r>
                        <a:rPr sz="950" b="0" i="0">
                          <a:solidFill>
                            <a:srgbClr val="33413D"/>
                          </a:solidFill>
                          <a:latin typeface="Aptos"/>
                        </a:rPr>
                        <a:t>Umgesetzt und feiner abgestuft als gefordert.</a:t>
                      </a:r>
                    </a:p>
                  </a:txBody>
                  <a:tcPr marL="73152" marR="73152" marT="36576" marB="36576" anchor="ctr">
                    <a:solidFill>
                      <a:srgbClr val="F1F5F4"/>
                    </a:solidFill>
                  </a:tcPr>
                </a:tc>
                <a:extLst>
                  <a:ext uri="{0D108BD9-81ED-4DB2-BD59-A6C34878D82A}">
                    <a16:rowId xmlns:a16="http://schemas.microsoft.com/office/drawing/2014/main" val="10006"/>
                  </a:ext>
                </a:extLst>
              </a:tr>
              <a:tr h="365760">
                <a:tc>
                  <a:txBody>
                    <a:bodyPr/>
                    <a:lstStyle/>
                    <a:p>
                      <a:r>
                        <a:rPr sz="950" b="1" i="0">
                          <a:solidFill>
                            <a:srgbClr val="101820"/>
                          </a:solidFill>
                          <a:latin typeface="Aptos"/>
                        </a:rPr>
                        <a:t>Stammdaten: Wohnung, Nutzer, Konto, Transaktion, Dienst, Aufgabe, Buchung, Kaution</a:t>
                      </a:r>
                    </a:p>
                  </a:txBody>
                  <a:tcPr marL="73152" marR="73152" marT="36576" marB="36576" anchor="ctr">
                    <a:solidFill>
                      <a:srgbClr val="FFFFFF"/>
                    </a:solidFill>
                  </a:tcPr>
                </a:tc>
                <a:tc>
                  <a:txBody>
                    <a:bodyPr/>
                    <a:lstStyle/>
                    <a:p>
                      <a:pPr algn="ctr"/>
                      <a:r>
                        <a:rPr sz="900" b="1" i="0">
                          <a:solidFill>
                            <a:srgbClr val="044F49"/>
                          </a:solidFill>
                          <a:latin typeface="Aptos"/>
                        </a:rPr>
                        <a:t>Vollständig</a:t>
                      </a:r>
                    </a:p>
                  </a:txBody>
                  <a:tcPr marL="73152" marR="73152" marT="36576" marB="36576" anchor="ctr">
                    <a:solidFill>
                      <a:srgbClr val="DAE9E8"/>
                    </a:solidFill>
                  </a:tcPr>
                </a:tc>
                <a:tc>
                  <a:txBody>
                    <a:bodyPr/>
                    <a:lstStyle/>
                    <a:p>
                      <a:r>
                        <a:rPr sz="950" b="0" i="0">
                          <a:solidFill>
                            <a:srgbClr val="33413D"/>
                          </a:solidFill>
                          <a:latin typeface="Aptos"/>
                        </a:rPr>
                        <a:t>Alle Datenmodelle vorhanden und in der Oberfläche sichtbar.</a:t>
                      </a:r>
                    </a:p>
                  </a:txBody>
                  <a:tcPr marL="73152" marR="73152" marT="36576" marB="36576" anchor="ctr">
                    <a:solidFill>
                      <a:srgbClr val="FFFFFF"/>
                    </a:solidFill>
                  </a:tcPr>
                </a:tc>
                <a:extLst>
                  <a:ext uri="{0D108BD9-81ED-4DB2-BD59-A6C34878D82A}">
                    <a16:rowId xmlns:a16="http://schemas.microsoft.com/office/drawing/2014/main" val="10007"/>
                  </a:ext>
                </a:extLst>
              </a:tr>
              <a:tr h="365760">
                <a:tc>
                  <a:txBody>
                    <a:bodyPr/>
                    <a:lstStyle/>
                    <a:p>
                      <a:r>
                        <a:rPr sz="950" b="1" i="0">
                          <a:solidFill>
                            <a:srgbClr val="101820"/>
                          </a:solidFill>
                          <a:latin typeface="Aptos"/>
                        </a:rPr>
                        <a:t>Finanzregeln (Dienst bei Schuld ablehnen, Miete verrechnen, Kaution sperren/erstatten)</a:t>
                      </a:r>
                    </a:p>
                  </a:txBody>
                  <a:tcPr marL="73152" marR="73152" marT="36576" marB="36576" anchor="ctr">
                    <a:solidFill>
                      <a:srgbClr val="F1F5F4"/>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Erkennung &amp; Empfehlung mit Freigabe vorhanden; automatischer Vollzug in Vorbereitung.</a:t>
                      </a:r>
                    </a:p>
                  </a:txBody>
                  <a:tcPr marL="73152" marR="73152" marT="36576" marB="36576" anchor="ctr">
                    <a:solidFill>
                      <a:srgbClr val="F1F5F4"/>
                    </a:solidFill>
                  </a:tcPr>
                </a:tc>
                <a:extLst>
                  <a:ext uri="{0D108BD9-81ED-4DB2-BD59-A6C34878D82A}">
                    <a16:rowId xmlns:a16="http://schemas.microsoft.com/office/drawing/2014/main" val="10008"/>
                  </a:ext>
                </a:extLst>
              </a:tr>
              <a:tr h="365760">
                <a:tc>
                  <a:txBody>
                    <a:bodyPr/>
                    <a:lstStyle/>
                    <a:p>
                      <a:r>
                        <a:rPr sz="950" b="1" i="0">
                          <a:solidFill>
                            <a:srgbClr val="101820"/>
                          </a:solidFill>
                          <a:latin typeface="Aptos"/>
                        </a:rPr>
                        <a:t>Einschränkungen bei Schulden (Buchung/Karte/Dienst sperren)</a:t>
                      </a:r>
                    </a:p>
                  </a:txBody>
                  <a:tcPr marL="73152" marR="73152" marT="36576" marB="36576" anchor="ctr">
                    <a:solidFill>
                      <a:srgbClr val="FFFFFF"/>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Empfehlung vorhanden; tatsächliche Ausführung nach rechtlicher Freigabe.</a:t>
                      </a:r>
                    </a:p>
                  </a:txBody>
                  <a:tcPr marL="73152" marR="73152" marT="36576" marB="36576" anchor="ctr">
                    <a:solidFill>
                      <a:srgbClr val="FFFFFF"/>
                    </a:solidFill>
                  </a:tcPr>
                </a:tc>
                <a:extLst>
                  <a:ext uri="{0D108BD9-81ED-4DB2-BD59-A6C34878D82A}">
                    <a16:rowId xmlns:a16="http://schemas.microsoft.com/office/drawing/2014/main" val="10009"/>
                  </a:ext>
                </a:extLst>
              </a:tr>
              <a:tr h="365760">
                <a:tc>
                  <a:txBody>
                    <a:bodyPr/>
                    <a:lstStyle/>
                    <a:p>
                      <a:r>
                        <a:rPr sz="950" b="1" i="0">
                          <a:solidFill>
                            <a:srgbClr val="101820"/>
                          </a:solidFill>
                          <a:latin typeface="Aptos"/>
                        </a:rPr>
                        <a:t>Dienstverwaltung: Katalog &amp; Ablauf</a:t>
                      </a:r>
                    </a:p>
                  </a:txBody>
                  <a:tcPr marL="73152" marR="73152" marT="36576" marB="36576" anchor="ctr">
                    <a:solidFill>
                      <a:srgbClr val="F1F5F4"/>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Katalog vollständig; durchgängiger Bestellablauf in Vorbereitung.</a:t>
                      </a:r>
                    </a:p>
                  </a:txBody>
                  <a:tcPr marL="73152" marR="73152" marT="36576" marB="36576" anchor="ctr">
                    <a:solidFill>
                      <a:srgbClr val="F1F5F4"/>
                    </a:solidFill>
                  </a:tcPr>
                </a:tc>
                <a:extLst>
                  <a:ext uri="{0D108BD9-81ED-4DB2-BD59-A6C34878D82A}">
                    <a16:rowId xmlns:a16="http://schemas.microsoft.com/office/drawing/2014/main" val="10010"/>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22</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07</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Abgleich Ihrer Anforderungen (2/2)</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463040"/>
          <a:ext cx="10881360" cy="4023360"/>
        </p:xfrm>
        <a:graphic>
          <a:graphicData uri="http://schemas.openxmlformats.org/drawingml/2006/table">
            <a:tbl>
              <a:tblPr>
                <a:tableStyleId>{5C22544A-7EE6-4342-B048-85BDC9FD1C3A}</a:tableStyleId>
              </a:tblPr>
              <a:tblGrid>
                <a:gridCol w="4352544">
                  <a:extLst>
                    <a:ext uri="{9D8B030D-6E8A-4147-A177-3AD203B41FA5}">
                      <a16:colId xmlns:a16="http://schemas.microsoft.com/office/drawing/2014/main" val="20000"/>
                    </a:ext>
                  </a:extLst>
                </a:gridCol>
                <a:gridCol w="1632204">
                  <a:extLst>
                    <a:ext uri="{9D8B030D-6E8A-4147-A177-3AD203B41FA5}">
                      <a16:colId xmlns:a16="http://schemas.microsoft.com/office/drawing/2014/main" val="20001"/>
                    </a:ext>
                  </a:extLst>
                </a:gridCol>
                <a:gridCol w="4896612">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Ihre Anforderung</a:t>
                      </a:r>
                    </a:p>
                  </a:txBody>
                  <a:tcPr marL="73152" marR="73152" marT="36576" marB="36576" anchor="ctr">
                    <a:solidFill>
                      <a:srgbClr val="066B63"/>
                    </a:solidFill>
                  </a:tcPr>
                </a:tc>
                <a:tc>
                  <a:txBody>
                    <a:bodyPr/>
                    <a:lstStyle/>
                    <a:p>
                      <a:r>
                        <a:rPr sz="1050" b="1" i="0">
                          <a:solidFill>
                            <a:srgbClr val="FFFFFF"/>
                          </a:solidFill>
                          <a:latin typeface="Aptos"/>
                        </a:rPr>
                        <a:t>Status</a:t>
                      </a:r>
                    </a:p>
                  </a:txBody>
                  <a:tcPr marL="73152" marR="73152" marT="36576" marB="36576" anchor="ctr">
                    <a:solidFill>
                      <a:srgbClr val="066B63"/>
                    </a:solidFill>
                  </a:tcPr>
                </a:tc>
                <a:tc>
                  <a:txBody>
                    <a:bodyPr/>
                    <a:lstStyle/>
                    <a:p>
                      <a:r>
                        <a:rPr sz="1050" b="1" i="0">
                          <a:solidFill>
                            <a:srgbClr val="FFFFFF"/>
                          </a:solidFill>
                          <a:latin typeface="Aptos"/>
                        </a:rPr>
                        <a:t>Anmerkung</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950" b="1" i="0">
                          <a:solidFill>
                            <a:srgbClr val="101820"/>
                          </a:solidFill>
                          <a:latin typeface="Aptos"/>
                        </a:rPr>
                        <a:t>Aufgabenverwaltung (Erstellen, Zuweisung, SLA, Foto-/Videobericht)</a:t>
                      </a:r>
                    </a:p>
                  </a:txBody>
                  <a:tcPr marL="73152" marR="73152" marT="36576" marB="36576" anchor="ctr">
                    <a:solidFill>
                      <a:srgbClr val="FFFFFF"/>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Erstellen &amp; SLA verfügbar; Foto-/Videobericht in Vorbereitung.</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950" b="1" i="0">
                          <a:solidFill>
                            <a:srgbClr val="101820"/>
                          </a:solidFill>
                          <a:latin typeface="Aptos"/>
                        </a:rPr>
                        <a:t>Vermietung &amp; Reservierung (Kalender, Buchung erstellen, Zahlungskontrolle)</a:t>
                      </a:r>
                    </a:p>
                  </a:txBody>
                  <a:tcPr marL="73152" marR="73152" marT="36576" marB="36576" anchor="ctr">
                    <a:solidFill>
                      <a:srgbClr val="F1F5F4"/>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Übersicht &amp; Boards verfügbar; Buchung erstellen in Vorbereitung.</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950" b="1" i="0">
                          <a:solidFill>
                            <a:srgbClr val="101820"/>
                          </a:solidFill>
                          <a:latin typeface="Aptos"/>
                        </a:rPr>
                        <a:t>Kommunikation (Chat, Team-Chat, Push/E-Mail/SMS)</a:t>
                      </a:r>
                    </a:p>
                  </a:txBody>
                  <a:tcPr marL="73152" marR="73152" marT="36576" marB="36576" anchor="ctr">
                    <a:solidFill>
                      <a:srgbClr val="FFFFFF"/>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Vollständige Oberfläche &amp; Vorlagen; Live-Versand nach Anbieter-Freigabe.</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950" b="1" i="0">
                          <a:solidFill>
                            <a:srgbClr val="101820"/>
                          </a:solidFill>
                          <a:latin typeface="Aptos"/>
                        </a:rPr>
                        <a:t>Mobile App (Login, Guthaben, Zahlung, Chat, Dokumente)</a:t>
                      </a:r>
                    </a:p>
                  </a:txBody>
                  <a:tcPr marL="73152" marR="73152" marT="36576" marB="36576" anchor="ctr">
                    <a:solidFill>
                      <a:srgbClr val="F1F5F4"/>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Als installierbare Web-App über den Browser abgedeckt; Push in Vorbereitung.</a:t>
                      </a:r>
                    </a:p>
                  </a:txBody>
                  <a:tcPr marL="73152" marR="73152" marT="36576" marB="36576" anchor="ctr">
                    <a:solidFill>
                      <a:srgbClr val="F1F5F4"/>
                    </a:solidFill>
                  </a:tcPr>
                </a:tc>
                <a:extLst>
                  <a:ext uri="{0D108BD9-81ED-4DB2-BD59-A6C34878D82A}">
                    <a16:rowId xmlns:a16="http://schemas.microsoft.com/office/drawing/2014/main" val="10004"/>
                  </a:ext>
                </a:extLst>
              </a:tr>
              <a:tr h="365760">
                <a:tc>
                  <a:txBody>
                    <a:bodyPr/>
                    <a:lstStyle/>
                    <a:p>
                      <a:r>
                        <a:rPr sz="950" b="1" i="0">
                          <a:solidFill>
                            <a:srgbClr val="101820"/>
                          </a:solidFill>
                          <a:latin typeface="Aptos"/>
                        </a:rPr>
                        <a:t>Integrationen (Zahlung/Banken, Identität, Zugang, Kameras)</a:t>
                      </a:r>
                    </a:p>
                  </a:txBody>
                  <a:tcPr marL="73152" marR="73152" marT="36576" marB="36576" anchor="ctr">
                    <a:solidFill>
                      <a:srgbClr val="FFFFFF"/>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Vollständige Anbieter-Übersicht vorbereitet; Live-Anbindung nach Anbieterwahl.</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r>
                        <a:rPr sz="950" b="1" i="0">
                          <a:solidFill>
                            <a:srgbClr val="101820"/>
                          </a:solidFill>
                          <a:latin typeface="Aptos"/>
                        </a:rPr>
                        <a:t>Pflichtszenarien (Serviceauftrag, Einzug, Auszug, Zahlungsverzug)</a:t>
                      </a:r>
                    </a:p>
                  </a:txBody>
                  <a:tcPr marL="73152" marR="73152" marT="36576" marB="36576" anchor="ctr">
                    <a:solidFill>
                      <a:srgbClr val="F1F5F4"/>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Erkennungs-, Freigabe- und Protokoll-Logik vorhanden; Vollzug in Vorbereitung.</a:t>
                      </a:r>
                    </a:p>
                  </a:txBody>
                  <a:tcPr marL="73152" marR="73152" marT="36576" marB="36576" anchor="ctr">
                    <a:solidFill>
                      <a:srgbClr val="F1F5F4"/>
                    </a:solidFill>
                  </a:tcPr>
                </a:tc>
                <a:extLst>
                  <a:ext uri="{0D108BD9-81ED-4DB2-BD59-A6C34878D82A}">
                    <a16:rowId xmlns:a16="http://schemas.microsoft.com/office/drawing/2014/main" val="10006"/>
                  </a:ext>
                </a:extLst>
              </a:tr>
              <a:tr h="365760">
                <a:tc>
                  <a:txBody>
                    <a:bodyPr/>
                    <a:lstStyle/>
                    <a:p>
                      <a:r>
                        <a:rPr sz="950" b="1" i="0">
                          <a:solidFill>
                            <a:srgbClr val="101820"/>
                          </a:solidFill>
                          <a:latin typeface="Aptos"/>
                        </a:rPr>
                        <a:t>Berichterstattung (Finanzen, Schulden, Dienste, Personal, Cashflow)</a:t>
                      </a:r>
                    </a:p>
                  </a:txBody>
                  <a:tcPr marL="73152" marR="73152" marT="36576" marB="36576" anchor="ctr">
                    <a:solidFill>
                      <a:srgbClr val="FFFFFF"/>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Finanz-/Schuld-/Serviceberichte verfügbar; Personal-Report &amp; täglicher Cashflow als Ausbau.</a:t>
                      </a:r>
                    </a:p>
                  </a:txBody>
                  <a:tcPr marL="73152" marR="73152" marT="36576" marB="36576" anchor="ctr">
                    <a:solidFill>
                      <a:srgbClr val="FFFFFF"/>
                    </a:solidFill>
                  </a:tcPr>
                </a:tc>
                <a:extLst>
                  <a:ext uri="{0D108BD9-81ED-4DB2-BD59-A6C34878D82A}">
                    <a16:rowId xmlns:a16="http://schemas.microsoft.com/office/drawing/2014/main" val="10007"/>
                  </a:ext>
                </a:extLst>
              </a:tr>
              <a:tr h="365760">
                <a:tc>
                  <a:txBody>
                    <a:bodyPr/>
                    <a:lstStyle/>
                    <a:p>
                      <a:r>
                        <a:rPr sz="950" b="1" i="0">
                          <a:solidFill>
                            <a:srgbClr val="101820"/>
                          </a:solidFill>
                          <a:latin typeface="Aptos"/>
                        </a:rPr>
                        <a:t>Dashboard (Einnahmen, Ausgaben, Schulden, Aufgaben, KPI)</a:t>
                      </a:r>
                    </a:p>
                  </a:txBody>
                  <a:tcPr marL="73152" marR="73152" marT="36576" marB="36576" anchor="ctr">
                    <a:solidFill>
                      <a:srgbClr val="F1F5F4"/>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Schulden/Aufgaben/KPI live-fähig; Einnahmen-/Ausgaben-Kennzahlen im Ausbau.</a:t>
                      </a:r>
                    </a:p>
                  </a:txBody>
                  <a:tcPr marL="73152" marR="73152" marT="36576" marB="36576" anchor="ctr">
                    <a:solidFill>
                      <a:srgbClr val="F1F5F4"/>
                    </a:solidFill>
                  </a:tcPr>
                </a:tc>
                <a:extLst>
                  <a:ext uri="{0D108BD9-81ED-4DB2-BD59-A6C34878D82A}">
                    <a16:rowId xmlns:a16="http://schemas.microsoft.com/office/drawing/2014/main" val="10008"/>
                  </a:ext>
                </a:extLst>
              </a:tr>
              <a:tr h="365760">
                <a:tc>
                  <a:txBody>
                    <a:bodyPr/>
                    <a:lstStyle/>
                    <a:p>
                      <a:r>
                        <a:rPr sz="950" b="1" i="0">
                          <a:solidFill>
                            <a:srgbClr val="101820"/>
                          </a:solidFill>
                          <a:latin typeface="Aptos"/>
                        </a:rPr>
                        <a:t>Systemanforderungen (API-first, Rollen, Protokollierung, Skalierbarkeit)</a:t>
                      </a:r>
                    </a:p>
                  </a:txBody>
                  <a:tcPr marL="73152" marR="73152" marT="36576" marB="36576" anchor="ctr">
                    <a:solidFill>
                      <a:srgbClr val="FFFFFF"/>
                    </a:solidFill>
                  </a:tcPr>
                </a:tc>
                <a:tc>
                  <a:txBody>
                    <a:bodyPr/>
                    <a:lstStyle/>
                    <a:p>
                      <a:pPr algn="ctr"/>
                      <a:r>
                        <a:rPr sz="900" b="1" i="0">
                          <a:solidFill>
                            <a:srgbClr val="044F49"/>
                          </a:solidFill>
                          <a:latin typeface="Aptos"/>
                        </a:rPr>
                        <a:t>Vollständig</a:t>
                      </a:r>
                    </a:p>
                  </a:txBody>
                  <a:tcPr marL="73152" marR="73152" marT="36576" marB="36576" anchor="ctr">
                    <a:solidFill>
                      <a:srgbClr val="DAE9E8"/>
                    </a:solidFill>
                  </a:tcPr>
                </a:tc>
                <a:tc>
                  <a:txBody>
                    <a:bodyPr/>
                    <a:lstStyle/>
                    <a:p>
                      <a:r>
                        <a:rPr sz="950" b="0" i="0">
                          <a:solidFill>
                            <a:srgbClr val="33413D"/>
                          </a:solidFill>
                          <a:latin typeface="Aptos"/>
                        </a:rPr>
                        <a:t>Rollen, Datensicherheit und Protokollierung produktionsnah umgesetzt.</a:t>
                      </a:r>
                    </a:p>
                  </a:txBody>
                  <a:tcPr marL="73152" marR="73152" marT="36576" marB="36576" anchor="ctr">
                    <a:solidFill>
                      <a:srgbClr val="FFFFFF"/>
                    </a:solidFill>
                  </a:tcPr>
                </a:tc>
                <a:extLst>
                  <a:ext uri="{0D108BD9-81ED-4DB2-BD59-A6C34878D82A}">
                    <a16:rowId xmlns:a16="http://schemas.microsoft.com/office/drawing/2014/main" val="10009"/>
                  </a:ext>
                </a:extLst>
              </a:tr>
              <a:tr h="365760">
                <a:tc>
                  <a:txBody>
                    <a:bodyPr/>
                    <a:lstStyle/>
                    <a:p>
                      <a:r>
                        <a:rPr sz="950" b="1" i="0">
                          <a:solidFill>
                            <a:srgbClr val="101820"/>
                          </a:solidFill>
                          <a:latin typeface="Aptos"/>
                        </a:rPr>
                        <a:t>MVP (Kern, Finanzen, Dienste + Aufgaben, einfache Mobile App)</a:t>
                      </a:r>
                    </a:p>
                  </a:txBody>
                  <a:tcPr marL="73152" marR="73152" marT="36576" marB="36576" anchor="ctr">
                    <a:solidFill>
                      <a:srgbClr val="F1F5F4"/>
                    </a:solidFill>
                  </a:tcPr>
                </a:tc>
                <a:tc>
                  <a:txBody>
                    <a:bodyPr/>
                    <a:lstStyle/>
                    <a:p>
                      <a:pPr algn="ctr"/>
                      <a:r>
                        <a:rPr sz="900" b="1" i="0">
                          <a:solidFill>
                            <a:srgbClr val="7A5410"/>
                          </a:solidFill>
                          <a:latin typeface="Aptos"/>
                        </a:rPr>
                        <a:t>Teilweise</a:t>
                      </a:r>
                    </a:p>
                  </a:txBody>
                  <a:tcPr marL="73152" marR="73152" marT="36576" marB="36576" anchor="ctr">
                    <a:solidFill>
                      <a:srgbClr val="F4EBDD"/>
                    </a:solidFill>
                  </a:tcPr>
                </a:tc>
                <a:tc>
                  <a:txBody>
                    <a:bodyPr/>
                    <a:lstStyle/>
                    <a:p>
                      <a:r>
                        <a:rPr sz="950" b="0" i="0">
                          <a:solidFill>
                            <a:srgbClr val="33413D"/>
                          </a:solidFill>
                          <a:latin typeface="Aptos"/>
                        </a:rPr>
                        <a:t>Alle MVP-Bausteine vorhanden; einzelne Erfassungsfunktionen im Ausbau.</a:t>
                      </a:r>
                    </a:p>
                  </a:txBody>
                  <a:tcPr marL="73152" marR="73152" marT="36576" marB="36576" anchor="ctr">
                    <a:solidFill>
                      <a:srgbClr val="F1F5F4"/>
                    </a:solidFill>
                  </a:tcPr>
                </a:tc>
                <a:extLst>
                  <a:ext uri="{0D108BD9-81ED-4DB2-BD59-A6C34878D82A}">
                    <a16:rowId xmlns:a16="http://schemas.microsoft.com/office/drawing/2014/main" val="10010"/>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23</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07 · ABGLEICH</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Das </a:t>
            </a:r>
            <a:r>
              <a:rPr sz="2700" b="1" i="0" dirty="0" err="1">
                <a:solidFill>
                  <a:srgbClr val="044F49"/>
                </a:solidFill>
                <a:latin typeface="Aptos"/>
              </a:rPr>
              <a:t>durchgängige</a:t>
            </a:r>
            <a:r>
              <a:rPr sz="2700" b="1" i="0" dirty="0">
                <a:solidFill>
                  <a:srgbClr val="044F49"/>
                </a:solidFill>
                <a:latin typeface="Aptos"/>
              </a:rPr>
              <a:t> Muster </a:t>
            </a:r>
            <a:r>
              <a:rPr lang="de-DE" sz="2700" b="1" i="0" dirty="0">
                <a:solidFill>
                  <a:srgbClr val="044F49"/>
                </a:solidFill>
                <a:latin typeface="Aptos"/>
              </a:rPr>
              <a:t>-</a:t>
            </a:r>
            <a:r>
              <a:rPr sz="2700" b="1" i="0" dirty="0">
                <a:solidFill>
                  <a:srgbClr val="044F49"/>
                </a:solidFill>
                <a:latin typeface="Aptos"/>
              </a:rPr>
              <a:t> und </a:t>
            </a:r>
            <a:r>
              <a:rPr sz="2700" b="1" i="0" dirty="0" err="1">
                <a:solidFill>
                  <a:srgbClr val="044F49"/>
                </a:solidFill>
                <a:latin typeface="Aptos"/>
              </a:rPr>
              <a:t>warum</a:t>
            </a:r>
            <a:r>
              <a:rPr sz="2700" b="1" i="0" dirty="0">
                <a:solidFill>
                  <a:srgbClr val="044F49"/>
                </a:solidFill>
                <a:latin typeface="Aptos"/>
              </a:rPr>
              <a:t> es </a:t>
            </a:r>
            <a:r>
              <a:rPr sz="2700" b="1" i="0" dirty="0" err="1">
                <a:solidFill>
                  <a:srgbClr val="044F49"/>
                </a:solidFill>
                <a:latin typeface="Aptos"/>
              </a:rPr>
              <a:t>kein</a:t>
            </a:r>
            <a:r>
              <a:rPr sz="2700" b="1" i="0" dirty="0">
                <a:solidFill>
                  <a:srgbClr val="044F49"/>
                </a:solidFill>
                <a:latin typeface="Aptos"/>
              </a:rPr>
              <a:t> Mangel </a:t>
            </a:r>
            <a:r>
              <a:rPr sz="2700" b="1" i="0" dirty="0" err="1">
                <a:solidFill>
                  <a:srgbClr val="044F49"/>
                </a:solidFill>
                <a:latin typeface="Aptos"/>
              </a:rPr>
              <a:t>ist</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920240"/>
            <a:ext cx="10881360" cy="23774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920240"/>
            <a:ext cx="54864" cy="23774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747322"/>
            <a:ext cx="10469880" cy="723275"/>
          </a:xfrm>
          <a:prstGeom prst="rect">
            <a:avLst/>
          </a:prstGeom>
          <a:noFill/>
        </p:spPr>
        <p:txBody>
          <a:bodyPr wrap="square" lIns="0" tIns="0" rIns="0" bIns="0" anchor="ctr">
            <a:spAutoFit/>
          </a:bodyPr>
          <a:lstStyle/>
          <a:p>
            <a:r>
              <a:rPr sz="1250" b="1" i="0" dirty="0" err="1">
                <a:solidFill>
                  <a:srgbClr val="044F49"/>
                </a:solidFill>
                <a:latin typeface="Aptos"/>
              </a:rPr>
              <a:t>Anzeige</a:t>
            </a:r>
            <a:r>
              <a:rPr sz="1250" b="1" i="0" dirty="0">
                <a:solidFill>
                  <a:srgbClr val="044F49"/>
                </a:solidFill>
                <a:latin typeface="Aptos"/>
              </a:rPr>
              <a:t> &amp; </a:t>
            </a:r>
            <a:r>
              <a:rPr sz="1250" b="1" i="0" dirty="0" err="1">
                <a:solidFill>
                  <a:srgbClr val="044F49"/>
                </a:solidFill>
                <a:latin typeface="Aptos"/>
              </a:rPr>
              <a:t>Empfehlung</a:t>
            </a:r>
            <a:r>
              <a:rPr sz="1250" b="1" i="0" dirty="0">
                <a:solidFill>
                  <a:srgbClr val="044F49"/>
                </a:solidFill>
                <a:latin typeface="Aptos"/>
              </a:rPr>
              <a:t> ja </a:t>
            </a:r>
            <a:r>
              <a:rPr lang="de-DE" sz="1250" b="1" i="0" dirty="0">
                <a:solidFill>
                  <a:srgbClr val="044F49"/>
                </a:solidFill>
                <a:latin typeface="Aptos"/>
              </a:rPr>
              <a:t>-</a:t>
            </a:r>
            <a:r>
              <a:rPr sz="1250" b="1" i="0" dirty="0">
                <a:solidFill>
                  <a:srgbClr val="044F49"/>
                </a:solidFill>
                <a:latin typeface="Aptos"/>
              </a:rPr>
              <a:t> </a:t>
            </a:r>
            <a:r>
              <a:rPr sz="1250" b="1" i="0" dirty="0" err="1">
                <a:solidFill>
                  <a:srgbClr val="044F49"/>
                </a:solidFill>
                <a:latin typeface="Aptos"/>
              </a:rPr>
              <a:t>automatischer</a:t>
            </a:r>
            <a:r>
              <a:rPr sz="1250" b="1" i="0" dirty="0">
                <a:solidFill>
                  <a:srgbClr val="044F49"/>
                </a:solidFill>
                <a:latin typeface="Aptos"/>
              </a:rPr>
              <a:t> </a:t>
            </a:r>
            <a:r>
              <a:rPr sz="1250" b="1" i="0" dirty="0" err="1">
                <a:solidFill>
                  <a:srgbClr val="044F49"/>
                </a:solidFill>
                <a:latin typeface="Aptos"/>
              </a:rPr>
              <a:t>Vollzug</a:t>
            </a:r>
            <a:r>
              <a:rPr sz="1250" b="1" i="0" dirty="0">
                <a:solidFill>
                  <a:srgbClr val="044F49"/>
                </a:solidFill>
                <a:latin typeface="Aptos"/>
              </a:rPr>
              <a:t> </a:t>
            </a:r>
            <a:r>
              <a:rPr sz="1250" b="1" i="0" dirty="0" err="1">
                <a:solidFill>
                  <a:srgbClr val="044F49"/>
                </a:solidFill>
                <a:latin typeface="Aptos"/>
              </a:rPr>
              <a:t>folgt</a:t>
            </a:r>
            <a:r>
              <a:rPr sz="1250" b="1" i="0" dirty="0">
                <a:solidFill>
                  <a:srgbClr val="044F49"/>
                </a:solidFill>
                <a:latin typeface="Aptos"/>
              </a:rPr>
              <a:t> </a:t>
            </a:r>
            <a:r>
              <a:rPr sz="1250" b="1" i="0" dirty="0" err="1">
                <a:solidFill>
                  <a:srgbClr val="044F49"/>
                </a:solidFill>
                <a:latin typeface="Aptos"/>
              </a:rPr>
              <a:t>bewusst</a:t>
            </a:r>
            <a:r>
              <a:rPr sz="1250" b="1" i="0" dirty="0">
                <a:solidFill>
                  <a:srgbClr val="044F49"/>
                </a:solidFill>
                <a:latin typeface="Aptos"/>
              </a:rPr>
              <a:t> </a:t>
            </a:r>
            <a:r>
              <a:rPr sz="1250" b="1" i="0" dirty="0" err="1">
                <a:solidFill>
                  <a:srgbClr val="044F49"/>
                </a:solidFill>
                <a:latin typeface="Aptos"/>
              </a:rPr>
              <a:t>nach</a:t>
            </a:r>
            <a:r>
              <a:rPr sz="1250" b="1" i="0" dirty="0">
                <a:solidFill>
                  <a:srgbClr val="044F49"/>
                </a:solidFill>
                <a:latin typeface="Aptos"/>
              </a:rPr>
              <a:t> </a:t>
            </a:r>
            <a:r>
              <a:rPr sz="1250" b="1" i="0" dirty="0" err="1">
                <a:solidFill>
                  <a:srgbClr val="044F49"/>
                </a:solidFill>
                <a:latin typeface="Aptos"/>
              </a:rPr>
              <a:t>Freigabe</a:t>
            </a:r>
            <a:r>
              <a:rPr sz="1250" b="1" i="0" dirty="0">
                <a:solidFill>
                  <a:srgbClr val="044F49"/>
                </a:solidFill>
                <a:latin typeface="Aptos"/>
              </a:rPr>
              <a:t>.  </a:t>
            </a:r>
            <a:r>
              <a:rPr sz="1150" b="0" i="0" dirty="0">
                <a:solidFill>
                  <a:srgbClr val="33413D"/>
                </a:solidFill>
                <a:latin typeface="Aptos"/>
              </a:rPr>
              <a:t>Bei den </a:t>
            </a:r>
            <a:r>
              <a:rPr sz="1150" b="0" i="0" dirty="0" err="1">
                <a:solidFill>
                  <a:srgbClr val="33413D"/>
                </a:solidFill>
                <a:latin typeface="Aptos"/>
              </a:rPr>
              <a:t>als</a:t>
            </a:r>
            <a:r>
              <a:rPr sz="1150" b="0" i="0" dirty="0">
                <a:solidFill>
                  <a:srgbClr val="33413D"/>
                </a:solidFill>
                <a:latin typeface="Aptos"/>
              </a:rPr>
              <a:t> »</a:t>
            </a:r>
            <a:r>
              <a:rPr sz="1150" b="0" i="0" dirty="0" err="1">
                <a:solidFill>
                  <a:srgbClr val="33413D"/>
                </a:solidFill>
                <a:latin typeface="Aptos"/>
              </a:rPr>
              <a:t>Teilweise</a:t>
            </a:r>
            <a:r>
              <a:rPr sz="1150" b="0" i="0" dirty="0">
                <a:solidFill>
                  <a:srgbClr val="33413D"/>
                </a:solidFill>
                <a:latin typeface="Aptos"/>
              </a:rPr>
              <a:t>« </a:t>
            </a:r>
            <a:r>
              <a:rPr sz="1150" b="0" i="0" dirty="0" err="1">
                <a:solidFill>
                  <a:srgbClr val="33413D"/>
                </a:solidFill>
                <a:latin typeface="Aptos"/>
              </a:rPr>
              <a:t>markierten</a:t>
            </a:r>
            <a:r>
              <a:rPr sz="1150" b="0" i="0" dirty="0">
                <a:solidFill>
                  <a:srgbClr val="33413D"/>
                </a:solidFill>
                <a:latin typeface="Aptos"/>
              </a:rPr>
              <a:t> </a:t>
            </a:r>
            <a:r>
              <a:rPr sz="1150" b="0" i="0" dirty="0" err="1">
                <a:solidFill>
                  <a:srgbClr val="33413D"/>
                </a:solidFill>
                <a:latin typeface="Aptos"/>
              </a:rPr>
              <a:t>Punkten</a:t>
            </a:r>
            <a:r>
              <a:rPr sz="1150" b="0" i="0" dirty="0">
                <a:solidFill>
                  <a:srgbClr val="33413D"/>
                </a:solidFill>
                <a:latin typeface="Aptos"/>
              </a:rPr>
              <a:t> </a:t>
            </a:r>
            <a:r>
              <a:rPr sz="1150" b="0" i="0" dirty="0" err="1">
                <a:solidFill>
                  <a:srgbClr val="33413D"/>
                </a:solidFill>
                <a:latin typeface="Aptos"/>
              </a:rPr>
              <a:t>ist</a:t>
            </a:r>
            <a:r>
              <a:rPr sz="1150" b="0" i="0" dirty="0">
                <a:solidFill>
                  <a:srgbClr val="33413D"/>
                </a:solidFill>
                <a:latin typeface="Aptos"/>
              </a:rPr>
              <a:t> </a:t>
            </a:r>
            <a:r>
              <a:rPr sz="1150" b="0" i="0" dirty="0" err="1">
                <a:solidFill>
                  <a:srgbClr val="33413D"/>
                </a:solidFill>
                <a:latin typeface="Aptos"/>
              </a:rPr>
              <a:t>durchweg</a:t>
            </a:r>
            <a:r>
              <a:rPr sz="1150" b="0" i="0" dirty="0">
                <a:solidFill>
                  <a:srgbClr val="33413D"/>
                </a:solidFill>
                <a:latin typeface="Aptos"/>
              </a:rPr>
              <a:t> </a:t>
            </a:r>
            <a:r>
              <a:rPr sz="1150" b="0" i="0" dirty="0" err="1">
                <a:solidFill>
                  <a:srgbClr val="33413D"/>
                </a:solidFill>
                <a:latin typeface="Aptos"/>
              </a:rPr>
              <a:t>dasselbe</a:t>
            </a:r>
            <a:r>
              <a:rPr sz="1150" b="0" i="0" dirty="0">
                <a:solidFill>
                  <a:srgbClr val="33413D"/>
                </a:solidFill>
                <a:latin typeface="Aptos"/>
              </a:rPr>
              <a:t> </a:t>
            </a:r>
            <a:r>
              <a:rPr sz="1150" b="0" i="0" dirty="0" err="1">
                <a:solidFill>
                  <a:srgbClr val="33413D"/>
                </a:solidFill>
                <a:latin typeface="Aptos"/>
              </a:rPr>
              <a:t>Prinzip</a:t>
            </a:r>
            <a:r>
              <a:rPr sz="1150" b="0" i="0" dirty="0">
                <a:solidFill>
                  <a:srgbClr val="33413D"/>
                </a:solidFill>
                <a:latin typeface="Aptos"/>
              </a:rPr>
              <a:t> am Werk: </a:t>
            </a:r>
            <a:r>
              <a:rPr sz="1150" b="0" i="0" dirty="0" err="1">
                <a:solidFill>
                  <a:srgbClr val="33413D"/>
                </a:solidFill>
                <a:latin typeface="Aptos"/>
              </a:rPr>
              <a:t>Anzeige</a:t>
            </a:r>
            <a:r>
              <a:rPr sz="1150" b="0" i="0" dirty="0">
                <a:solidFill>
                  <a:srgbClr val="33413D"/>
                </a:solidFill>
                <a:latin typeface="Aptos"/>
              </a:rPr>
              <a:t> und </a:t>
            </a:r>
            <a:r>
              <a:rPr sz="1150" b="0" i="0" dirty="0" err="1">
                <a:solidFill>
                  <a:srgbClr val="33413D"/>
                </a:solidFill>
                <a:latin typeface="Aptos"/>
              </a:rPr>
              <a:t>Empfehlung</a:t>
            </a:r>
            <a:r>
              <a:rPr sz="1150" b="0" i="0" dirty="0">
                <a:solidFill>
                  <a:srgbClr val="33413D"/>
                </a:solidFill>
                <a:latin typeface="Aptos"/>
              </a:rPr>
              <a:t> </a:t>
            </a:r>
            <a:r>
              <a:rPr sz="1150" b="0" i="0" dirty="0" err="1">
                <a:solidFill>
                  <a:srgbClr val="33413D"/>
                </a:solidFill>
                <a:latin typeface="Aptos"/>
              </a:rPr>
              <a:t>sind</a:t>
            </a:r>
            <a:r>
              <a:rPr sz="1150" b="0" i="0" dirty="0">
                <a:solidFill>
                  <a:srgbClr val="33413D"/>
                </a:solidFill>
                <a:latin typeface="Aptos"/>
              </a:rPr>
              <a:t> </a:t>
            </a:r>
            <a:r>
              <a:rPr sz="1150" b="0" i="0" dirty="0" err="1">
                <a:solidFill>
                  <a:srgbClr val="33413D"/>
                </a:solidFill>
                <a:latin typeface="Aptos"/>
              </a:rPr>
              <a:t>vorhanden</a:t>
            </a:r>
            <a:r>
              <a:rPr sz="1150" b="0" i="0" dirty="0">
                <a:solidFill>
                  <a:srgbClr val="33413D"/>
                </a:solidFill>
                <a:latin typeface="Aptos"/>
              </a:rPr>
              <a:t>, der </a:t>
            </a:r>
            <a:r>
              <a:rPr sz="1150" b="0" i="0" dirty="0" err="1">
                <a:solidFill>
                  <a:srgbClr val="33413D"/>
                </a:solidFill>
                <a:latin typeface="Aptos"/>
              </a:rPr>
              <a:t>automatische</a:t>
            </a:r>
            <a:r>
              <a:rPr sz="1150" b="0" i="0" dirty="0">
                <a:solidFill>
                  <a:srgbClr val="33413D"/>
                </a:solidFill>
                <a:latin typeface="Aptos"/>
              </a:rPr>
              <a:t> </a:t>
            </a:r>
            <a:r>
              <a:rPr sz="1150" b="0" i="0" dirty="0" err="1">
                <a:solidFill>
                  <a:srgbClr val="33413D"/>
                </a:solidFill>
                <a:latin typeface="Aptos"/>
              </a:rPr>
              <a:t>Vollzug</a:t>
            </a:r>
            <a:r>
              <a:rPr sz="1150" b="0" i="0" dirty="0">
                <a:solidFill>
                  <a:srgbClr val="33413D"/>
                </a:solidFill>
                <a:latin typeface="Aptos"/>
              </a:rPr>
              <a:t> (</a:t>
            </a:r>
            <a:r>
              <a:rPr sz="1150" b="0" i="0" dirty="0" err="1">
                <a:solidFill>
                  <a:srgbClr val="33413D"/>
                </a:solidFill>
                <a:latin typeface="Aptos"/>
              </a:rPr>
              <a:t>Buchung</a:t>
            </a:r>
            <a:r>
              <a:rPr sz="1150" b="0" i="0" dirty="0">
                <a:solidFill>
                  <a:srgbClr val="33413D"/>
                </a:solidFill>
                <a:latin typeface="Aptos"/>
              </a:rPr>
              <a:t>, </a:t>
            </a:r>
            <a:r>
              <a:rPr sz="1150" b="0" i="0" dirty="0" err="1">
                <a:solidFill>
                  <a:srgbClr val="33413D"/>
                </a:solidFill>
                <a:latin typeface="Aptos"/>
              </a:rPr>
              <a:t>Sperrung</a:t>
            </a:r>
            <a:r>
              <a:rPr sz="1150" b="0" i="0" dirty="0">
                <a:solidFill>
                  <a:srgbClr val="33413D"/>
                </a:solidFill>
                <a:latin typeface="Aptos"/>
              </a:rPr>
              <a:t>, </a:t>
            </a:r>
            <a:r>
              <a:rPr sz="1150" b="0" i="0" dirty="0" err="1">
                <a:solidFill>
                  <a:srgbClr val="33413D"/>
                </a:solidFill>
                <a:latin typeface="Aptos"/>
              </a:rPr>
              <a:t>Versand</a:t>
            </a:r>
            <a:r>
              <a:rPr sz="1150" b="0" i="0" dirty="0">
                <a:solidFill>
                  <a:srgbClr val="33413D"/>
                </a:solidFill>
                <a:latin typeface="Aptos"/>
              </a:rPr>
              <a:t>, </a:t>
            </a:r>
            <a:r>
              <a:rPr sz="1150" b="0" i="0" dirty="0" err="1">
                <a:solidFill>
                  <a:srgbClr val="33413D"/>
                </a:solidFill>
                <a:latin typeface="Aptos"/>
              </a:rPr>
              <a:t>Verrechnung</a:t>
            </a:r>
            <a:r>
              <a:rPr sz="1150" b="0" i="0" dirty="0">
                <a:solidFill>
                  <a:srgbClr val="33413D"/>
                </a:solidFill>
                <a:latin typeface="Aptos"/>
              </a:rPr>
              <a:t>) </a:t>
            </a:r>
            <a:r>
              <a:rPr sz="1150" b="0" i="0" dirty="0" err="1">
                <a:solidFill>
                  <a:srgbClr val="33413D"/>
                </a:solidFill>
                <a:latin typeface="Aptos"/>
              </a:rPr>
              <a:t>folgt</a:t>
            </a:r>
            <a:r>
              <a:rPr sz="1150" b="0" i="0" dirty="0">
                <a:solidFill>
                  <a:srgbClr val="33413D"/>
                </a:solidFill>
                <a:latin typeface="Aptos"/>
              </a:rPr>
              <a:t> </a:t>
            </a:r>
            <a:r>
              <a:rPr sz="1150" b="0" i="0" dirty="0" err="1">
                <a:solidFill>
                  <a:srgbClr val="33413D"/>
                </a:solidFill>
                <a:latin typeface="Aptos"/>
              </a:rPr>
              <a:t>bewusst</a:t>
            </a:r>
            <a:r>
              <a:rPr sz="1150" b="0" i="0" dirty="0">
                <a:solidFill>
                  <a:srgbClr val="33413D"/>
                </a:solidFill>
                <a:latin typeface="Aptos"/>
              </a:rPr>
              <a:t> erst </a:t>
            </a:r>
            <a:r>
              <a:rPr sz="1150" b="0" i="0" dirty="0" err="1">
                <a:solidFill>
                  <a:srgbClr val="33413D"/>
                </a:solidFill>
                <a:latin typeface="Aptos"/>
              </a:rPr>
              <a:t>nach</a:t>
            </a:r>
            <a:r>
              <a:rPr sz="1150" b="0" i="0" dirty="0">
                <a:solidFill>
                  <a:srgbClr val="33413D"/>
                </a:solidFill>
                <a:latin typeface="Aptos"/>
              </a:rPr>
              <a:t> </a:t>
            </a:r>
            <a:r>
              <a:rPr sz="1150" b="0" i="0" dirty="0" err="1">
                <a:solidFill>
                  <a:srgbClr val="33413D"/>
                </a:solidFill>
                <a:latin typeface="Aptos"/>
              </a:rPr>
              <a:t>Freigabe</a:t>
            </a:r>
            <a:r>
              <a:rPr sz="1150" b="0" i="0" dirty="0">
                <a:solidFill>
                  <a:srgbClr val="33413D"/>
                </a:solidFill>
                <a:latin typeface="Aptos"/>
              </a:rPr>
              <a:t>. Das </a:t>
            </a:r>
            <a:r>
              <a:rPr sz="1150" b="0" i="0" dirty="0" err="1">
                <a:solidFill>
                  <a:srgbClr val="33413D"/>
                </a:solidFill>
                <a:latin typeface="Aptos"/>
              </a:rPr>
              <a:t>ist</a:t>
            </a:r>
            <a:r>
              <a:rPr sz="1150" b="0" i="0" dirty="0">
                <a:solidFill>
                  <a:srgbClr val="33413D"/>
                </a:solidFill>
                <a:latin typeface="Aptos"/>
              </a:rPr>
              <a:t> </a:t>
            </a:r>
            <a:r>
              <a:rPr sz="1150" b="0" i="0" dirty="0" err="1">
                <a:solidFill>
                  <a:srgbClr val="33413D"/>
                </a:solidFill>
                <a:latin typeface="Aptos"/>
              </a:rPr>
              <a:t>keine</a:t>
            </a:r>
            <a:r>
              <a:rPr sz="1150" b="0" i="0" dirty="0">
                <a:solidFill>
                  <a:srgbClr val="33413D"/>
                </a:solidFill>
                <a:latin typeface="Aptos"/>
              </a:rPr>
              <a:t> </a:t>
            </a:r>
            <a:r>
              <a:rPr sz="1150" b="0" i="0" dirty="0" err="1">
                <a:solidFill>
                  <a:srgbClr val="33413D"/>
                </a:solidFill>
                <a:latin typeface="Aptos"/>
              </a:rPr>
              <a:t>zufällige</a:t>
            </a:r>
            <a:r>
              <a:rPr sz="1150" b="0" i="0" dirty="0">
                <a:solidFill>
                  <a:srgbClr val="33413D"/>
                </a:solidFill>
                <a:latin typeface="Aptos"/>
              </a:rPr>
              <a:t> </a:t>
            </a:r>
            <a:r>
              <a:rPr sz="1150" b="0" i="0" dirty="0" err="1">
                <a:solidFill>
                  <a:srgbClr val="33413D"/>
                </a:solidFill>
                <a:latin typeface="Aptos"/>
              </a:rPr>
              <a:t>Lücke</a:t>
            </a:r>
            <a:r>
              <a:rPr sz="1150" b="0" i="0" dirty="0">
                <a:solidFill>
                  <a:srgbClr val="33413D"/>
                </a:solidFill>
                <a:latin typeface="Aptos"/>
              </a:rPr>
              <a:t>, </a:t>
            </a:r>
            <a:r>
              <a:rPr sz="1150" b="0" i="0" dirty="0" err="1">
                <a:solidFill>
                  <a:srgbClr val="33413D"/>
                </a:solidFill>
                <a:latin typeface="Aptos"/>
              </a:rPr>
              <a:t>sondern</a:t>
            </a:r>
            <a:r>
              <a:rPr sz="1150" b="0" i="0" dirty="0">
                <a:solidFill>
                  <a:srgbClr val="33413D"/>
                </a:solidFill>
                <a:latin typeface="Aptos"/>
              </a:rPr>
              <a:t> die </a:t>
            </a:r>
            <a:r>
              <a:rPr sz="1150" b="0" i="0" dirty="0" err="1">
                <a:solidFill>
                  <a:srgbClr val="33413D"/>
                </a:solidFill>
                <a:latin typeface="Aptos"/>
              </a:rPr>
              <a:t>konsequente</a:t>
            </a:r>
            <a:r>
              <a:rPr sz="1150" b="0" i="0" dirty="0">
                <a:solidFill>
                  <a:srgbClr val="33413D"/>
                </a:solidFill>
                <a:latin typeface="Aptos"/>
              </a:rPr>
              <a:t> </a:t>
            </a:r>
            <a:r>
              <a:rPr sz="1150" b="0" i="0" dirty="0" err="1">
                <a:solidFill>
                  <a:srgbClr val="33413D"/>
                </a:solidFill>
                <a:latin typeface="Aptos"/>
              </a:rPr>
              <a:t>Umsetzung</a:t>
            </a:r>
            <a:r>
              <a:rPr sz="1150" b="0" i="0" dirty="0">
                <a:solidFill>
                  <a:srgbClr val="33413D"/>
                </a:solidFill>
                <a:latin typeface="Aptos"/>
              </a:rPr>
              <a:t> des </a:t>
            </a:r>
            <a:r>
              <a:rPr sz="1150" b="0" i="0" dirty="0" err="1">
                <a:solidFill>
                  <a:srgbClr val="33413D"/>
                </a:solidFill>
                <a:latin typeface="Aptos"/>
              </a:rPr>
              <a:t>Grundprinzips</a:t>
            </a:r>
            <a:r>
              <a:rPr sz="1150" b="0" i="0" dirty="0">
                <a:solidFill>
                  <a:srgbClr val="33413D"/>
                </a:solidFill>
                <a:latin typeface="Aptos"/>
              </a:rPr>
              <a:t> »das System </a:t>
            </a:r>
            <a:r>
              <a:rPr sz="1150" b="0" i="0" dirty="0" err="1">
                <a:solidFill>
                  <a:srgbClr val="33413D"/>
                </a:solidFill>
                <a:latin typeface="Aptos"/>
              </a:rPr>
              <a:t>bereitet</a:t>
            </a:r>
            <a:r>
              <a:rPr sz="1150" b="0" i="0" dirty="0">
                <a:solidFill>
                  <a:srgbClr val="33413D"/>
                </a:solidFill>
                <a:latin typeface="Aptos"/>
              </a:rPr>
              <a:t> </a:t>
            </a:r>
            <a:r>
              <a:rPr sz="1150" b="0" i="0" dirty="0" err="1">
                <a:solidFill>
                  <a:srgbClr val="33413D"/>
                </a:solidFill>
                <a:latin typeface="Aptos"/>
              </a:rPr>
              <a:t>vor</a:t>
            </a:r>
            <a:r>
              <a:rPr sz="1150" b="0" i="0" dirty="0">
                <a:solidFill>
                  <a:srgbClr val="33413D"/>
                </a:solidFill>
                <a:latin typeface="Aptos"/>
              </a:rPr>
              <a:t>, </a:t>
            </a:r>
            <a:r>
              <a:rPr sz="1150" b="0" i="0" dirty="0" err="1">
                <a:solidFill>
                  <a:srgbClr val="33413D"/>
                </a:solidFill>
                <a:latin typeface="Aptos"/>
              </a:rPr>
              <a:t>ein</a:t>
            </a:r>
            <a:r>
              <a:rPr sz="1150" b="0" i="0" dirty="0">
                <a:solidFill>
                  <a:srgbClr val="33413D"/>
                </a:solidFill>
                <a:latin typeface="Aptos"/>
              </a:rPr>
              <a:t> Mensch </a:t>
            </a:r>
            <a:r>
              <a:rPr sz="1150" b="0" i="0" dirty="0" err="1">
                <a:solidFill>
                  <a:srgbClr val="33413D"/>
                </a:solidFill>
                <a:latin typeface="Aptos"/>
              </a:rPr>
              <a:t>entscheidet</a:t>
            </a:r>
            <a:r>
              <a:rPr sz="1150" b="0" i="0" dirty="0">
                <a:solidFill>
                  <a:srgbClr val="33413D"/>
                </a:solidFill>
                <a:latin typeface="Aptos"/>
              </a:rPr>
              <a:t>«. Für den </a:t>
            </a:r>
            <a:r>
              <a:rPr sz="1150" b="0" i="0" dirty="0" err="1">
                <a:solidFill>
                  <a:srgbClr val="33413D"/>
                </a:solidFill>
                <a:latin typeface="Aptos"/>
              </a:rPr>
              <a:t>Produktivbetrieb</a:t>
            </a:r>
            <a:r>
              <a:rPr sz="1150" b="0" i="0" dirty="0">
                <a:solidFill>
                  <a:srgbClr val="33413D"/>
                </a:solidFill>
                <a:latin typeface="Aptos"/>
              </a:rPr>
              <a:t> </a:t>
            </a:r>
            <a:r>
              <a:rPr sz="1150" b="0" i="0" dirty="0" err="1">
                <a:solidFill>
                  <a:srgbClr val="33413D"/>
                </a:solidFill>
                <a:latin typeface="Aptos"/>
              </a:rPr>
              <a:t>werden</a:t>
            </a:r>
            <a:r>
              <a:rPr sz="1150" b="0" i="0" dirty="0">
                <a:solidFill>
                  <a:srgbClr val="33413D"/>
                </a:solidFill>
                <a:latin typeface="Aptos"/>
              </a:rPr>
              <a:t> </a:t>
            </a:r>
            <a:r>
              <a:rPr sz="1150" b="0" i="0" dirty="0" err="1">
                <a:solidFill>
                  <a:srgbClr val="33413D"/>
                </a:solidFill>
                <a:latin typeface="Aptos"/>
              </a:rPr>
              <a:t>diese</a:t>
            </a:r>
            <a:r>
              <a:rPr sz="1150" b="0" i="0" dirty="0">
                <a:solidFill>
                  <a:srgbClr val="33413D"/>
                </a:solidFill>
                <a:latin typeface="Aptos"/>
              </a:rPr>
              <a:t> </a:t>
            </a:r>
            <a:r>
              <a:rPr sz="1150" b="0" i="0" dirty="0" err="1">
                <a:solidFill>
                  <a:srgbClr val="33413D"/>
                </a:solidFill>
                <a:latin typeface="Aptos"/>
              </a:rPr>
              <a:t>Vollzugsschritte</a:t>
            </a:r>
            <a:r>
              <a:rPr sz="1150" b="0" i="0" dirty="0">
                <a:solidFill>
                  <a:srgbClr val="33413D"/>
                </a:solidFill>
                <a:latin typeface="Aptos"/>
              </a:rPr>
              <a:t> </a:t>
            </a:r>
            <a:r>
              <a:rPr sz="1150" b="0" i="0" dirty="0" err="1">
                <a:solidFill>
                  <a:srgbClr val="33413D"/>
                </a:solidFill>
                <a:latin typeface="Aptos"/>
              </a:rPr>
              <a:t>gezielt</a:t>
            </a:r>
            <a:r>
              <a:rPr sz="1150" b="0" i="0" dirty="0">
                <a:solidFill>
                  <a:srgbClr val="33413D"/>
                </a:solidFill>
                <a:latin typeface="Aptos"/>
              </a:rPr>
              <a:t> und </a:t>
            </a:r>
            <a:r>
              <a:rPr sz="1150" b="0" i="0" dirty="0" err="1">
                <a:solidFill>
                  <a:srgbClr val="33413D"/>
                </a:solidFill>
                <a:latin typeface="Aptos"/>
              </a:rPr>
              <a:t>kontrolliert</a:t>
            </a:r>
            <a:r>
              <a:rPr sz="1150" b="0" i="0" dirty="0">
                <a:solidFill>
                  <a:srgbClr val="33413D"/>
                </a:solidFill>
                <a:latin typeface="Aptos"/>
              </a:rPr>
              <a:t> </a:t>
            </a:r>
            <a:r>
              <a:rPr sz="1150" b="0" i="0" dirty="0" err="1">
                <a:solidFill>
                  <a:srgbClr val="33413D"/>
                </a:solidFill>
                <a:latin typeface="Aptos"/>
              </a:rPr>
              <a:t>freigeschaltet</a:t>
            </a:r>
            <a:r>
              <a:rPr sz="1150" b="0" i="0" dirty="0">
                <a:solidFill>
                  <a:srgbClr val="33413D"/>
                </a:solidFill>
                <a:latin typeface="Aptos"/>
              </a:rPr>
              <a:t>.</a:t>
            </a:r>
          </a:p>
        </p:txBody>
      </p:sp>
      <p:sp>
        <p:nvSpPr>
          <p:cNvPr id="12" name="Rounded Rectangle 11"/>
          <p:cNvSpPr/>
          <p:nvPr/>
        </p:nvSpPr>
        <p:spPr>
          <a:xfrm>
            <a:off x="640080" y="4663440"/>
            <a:ext cx="1417320" cy="292608"/>
          </a:xfrm>
          <a:prstGeom prst="roundRect">
            <a:avLst>
              <a:gd name="adj" fmla="val 50000"/>
            </a:avLst>
          </a:prstGeom>
          <a:solidFill>
            <a:srgbClr val="D3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681728"/>
            <a:ext cx="1417320" cy="256032"/>
          </a:xfrm>
          <a:prstGeom prst="rect">
            <a:avLst/>
          </a:prstGeom>
          <a:noFill/>
        </p:spPr>
        <p:txBody>
          <a:bodyPr wrap="square" lIns="0" tIns="0" rIns="0" bIns="0" anchor="ctr">
            <a:spAutoFit/>
          </a:bodyPr>
          <a:lstStyle/>
          <a:p>
            <a:pPr algn="ctr"/>
            <a:r>
              <a:rPr sz="950" b="1" i="0">
                <a:solidFill>
                  <a:srgbClr val="044F49"/>
                </a:solidFill>
                <a:latin typeface="Aptos"/>
              </a:rPr>
              <a:t>Live</a:t>
            </a:r>
          </a:p>
        </p:txBody>
      </p:sp>
      <p:sp>
        <p:nvSpPr>
          <p:cNvPr id="14" name="TextBox 13"/>
          <p:cNvSpPr txBox="1"/>
          <p:nvPr/>
        </p:nvSpPr>
        <p:spPr>
          <a:xfrm>
            <a:off x="2112264" y="4681728"/>
            <a:ext cx="1280160" cy="256032"/>
          </a:xfrm>
          <a:prstGeom prst="rect">
            <a:avLst/>
          </a:prstGeom>
          <a:noFill/>
        </p:spPr>
        <p:txBody>
          <a:bodyPr wrap="square" lIns="0" tIns="0" rIns="0" bIns="0" anchor="ctr">
            <a:spAutoFit/>
          </a:bodyPr>
          <a:lstStyle/>
          <a:p>
            <a:r>
              <a:rPr sz="850" b="0" i="0">
                <a:solidFill>
                  <a:srgbClr val="64716D"/>
                </a:solidFill>
                <a:latin typeface="Aptos"/>
              </a:rPr>
              <a:t>dauerhaft nutzbar</a:t>
            </a:r>
          </a:p>
        </p:txBody>
      </p:sp>
      <p:sp>
        <p:nvSpPr>
          <p:cNvPr id="15" name="Rounded Rectangle 14"/>
          <p:cNvSpPr/>
          <p:nvPr/>
        </p:nvSpPr>
        <p:spPr>
          <a:xfrm>
            <a:off x="3429000" y="4663440"/>
            <a:ext cx="1417320" cy="292608"/>
          </a:xfrm>
          <a:prstGeom prst="roundRect">
            <a:avLst>
              <a:gd name="adj" fmla="val 50000"/>
            </a:avLst>
          </a:prstGeom>
          <a:solidFill>
            <a:srgbClr val="DAE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29000" y="4681728"/>
            <a:ext cx="1417320" cy="256032"/>
          </a:xfrm>
          <a:prstGeom prst="rect">
            <a:avLst/>
          </a:prstGeom>
          <a:noFill/>
        </p:spPr>
        <p:txBody>
          <a:bodyPr wrap="square" lIns="0" tIns="0" rIns="0" bIns="0" anchor="ctr">
            <a:spAutoFit/>
          </a:bodyPr>
          <a:lstStyle/>
          <a:p>
            <a:pPr algn="ctr"/>
            <a:r>
              <a:rPr sz="950" b="1" i="0">
                <a:solidFill>
                  <a:srgbClr val="044F49"/>
                </a:solidFill>
                <a:latin typeface="Aptos"/>
              </a:rPr>
              <a:t>Verfügbar</a:t>
            </a:r>
          </a:p>
        </p:txBody>
      </p:sp>
      <p:sp>
        <p:nvSpPr>
          <p:cNvPr id="17" name="TextBox 16"/>
          <p:cNvSpPr txBox="1"/>
          <p:nvPr/>
        </p:nvSpPr>
        <p:spPr>
          <a:xfrm>
            <a:off x="4901184" y="4681728"/>
            <a:ext cx="1280160" cy="256032"/>
          </a:xfrm>
          <a:prstGeom prst="rect">
            <a:avLst/>
          </a:prstGeom>
          <a:noFill/>
        </p:spPr>
        <p:txBody>
          <a:bodyPr wrap="square" lIns="0" tIns="0" rIns="0" bIns="0" anchor="ctr">
            <a:spAutoFit/>
          </a:bodyPr>
          <a:lstStyle/>
          <a:p>
            <a:r>
              <a:rPr sz="850" b="0" i="0">
                <a:solidFill>
                  <a:srgbClr val="64716D"/>
                </a:solidFill>
                <a:latin typeface="Aptos"/>
              </a:rPr>
              <a:t>voll bedienbar</a:t>
            </a:r>
          </a:p>
        </p:txBody>
      </p:sp>
      <p:sp>
        <p:nvSpPr>
          <p:cNvPr id="18" name="Rounded Rectangle 17"/>
          <p:cNvSpPr/>
          <p:nvPr/>
        </p:nvSpPr>
        <p:spPr>
          <a:xfrm>
            <a:off x="6217920" y="4663440"/>
            <a:ext cx="1417320" cy="292608"/>
          </a:xfrm>
          <a:prstGeom prst="roundRect">
            <a:avLst>
              <a:gd name="adj" fmla="val 50000"/>
            </a:avLst>
          </a:prstGeom>
          <a:solidFill>
            <a:srgbClr val="F4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0" y="4681728"/>
            <a:ext cx="1417320" cy="256032"/>
          </a:xfrm>
          <a:prstGeom prst="rect">
            <a:avLst/>
          </a:prstGeom>
          <a:noFill/>
        </p:spPr>
        <p:txBody>
          <a:bodyPr wrap="square" lIns="0" tIns="0" rIns="0" bIns="0" anchor="ctr">
            <a:spAutoFit/>
          </a:bodyPr>
          <a:lstStyle/>
          <a:p>
            <a:pPr algn="ctr"/>
            <a:r>
              <a:rPr sz="950" b="1" i="0">
                <a:solidFill>
                  <a:srgbClr val="7A5410"/>
                </a:solidFill>
                <a:latin typeface="Aptos"/>
              </a:rPr>
              <a:t>Teilweise</a:t>
            </a:r>
          </a:p>
        </p:txBody>
      </p:sp>
      <p:sp>
        <p:nvSpPr>
          <p:cNvPr id="20" name="TextBox 19"/>
          <p:cNvSpPr txBox="1"/>
          <p:nvPr/>
        </p:nvSpPr>
        <p:spPr>
          <a:xfrm>
            <a:off x="7690104" y="4681728"/>
            <a:ext cx="1280160" cy="256032"/>
          </a:xfrm>
          <a:prstGeom prst="rect">
            <a:avLst/>
          </a:prstGeom>
          <a:noFill/>
        </p:spPr>
        <p:txBody>
          <a:bodyPr wrap="square" lIns="0" tIns="0" rIns="0" bIns="0" anchor="ctr">
            <a:spAutoFit/>
          </a:bodyPr>
          <a:lstStyle/>
          <a:p>
            <a:r>
              <a:rPr sz="850" b="0" i="0">
                <a:solidFill>
                  <a:srgbClr val="64716D"/>
                </a:solidFill>
                <a:latin typeface="Aptos"/>
              </a:rPr>
              <a:t>Ansicht vorhanden, Vollzug folgt</a:t>
            </a:r>
          </a:p>
        </p:txBody>
      </p:sp>
      <p:sp>
        <p:nvSpPr>
          <p:cNvPr id="21" name="Rounded Rectangle 20"/>
          <p:cNvSpPr/>
          <p:nvPr/>
        </p:nvSpPr>
        <p:spPr>
          <a:xfrm>
            <a:off x="9006840" y="4663440"/>
            <a:ext cx="1417320" cy="292608"/>
          </a:xfrm>
          <a:prstGeom prst="roundRect">
            <a:avLst>
              <a:gd name="adj" fmla="val 50000"/>
            </a:avLst>
          </a:prstGeom>
          <a:solidFill>
            <a:srgbClr val="EA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06840" y="4681728"/>
            <a:ext cx="1417320" cy="256032"/>
          </a:xfrm>
          <a:prstGeom prst="rect">
            <a:avLst/>
          </a:prstGeom>
          <a:noFill/>
        </p:spPr>
        <p:txBody>
          <a:bodyPr wrap="square" lIns="0" tIns="0" rIns="0" bIns="0" anchor="ctr">
            <a:spAutoFit/>
          </a:bodyPr>
          <a:lstStyle/>
          <a:p>
            <a:pPr algn="ctr"/>
            <a:r>
              <a:rPr sz="950" b="1" i="0">
                <a:solidFill>
                  <a:srgbClr val="4B5652"/>
                </a:solidFill>
                <a:latin typeface="Aptos"/>
              </a:rPr>
              <a:t>In Vorbereitung</a:t>
            </a:r>
          </a:p>
        </p:txBody>
      </p:sp>
      <p:sp>
        <p:nvSpPr>
          <p:cNvPr id="23" name="TextBox 22"/>
          <p:cNvSpPr txBox="1"/>
          <p:nvPr/>
        </p:nvSpPr>
        <p:spPr>
          <a:xfrm>
            <a:off x="10479024" y="4681728"/>
            <a:ext cx="1280160" cy="256032"/>
          </a:xfrm>
          <a:prstGeom prst="rect">
            <a:avLst/>
          </a:prstGeom>
          <a:noFill/>
        </p:spPr>
        <p:txBody>
          <a:bodyPr wrap="square" lIns="0" tIns="0" rIns="0" bIns="0" anchor="ctr">
            <a:spAutoFit/>
          </a:bodyPr>
          <a:lstStyle/>
          <a:p>
            <a:r>
              <a:rPr sz="850" b="0" i="0">
                <a:solidFill>
                  <a:srgbClr val="64716D"/>
                </a:solidFill>
                <a:latin typeface="Aptos"/>
              </a:rPr>
              <a:t>nächste Ausbaustufe</a:t>
            </a:r>
          </a:p>
        </p:txBody>
      </p:sp>
      <p:sp>
        <p:nvSpPr>
          <p:cNvPr id="24" name="TextBox 2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25" name="TextBox 2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24</a:t>
            </a:r>
          </a:p>
        </p:txBody>
      </p:sp>
      <p:pic>
        <p:nvPicPr>
          <p:cNvPr id="26" name="Picture 2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08</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Die Demonstration </a:t>
            </a:r>
            <a:r>
              <a:rPr lang="de-DE" sz="2700" b="1" i="0" dirty="0">
                <a:solidFill>
                  <a:srgbClr val="044F49"/>
                </a:solidFill>
                <a:latin typeface="Aptos"/>
              </a:rPr>
              <a:t>-</a:t>
            </a:r>
            <a:r>
              <a:rPr sz="2700" b="1" i="0" dirty="0">
                <a:solidFill>
                  <a:srgbClr val="044F49"/>
                </a:solidFill>
                <a:latin typeface="Aptos"/>
              </a:rPr>
              <a:t> Zweck &amp; </a:t>
            </a:r>
            <a:r>
              <a:rPr sz="2700" b="1" i="0" dirty="0" err="1">
                <a:solidFill>
                  <a:srgbClr val="044F49"/>
                </a:solidFill>
                <a:latin typeface="Aptos"/>
              </a:rPr>
              <a:t>Umfang</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508760"/>
            <a:ext cx="10881360" cy="369332"/>
          </a:xfrm>
          <a:prstGeom prst="rect">
            <a:avLst/>
          </a:prstGeom>
          <a:noFill/>
        </p:spPr>
        <p:txBody>
          <a:bodyPr wrap="square" lIns="0" tIns="0" rIns="0" bIns="0" anchor="t">
            <a:spAutoFit/>
          </a:bodyPr>
          <a:lstStyle/>
          <a:p>
            <a:pPr>
              <a:spcAft>
                <a:spcPts val="600"/>
              </a:spcAft>
            </a:pPr>
            <a:r>
              <a:rPr sz="1200" i="0" dirty="0">
                <a:solidFill>
                  <a:srgbClr val="33413D"/>
                </a:solidFill>
                <a:latin typeface="Aptos"/>
              </a:rPr>
              <a:t>Der </a:t>
            </a:r>
            <a:r>
              <a:rPr sz="1200" i="0" dirty="0" err="1">
                <a:solidFill>
                  <a:srgbClr val="33413D"/>
                </a:solidFill>
                <a:latin typeface="Aptos"/>
              </a:rPr>
              <a:t>aktuelle</a:t>
            </a:r>
            <a:r>
              <a:rPr sz="1200" i="0" dirty="0">
                <a:solidFill>
                  <a:srgbClr val="33413D"/>
                </a:solidFill>
                <a:latin typeface="Aptos"/>
              </a:rPr>
              <a:t> Stand </a:t>
            </a:r>
            <a:r>
              <a:rPr sz="1200" i="0" dirty="0" err="1">
                <a:solidFill>
                  <a:srgbClr val="33413D"/>
                </a:solidFill>
                <a:latin typeface="Aptos"/>
              </a:rPr>
              <a:t>ist</a:t>
            </a:r>
            <a:r>
              <a:rPr sz="1200" i="0" dirty="0">
                <a:solidFill>
                  <a:srgbClr val="33413D"/>
                </a:solidFill>
                <a:latin typeface="Aptos"/>
              </a:rPr>
              <a:t> </a:t>
            </a:r>
            <a:r>
              <a:rPr sz="1200" i="0" dirty="0" err="1">
                <a:solidFill>
                  <a:srgbClr val="33413D"/>
                </a:solidFill>
                <a:latin typeface="Aptos"/>
              </a:rPr>
              <a:t>eine</a:t>
            </a:r>
            <a:r>
              <a:rPr sz="1200" i="0" dirty="0">
                <a:solidFill>
                  <a:srgbClr val="33413D"/>
                </a:solidFill>
                <a:latin typeface="Aptos"/>
              </a:rPr>
              <a:t> </a:t>
            </a:r>
            <a:r>
              <a:rPr sz="1200" i="0" dirty="0" err="1">
                <a:solidFill>
                  <a:srgbClr val="33413D"/>
                </a:solidFill>
                <a:latin typeface="Aptos"/>
              </a:rPr>
              <a:t>vollständig</a:t>
            </a:r>
            <a:r>
              <a:rPr sz="1200" i="0" dirty="0">
                <a:solidFill>
                  <a:srgbClr val="33413D"/>
                </a:solidFill>
                <a:latin typeface="Aptos"/>
              </a:rPr>
              <a:t> </a:t>
            </a:r>
            <a:r>
              <a:rPr sz="1200" i="0" dirty="0" err="1">
                <a:solidFill>
                  <a:srgbClr val="33413D"/>
                </a:solidFill>
                <a:latin typeface="Aptos"/>
              </a:rPr>
              <a:t>bedienbare</a:t>
            </a:r>
            <a:r>
              <a:rPr sz="1200" i="0" dirty="0">
                <a:solidFill>
                  <a:srgbClr val="33413D"/>
                </a:solidFill>
                <a:latin typeface="Aptos"/>
              </a:rPr>
              <a:t> </a:t>
            </a:r>
            <a:r>
              <a:rPr sz="1200" i="0" dirty="0" err="1">
                <a:solidFill>
                  <a:srgbClr val="33413D"/>
                </a:solidFill>
                <a:latin typeface="Aptos"/>
              </a:rPr>
              <a:t>Demonstrationsumgebung</a:t>
            </a:r>
            <a:r>
              <a:rPr sz="1200" i="0" dirty="0">
                <a:solidFill>
                  <a:srgbClr val="33413D"/>
                </a:solidFill>
                <a:latin typeface="Aptos"/>
              </a:rPr>
              <a:t> </a:t>
            </a:r>
            <a:r>
              <a:rPr lang="de-DE" sz="1200" i="0" dirty="0">
                <a:solidFill>
                  <a:srgbClr val="33413D"/>
                </a:solidFill>
                <a:latin typeface="Aptos"/>
              </a:rPr>
              <a:t>-</a:t>
            </a:r>
            <a:r>
              <a:rPr sz="1200" i="0" dirty="0">
                <a:solidFill>
                  <a:srgbClr val="33413D"/>
                </a:solidFill>
                <a:latin typeface="Aptos"/>
              </a:rPr>
              <a:t> für </a:t>
            </a:r>
            <a:r>
              <a:rPr sz="1200" i="0" dirty="0" err="1">
                <a:solidFill>
                  <a:srgbClr val="33413D"/>
                </a:solidFill>
                <a:latin typeface="Aptos"/>
              </a:rPr>
              <a:t>Ihre</a:t>
            </a:r>
            <a:r>
              <a:rPr sz="1200" i="0" dirty="0">
                <a:solidFill>
                  <a:srgbClr val="33413D"/>
                </a:solidFill>
                <a:latin typeface="Aptos"/>
              </a:rPr>
              <a:t> </a:t>
            </a:r>
            <a:r>
              <a:rPr sz="1200" i="0" dirty="0" err="1">
                <a:solidFill>
                  <a:srgbClr val="33413D"/>
                </a:solidFill>
                <a:latin typeface="Aptos"/>
              </a:rPr>
              <a:t>Bewertung</a:t>
            </a:r>
            <a:r>
              <a:rPr sz="1200" i="0" dirty="0">
                <a:solidFill>
                  <a:srgbClr val="33413D"/>
                </a:solidFill>
                <a:latin typeface="Aptos"/>
              </a:rPr>
              <a:t>, für Stakeholder-</a:t>
            </a:r>
            <a:r>
              <a:rPr sz="1200" i="0" dirty="0" err="1">
                <a:solidFill>
                  <a:srgbClr val="33413D"/>
                </a:solidFill>
                <a:latin typeface="Aptos"/>
              </a:rPr>
              <a:t>Präsentationen</a:t>
            </a:r>
            <a:r>
              <a:rPr sz="1200" i="0" dirty="0">
                <a:solidFill>
                  <a:srgbClr val="33413D"/>
                </a:solidFill>
                <a:latin typeface="Aptos"/>
              </a:rPr>
              <a:t> und für </a:t>
            </a:r>
            <a:r>
              <a:rPr sz="1200" i="0" dirty="0" err="1">
                <a:solidFill>
                  <a:srgbClr val="33413D"/>
                </a:solidFill>
                <a:latin typeface="Aptos"/>
              </a:rPr>
              <a:t>erste</a:t>
            </a:r>
            <a:r>
              <a:rPr sz="1200" i="0" dirty="0">
                <a:solidFill>
                  <a:srgbClr val="33413D"/>
                </a:solidFill>
                <a:latin typeface="Aptos"/>
              </a:rPr>
              <a:t> </a:t>
            </a:r>
            <a:r>
              <a:rPr sz="1200" i="0" dirty="0" err="1">
                <a:solidFill>
                  <a:srgbClr val="33413D"/>
                </a:solidFill>
                <a:latin typeface="Aptos"/>
              </a:rPr>
              <a:t>Reaktionen</a:t>
            </a:r>
            <a:r>
              <a:rPr sz="1200" i="0" dirty="0">
                <a:solidFill>
                  <a:srgbClr val="33413D"/>
                </a:solidFill>
                <a:latin typeface="Aptos"/>
              </a:rPr>
              <a:t> </a:t>
            </a:r>
            <a:r>
              <a:rPr sz="1200" i="0" dirty="0" err="1">
                <a:solidFill>
                  <a:srgbClr val="33413D"/>
                </a:solidFill>
                <a:latin typeface="Aptos"/>
              </a:rPr>
              <a:t>Ihres</a:t>
            </a:r>
            <a:r>
              <a:rPr sz="1200" i="0" dirty="0">
                <a:solidFill>
                  <a:srgbClr val="33413D"/>
                </a:solidFill>
                <a:latin typeface="Aptos"/>
              </a:rPr>
              <a:t> Teams.</a:t>
            </a:r>
          </a:p>
        </p:txBody>
      </p:sp>
      <p:sp>
        <p:nvSpPr>
          <p:cNvPr id="10" name="Rounded Rectangle 9"/>
          <p:cNvSpPr/>
          <p:nvPr/>
        </p:nvSpPr>
        <p:spPr>
          <a:xfrm>
            <a:off x="640080" y="2148840"/>
            <a:ext cx="5257800" cy="3200400"/>
          </a:xfrm>
          <a:prstGeom prst="roundRect">
            <a:avLst>
              <a:gd name="adj" fmla="val 5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331720"/>
            <a:ext cx="4745736" cy="1946687"/>
          </a:xfrm>
          <a:prstGeom prst="rect">
            <a:avLst/>
          </a:prstGeom>
          <a:noFill/>
        </p:spPr>
        <p:txBody>
          <a:bodyPr wrap="square" lIns="0" tIns="0" rIns="0" bIns="0" anchor="t">
            <a:spAutoFit/>
          </a:bodyPr>
          <a:lstStyle/>
          <a:p>
            <a:r>
              <a:rPr sz="1350" b="1" i="0" dirty="0">
                <a:solidFill>
                  <a:srgbClr val="044F49"/>
                </a:solidFill>
                <a:latin typeface="Aptos"/>
              </a:rPr>
              <a:t>Was die Demonstration </a:t>
            </a:r>
            <a:r>
              <a:rPr sz="1350" b="1" i="0" dirty="0" err="1">
                <a:solidFill>
                  <a:srgbClr val="044F49"/>
                </a:solidFill>
                <a:latin typeface="Aptos"/>
              </a:rPr>
              <a:t>zeigt</a:t>
            </a:r>
            <a:endParaRPr sz="1350" b="1" i="0" dirty="0">
              <a:solidFill>
                <a:srgbClr val="044F49"/>
              </a:solidFill>
              <a:latin typeface="Aptos"/>
            </a:endParaRPr>
          </a:p>
          <a:p>
            <a:pPr>
              <a:spcBef>
                <a:spcPts val="600"/>
              </a:spcBef>
            </a:pPr>
            <a:r>
              <a:rPr sz="1100" b="0" i="0" dirty="0">
                <a:solidFill>
                  <a:srgbClr val="33413D"/>
                </a:solidFill>
                <a:latin typeface="Aptos"/>
              </a:rPr>
              <a:t>•  Den </a:t>
            </a:r>
            <a:r>
              <a:rPr sz="1100" b="0" i="0" dirty="0" err="1">
                <a:solidFill>
                  <a:srgbClr val="33413D"/>
                </a:solidFill>
                <a:latin typeface="Aptos"/>
              </a:rPr>
              <a:t>vollständigen</a:t>
            </a:r>
            <a:r>
              <a:rPr sz="1100" b="0" i="0" dirty="0">
                <a:solidFill>
                  <a:srgbClr val="33413D"/>
                </a:solidFill>
                <a:latin typeface="Aptos"/>
              </a:rPr>
              <a:t> </a:t>
            </a:r>
            <a:r>
              <a:rPr sz="1100" b="0" i="0" dirty="0" err="1">
                <a:solidFill>
                  <a:srgbClr val="33413D"/>
                </a:solidFill>
                <a:latin typeface="Aptos"/>
              </a:rPr>
              <a:t>Funktionsumfang</a:t>
            </a:r>
            <a:r>
              <a:rPr sz="1100" b="0" i="0" dirty="0">
                <a:solidFill>
                  <a:srgbClr val="33413D"/>
                </a:solidFill>
                <a:latin typeface="Aptos"/>
              </a:rPr>
              <a:t> </a:t>
            </a:r>
            <a:r>
              <a:rPr lang="de-DE" sz="1100" b="0" i="0" dirty="0">
                <a:solidFill>
                  <a:srgbClr val="33413D"/>
                </a:solidFill>
                <a:latin typeface="Aptos"/>
              </a:rPr>
              <a:t>-</a:t>
            </a:r>
            <a:r>
              <a:rPr sz="1100" b="0" i="0" dirty="0">
                <a:solidFill>
                  <a:srgbClr val="33413D"/>
                </a:solidFill>
                <a:latin typeface="Aptos"/>
              </a:rPr>
              <a:t> in </a:t>
            </a:r>
            <a:r>
              <a:rPr sz="1100" b="0" i="0" dirty="0" err="1">
                <a:solidFill>
                  <a:srgbClr val="33413D"/>
                </a:solidFill>
                <a:latin typeface="Aptos"/>
              </a:rPr>
              <a:t>allen</a:t>
            </a:r>
            <a:r>
              <a:rPr sz="1100" b="0" i="0" dirty="0">
                <a:solidFill>
                  <a:srgbClr val="33413D"/>
                </a:solidFill>
                <a:latin typeface="Aptos"/>
              </a:rPr>
              <a:t> </a:t>
            </a:r>
            <a:r>
              <a:rPr sz="1100" b="0" i="0" dirty="0" err="1">
                <a:solidFill>
                  <a:srgbClr val="33413D"/>
                </a:solidFill>
                <a:latin typeface="Aptos"/>
              </a:rPr>
              <a:t>sechs</a:t>
            </a:r>
            <a:r>
              <a:rPr sz="1100" b="0" i="0" dirty="0">
                <a:solidFill>
                  <a:srgbClr val="33413D"/>
                </a:solidFill>
                <a:latin typeface="Aptos"/>
              </a:rPr>
              <a:t> Rollen und vier Sprachen </a:t>
            </a:r>
            <a:r>
              <a:rPr sz="1100" b="0" i="0" dirty="0" err="1">
                <a:solidFill>
                  <a:srgbClr val="33413D"/>
                </a:solidFill>
                <a:latin typeface="Aptos"/>
              </a:rPr>
              <a:t>durchklickbar</a:t>
            </a:r>
            <a:r>
              <a:rPr sz="1100" b="0" i="0" dirty="0">
                <a:solidFill>
                  <a:srgbClr val="33413D"/>
                </a:solidFill>
                <a:latin typeface="Aptos"/>
              </a:rPr>
              <a:t>.</a:t>
            </a:r>
          </a:p>
          <a:p>
            <a:pPr>
              <a:spcBef>
                <a:spcPts val="600"/>
              </a:spcBef>
            </a:pPr>
            <a:r>
              <a:rPr sz="1100" b="0" i="0" dirty="0">
                <a:solidFill>
                  <a:srgbClr val="33413D"/>
                </a:solidFill>
                <a:latin typeface="Aptos"/>
              </a:rPr>
              <a:t>•  </a:t>
            </a:r>
            <a:r>
              <a:rPr sz="1100" b="0" i="0" dirty="0" err="1">
                <a:solidFill>
                  <a:srgbClr val="33413D"/>
                </a:solidFill>
                <a:latin typeface="Aptos"/>
              </a:rPr>
              <a:t>Realistische</a:t>
            </a:r>
            <a:r>
              <a:rPr sz="1100" b="0" i="0" dirty="0">
                <a:solidFill>
                  <a:srgbClr val="33413D"/>
                </a:solidFill>
                <a:latin typeface="Aptos"/>
              </a:rPr>
              <a:t> </a:t>
            </a:r>
            <a:r>
              <a:rPr sz="1100" b="0" i="0" dirty="0" err="1">
                <a:solidFill>
                  <a:srgbClr val="33413D"/>
                </a:solidFill>
                <a:latin typeface="Aptos"/>
              </a:rPr>
              <a:t>Beispieldaten</a:t>
            </a:r>
            <a:r>
              <a:rPr sz="1100" b="0" i="0" dirty="0">
                <a:solidFill>
                  <a:srgbClr val="33413D"/>
                </a:solidFill>
                <a:latin typeface="Aptos"/>
              </a:rPr>
              <a:t> auf Basis des </a:t>
            </a:r>
            <a:r>
              <a:rPr sz="1100" b="0" i="0" dirty="0" err="1">
                <a:solidFill>
                  <a:srgbClr val="33413D"/>
                </a:solidFill>
                <a:latin typeface="Aptos"/>
              </a:rPr>
              <a:t>echten</a:t>
            </a:r>
            <a:r>
              <a:rPr sz="1100" b="0" i="0" dirty="0">
                <a:solidFill>
                  <a:srgbClr val="33413D"/>
                </a:solidFill>
                <a:latin typeface="Aptos"/>
              </a:rPr>
              <a:t> 769-Einheiten-Portfolios (</a:t>
            </a:r>
            <a:r>
              <a:rPr sz="1100" b="0" i="0" dirty="0" err="1">
                <a:solidFill>
                  <a:srgbClr val="33413D"/>
                </a:solidFill>
                <a:latin typeface="Aptos"/>
              </a:rPr>
              <a:t>Preisliste</a:t>
            </a:r>
            <a:r>
              <a:rPr sz="1100" b="0" i="0" dirty="0">
                <a:solidFill>
                  <a:srgbClr val="33413D"/>
                </a:solidFill>
                <a:latin typeface="Aptos"/>
              </a:rPr>
              <a:t>, </a:t>
            </a:r>
            <a:r>
              <a:rPr sz="1100" b="0" i="0" dirty="0" err="1">
                <a:solidFill>
                  <a:srgbClr val="33413D"/>
                </a:solidFill>
                <a:latin typeface="Aptos"/>
              </a:rPr>
              <a:t>Blockstruktur</a:t>
            </a:r>
            <a:r>
              <a:rPr sz="1100" b="0" i="0" dirty="0">
                <a:solidFill>
                  <a:srgbClr val="33413D"/>
                </a:solidFill>
                <a:latin typeface="Aptos"/>
              </a:rPr>
              <a:t>).</a:t>
            </a:r>
          </a:p>
          <a:p>
            <a:pPr>
              <a:spcBef>
                <a:spcPts val="600"/>
              </a:spcBef>
            </a:pPr>
            <a:r>
              <a:rPr sz="1100" b="0" i="0" dirty="0">
                <a:solidFill>
                  <a:srgbClr val="33413D"/>
                </a:solidFill>
                <a:latin typeface="Aptos"/>
              </a:rPr>
              <a:t>•  Den </a:t>
            </a:r>
            <a:r>
              <a:rPr sz="1100" b="0" i="0" dirty="0" err="1">
                <a:solidFill>
                  <a:srgbClr val="33413D"/>
                </a:solidFill>
                <a:latin typeface="Aptos"/>
              </a:rPr>
              <a:t>öffentlichen</a:t>
            </a:r>
            <a:r>
              <a:rPr sz="1100" b="0" i="0" dirty="0">
                <a:solidFill>
                  <a:srgbClr val="33413D"/>
                </a:solidFill>
                <a:latin typeface="Aptos"/>
              </a:rPr>
              <a:t> </a:t>
            </a:r>
            <a:r>
              <a:rPr sz="1100" b="0" i="0" dirty="0" err="1">
                <a:solidFill>
                  <a:srgbClr val="33413D"/>
                </a:solidFill>
                <a:latin typeface="Aptos"/>
              </a:rPr>
              <a:t>Bereich</a:t>
            </a:r>
            <a:r>
              <a:rPr sz="1100" b="0" i="0" dirty="0">
                <a:solidFill>
                  <a:srgbClr val="33413D"/>
                </a:solidFill>
                <a:latin typeface="Aptos"/>
              </a:rPr>
              <a:t> </a:t>
            </a:r>
            <a:r>
              <a:rPr sz="1100" b="0" i="0" dirty="0" err="1">
                <a:solidFill>
                  <a:srgbClr val="33413D"/>
                </a:solidFill>
                <a:latin typeface="Aptos"/>
              </a:rPr>
              <a:t>mit</a:t>
            </a:r>
            <a:r>
              <a:rPr sz="1100" b="0" i="0" dirty="0">
                <a:solidFill>
                  <a:srgbClr val="33413D"/>
                </a:solidFill>
                <a:latin typeface="Aptos"/>
              </a:rPr>
              <a:t> </a:t>
            </a:r>
            <a:r>
              <a:rPr sz="1100" b="0" i="0" dirty="0" err="1">
                <a:solidFill>
                  <a:srgbClr val="33413D"/>
                </a:solidFill>
                <a:latin typeface="Aptos"/>
              </a:rPr>
              <a:t>Registrierung</a:t>
            </a:r>
            <a:r>
              <a:rPr sz="1100" b="0" i="0" dirty="0">
                <a:solidFill>
                  <a:srgbClr val="33413D"/>
                </a:solidFill>
                <a:latin typeface="Aptos"/>
              </a:rPr>
              <a:t>, </a:t>
            </a:r>
            <a:r>
              <a:rPr sz="1100" b="0" i="0" dirty="0" err="1">
                <a:solidFill>
                  <a:srgbClr val="33413D"/>
                </a:solidFill>
                <a:latin typeface="Aptos"/>
              </a:rPr>
              <a:t>Meldekanal</a:t>
            </a:r>
            <a:r>
              <a:rPr sz="1100" b="0" i="0" dirty="0">
                <a:solidFill>
                  <a:srgbClr val="33413D"/>
                </a:solidFill>
                <a:latin typeface="Aptos"/>
              </a:rPr>
              <a:t> und QR-Poster </a:t>
            </a:r>
            <a:r>
              <a:rPr lang="de-DE" sz="1100" b="0" i="0" dirty="0">
                <a:solidFill>
                  <a:srgbClr val="33413D"/>
                </a:solidFill>
                <a:latin typeface="Aptos"/>
              </a:rPr>
              <a:t>-</a:t>
            </a:r>
            <a:r>
              <a:rPr sz="1100" b="0" i="0" dirty="0">
                <a:solidFill>
                  <a:srgbClr val="33413D"/>
                </a:solidFill>
                <a:latin typeface="Aptos"/>
              </a:rPr>
              <a:t> </a:t>
            </a:r>
            <a:r>
              <a:rPr sz="1100" b="0" i="0" dirty="0" err="1">
                <a:solidFill>
                  <a:srgbClr val="33413D"/>
                </a:solidFill>
                <a:latin typeface="Aptos"/>
              </a:rPr>
              <a:t>ohne</a:t>
            </a:r>
            <a:r>
              <a:rPr sz="1100" b="0" i="0" dirty="0">
                <a:solidFill>
                  <a:srgbClr val="33413D"/>
                </a:solidFill>
                <a:latin typeface="Aptos"/>
              </a:rPr>
              <a:t> Login.</a:t>
            </a:r>
          </a:p>
          <a:p>
            <a:pPr>
              <a:spcBef>
                <a:spcPts val="600"/>
              </a:spcBef>
            </a:pPr>
            <a:r>
              <a:rPr sz="1100" b="0" i="0" dirty="0">
                <a:solidFill>
                  <a:srgbClr val="33413D"/>
                </a:solidFill>
                <a:latin typeface="Aptos"/>
              </a:rPr>
              <a:t>•  </a:t>
            </a:r>
            <a:r>
              <a:rPr sz="1100" b="0" i="0" dirty="0" err="1">
                <a:solidFill>
                  <a:srgbClr val="33413D"/>
                </a:solidFill>
                <a:latin typeface="Aptos"/>
              </a:rPr>
              <a:t>Beide</a:t>
            </a:r>
            <a:r>
              <a:rPr sz="1100" b="0" i="0" dirty="0">
                <a:solidFill>
                  <a:srgbClr val="33413D"/>
                </a:solidFill>
                <a:latin typeface="Aptos"/>
              </a:rPr>
              <a:t> KI-</a:t>
            </a:r>
            <a:r>
              <a:rPr sz="1100" b="0" i="0" dirty="0" err="1">
                <a:solidFill>
                  <a:srgbClr val="33413D"/>
                </a:solidFill>
                <a:latin typeface="Aptos"/>
              </a:rPr>
              <a:t>Assistenten</a:t>
            </a:r>
            <a:r>
              <a:rPr sz="1100" b="0" i="0" dirty="0">
                <a:solidFill>
                  <a:srgbClr val="33413D"/>
                </a:solidFill>
                <a:latin typeface="Aptos"/>
              </a:rPr>
              <a:t> in Aktion.</a:t>
            </a:r>
          </a:p>
          <a:p>
            <a:pPr>
              <a:spcBef>
                <a:spcPts val="600"/>
              </a:spcBef>
            </a:pPr>
            <a:r>
              <a:rPr sz="1100" b="0" i="0" dirty="0">
                <a:solidFill>
                  <a:srgbClr val="33413D"/>
                </a:solidFill>
                <a:latin typeface="Aptos"/>
              </a:rPr>
              <a:t>•  </a:t>
            </a:r>
            <a:r>
              <a:rPr sz="1100" b="0" i="0" dirty="0" err="1">
                <a:solidFill>
                  <a:srgbClr val="33413D"/>
                </a:solidFill>
                <a:latin typeface="Aptos"/>
              </a:rPr>
              <a:t>Einen</a:t>
            </a:r>
            <a:r>
              <a:rPr sz="1100" b="0" i="0" dirty="0">
                <a:solidFill>
                  <a:srgbClr val="33413D"/>
                </a:solidFill>
                <a:latin typeface="Aptos"/>
              </a:rPr>
              <a:t> </a:t>
            </a:r>
            <a:r>
              <a:rPr sz="1100" b="0" i="0" dirty="0" err="1">
                <a:solidFill>
                  <a:srgbClr val="33413D"/>
                </a:solidFill>
                <a:latin typeface="Aptos"/>
              </a:rPr>
              <a:t>passwortfreien</a:t>
            </a:r>
            <a:r>
              <a:rPr sz="1100" b="0" i="0" dirty="0">
                <a:solidFill>
                  <a:srgbClr val="33413D"/>
                </a:solidFill>
                <a:latin typeface="Aptos"/>
              </a:rPr>
              <a:t> Ein-Klick-</a:t>
            </a:r>
            <a:r>
              <a:rPr sz="1100" b="0" i="0" dirty="0" err="1">
                <a:solidFill>
                  <a:srgbClr val="33413D"/>
                </a:solidFill>
                <a:latin typeface="Aptos"/>
              </a:rPr>
              <a:t>Zugang</a:t>
            </a:r>
            <a:r>
              <a:rPr sz="1100" b="0" i="0" dirty="0">
                <a:solidFill>
                  <a:srgbClr val="33413D"/>
                </a:solidFill>
                <a:latin typeface="Aptos"/>
              </a:rPr>
              <a:t> für </a:t>
            </a:r>
            <a:r>
              <a:rPr sz="1100" b="0" i="0" dirty="0" err="1">
                <a:solidFill>
                  <a:srgbClr val="33413D"/>
                </a:solidFill>
                <a:latin typeface="Aptos"/>
              </a:rPr>
              <a:t>schnelle</a:t>
            </a:r>
            <a:r>
              <a:rPr sz="1100" b="0" i="0" dirty="0">
                <a:solidFill>
                  <a:srgbClr val="33413D"/>
                </a:solidFill>
                <a:latin typeface="Aptos"/>
              </a:rPr>
              <a:t> </a:t>
            </a:r>
            <a:r>
              <a:rPr sz="1100" b="0" i="0" dirty="0" err="1">
                <a:solidFill>
                  <a:srgbClr val="33413D"/>
                </a:solidFill>
                <a:latin typeface="Aptos"/>
              </a:rPr>
              <a:t>Vorführungen</a:t>
            </a:r>
            <a:r>
              <a:rPr sz="1100" b="0" i="0" dirty="0">
                <a:solidFill>
                  <a:srgbClr val="33413D"/>
                </a:solidFill>
                <a:latin typeface="Aptos"/>
              </a:rPr>
              <a:t>.</a:t>
            </a:r>
          </a:p>
        </p:txBody>
      </p:sp>
      <p:sp>
        <p:nvSpPr>
          <p:cNvPr id="12" name="Rounded Rectangle 11"/>
          <p:cNvSpPr/>
          <p:nvPr/>
        </p:nvSpPr>
        <p:spPr>
          <a:xfrm>
            <a:off x="6263640" y="2148840"/>
            <a:ext cx="5257800" cy="3200400"/>
          </a:xfrm>
          <a:prstGeom prst="roundRect">
            <a:avLst>
              <a:gd name="adj" fmla="val 5000"/>
            </a:avLst>
          </a:prstGeom>
          <a:solidFill>
            <a:srgbClr val="FBF4EA"/>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9672" y="2331720"/>
            <a:ext cx="4745736" cy="1608133"/>
          </a:xfrm>
          <a:prstGeom prst="rect">
            <a:avLst/>
          </a:prstGeom>
          <a:noFill/>
        </p:spPr>
        <p:txBody>
          <a:bodyPr wrap="square" lIns="0" tIns="0" rIns="0" bIns="0" anchor="t">
            <a:spAutoFit/>
          </a:bodyPr>
          <a:lstStyle/>
          <a:p>
            <a:r>
              <a:rPr sz="1350" b="1" i="0" dirty="0">
                <a:solidFill>
                  <a:srgbClr val="7A5410"/>
                </a:solidFill>
                <a:latin typeface="Aptos"/>
              </a:rPr>
              <a:t>Was die Demonstration </a:t>
            </a:r>
            <a:r>
              <a:rPr sz="1350" b="1" i="0" dirty="0" err="1">
                <a:solidFill>
                  <a:srgbClr val="7A5410"/>
                </a:solidFill>
                <a:latin typeface="Aptos"/>
              </a:rPr>
              <a:t>bewusst</a:t>
            </a:r>
            <a:r>
              <a:rPr sz="1350" b="1" i="0" dirty="0">
                <a:solidFill>
                  <a:srgbClr val="7A5410"/>
                </a:solidFill>
                <a:latin typeface="Aptos"/>
              </a:rPr>
              <a:t> </a:t>
            </a:r>
            <a:r>
              <a:rPr sz="1350" b="1" i="0" dirty="0" err="1">
                <a:solidFill>
                  <a:srgbClr val="7A5410"/>
                </a:solidFill>
                <a:latin typeface="Aptos"/>
              </a:rPr>
              <a:t>noch</a:t>
            </a:r>
            <a:r>
              <a:rPr sz="1350" b="1" i="0" dirty="0">
                <a:solidFill>
                  <a:srgbClr val="7A5410"/>
                </a:solidFill>
                <a:latin typeface="Aptos"/>
              </a:rPr>
              <a:t> nicht tut</a:t>
            </a:r>
          </a:p>
          <a:p>
            <a:pPr>
              <a:spcBef>
                <a:spcPts val="600"/>
              </a:spcBef>
            </a:pPr>
            <a:r>
              <a:rPr sz="1100" b="0" i="0" dirty="0">
                <a:solidFill>
                  <a:srgbClr val="33413D"/>
                </a:solidFill>
                <a:latin typeface="Aptos"/>
              </a:rPr>
              <a:t>•  Es </a:t>
            </a:r>
            <a:r>
              <a:rPr sz="1100" b="0" i="0" dirty="0" err="1">
                <a:solidFill>
                  <a:srgbClr val="33413D"/>
                </a:solidFill>
                <a:latin typeface="Aptos"/>
              </a:rPr>
              <a:t>werden</a:t>
            </a:r>
            <a:r>
              <a:rPr sz="1100" b="0" i="0" dirty="0">
                <a:solidFill>
                  <a:srgbClr val="33413D"/>
                </a:solidFill>
                <a:latin typeface="Aptos"/>
              </a:rPr>
              <a:t> </a:t>
            </a:r>
            <a:r>
              <a:rPr sz="1100" b="0" i="0" dirty="0" err="1">
                <a:solidFill>
                  <a:srgbClr val="33413D"/>
                </a:solidFill>
                <a:latin typeface="Aptos"/>
              </a:rPr>
              <a:t>keine</a:t>
            </a:r>
            <a:r>
              <a:rPr sz="1100" b="0" i="0" dirty="0">
                <a:solidFill>
                  <a:srgbClr val="33413D"/>
                </a:solidFill>
                <a:latin typeface="Aptos"/>
              </a:rPr>
              <a:t> </a:t>
            </a:r>
            <a:r>
              <a:rPr sz="1100" b="0" i="0" dirty="0" err="1">
                <a:solidFill>
                  <a:srgbClr val="33413D"/>
                </a:solidFill>
                <a:latin typeface="Aptos"/>
              </a:rPr>
              <a:t>echten</a:t>
            </a:r>
            <a:r>
              <a:rPr sz="1100" b="0" i="0" dirty="0">
                <a:solidFill>
                  <a:srgbClr val="33413D"/>
                </a:solidFill>
                <a:latin typeface="Aptos"/>
              </a:rPr>
              <a:t> </a:t>
            </a:r>
            <a:r>
              <a:rPr sz="1100" b="0" i="0" dirty="0" err="1">
                <a:solidFill>
                  <a:srgbClr val="33413D"/>
                </a:solidFill>
                <a:latin typeface="Aptos"/>
              </a:rPr>
              <a:t>Zahlungen</a:t>
            </a:r>
            <a:r>
              <a:rPr sz="1100" b="0" i="0" dirty="0">
                <a:solidFill>
                  <a:srgbClr val="33413D"/>
                </a:solidFill>
                <a:latin typeface="Aptos"/>
              </a:rPr>
              <a:t> </a:t>
            </a:r>
            <a:r>
              <a:rPr sz="1100" b="0" i="0" dirty="0" err="1">
                <a:solidFill>
                  <a:srgbClr val="33413D"/>
                </a:solidFill>
                <a:latin typeface="Aptos"/>
              </a:rPr>
              <a:t>gebucht</a:t>
            </a:r>
            <a:r>
              <a:rPr sz="1100" b="0" i="0" dirty="0">
                <a:solidFill>
                  <a:srgbClr val="33413D"/>
                </a:solidFill>
                <a:latin typeface="Aptos"/>
              </a:rPr>
              <a:t> und </a:t>
            </a:r>
            <a:r>
              <a:rPr sz="1100" b="0" i="0" dirty="0" err="1">
                <a:solidFill>
                  <a:srgbClr val="33413D"/>
                </a:solidFill>
                <a:latin typeface="Aptos"/>
              </a:rPr>
              <a:t>keine</a:t>
            </a:r>
            <a:r>
              <a:rPr sz="1100" b="0" i="0" dirty="0">
                <a:solidFill>
                  <a:srgbClr val="33413D"/>
                </a:solidFill>
                <a:latin typeface="Aptos"/>
              </a:rPr>
              <a:t> </a:t>
            </a:r>
            <a:r>
              <a:rPr sz="1100" b="0" i="0" dirty="0" err="1">
                <a:solidFill>
                  <a:srgbClr val="33413D"/>
                </a:solidFill>
                <a:latin typeface="Aptos"/>
              </a:rPr>
              <a:t>Konten</a:t>
            </a:r>
            <a:r>
              <a:rPr sz="1100" b="0" i="0" dirty="0">
                <a:solidFill>
                  <a:srgbClr val="33413D"/>
                </a:solidFill>
                <a:latin typeface="Aptos"/>
              </a:rPr>
              <a:t> </a:t>
            </a:r>
            <a:r>
              <a:rPr sz="1100" b="0" i="0" dirty="0" err="1">
                <a:solidFill>
                  <a:srgbClr val="33413D"/>
                </a:solidFill>
                <a:latin typeface="Aptos"/>
              </a:rPr>
              <a:t>belastet</a:t>
            </a:r>
            <a:r>
              <a:rPr sz="1100" b="0" i="0" dirty="0">
                <a:solidFill>
                  <a:srgbClr val="33413D"/>
                </a:solidFill>
                <a:latin typeface="Aptos"/>
              </a:rPr>
              <a:t>.</a:t>
            </a:r>
          </a:p>
          <a:p>
            <a:pPr>
              <a:spcBef>
                <a:spcPts val="600"/>
              </a:spcBef>
            </a:pPr>
            <a:r>
              <a:rPr sz="1100" b="0" i="0" dirty="0">
                <a:solidFill>
                  <a:srgbClr val="33413D"/>
                </a:solidFill>
                <a:latin typeface="Aptos"/>
              </a:rPr>
              <a:t>•  Es </a:t>
            </a:r>
            <a:r>
              <a:rPr sz="1100" b="0" i="0" dirty="0" err="1">
                <a:solidFill>
                  <a:srgbClr val="33413D"/>
                </a:solidFill>
                <a:latin typeface="Aptos"/>
              </a:rPr>
              <a:t>werden</a:t>
            </a:r>
            <a:r>
              <a:rPr sz="1100" b="0" i="0" dirty="0">
                <a:solidFill>
                  <a:srgbClr val="33413D"/>
                </a:solidFill>
                <a:latin typeface="Aptos"/>
              </a:rPr>
              <a:t> </a:t>
            </a:r>
            <a:r>
              <a:rPr sz="1100" b="0" i="0" dirty="0" err="1">
                <a:solidFill>
                  <a:srgbClr val="33413D"/>
                </a:solidFill>
                <a:latin typeface="Aptos"/>
              </a:rPr>
              <a:t>keine</a:t>
            </a:r>
            <a:r>
              <a:rPr sz="1100" b="0" i="0" dirty="0">
                <a:solidFill>
                  <a:srgbClr val="33413D"/>
                </a:solidFill>
                <a:latin typeface="Aptos"/>
              </a:rPr>
              <a:t> </a:t>
            </a:r>
            <a:r>
              <a:rPr sz="1100" b="0" i="0" dirty="0" err="1">
                <a:solidFill>
                  <a:srgbClr val="33413D"/>
                </a:solidFill>
                <a:latin typeface="Aptos"/>
              </a:rPr>
              <a:t>Zugänge</a:t>
            </a:r>
            <a:r>
              <a:rPr sz="1100" b="0" i="0" dirty="0">
                <a:solidFill>
                  <a:srgbClr val="33413D"/>
                </a:solidFill>
                <a:latin typeface="Aptos"/>
              </a:rPr>
              <a:t> real </a:t>
            </a:r>
            <a:r>
              <a:rPr sz="1100" b="0" i="0" dirty="0" err="1">
                <a:solidFill>
                  <a:srgbClr val="33413D"/>
                </a:solidFill>
                <a:latin typeface="Aptos"/>
              </a:rPr>
              <a:t>gesperrt</a:t>
            </a:r>
            <a:r>
              <a:rPr sz="1100" b="0" i="0" dirty="0">
                <a:solidFill>
                  <a:srgbClr val="33413D"/>
                </a:solidFill>
                <a:latin typeface="Aptos"/>
              </a:rPr>
              <a:t> </a:t>
            </a:r>
            <a:r>
              <a:rPr sz="1100" b="0" i="0" dirty="0" err="1">
                <a:solidFill>
                  <a:srgbClr val="33413D"/>
                </a:solidFill>
                <a:latin typeface="Aptos"/>
              </a:rPr>
              <a:t>oder</a:t>
            </a:r>
            <a:r>
              <a:rPr sz="1100" b="0" i="0" dirty="0">
                <a:solidFill>
                  <a:srgbClr val="33413D"/>
                </a:solidFill>
                <a:latin typeface="Aptos"/>
              </a:rPr>
              <a:t> </a:t>
            </a:r>
            <a:r>
              <a:rPr sz="1100" b="0" i="0" dirty="0" err="1">
                <a:solidFill>
                  <a:srgbClr val="33413D"/>
                </a:solidFill>
                <a:latin typeface="Aptos"/>
              </a:rPr>
              <a:t>freigeschaltet</a:t>
            </a:r>
            <a:r>
              <a:rPr sz="1100" b="0" i="0" dirty="0">
                <a:solidFill>
                  <a:srgbClr val="33413D"/>
                </a:solidFill>
                <a:latin typeface="Aptos"/>
              </a:rPr>
              <a:t>.</a:t>
            </a:r>
          </a:p>
          <a:p>
            <a:pPr>
              <a:spcBef>
                <a:spcPts val="600"/>
              </a:spcBef>
            </a:pPr>
            <a:r>
              <a:rPr sz="1100" b="0" i="0" dirty="0">
                <a:solidFill>
                  <a:srgbClr val="33413D"/>
                </a:solidFill>
                <a:latin typeface="Aptos"/>
              </a:rPr>
              <a:t>•  Es </a:t>
            </a:r>
            <a:r>
              <a:rPr sz="1100" b="0" i="0" dirty="0" err="1">
                <a:solidFill>
                  <a:srgbClr val="33413D"/>
                </a:solidFill>
                <a:latin typeface="Aptos"/>
              </a:rPr>
              <a:t>werden</a:t>
            </a:r>
            <a:r>
              <a:rPr sz="1100" b="0" i="0" dirty="0">
                <a:solidFill>
                  <a:srgbClr val="33413D"/>
                </a:solidFill>
                <a:latin typeface="Aptos"/>
              </a:rPr>
              <a:t> </a:t>
            </a:r>
            <a:r>
              <a:rPr sz="1100" b="0" i="0" dirty="0" err="1">
                <a:solidFill>
                  <a:srgbClr val="33413D"/>
                </a:solidFill>
                <a:latin typeface="Aptos"/>
              </a:rPr>
              <a:t>keine</a:t>
            </a:r>
            <a:r>
              <a:rPr sz="1100" b="0" i="0" dirty="0">
                <a:solidFill>
                  <a:srgbClr val="33413D"/>
                </a:solidFill>
                <a:latin typeface="Aptos"/>
              </a:rPr>
              <a:t> </a:t>
            </a:r>
            <a:r>
              <a:rPr sz="1100" b="0" i="0" dirty="0" err="1">
                <a:solidFill>
                  <a:srgbClr val="33413D"/>
                </a:solidFill>
                <a:latin typeface="Aptos"/>
              </a:rPr>
              <a:t>Nachrichten</a:t>
            </a:r>
            <a:r>
              <a:rPr sz="1100" b="0" i="0" dirty="0">
                <a:solidFill>
                  <a:srgbClr val="33413D"/>
                </a:solidFill>
                <a:latin typeface="Aptos"/>
              </a:rPr>
              <a:t> </a:t>
            </a:r>
            <a:r>
              <a:rPr sz="1100" b="0" i="0" dirty="0" err="1">
                <a:solidFill>
                  <a:srgbClr val="33413D"/>
                </a:solidFill>
                <a:latin typeface="Aptos"/>
              </a:rPr>
              <a:t>tatsächlich</a:t>
            </a:r>
            <a:r>
              <a:rPr sz="1100" b="0" i="0" dirty="0">
                <a:solidFill>
                  <a:srgbClr val="33413D"/>
                </a:solidFill>
                <a:latin typeface="Aptos"/>
              </a:rPr>
              <a:t> an Kunden </a:t>
            </a:r>
            <a:r>
              <a:rPr sz="1100" b="0" i="0" dirty="0" err="1">
                <a:solidFill>
                  <a:srgbClr val="33413D"/>
                </a:solidFill>
                <a:latin typeface="Aptos"/>
              </a:rPr>
              <a:t>versendet</a:t>
            </a:r>
            <a:r>
              <a:rPr sz="1100" b="0" i="0" dirty="0">
                <a:solidFill>
                  <a:srgbClr val="33413D"/>
                </a:solidFill>
                <a:latin typeface="Aptos"/>
              </a:rPr>
              <a:t>.</a:t>
            </a:r>
          </a:p>
          <a:p>
            <a:pPr>
              <a:spcBef>
                <a:spcPts val="600"/>
              </a:spcBef>
            </a:pPr>
            <a:r>
              <a:rPr sz="1100" b="0" i="0" dirty="0">
                <a:solidFill>
                  <a:srgbClr val="33413D"/>
                </a:solidFill>
                <a:latin typeface="Aptos"/>
              </a:rPr>
              <a:t>•  Es </a:t>
            </a:r>
            <a:r>
              <a:rPr sz="1100" b="0" i="0" dirty="0" err="1">
                <a:solidFill>
                  <a:srgbClr val="33413D"/>
                </a:solidFill>
                <a:latin typeface="Aptos"/>
              </a:rPr>
              <a:t>werden</a:t>
            </a:r>
            <a:r>
              <a:rPr sz="1100" b="0" i="0" dirty="0">
                <a:solidFill>
                  <a:srgbClr val="33413D"/>
                </a:solidFill>
                <a:latin typeface="Aptos"/>
              </a:rPr>
              <a:t> </a:t>
            </a:r>
            <a:r>
              <a:rPr sz="1100" b="0" i="0" dirty="0" err="1">
                <a:solidFill>
                  <a:srgbClr val="33413D"/>
                </a:solidFill>
                <a:latin typeface="Aptos"/>
              </a:rPr>
              <a:t>keine</a:t>
            </a:r>
            <a:r>
              <a:rPr sz="1100" b="0" i="0" dirty="0">
                <a:solidFill>
                  <a:srgbClr val="33413D"/>
                </a:solidFill>
                <a:latin typeface="Aptos"/>
              </a:rPr>
              <a:t> </a:t>
            </a:r>
            <a:r>
              <a:rPr sz="1100" b="0" i="0" dirty="0" err="1">
                <a:solidFill>
                  <a:srgbClr val="33413D"/>
                </a:solidFill>
                <a:latin typeface="Aptos"/>
              </a:rPr>
              <a:t>Meldungen</a:t>
            </a:r>
            <a:r>
              <a:rPr sz="1100" b="0" i="0" dirty="0">
                <a:solidFill>
                  <a:srgbClr val="33413D"/>
                </a:solidFill>
                <a:latin typeface="Aptos"/>
              </a:rPr>
              <a:t> an </a:t>
            </a:r>
            <a:r>
              <a:rPr sz="1100" b="0" i="0" dirty="0" err="1">
                <a:solidFill>
                  <a:srgbClr val="33413D"/>
                </a:solidFill>
                <a:latin typeface="Aptos"/>
              </a:rPr>
              <a:t>Behörden</a:t>
            </a:r>
            <a:r>
              <a:rPr sz="1100" b="0" i="0" dirty="0">
                <a:solidFill>
                  <a:srgbClr val="33413D"/>
                </a:solidFill>
                <a:latin typeface="Aptos"/>
              </a:rPr>
              <a:t> </a:t>
            </a:r>
            <a:r>
              <a:rPr sz="1100" b="0" i="0" dirty="0" err="1">
                <a:solidFill>
                  <a:srgbClr val="33413D"/>
                </a:solidFill>
                <a:latin typeface="Aptos"/>
              </a:rPr>
              <a:t>übermittelt</a:t>
            </a:r>
            <a:r>
              <a:rPr sz="1100" b="0" i="0" dirty="0">
                <a:solidFill>
                  <a:srgbClr val="33413D"/>
                </a:solidFill>
                <a:latin typeface="Aptos"/>
              </a:rPr>
              <a:t>.</a:t>
            </a:r>
          </a:p>
          <a:p>
            <a:pPr>
              <a:spcBef>
                <a:spcPts val="600"/>
              </a:spcBef>
            </a:pPr>
            <a:r>
              <a:rPr sz="1100" b="0" i="0" dirty="0">
                <a:solidFill>
                  <a:srgbClr val="33413D"/>
                </a:solidFill>
                <a:latin typeface="Aptos"/>
              </a:rPr>
              <a:t>•  Die KI </a:t>
            </a:r>
            <a:r>
              <a:rPr sz="1100" b="0" i="0" dirty="0" err="1">
                <a:solidFill>
                  <a:srgbClr val="33413D"/>
                </a:solidFill>
                <a:latin typeface="Aptos"/>
              </a:rPr>
              <a:t>trifft</a:t>
            </a:r>
            <a:r>
              <a:rPr sz="1100" b="0" i="0" dirty="0">
                <a:solidFill>
                  <a:srgbClr val="33413D"/>
                </a:solidFill>
                <a:latin typeface="Aptos"/>
              </a:rPr>
              <a:t> </a:t>
            </a:r>
            <a:r>
              <a:rPr sz="1100" b="0" i="0" dirty="0" err="1">
                <a:solidFill>
                  <a:srgbClr val="33413D"/>
                </a:solidFill>
                <a:latin typeface="Aptos"/>
              </a:rPr>
              <a:t>keine</a:t>
            </a:r>
            <a:r>
              <a:rPr sz="1100" b="0" i="0" dirty="0">
                <a:solidFill>
                  <a:srgbClr val="33413D"/>
                </a:solidFill>
                <a:latin typeface="Aptos"/>
              </a:rPr>
              <a:t> </a:t>
            </a:r>
            <a:r>
              <a:rPr sz="1100" b="0" i="0" dirty="0" err="1">
                <a:solidFill>
                  <a:srgbClr val="33413D"/>
                </a:solidFill>
                <a:latin typeface="Aptos"/>
              </a:rPr>
              <a:t>autonomen</a:t>
            </a:r>
            <a:r>
              <a:rPr sz="1100" b="0" i="0" dirty="0">
                <a:solidFill>
                  <a:srgbClr val="33413D"/>
                </a:solidFill>
                <a:latin typeface="Aptos"/>
              </a:rPr>
              <a:t> </a:t>
            </a:r>
            <a:r>
              <a:rPr sz="1100" b="0" i="0" dirty="0" err="1">
                <a:solidFill>
                  <a:srgbClr val="33413D"/>
                </a:solidFill>
                <a:latin typeface="Aptos"/>
              </a:rPr>
              <a:t>Entscheidungen</a:t>
            </a:r>
            <a:r>
              <a:rPr sz="1100" b="0" i="0" dirty="0">
                <a:solidFill>
                  <a:srgbClr val="33413D"/>
                </a:solidFill>
                <a:latin typeface="Aptos"/>
              </a:rPr>
              <a:t> </a:t>
            </a:r>
            <a:r>
              <a:rPr lang="de-DE" sz="1100" b="0" i="0" dirty="0">
                <a:solidFill>
                  <a:srgbClr val="33413D"/>
                </a:solidFill>
                <a:latin typeface="Aptos"/>
              </a:rPr>
              <a:t>-</a:t>
            </a:r>
            <a:r>
              <a:rPr sz="1100" b="0" i="0" dirty="0">
                <a:solidFill>
                  <a:srgbClr val="33413D"/>
                </a:solidFill>
                <a:latin typeface="Aptos"/>
              </a:rPr>
              <a:t> </a:t>
            </a:r>
            <a:r>
              <a:rPr sz="1100" b="0" i="0" dirty="0" err="1">
                <a:solidFill>
                  <a:srgbClr val="33413D"/>
                </a:solidFill>
                <a:latin typeface="Aptos"/>
              </a:rPr>
              <a:t>sie</a:t>
            </a:r>
            <a:r>
              <a:rPr sz="1100" b="0" i="0" dirty="0">
                <a:solidFill>
                  <a:srgbClr val="33413D"/>
                </a:solidFill>
                <a:latin typeface="Aptos"/>
              </a:rPr>
              <a:t> </a:t>
            </a:r>
            <a:r>
              <a:rPr sz="1100" b="0" i="0" dirty="0" err="1">
                <a:solidFill>
                  <a:srgbClr val="33413D"/>
                </a:solidFill>
                <a:latin typeface="Aptos"/>
              </a:rPr>
              <a:t>empfiehlt</a:t>
            </a:r>
            <a:r>
              <a:rPr sz="1100" b="0" i="0" dirty="0">
                <a:solidFill>
                  <a:srgbClr val="33413D"/>
                </a:solidFill>
                <a:latin typeface="Aptos"/>
              </a:rPr>
              <a:t> und </a:t>
            </a:r>
            <a:r>
              <a:rPr sz="1100" b="0" i="0" dirty="0" err="1">
                <a:solidFill>
                  <a:srgbClr val="33413D"/>
                </a:solidFill>
                <a:latin typeface="Aptos"/>
              </a:rPr>
              <a:t>legt</a:t>
            </a:r>
            <a:r>
              <a:rPr sz="1100" b="0" i="0" dirty="0">
                <a:solidFill>
                  <a:srgbClr val="33413D"/>
                </a:solidFill>
                <a:latin typeface="Aptos"/>
              </a:rPr>
              <a:t> </a:t>
            </a:r>
            <a:r>
              <a:rPr sz="1100" b="0" i="0" dirty="0" err="1">
                <a:solidFill>
                  <a:srgbClr val="33413D"/>
                </a:solidFill>
                <a:latin typeface="Aptos"/>
              </a:rPr>
              <a:t>zur</a:t>
            </a:r>
            <a:r>
              <a:rPr sz="1100" b="0" i="0" dirty="0">
                <a:solidFill>
                  <a:srgbClr val="33413D"/>
                </a:solidFill>
                <a:latin typeface="Aptos"/>
              </a:rPr>
              <a:t> </a:t>
            </a:r>
            <a:r>
              <a:rPr sz="1100" b="0" i="0" dirty="0" err="1">
                <a:solidFill>
                  <a:srgbClr val="33413D"/>
                </a:solidFill>
                <a:latin typeface="Aptos"/>
              </a:rPr>
              <a:t>Freigabe</a:t>
            </a:r>
            <a:r>
              <a:rPr sz="1100" b="0" i="0" dirty="0">
                <a:solidFill>
                  <a:srgbClr val="33413D"/>
                </a:solidFill>
                <a:latin typeface="Aptos"/>
              </a:rPr>
              <a:t> </a:t>
            </a:r>
            <a:r>
              <a:rPr sz="1100" b="0" i="0" dirty="0" err="1">
                <a:solidFill>
                  <a:srgbClr val="33413D"/>
                </a:solidFill>
                <a:latin typeface="Aptos"/>
              </a:rPr>
              <a:t>vor</a:t>
            </a:r>
            <a:r>
              <a:rPr sz="1100" b="0" i="0" dirty="0">
                <a:solidFill>
                  <a:srgbClr val="33413D"/>
                </a:solidFill>
                <a:latin typeface="Aptos"/>
              </a:rPr>
              <a:t>.</a:t>
            </a:r>
          </a:p>
        </p:txBody>
      </p:sp>
      <p:sp>
        <p:nvSpPr>
          <p:cNvPr id="14" name="TextBox 1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5" name="TextBox 1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25</a:t>
            </a:r>
          </a:p>
        </p:txBody>
      </p:sp>
      <p:pic>
        <p:nvPicPr>
          <p:cNvPr id="16" name="Picture 1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08 · DIE DEMONSTRATION</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Wichtig für jede Präsentation</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2011680"/>
            <a:ext cx="10881360" cy="219456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011680"/>
            <a:ext cx="54864" cy="219456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747322"/>
            <a:ext cx="10469880" cy="723275"/>
          </a:xfrm>
          <a:prstGeom prst="rect">
            <a:avLst/>
          </a:prstGeom>
          <a:noFill/>
        </p:spPr>
        <p:txBody>
          <a:bodyPr wrap="square" lIns="0" tIns="0" rIns="0" bIns="0" anchor="ctr">
            <a:spAutoFit/>
          </a:bodyPr>
          <a:lstStyle/>
          <a:p>
            <a:r>
              <a:rPr sz="1250" b="1" i="0" dirty="0">
                <a:solidFill>
                  <a:srgbClr val="044F49"/>
                </a:solidFill>
                <a:latin typeface="Aptos"/>
              </a:rPr>
              <a:t>Der </a:t>
            </a:r>
            <a:r>
              <a:rPr sz="1250" b="1" i="0" dirty="0" err="1">
                <a:solidFill>
                  <a:srgbClr val="044F49"/>
                </a:solidFill>
                <a:latin typeface="Aptos"/>
              </a:rPr>
              <a:t>visuelle</a:t>
            </a:r>
            <a:r>
              <a:rPr sz="1250" b="1" i="0" dirty="0">
                <a:solidFill>
                  <a:srgbClr val="044F49"/>
                </a:solidFill>
                <a:latin typeface="Aptos"/>
              </a:rPr>
              <a:t> Eindruck </a:t>
            </a:r>
            <a:r>
              <a:rPr sz="1250" b="1" i="0" dirty="0" err="1">
                <a:solidFill>
                  <a:srgbClr val="044F49"/>
                </a:solidFill>
                <a:latin typeface="Aptos"/>
              </a:rPr>
              <a:t>ist</a:t>
            </a:r>
            <a:r>
              <a:rPr sz="1250" b="1" i="0" dirty="0">
                <a:solidFill>
                  <a:srgbClr val="044F49"/>
                </a:solidFill>
                <a:latin typeface="Aptos"/>
              </a:rPr>
              <a:t> </a:t>
            </a:r>
            <a:r>
              <a:rPr sz="1250" b="1" i="0" dirty="0" err="1">
                <a:solidFill>
                  <a:srgbClr val="044F49"/>
                </a:solidFill>
                <a:latin typeface="Aptos"/>
              </a:rPr>
              <a:t>überall</a:t>
            </a:r>
            <a:r>
              <a:rPr sz="1250" b="1" i="0" dirty="0">
                <a:solidFill>
                  <a:srgbClr val="044F49"/>
                </a:solidFill>
                <a:latin typeface="Aptos"/>
              </a:rPr>
              <a:t> </a:t>
            </a:r>
            <a:r>
              <a:rPr sz="1250" b="1" i="0" dirty="0" err="1">
                <a:solidFill>
                  <a:srgbClr val="044F49"/>
                </a:solidFill>
                <a:latin typeface="Aptos"/>
              </a:rPr>
              <a:t>gleich</a:t>
            </a:r>
            <a:r>
              <a:rPr sz="1250" b="1" i="0" dirty="0">
                <a:solidFill>
                  <a:srgbClr val="044F49"/>
                </a:solidFill>
                <a:latin typeface="Aptos"/>
              </a:rPr>
              <a:t> stark </a:t>
            </a:r>
            <a:r>
              <a:rPr lang="de-DE" sz="1250" b="1" i="0" dirty="0">
                <a:solidFill>
                  <a:srgbClr val="044F49"/>
                </a:solidFill>
                <a:latin typeface="Aptos"/>
              </a:rPr>
              <a:t>-</a:t>
            </a:r>
            <a:r>
              <a:rPr sz="1250" b="1" i="0" dirty="0">
                <a:solidFill>
                  <a:srgbClr val="044F49"/>
                </a:solidFill>
                <a:latin typeface="Aptos"/>
              </a:rPr>
              <a:t> der Status </a:t>
            </a:r>
            <a:r>
              <a:rPr sz="1250" b="1" i="0" dirty="0" err="1">
                <a:solidFill>
                  <a:srgbClr val="044F49"/>
                </a:solidFill>
                <a:latin typeface="Aptos"/>
              </a:rPr>
              <a:t>macht</a:t>
            </a:r>
            <a:r>
              <a:rPr sz="1250" b="1" i="0" dirty="0">
                <a:solidFill>
                  <a:srgbClr val="044F49"/>
                </a:solidFill>
                <a:latin typeface="Aptos"/>
              </a:rPr>
              <a:t> den </a:t>
            </a:r>
            <a:r>
              <a:rPr sz="1250" b="1" i="0" dirty="0" err="1">
                <a:solidFill>
                  <a:srgbClr val="044F49"/>
                </a:solidFill>
                <a:latin typeface="Aptos"/>
              </a:rPr>
              <a:t>Unterschied</a:t>
            </a:r>
            <a:r>
              <a:rPr sz="1250" b="1" i="0" dirty="0">
                <a:solidFill>
                  <a:srgbClr val="044F49"/>
                </a:solidFill>
                <a:latin typeface="Aptos"/>
              </a:rPr>
              <a:t>.  </a:t>
            </a:r>
            <a:r>
              <a:rPr sz="1150" b="0" i="0" dirty="0">
                <a:solidFill>
                  <a:srgbClr val="33413D"/>
                </a:solidFill>
                <a:latin typeface="Aptos"/>
              </a:rPr>
              <a:t>In </a:t>
            </a:r>
            <a:r>
              <a:rPr sz="1150" b="0" i="0" dirty="0" err="1">
                <a:solidFill>
                  <a:srgbClr val="33413D"/>
                </a:solidFill>
                <a:latin typeface="Aptos"/>
              </a:rPr>
              <a:t>einer</a:t>
            </a:r>
            <a:r>
              <a:rPr sz="1150" b="0" i="0" dirty="0">
                <a:solidFill>
                  <a:srgbClr val="33413D"/>
                </a:solidFill>
                <a:latin typeface="Aptos"/>
              </a:rPr>
              <a:t> </a:t>
            </a:r>
            <a:r>
              <a:rPr sz="1150" b="0" i="0" dirty="0" err="1">
                <a:solidFill>
                  <a:srgbClr val="33413D"/>
                </a:solidFill>
                <a:latin typeface="Aptos"/>
              </a:rPr>
              <a:t>Vorführung</a:t>
            </a:r>
            <a:r>
              <a:rPr sz="1150" b="0" i="0" dirty="0">
                <a:solidFill>
                  <a:srgbClr val="33413D"/>
                </a:solidFill>
                <a:latin typeface="Aptos"/>
              </a:rPr>
              <a:t> </a:t>
            </a:r>
            <a:r>
              <a:rPr sz="1150" b="0" i="0" dirty="0" err="1">
                <a:solidFill>
                  <a:srgbClr val="33413D"/>
                </a:solidFill>
                <a:latin typeface="Aptos"/>
              </a:rPr>
              <a:t>wirkt</a:t>
            </a:r>
            <a:r>
              <a:rPr sz="1150" b="0" i="0" dirty="0">
                <a:solidFill>
                  <a:srgbClr val="33413D"/>
                </a:solidFill>
                <a:latin typeface="Aptos"/>
              </a:rPr>
              <a:t> </a:t>
            </a:r>
            <a:r>
              <a:rPr sz="1150" b="0" i="0" dirty="0" err="1">
                <a:solidFill>
                  <a:srgbClr val="33413D"/>
                </a:solidFill>
                <a:latin typeface="Aptos"/>
              </a:rPr>
              <a:t>jeder</a:t>
            </a:r>
            <a:r>
              <a:rPr sz="1150" b="0" i="0" dirty="0">
                <a:solidFill>
                  <a:srgbClr val="33413D"/>
                </a:solidFill>
                <a:latin typeface="Aptos"/>
              </a:rPr>
              <a:t> </a:t>
            </a:r>
            <a:r>
              <a:rPr sz="1150" b="0" i="0" dirty="0" err="1">
                <a:solidFill>
                  <a:srgbClr val="33413D"/>
                </a:solidFill>
                <a:latin typeface="Aptos"/>
              </a:rPr>
              <a:t>Bereich</a:t>
            </a:r>
            <a:r>
              <a:rPr sz="1150" b="0" i="0" dirty="0">
                <a:solidFill>
                  <a:srgbClr val="33413D"/>
                </a:solidFill>
                <a:latin typeface="Aptos"/>
              </a:rPr>
              <a:t> </a:t>
            </a:r>
            <a:r>
              <a:rPr sz="1150" b="0" i="0" dirty="0" err="1">
                <a:solidFill>
                  <a:srgbClr val="33413D"/>
                </a:solidFill>
                <a:latin typeface="Aptos"/>
              </a:rPr>
              <a:t>gleich</a:t>
            </a:r>
            <a:r>
              <a:rPr sz="1150" b="0" i="0" dirty="0">
                <a:solidFill>
                  <a:srgbClr val="33413D"/>
                </a:solidFill>
                <a:latin typeface="Aptos"/>
              </a:rPr>
              <a:t> </a:t>
            </a:r>
            <a:r>
              <a:rPr sz="1150" b="0" i="0" dirty="0" err="1">
                <a:solidFill>
                  <a:srgbClr val="33413D"/>
                </a:solidFill>
                <a:latin typeface="Aptos"/>
              </a:rPr>
              <a:t>überzeugend</a:t>
            </a:r>
            <a:r>
              <a:rPr sz="1150" b="0" i="0" dirty="0">
                <a:solidFill>
                  <a:srgbClr val="33413D"/>
                </a:solidFill>
                <a:latin typeface="Aptos"/>
              </a:rPr>
              <a:t>: Eine </a:t>
            </a:r>
            <a:r>
              <a:rPr sz="1150" b="0" i="0" dirty="0" err="1">
                <a:solidFill>
                  <a:srgbClr val="33413D"/>
                </a:solidFill>
                <a:latin typeface="Aptos"/>
              </a:rPr>
              <a:t>vollständig</a:t>
            </a:r>
            <a:r>
              <a:rPr sz="1150" b="0" i="0" dirty="0">
                <a:solidFill>
                  <a:srgbClr val="33413D"/>
                </a:solidFill>
                <a:latin typeface="Aptos"/>
              </a:rPr>
              <a:t> </a:t>
            </a:r>
            <a:r>
              <a:rPr sz="1150" b="0" i="0" dirty="0" err="1">
                <a:solidFill>
                  <a:srgbClr val="33413D"/>
                </a:solidFill>
                <a:latin typeface="Aptos"/>
              </a:rPr>
              <a:t>gestaltete</a:t>
            </a:r>
            <a:r>
              <a:rPr sz="1150" b="0" i="0" dirty="0">
                <a:solidFill>
                  <a:srgbClr val="33413D"/>
                </a:solidFill>
                <a:latin typeface="Aptos"/>
              </a:rPr>
              <a:t> </a:t>
            </a:r>
            <a:r>
              <a:rPr sz="1150" b="0" i="0" dirty="0" err="1">
                <a:solidFill>
                  <a:srgbClr val="33413D"/>
                </a:solidFill>
                <a:latin typeface="Aptos"/>
              </a:rPr>
              <a:t>Seite</a:t>
            </a:r>
            <a:r>
              <a:rPr sz="1150" b="0" i="0" dirty="0">
                <a:solidFill>
                  <a:srgbClr val="33413D"/>
                </a:solidFill>
                <a:latin typeface="Aptos"/>
              </a:rPr>
              <a:t> </a:t>
            </a:r>
            <a:r>
              <a:rPr sz="1150" b="0" i="0" dirty="0" err="1">
                <a:solidFill>
                  <a:srgbClr val="33413D"/>
                </a:solidFill>
                <a:latin typeface="Aptos"/>
              </a:rPr>
              <a:t>sieht</a:t>
            </a:r>
            <a:r>
              <a:rPr sz="1150" b="0" i="0" dirty="0">
                <a:solidFill>
                  <a:srgbClr val="33413D"/>
                </a:solidFill>
                <a:latin typeface="Aptos"/>
              </a:rPr>
              <a:t> </a:t>
            </a:r>
            <a:r>
              <a:rPr sz="1150" b="0" i="0" dirty="0" err="1">
                <a:solidFill>
                  <a:srgbClr val="33413D"/>
                </a:solidFill>
                <a:latin typeface="Aptos"/>
              </a:rPr>
              <a:t>identisch</a:t>
            </a:r>
            <a:r>
              <a:rPr sz="1150" b="0" i="0" dirty="0">
                <a:solidFill>
                  <a:srgbClr val="33413D"/>
                </a:solidFill>
                <a:latin typeface="Aptos"/>
              </a:rPr>
              <a:t> </a:t>
            </a:r>
            <a:r>
              <a:rPr sz="1150" b="0" i="0" dirty="0" err="1">
                <a:solidFill>
                  <a:srgbClr val="33413D"/>
                </a:solidFill>
                <a:latin typeface="Aptos"/>
              </a:rPr>
              <a:t>aus</a:t>
            </a:r>
            <a:r>
              <a:rPr sz="1150" b="0" i="0" dirty="0">
                <a:solidFill>
                  <a:srgbClr val="33413D"/>
                </a:solidFill>
                <a:latin typeface="Aptos"/>
              </a:rPr>
              <a:t>, </a:t>
            </a:r>
            <a:r>
              <a:rPr sz="1150" b="0" i="0" dirty="0" err="1">
                <a:solidFill>
                  <a:srgbClr val="33413D"/>
                </a:solidFill>
                <a:latin typeface="Aptos"/>
              </a:rPr>
              <a:t>unabhängig</a:t>
            </a:r>
            <a:r>
              <a:rPr sz="1150" b="0" i="0" dirty="0">
                <a:solidFill>
                  <a:srgbClr val="33413D"/>
                </a:solidFill>
                <a:latin typeface="Aptos"/>
              </a:rPr>
              <a:t> </a:t>
            </a:r>
            <a:r>
              <a:rPr sz="1150" b="0" i="0" dirty="0" err="1">
                <a:solidFill>
                  <a:srgbClr val="33413D"/>
                </a:solidFill>
                <a:latin typeface="Aptos"/>
              </a:rPr>
              <a:t>davon</a:t>
            </a:r>
            <a:r>
              <a:rPr sz="1150" b="0" i="0" dirty="0">
                <a:solidFill>
                  <a:srgbClr val="33413D"/>
                </a:solidFill>
                <a:latin typeface="Aptos"/>
              </a:rPr>
              <a:t>, </a:t>
            </a:r>
            <a:r>
              <a:rPr sz="1150" b="0" i="0" dirty="0" err="1">
                <a:solidFill>
                  <a:srgbClr val="33413D"/>
                </a:solidFill>
                <a:latin typeface="Aptos"/>
              </a:rPr>
              <a:t>ob</a:t>
            </a:r>
            <a:r>
              <a:rPr sz="1150" b="0" i="0" dirty="0">
                <a:solidFill>
                  <a:srgbClr val="33413D"/>
                </a:solidFill>
                <a:latin typeface="Aptos"/>
              </a:rPr>
              <a:t> </a:t>
            </a:r>
            <a:r>
              <a:rPr sz="1150" b="0" i="0" dirty="0" err="1">
                <a:solidFill>
                  <a:srgbClr val="33413D"/>
                </a:solidFill>
                <a:latin typeface="Aptos"/>
              </a:rPr>
              <a:t>dahinter</a:t>
            </a:r>
            <a:r>
              <a:rPr sz="1150" b="0" i="0" dirty="0">
                <a:solidFill>
                  <a:srgbClr val="33413D"/>
                </a:solidFill>
                <a:latin typeface="Aptos"/>
              </a:rPr>
              <a:t> </a:t>
            </a:r>
            <a:r>
              <a:rPr sz="1150" b="0" i="0" dirty="0" err="1">
                <a:solidFill>
                  <a:srgbClr val="33413D"/>
                </a:solidFill>
                <a:latin typeface="Aptos"/>
              </a:rPr>
              <a:t>echte</a:t>
            </a:r>
            <a:r>
              <a:rPr sz="1150" b="0" i="0" dirty="0">
                <a:solidFill>
                  <a:srgbClr val="33413D"/>
                </a:solidFill>
                <a:latin typeface="Aptos"/>
              </a:rPr>
              <a:t> Live-</a:t>
            </a:r>
            <a:r>
              <a:rPr sz="1150" b="0" i="0" dirty="0" err="1">
                <a:solidFill>
                  <a:srgbClr val="33413D"/>
                </a:solidFill>
                <a:latin typeface="Aptos"/>
              </a:rPr>
              <a:t>Daten</a:t>
            </a:r>
            <a:r>
              <a:rPr sz="1150" b="0" i="0" dirty="0">
                <a:solidFill>
                  <a:srgbClr val="33413D"/>
                </a:solidFill>
                <a:latin typeface="Aptos"/>
              </a:rPr>
              <a:t> </a:t>
            </a:r>
            <a:r>
              <a:rPr sz="1150" b="0" i="0" dirty="0" err="1">
                <a:solidFill>
                  <a:srgbClr val="33413D"/>
                </a:solidFill>
                <a:latin typeface="Aptos"/>
              </a:rPr>
              <a:t>oder</a:t>
            </a:r>
            <a:r>
              <a:rPr sz="1150" b="0" i="0" dirty="0">
                <a:solidFill>
                  <a:srgbClr val="33413D"/>
                </a:solidFill>
                <a:latin typeface="Aptos"/>
              </a:rPr>
              <a:t> </a:t>
            </a:r>
            <a:r>
              <a:rPr sz="1150" b="0" i="0" dirty="0" err="1">
                <a:solidFill>
                  <a:srgbClr val="33413D"/>
                </a:solidFill>
                <a:latin typeface="Aptos"/>
              </a:rPr>
              <a:t>Beispieldaten</a:t>
            </a:r>
            <a:r>
              <a:rPr sz="1150" b="0" i="0" dirty="0">
                <a:solidFill>
                  <a:srgbClr val="33413D"/>
                </a:solidFill>
                <a:latin typeface="Aptos"/>
              </a:rPr>
              <a:t> </a:t>
            </a:r>
            <a:r>
              <a:rPr sz="1150" b="0" i="0" dirty="0" err="1">
                <a:solidFill>
                  <a:srgbClr val="33413D"/>
                </a:solidFill>
                <a:latin typeface="Aptos"/>
              </a:rPr>
              <a:t>stehen</a:t>
            </a:r>
            <a:r>
              <a:rPr sz="1150" b="0" i="0" dirty="0">
                <a:solidFill>
                  <a:srgbClr val="33413D"/>
                </a:solidFill>
                <a:latin typeface="Aptos"/>
              </a:rPr>
              <a:t>. </a:t>
            </a:r>
            <a:r>
              <a:rPr sz="1150" b="0" i="0" dirty="0" err="1">
                <a:solidFill>
                  <a:srgbClr val="33413D"/>
                </a:solidFill>
                <a:latin typeface="Aptos"/>
              </a:rPr>
              <a:t>Deshalb</a:t>
            </a:r>
            <a:r>
              <a:rPr sz="1150" b="0" i="0" dirty="0">
                <a:solidFill>
                  <a:srgbClr val="33413D"/>
                </a:solidFill>
                <a:latin typeface="Aptos"/>
              </a:rPr>
              <a:t> </a:t>
            </a:r>
            <a:r>
              <a:rPr sz="1150" b="0" i="0" dirty="0" err="1">
                <a:solidFill>
                  <a:srgbClr val="33413D"/>
                </a:solidFill>
                <a:latin typeface="Aptos"/>
              </a:rPr>
              <a:t>ist</a:t>
            </a:r>
            <a:r>
              <a:rPr sz="1150" b="0" i="0" dirty="0">
                <a:solidFill>
                  <a:srgbClr val="33413D"/>
                </a:solidFill>
                <a:latin typeface="Aptos"/>
              </a:rPr>
              <a:t> der </a:t>
            </a:r>
            <a:r>
              <a:rPr sz="1150" b="0" i="0" dirty="0" err="1">
                <a:solidFill>
                  <a:srgbClr val="33413D"/>
                </a:solidFill>
                <a:latin typeface="Aptos"/>
              </a:rPr>
              <a:t>Statusausweis</a:t>
            </a:r>
            <a:r>
              <a:rPr sz="1150" b="0" i="0" dirty="0">
                <a:solidFill>
                  <a:srgbClr val="33413D"/>
                </a:solidFill>
                <a:latin typeface="Aptos"/>
              </a:rPr>
              <a:t> in </a:t>
            </a:r>
            <a:r>
              <a:rPr sz="1150" b="0" i="0" dirty="0" err="1">
                <a:solidFill>
                  <a:srgbClr val="33413D"/>
                </a:solidFill>
                <a:latin typeface="Aptos"/>
              </a:rPr>
              <a:t>Kapitel</a:t>
            </a:r>
            <a:r>
              <a:rPr sz="1150" b="0" i="0" dirty="0">
                <a:solidFill>
                  <a:srgbClr val="33413D"/>
                </a:solidFill>
                <a:latin typeface="Aptos"/>
              </a:rPr>
              <a:t> 6 und 7 so </a:t>
            </a:r>
            <a:r>
              <a:rPr sz="1150" b="0" i="0" dirty="0" err="1">
                <a:solidFill>
                  <a:srgbClr val="33413D"/>
                </a:solidFill>
                <a:latin typeface="Aptos"/>
              </a:rPr>
              <a:t>wichtig</a:t>
            </a:r>
            <a:r>
              <a:rPr sz="1150" b="0" i="0" dirty="0">
                <a:solidFill>
                  <a:srgbClr val="33413D"/>
                </a:solidFill>
                <a:latin typeface="Aptos"/>
              </a:rPr>
              <a:t> </a:t>
            </a:r>
            <a:r>
              <a:rPr lang="de-DE" sz="1150" b="0" i="0" dirty="0">
                <a:solidFill>
                  <a:srgbClr val="33413D"/>
                </a:solidFill>
                <a:latin typeface="Aptos"/>
              </a:rPr>
              <a:t>-</a:t>
            </a:r>
            <a:r>
              <a:rPr sz="1150" b="0" i="0" dirty="0">
                <a:solidFill>
                  <a:srgbClr val="33413D"/>
                </a:solidFill>
                <a:latin typeface="Aptos"/>
              </a:rPr>
              <a:t> er </a:t>
            </a:r>
            <a:r>
              <a:rPr sz="1150" b="0" i="0" dirty="0" err="1">
                <a:solidFill>
                  <a:srgbClr val="33413D"/>
                </a:solidFill>
                <a:latin typeface="Aptos"/>
              </a:rPr>
              <a:t>stellt</a:t>
            </a:r>
            <a:r>
              <a:rPr sz="1150" b="0" i="0" dirty="0">
                <a:solidFill>
                  <a:srgbClr val="33413D"/>
                </a:solidFill>
                <a:latin typeface="Aptos"/>
              </a:rPr>
              <a:t> </a:t>
            </a:r>
            <a:r>
              <a:rPr sz="1150" b="0" i="0" dirty="0" err="1">
                <a:solidFill>
                  <a:srgbClr val="33413D"/>
                </a:solidFill>
                <a:latin typeface="Aptos"/>
              </a:rPr>
              <a:t>sicher</a:t>
            </a:r>
            <a:r>
              <a:rPr sz="1150" b="0" i="0" dirty="0">
                <a:solidFill>
                  <a:srgbClr val="33413D"/>
                </a:solidFill>
                <a:latin typeface="Aptos"/>
              </a:rPr>
              <a:t>, </a:t>
            </a:r>
            <a:r>
              <a:rPr sz="1150" b="0" i="0" dirty="0" err="1">
                <a:solidFill>
                  <a:srgbClr val="33413D"/>
                </a:solidFill>
                <a:latin typeface="Aptos"/>
              </a:rPr>
              <a:t>dass</a:t>
            </a:r>
            <a:r>
              <a:rPr sz="1150" b="0" i="0" dirty="0">
                <a:solidFill>
                  <a:srgbClr val="33413D"/>
                </a:solidFill>
                <a:latin typeface="Aptos"/>
              </a:rPr>
              <a:t> </a:t>
            </a:r>
            <a:r>
              <a:rPr sz="1150" b="0" i="0" dirty="0" err="1">
                <a:solidFill>
                  <a:srgbClr val="33413D"/>
                </a:solidFill>
                <a:latin typeface="Aptos"/>
              </a:rPr>
              <a:t>Erwartungen</a:t>
            </a:r>
            <a:r>
              <a:rPr sz="1150" b="0" i="0" dirty="0">
                <a:solidFill>
                  <a:srgbClr val="33413D"/>
                </a:solidFill>
                <a:latin typeface="Aptos"/>
              </a:rPr>
              <a:t> auf dem </a:t>
            </a:r>
            <a:r>
              <a:rPr sz="1150" b="0" i="0" dirty="0" err="1">
                <a:solidFill>
                  <a:srgbClr val="33413D"/>
                </a:solidFill>
                <a:latin typeface="Aptos"/>
              </a:rPr>
              <a:t>tatsächlichen</a:t>
            </a:r>
            <a:r>
              <a:rPr sz="1150" b="0" i="0" dirty="0">
                <a:solidFill>
                  <a:srgbClr val="33413D"/>
                </a:solidFill>
                <a:latin typeface="Aptos"/>
              </a:rPr>
              <a:t> Stand </a:t>
            </a:r>
            <a:r>
              <a:rPr sz="1150" b="0" i="0" dirty="0" err="1">
                <a:solidFill>
                  <a:srgbClr val="33413D"/>
                </a:solidFill>
                <a:latin typeface="Aptos"/>
              </a:rPr>
              <a:t>aufsetzen</a:t>
            </a:r>
            <a:r>
              <a:rPr sz="1150" b="0" i="0" dirty="0">
                <a:solidFill>
                  <a:srgbClr val="33413D"/>
                </a:solidFill>
                <a:latin typeface="Aptos"/>
              </a:rPr>
              <a:t>. Für den </a:t>
            </a:r>
            <a:r>
              <a:rPr sz="1150" b="0" i="0" dirty="0" err="1">
                <a:solidFill>
                  <a:srgbClr val="33413D"/>
                </a:solidFill>
                <a:latin typeface="Aptos"/>
              </a:rPr>
              <a:t>Übergang</a:t>
            </a:r>
            <a:r>
              <a:rPr sz="1150" b="0" i="0" dirty="0">
                <a:solidFill>
                  <a:srgbClr val="33413D"/>
                </a:solidFill>
                <a:latin typeface="Aptos"/>
              </a:rPr>
              <a:t> in den </a:t>
            </a:r>
            <a:r>
              <a:rPr sz="1150" b="0" i="0" dirty="0" err="1">
                <a:solidFill>
                  <a:srgbClr val="33413D"/>
                </a:solidFill>
                <a:latin typeface="Aptos"/>
              </a:rPr>
              <a:t>Livebetrieb</a:t>
            </a:r>
            <a:r>
              <a:rPr sz="1150" b="0" i="0" dirty="0">
                <a:solidFill>
                  <a:srgbClr val="33413D"/>
                </a:solidFill>
                <a:latin typeface="Aptos"/>
              </a:rPr>
              <a:t> </a:t>
            </a:r>
            <a:r>
              <a:rPr sz="1150" b="0" i="0" dirty="0" err="1">
                <a:solidFill>
                  <a:srgbClr val="33413D"/>
                </a:solidFill>
                <a:latin typeface="Aptos"/>
              </a:rPr>
              <a:t>sind</a:t>
            </a:r>
            <a:r>
              <a:rPr sz="1150" b="0" i="0" dirty="0">
                <a:solidFill>
                  <a:srgbClr val="33413D"/>
                </a:solidFill>
                <a:latin typeface="Aptos"/>
              </a:rPr>
              <a:t> die </a:t>
            </a:r>
            <a:r>
              <a:rPr sz="1150" b="0" i="0" dirty="0" err="1">
                <a:solidFill>
                  <a:srgbClr val="33413D"/>
                </a:solidFill>
                <a:latin typeface="Aptos"/>
              </a:rPr>
              <a:t>Schritte</a:t>
            </a:r>
            <a:r>
              <a:rPr sz="1150" b="0" i="0" dirty="0">
                <a:solidFill>
                  <a:srgbClr val="33413D"/>
                </a:solidFill>
                <a:latin typeface="Aptos"/>
              </a:rPr>
              <a:t> </a:t>
            </a:r>
            <a:r>
              <a:rPr sz="1150" b="0" i="0" dirty="0" err="1">
                <a:solidFill>
                  <a:srgbClr val="33413D"/>
                </a:solidFill>
                <a:latin typeface="Aptos"/>
              </a:rPr>
              <a:t>aus</a:t>
            </a:r>
            <a:r>
              <a:rPr sz="1150" b="0" i="0" dirty="0">
                <a:solidFill>
                  <a:srgbClr val="33413D"/>
                </a:solidFill>
                <a:latin typeface="Aptos"/>
              </a:rPr>
              <a:t> </a:t>
            </a:r>
            <a:r>
              <a:rPr sz="1150" b="0" i="0" dirty="0" err="1">
                <a:solidFill>
                  <a:srgbClr val="33413D"/>
                </a:solidFill>
                <a:latin typeface="Aptos"/>
              </a:rPr>
              <a:t>Kapitel</a:t>
            </a:r>
            <a:r>
              <a:rPr sz="1150" b="0" i="0" dirty="0">
                <a:solidFill>
                  <a:srgbClr val="33413D"/>
                </a:solidFill>
                <a:latin typeface="Aptos"/>
              </a:rPr>
              <a:t> 9 </a:t>
            </a:r>
            <a:r>
              <a:rPr sz="1150" b="0" i="0" dirty="0" err="1">
                <a:solidFill>
                  <a:srgbClr val="33413D"/>
                </a:solidFill>
                <a:latin typeface="Aptos"/>
              </a:rPr>
              <a:t>erforderlich</a:t>
            </a:r>
            <a:r>
              <a:rPr sz="1150" b="0" i="0" dirty="0">
                <a:solidFill>
                  <a:srgbClr val="33413D"/>
                </a:solidFill>
                <a:latin typeface="Aptos"/>
              </a:rPr>
              <a:t>.</a:t>
            </a:r>
          </a:p>
        </p:txBody>
      </p:sp>
      <p:sp>
        <p:nvSpPr>
          <p:cNvPr id="12" name="TextBox 11"/>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3" name="TextBox 12"/>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26</a:t>
            </a:r>
          </a:p>
        </p:txBody>
      </p:sp>
      <p:pic>
        <p:nvPicPr>
          <p:cNvPr id="14" name="Picture 13"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09</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Nächste Schritte (1/2)</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554480"/>
            <a:ext cx="10881360" cy="1234440"/>
          </a:xfrm>
          <a:prstGeom prst="roundRect">
            <a:avLst>
              <a:gd name="adj" fmla="val 5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554480"/>
            <a:ext cx="54864" cy="12344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691640"/>
            <a:ext cx="10332720" cy="589905"/>
          </a:xfrm>
          <a:prstGeom prst="rect">
            <a:avLst/>
          </a:prstGeom>
          <a:noFill/>
        </p:spPr>
        <p:txBody>
          <a:bodyPr wrap="square" lIns="0" tIns="0" rIns="0" bIns="0" anchor="t">
            <a:spAutoFit/>
          </a:bodyPr>
          <a:lstStyle/>
          <a:p>
            <a:r>
              <a:rPr sz="1300" b="1" i="0" dirty="0">
                <a:solidFill>
                  <a:srgbClr val="044F49"/>
                </a:solidFill>
                <a:latin typeface="Aptos"/>
              </a:rPr>
              <a:t>Schritt 1 </a:t>
            </a:r>
            <a:r>
              <a:rPr lang="de-DE" sz="1300" b="1" i="0" dirty="0">
                <a:solidFill>
                  <a:srgbClr val="044F49"/>
                </a:solidFill>
                <a:latin typeface="Aptos"/>
              </a:rPr>
              <a:t>-</a:t>
            </a:r>
            <a:r>
              <a:rPr sz="1300" b="1" i="0" dirty="0">
                <a:solidFill>
                  <a:srgbClr val="044F49"/>
                </a:solidFill>
                <a:latin typeface="Aptos"/>
              </a:rPr>
              <a:t> Schnelle, </a:t>
            </a:r>
            <a:r>
              <a:rPr sz="1300" b="1" i="0" dirty="0" err="1">
                <a:solidFill>
                  <a:srgbClr val="044F49"/>
                </a:solidFill>
                <a:latin typeface="Aptos"/>
              </a:rPr>
              <a:t>sichtbare</a:t>
            </a:r>
            <a:r>
              <a:rPr sz="1300" b="1" i="0" dirty="0">
                <a:solidFill>
                  <a:srgbClr val="044F49"/>
                </a:solidFill>
                <a:latin typeface="Aptos"/>
              </a:rPr>
              <a:t> </a:t>
            </a:r>
            <a:r>
              <a:rPr sz="1300" b="1" i="0" dirty="0" err="1">
                <a:solidFill>
                  <a:srgbClr val="044F49"/>
                </a:solidFill>
                <a:latin typeface="Aptos"/>
              </a:rPr>
              <a:t>Fortschritte</a:t>
            </a:r>
            <a:r>
              <a:rPr sz="1300" b="1" i="0" dirty="0">
                <a:solidFill>
                  <a:srgbClr val="044F49"/>
                </a:solidFill>
                <a:latin typeface="Aptos"/>
              </a:rPr>
              <a:t> (</a:t>
            </a:r>
            <a:r>
              <a:rPr sz="1300" b="1" i="0" dirty="0" err="1">
                <a:solidFill>
                  <a:srgbClr val="044F49"/>
                </a:solidFill>
                <a:latin typeface="Aptos"/>
              </a:rPr>
              <a:t>ohne</a:t>
            </a:r>
            <a:r>
              <a:rPr sz="1300" b="1" i="0" dirty="0">
                <a:solidFill>
                  <a:srgbClr val="044F49"/>
                </a:solidFill>
                <a:latin typeface="Aptos"/>
              </a:rPr>
              <a:t> externe </a:t>
            </a:r>
            <a:r>
              <a:rPr sz="1300" b="1" i="0" dirty="0" err="1">
                <a:solidFill>
                  <a:srgbClr val="044F49"/>
                </a:solidFill>
                <a:latin typeface="Aptos"/>
              </a:rPr>
              <a:t>Abhängigkeit</a:t>
            </a:r>
            <a:r>
              <a:rPr sz="1300" b="1" i="0" dirty="0">
                <a:solidFill>
                  <a:srgbClr val="044F49"/>
                </a:solidFill>
                <a:latin typeface="Aptos"/>
              </a:rPr>
              <a:t>)</a:t>
            </a:r>
          </a:p>
          <a:p>
            <a:pPr>
              <a:spcBef>
                <a:spcPts val="400"/>
              </a:spcBef>
            </a:pPr>
            <a:r>
              <a:rPr sz="1100" b="0" i="0" dirty="0" err="1">
                <a:solidFill>
                  <a:srgbClr val="33413D"/>
                </a:solidFill>
                <a:latin typeface="Aptos"/>
              </a:rPr>
              <a:t>Mehrere</a:t>
            </a:r>
            <a:r>
              <a:rPr sz="1100" b="0" i="0" dirty="0">
                <a:solidFill>
                  <a:srgbClr val="33413D"/>
                </a:solidFill>
                <a:latin typeface="Aptos"/>
              </a:rPr>
              <a:t> </a:t>
            </a:r>
            <a:r>
              <a:rPr sz="1100" b="0" i="0" dirty="0" err="1">
                <a:solidFill>
                  <a:srgbClr val="33413D"/>
                </a:solidFill>
                <a:latin typeface="Aptos"/>
              </a:rPr>
              <a:t>Auswertungs</a:t>
            </a:r>
            <a:r>
              <a:rPr sz="1100" b="0" i="0" dirty="0">
                <a:solidFill>
                  <a:srgbClr val="33413D"/>
                </a:solidFill>
                <a:latin typeface="Aptos"/>
              </a:rPr>
              <a:t>- und </a:t>
            </a:r>
            <a:r>
              <a:rPr sz="1100" b="0" i="0" dirty="0" err="1">
                <a:solidFill>
                  <a:srgbClr val="33413D"/>
                </a:solidFill>
                <a:latin typeface="Aptos"/>
              </a:rPr>
              <a:t>Übersichtsseiten</a:t>
            </a:r>
            <a:r>
              <a:rPr sz="1100" b="0" i="0" dirty="0">
                <a:solidFill>
                  <a:srgbClr val="33413D"/>
                </a:solidFill>
                <a:latin typeface="Aptos"/>
              </a:rPr>
              <a:t> (</a:t>
            </a:r>
            <a:r>
              <a:rPr sz="1100" b="0" i="0" dirty="0" err="1">
                <a:solidFill>
                  <a:srgbClr val="33413D"/>
                </a:solidFill>
                <a:latin typeface="Aptos"/>
              </a:rPr>
              <a:t>Wohnungs</a:t>
            </a:r>
            <a:r>
              <a:rPr sz="1100" b="0" i="0" dirty="0">
                <a:solidFill>
                  <a:srgbClr val="33413D"/>
                </a:solidFill>
                <a:latin typeface="Aptos"/>
              </a:rPr>
              <a:t>-Matrix, </a:t>
            </a:r>
            <a:r>
              <a:rPr sz="1100" b="0" i="0" dirty="0" err="1">
                <a:solidFill>
                  <a:srgbClr val="33413D"/>
                </a:solidFill>
                <a:latin typeface="Aptos"/>
              </a:rPr>
              <a:t>Finanzübersicht</a:t>
            </a:r>
            <a:r>
              <a:rPr sz="1100" b="0" i="0" dirty="0">
                <a:solidFill>
                  <a:srgbClr val="33413D"/>
                </a:solidFill>
                <a:latin typeface="Aptos"/>
              </a:rPr>
              <a:t>, </a:t>
            </a:r>
            <a:r>
              <a:rPr sz="1100" b="0" i="0" dirty="0" err="1">
                <a:solidFill>
                  <a:srgbClr val="33413D"/>
                </a:solidFill>
                <a:latin typeface="Aptos"/>
              </a:rPr>
              <a:t>Berichte</a:t>
            </a:r>
            <a:r>
              <a:rPr sz="1100" b="0" i="0" dirty="0">
                <a:solidFill>
                  <a:srgbClr val="33413D"/>
                </a:solidFill>
                <a:latin typeface="Aptos"/>
              </a:rPr>
              <a:t>) an die </a:t>
            </a:r>
            <a:r>
              <a:rPr sz="1100" b="0" i="0" dirty="0" err="1">
                <a:solidFill>
                  <a:srgbClr val="33413D"/>
                </a:solidFill>
                <a:latin typeface="Aptos"/>
              </a:rPr>
              <a:t>bereits</a:t>
            </a:r>
            <a:r>
              <a:rPr sz="1100" b="0" i="0" dirty="0">
                <a:solidFill>
                  <a:srgbClr val="33413D"/>
                </a:solidFill>
                <a:latin typeface="Aptos"/>
              </a:rPr>
              <a:t> </a:t>
            </a:r>
            <a:r>
              <a:rPr sz="1100" b="0" i="0" dirty="0" err="1">
                <a:solidFill>
                  <a:srgbClr val="33413D"/>
                </a:solidFill>
                <a:latin typeface="Aptos"/>
              </a:rPr>
              <a:t>vorhandene</a:t>
            </a:r>
            <a:r>
              <a:rPr sz="1100" b="0" i="0" dirty="0">
                <a:solidFill>
                  <a:srgbClr val="33413D"/>
                </a:solidFill>
                <a:latin typeface="Aptos"/>
              </a:rPr>
              <a:t> Live-</a:t>
            </a:r>
            <a:r>
              <a:rPr sz="1100" b="0" i="0" dirty="0" err="1">
                <a:solidFill>
                  <a:srgbClr val="33413D"/>
                </a:solidFill>
                <a:latin typeface="Aptos"/>
              </a:rPr>
              <a:t>Datenanbindung</a:t>
            </a:r>
            <a:r>
              <a:rPr sz="1100" b="0" i="0" dirty="0">
                <a:solidFill>
                  <a:srgbClr val="33413D"/>
                </a:solidFill>
                <a:latin typeface="Aptos"/>
              </a:rPr>
              <a:t> </a:t>
            </a:r>
            <a:r>
              <a:rPr sz="1100" b="0" i="0" dirty="0" err="1">
                <a:solidFill>
                  <a:srgbClr val="33413D"/>
                </a:solidFill>
                <a:latin typeface="Aptos"/>
              </a:rPr>
              <a:t>anschließen</a:t>
            </a:r>
            <a:r>
              <a:rPr sz="1100" b="0" i="0" dirty="0">
                <a:solidFill>
                  <a:srgbClr val="33413D"/>
                </a:solidFill>
                <a:latin typeface="Aptos"/>
              </a:rPr>
              <a:t>. Die </a:t>
            </a:r>
            <a:r>
              <a:rPr sz="1100" b="0" i="0" dirty="0" err="1">
                <a:solidFill>
                  <a:srgbClr val="33413D"/>
                </a:solidFill>
                <a:latin typeface="Aptos"/>
              </a:rPr>
              <a:t>technische</a:t>
            </a:r>
            <a:r>
              <a:rPr sz="1100" b="0" i="0" dirty="0">
                <a:solidFill>
                  <a:srgbClr val="33413D"/>
                </a:solidFill>
                <a:latin typeface="Aptos"/>
              </a:rPr>
              <a:t> </a:t>
            </a:r>
            <a:r>
              <a:rPr sz="1100" b="0" i="0" dirty="0" err="1">
                <a:solidFill>
                  <a:srgbClr val="33413D"/>
                </a:solidFill>
                <a:latin typeface="Aptos"/>
              </a:rPr>
              <a:t>Grundlage</a:t>
            </a:r>
            <a:r>
              <a:rPr sz="1100" b="0" i="0" dirty="0">
                <a:solidFill>
                  <a:srgbClr val="33413D"/>
                </a:solidFill>
                <a:latin typeface="Aptos"/>
              </a:rPr>
              <a:t> </a:t>
            </a:r>
            <a:r>
              <a:rPr sz="1100" b="0" i="0" dirty="0" err="1">
                <a:solidFill>
                  <a:srgbClr val="33413D"/>
                </a:solidFill>
                <a:latin typeface="Aptos"/>
              </a:rPr>
              <a:t>ist</a:t>
            </a:r>
            <a:r>
              <a:rPr sz="1100" b="0" i="0" dirty="0">
                <a:solidFill>
                  <a:srgbClr val="33413D"/>
                </a:solidFill>
                <a:latin typeface="Aptos"/>
              </a:rPr>
              <a:t> </a:t>
            </a:r>
            <a:r>
              <a:rPr sz="1100" b="0" i="0" dirty="0" err="1">
                <a:solidFill>
                  <a:srgbClr val="33413D"/>
                </a:solidFill>
                <a:latin typeface="Aptos"/>
              </a:rPr>
              <a:t>fertig</a:t>
            </a:r>
            <a:r>
              <a:rPr sz="1100" b="0" i="0" dirty="0">
                <a:solidFill>
                  <a:srgbClr val="33413D"/>
                </a:solidFill>
                <a:latin typeface="Aptos"/>
              </a:rPr>
              <a:t> </a:t>
            </a:r>
            <a:r>
              <a:rPr lang="de-DE" sz="1100" b="0" i="0" dirty="0">
                <a:solidFill>
                  <a:srgbClr val="33413D"/>
                </a:solidFill>
                <a:latin typeface="Aptos"/>
              </a:rPr>
              <a:t>-</a:t>
            </a:r>
            <a:r>
              <a:rPr sz="1100" b="0" i="0" dirty="0">
                <a:solidFill>
                  <a:srgbClr val="33413D"/>
                </a:solidFill>
                <a:latin typeface="Aptos"/>
              </a:rPr>
              <a:t> es </a:t>
            </a:r>
            <a:r>
              <a:rPr sz="1100" b="0" i="0" dirty="0" err="1">
                <a:solidFill>
                  <a:srgbClr val="33413D"/>
                </a:solidFill>
                <a:latin typeface="Aptos"/>
              </a:rPr>
              <a:t>geht</a:t>
            </a:r>
            <a:r>
              <a:rPr sz="1100" b="0" i="0" dirty="0">
                <a:solidFill>
                  <a:srgbClr val="33413D"/>
                </a:solidFill>
                <a:latin typeface="Aptos"/>
              </a:rPr>
              <a:t> um die </a:t>
            </a:r>
            <a:r>
              <a:rPr sz="1100" b="0" i="0" dirty="0" err="1">
                <a:solidFill>
                  <a:srgbClr val="33413D"/>
                </a:solidFill>
                <a:latin typeface="Aptos"/>
              </a:rPr>
              <a:t>Verbindung</a:t>
            </a:r>
            <a:r>
              <a:rPr sz="1100" b="0" i="0" dirty="0">
                <a:solidFill>
                  <a:srgbClr val="33413D"/>
                </a:solidFill>
                <a:latin typeface="Aptos"/>
              </a:rPr>
              <a:t>, nicht um </a:t>
            </a:r>
            <a:r>
              <a:rPr sz="1100" b="0" i="0" dirty="0" err="1">
                <a:solidFill>
                  <a:srgbClr val="33413D"/>
                </a:solidFill>
                <a:latin typeface="Aptos"/>
              </a:rPr>
              <a:t>Neuentwicklung</a:t>
            </a:r>
            <a:r>
              <a:rPr sz="1100" b="0" i="0" dirty="0">
                <a:solidFill>
                  <a:srgbClr val="33413D"/>
                </a:solidFill>
                <a:latin typeface="Aptos"/>
              </a:rPr>
              <a:t>. </a:t>
            </a:r>
            <a:r>
              <a:rPr sz="1100" b="0" i="0" dirty="0" err="1">
                <a:solidFill>
                  <a:srgbClr val="33413D"/>
                </a:solidFill>
                <a:latin typeface="Aptos"/>
              </a:rPr>
              <a:t>Ergebnis</a:t>
            </a:r>
            <a:r>
              <a:rPr sz="1100" b="0" i="0" dirty="0">
                <a:solidFill>
                  <a:srgbClr val="33413D"/>
                </a:solidFill>
                <a:latin typeface="Aptos"/>
              </a:rPr>
              <a:t>: </a:t>
            </a:r>
            <a:r>
              <a:rPr sz="1100" b="0" i="0" dirty="0" err="1">
                <a:solidFill>
                  <a:srgbClr val="33413D"/>
                </a:solidFill>
                <a:latin typeface="Aptos"/>
              </a:rPr>
              <a:t>spürbar</a:t>
            </a:r>
            <a:r>
              <a:rPr sz="1100" b="0" i="0" dirty="0">
                <a:solidFill>
                  <a:srgbClr val="33413D"/>
                </a:solidFill>
                <a:latin typeface="Aptos"/>
              </a:rPr>
              <a:t> </a:t>
            </a:r>
            <a:r>
              <a:rPr sz="1100" b="0" i="0" dirty="0" err="1">
                <a:solidFill>
                  <a:srgbClr val="33413D"/>
                </a:solidFill>
                <a:latin typeface="Aptos"/>
              </a:rPr>
              <a:t>mehr</a:t>
            </a:r>
            <a:r>
              <a:rPr sz="1100" b="0" i="0" dirty="0">
                <a:solidFill>
                  <a:srgbClr val="33413D"/>
                </a:solidFill>
                <a:latin typeface="Aptos"/>
              </a:rPr>
              <a:t> </a:t>
            </a:r>
            <a:r>
              <a:rPr sz="1100" b="0" i="0" dirty="0" err="1">
                <a:solidFill>
                  <a:srgbClr val="33413D"/>
                </a:solidFill>
                <a:latin typeface="Aptos"/>
              </a:rPr>
              <a:t>echte</a:t>
            </a:r>
            <a:r>
              <a:rPr sz="1100" b="0" i="0" dirty="0">
                <a:solidFill>
                  <a:srgbClr val="33413D"/>
                </a:solidFill>
                <a:latin typeface="Aptos"/>
              </a:rPr>
              <a:t> Live-</a:t>
            </a:r>
            <a:r>
              <a:rPr sz="1100" b="0" i="0" dirty="0" err="1">
                <a:solidFill>
                  <a:srgbClr val="33413D"/>
                </a:solidFill>
                <a:latin typeface="Aptos"/>
              </a:rPr>
              <a:t>Daten</a:t>
            </a:r>
            <a:r>
              <a:rPr sz="1100" b="0" i="0" dirty="0">
                <a:solidFill>
                  <a:srgbClr val="33413D"/>
                </a:solidFill>
                <a:latin typeface="Aptos"/>
              </a:rPr>
              <a:t> </a:t>
            </a:r>
            <a:r>
              <a:rPr sz="1100" b="0" i="0" dirty="0" err="1">
                <a:solidFill>
                  <a:srgbClr val="33413D"/>
                </a:solidFill>
                <a:latin typeface="Aptos"/>
              </a:rPr>
              <a:t>bei</a:t>
            </a:r>
            <a:r>
              <a:rPr sz="1100" b="0" i="0" dirty="0">
                <a:solidFill>
                  <a:srgbClr val="33413D"/>
                </a:solidFill>
                <a:latin typeface="Aptos"/>
              </a:rPr>
              <a:t> </a:t>
            </a:r>
            <a:r>
              <a:rPr sz="1100" b="0" i="0" dirty="0" err="1">
                <a:solidFill>
                  <a:srgbClr val="33413D"/>
                </a:solidFill>
                <a:latin typeface="Aptos"/>
              </a:rPr>
              <a:t>geringem</a:t>
            </a:r>
            <a:r>
              <a:rPr sz="1100" b="0" i="0" dirty="0">
                <a:solidFill>
                  <a:srgbClr val="33413D"/>
                </a:solidFill>
                <a:latin typeface="Aptos"/>
              </a:rPr>
              <a:t> </a:t>
            </a:r>
            <a:r>
              <a:rPr sz="1100" b="0" i="0" dirty="0" err="1">
                <a:solidFill>
                  <a:srgbClr val="33413D"/>
                </a:solidFill>
                <a:latin typeface="Aptos"/>
              </a:rPr>
              <a:t>Aufwand</a:t>
            </a:r>
            <a:r>
              <a:rPr sz="1100" b="0" i="0" dirty="0">
                <a:solidFill>
                  <a:srgbClr val="33413D"/>
                </a:solidFill>
                <a:latin typeface="Aptos"/>
              </a:rPr>
              <a:t>.</a:t>
            </a:r>
          </a:p>
        </p:txBody>
      </p:sp>
      <p:sp>
        <p:nvSpPr>
          <p:cNvPr id="12" name="Rounded Rectangle 11"/>
          <p:cNvSpPr/>
          <p:nvPr/>
        </p:nvSpPr>
        <p:spPr>
          <a:xfrm>
            <a:off x="640080" y="2971800"/>
            <a:ext cx="10881360" cy="2331720"/>
          </a:xfrm>
          <a:prstGeom prst="roundRect">
            <a:avLst>
              <a:gd name="adj" fmla="val 5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2971800"/>
            <a:ext cx="54864" cy="233172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108960"/>
            <a:ext cx="10332720" cy="1133644"/>
          </a:xfrm>
          <a:prstGeom prst="rect">
            <a:avLst/>
          </a:prstGeom>
          <a:noFill/>
        </p:spPr>
        <p:txBody>
          <a:bodyPr wrap="square" lIns="0" tIns="0" rIns="0" bIns="0" anchor="t">
            <a:spAutoFit/>
          </a:bodyPr>
          <a:lstStyle/>
          <a:p>
            <a:r>
              <a:rPr sz="1300" b="1" i="0" dirty="0">
                <a:solidFill>
                  <a:srgbClr val="044F49"/>
                </a:solidFill>
                <a:latin typeface="Aptos"/>
              </a:rPr>
              <a:t>Schritt 2 </a:t>
            </a:r>
            <a:r>
              <a:rPr lang="de-DE" sz="1300" b="1" i="0" dirty="0">
                <a:solidFill>
                  <a:srgbClr val="044F49"/>
                </a:solidFill>
                <a:latin typeface="Aptos"/>
              </a:rPr>
              <a:t>-</a:t>
            </a:r>
            <a:r>
              <a:rPr sz="1300" b="1" i="0" dirty="0">
                <a:solidFill>
                  <a:srgbClr val="044F49"/>
                </a:solidFill>
                <a:latin typeface="Aptos"/>
              </a:rPr>
              <a:t> </a:t>
            </a:r>
            <a:r>
              <a:rPr sz="1300" b="1" i="0" dirty="0" err="1">
                <a:solidFill>
                  <a:srgbClr val="044F49"/>
                </a:solidFill>
                <a:latin typeface="Aptos"/>
              </a:rPr>
              <a:t>Kernfunktionen</a:t>
            </a:r>
            <a:r>
              <a:rPr sz="1300" b="1" i="0" dirty="0">
                <a:solidFill>
                  <a:srgbClr val="044F49"/>
                </a:solidFill>
                <a:latin typeface="Aptos"/>
              </a:rPr>
              <a:t> für den </a:t>
            </a:r>
            <a:r>
              <a:rPr sz="1300" b="1" i="0" dirty="0" err="1">
                <a:solidFill>
                  <a:srgbClr val="044F49"/>
                </a:solidFill>
                <a:latin typeface="Aptos"/>
              </a:rPr>
              <a:t>Alltagsbetrieb</a:t>
            </a:r>
            <a:r>
              <a:rPr sz="1300" b="1" i="0" dirty="0">
                <a:solidFill>
                  <a:srgbClr val="044F49"/>
                </a:solidFill>
                <a:latin typeface="Aptos"/>
              </a:rPr>
              <a:t> </a:t>
            </a:r>
            <a:r>
              <a:rPr sz="1300" b="1" i="0" dirty="0" err="1">
                <a:solidFill>
                  <a:srgbClr val="044F49"/>
                </a:solidFill>
                <a:latin typeface="Aptos"/>
              </a:rPr>
              <a:t>fertigstellen</a:t>
            </a:r>
            <a:endParaRPr sz="1300" b="1" i="0" dirty="0">
              <a:solidFill>
                <a:srgbClr val="044F49"/>
              </a:solidFill>
              <a:latin typeface="Aptos"/>
            </a:endParaRPr>
          </a:p>
          <a:p>
            <a:pPr>
              <a:spcBef>
                <a:spcPts val="500"/>
              </a:spcBef>
            </a:pPr>
            <a:r>
              <a:rPr sz="1100" b="0" i="0" dirty="0">
                <a:solidFill>
                  <a:srgbClr val="33413D"/>
                </a:solidFill>
                <a:latin typeface="Aptos"/>
              </a:rPr>
              <a:t>•  </a:t>
            </a:r>
            <a:r>
              <a:rPr sz="1100" b="0" i="0" dirty="0" err="1">
                <a:solidFill>
                  <a:srgbClr val="33413D"/>
                </a:solidFill>
                <a:latin typeface="Aptos"/>
              </a:rPr>
              <a:t>Reservierung</a:t>
            </a:r>
            <a:r>
              <a:rPr sz="1100" b="0" i="0" dirty="0">
                <a:solidFill>
                  <a:srgbClr val="33413D"/>
                </a:solidFill>
                <a:latin typeface="Aptos"/>
              </a:rPr>
              <a:t>/</a:t>
            </a:r>
            <a:r>
              <a:rPr sz="1100" b="0" i="0" dirty="0" err="1">
                <a:solidFill>
                  <a:srgbClr val="33413D"/>
                </a:solidFill>
                <a:latin typeface="Aptos"/>
              </a:rPr>
              <a:t>Buchung</a:t>
            </a:r>
            <a:r>
              <a:rPr sz="1100" b="0" i="0" dirty="0">
                <a:solidFill>
                  <a:srgbClr val="33413D"/>
                </a:solidFill>
                <a:latin typeface="Aptos"/>
              </a:rPr>
              <a:t> </a:t>
            </a:r>
            <a:r>
              <a:rPr sz="1100" b="0" i="0" dirty="0" err="1">
                <a:solidFill>
                  <a:srgbClr val="33413D"/>
                </a:solidFill>
                <a:latin typeface="Aptos"/>
              </a:rPr>
              <a:t>anlegen</a:t>
            </a:r>
            <a:r>
              <a:rPr sz="1100" b="0" i="0" dirty="0">
                <a:solidFill>
                  <a:srgbClr val="33413D"/>
                </a:solidFill>
                <a:latin typeface="Aptos"/>
              </a:rPr>
              <a:t> </a:t>
            </a:r>
            <a:r>
              <a:rPr lang="de-DE" sz="1100" b="0" i="0" dirty="0">
                <a:solidFill>
                  <a:srgbClr val="33413D"/>
                </a:solidFill>
                <a:latin typeface="Aptos"/>
              </a:rPr>
              <a:t>-</a:t>
            </a:r>
            <a:r>
              <a:rPr sz="1100" b="0" i="0" dirty="0">
                <a:solidFill>
                  <a:srgbClr val="33413D"/>
                </a:solidFill>
                <a:latin typeface="Aptos"/>
              </a:rPr>
              <a:t> die von Ihnen </a:t>
            </a:r>
            <a:r>
              <a:rPr sz="1100" b="0" i="0" dirty="0" err="1">
                <a:solidFill>
                  <a:srgbClr val="33413D"/>
                </a:solidFill>
                <a:latin typeface="Aptos"/>
              </a:rPr>
              <a:t>angeforderte</a:t>
            </a:r>
            <a:r>
              <a:rPr sz="1100" b="0" i="0" dirty="0">
                <a:solidFill>
                  <a:srgbClr val="33413D"/>
                </a:solidFill>
                <a:latin typeface="Aptos"/>
              </a:rPr>
              <a:t> </a:t>
            </a:r>
            <a:r>
              <a:rPr sz="1100" b="0" i="0" dirty="0" err="1">
                <a:solidFill>
                  <a:srgbClr val="33413D"/>
                </a:solidFill>
                <a:latin typeface="Aptos"/>
              </a:rPr>
              <a:t>Kernfunktion</a:t>
            </a:r>
            <a:r>
              <a:rPr sz="1100" b="0" i="0" dirty="0">
                <a:solidFill>
                  <a:srgbClr val="33413D"/>
                </a:solidFill>
                <a:latin typeface="Aptos"/>
              </a:rPr>
              <a:t> für die </a:t>
            </a:r>
            <a:r>
              <a:rPr sz="1100" b="0" i="0" dirty="0" err="1">
                <a:solidFill>
                  <a:srgbClr val="33413D"/>
                </a:solidFill>
                <a:latin typeface="Aptos"/>
              </a:rPr>
              <a:t>Vermietung</a:t>
            </a:r>
            <a:r>
              <a:rPr sz="1100" b="0" i="0" dirty="0">
                <a:solidFill>
                  <a:srgbClr val="33413D"/>
                </a:solidFill>
                <a:latin typeface="Aptos"/>
              </a:rPr>
              <a:t>.</a:t>
            </a:r>
          </a:p>
          <a:p>
            <a:pPr>
              <a:spcBef>
                <a:spcPts val="500"/>
              </a:spcBef>
            </a:pPr>
            <a:r>
              <a:rPr sz="1100" b="0" i="0" dirty="0">
                <a:solidFill>
                  <a:srgbClr val="33413D"/>
                </a:solidFill>
                <a:latin typeface="Aptos"/>
              </a:rPr>
              <a:t>•  </a:t>
            </a:r>
            <a:r>
              <a:rPr sz="1100" b="0" i="0" dirty="0" err="1">
                <a:solidFill>
                  <a:srgbClr val="33413D"/>
                </a:solidFill>
                <a:latin typeface="Aptos"/>
              </a:rPr>
              <a:t>Finanzbuchung</a:t>
            </a:r>
            <a:r>
              <a:rPr sz="1100" b="0" i="0" dirty="0">
                <a:solidFill>
                  <a:srgbClr val="33413D"/>
                </a:solidFill>
                <a:latin typeface="Aptos"/>
              </a:rPr>
              <a:t> </a:t>
            </a:r>
            <a:r>
              <a:rPr sz="1100" b="0" i="0" dirty="0" err="1">
                <a:solidFill>
                  <a:srgbClr val="33413D"/>
                </a:solidFill>
                <a:latin typeface="Aptos"/>
              </a:rPr>
              <a:t>erfassen</a:t>
            </a:r>
            <a:r>
              <a:rPr sz="1100" b="0" i="0" dirty="0">
                <a:solidFill>
                  <a:srgbClr val="33413D"/>
                </a:solidFill>
                <a:latin typeface="Aptos"/>
              </a:rPr>
              <a:t> </a:t>
            </a:r>
            <a:r>
              <a:rPr lang="de-DE" sz="1100" b="0" i="0" dirty="0">
                <a:solidFill>
                  <a:srgbClr val="33413D"/>
                </a:solidFill>
                <a:latin typeface="Aptos"/>
              </a:rPr>
              <a:t>-</a:t>
            </a:r>
            <a:r>
              <a:rPr sz="1100" b="0" i="0" dirty="0">
                <a:solidFill>
                  <a:srgbClr val="33413D"/>
                </a:solidFill>
                <a:latin typeface="Aptos"/>
              </a:rPr>
              <a:t> </a:t>
            </a:r>
            <a:r>
              <a:rPr sz="1100" b="0" i="0" dirty="0" err="1">
                <a:solidFill>
                  <a:srgbClr val="33413D"/>
                </a:solidFill>
                <a:latin typeface="Aptos"/>
              </a:rPr>
              <a:t>geschützt</a:t>
            </a:r>
            <a:r>
              <a:rPr sz="1100" b="0" i="0" dirty="0">
                <a:solidFill>
                  <a:srgbClr val="33413D"/>
                </a:solidFill>
                <a:latin typeface="Aptos"/>
              </a:rPr>
              <a:t> </a:t>
            </a:r>
            <a:r>
              <a:rPr sz="1100" b="0" i="0" dirty="0" err="1">
                <a:solidFill>
                  <a:srgbClr val="33413D"/>
                </a:solidFill>
                <a:latin typeface="Aptos"/>
              </a:rPr>
              <a:t>durch</a:t>
            </a:r>
            <a:r>
              <a:rPr sz="1100" b="0" i="0" dirty="0">
                <a:solidFill>
                  <a:srgbClr val="33413D"/>
                </a:solidFill>
                <a:latin typeface="Aptos"/>
              </a:rPr>
              <a:t> die </a:t>
            </a:r>
            <a:r>
              <a:rPr sz="1100" b="0" i="0" dirty="0" err="1">
                <a:solidFill>
                  <a:srgbClr val="33413D"/>
                </a:solidFill>
                <a:latin typeface="Aptos"/>
              </a:rPr>
              <a:t>bereits</a:t>
            </a:r>
            <a:r>
              <a:rPr sz="1100" b="0" i="0" dirty="0">
                <a:solidFill>
                  <a:srgbClr val="33413D"/>
                </a:solidFill>
                <a:latin typeface="Aptos"/>
              </a:rPr>
              <a:t> </a:t>
            </a:r>
            <a:r>
              <a:rPr sz="1100" b="0" i="0" dirty="0" err="1">
                <a:solidFill>
                  <a:srgbClr val="33413D"/>
                </a:solidFill>
                <a:latin typeface="Aptos"/>
              </a:rPr>
              <a:t>vorhandene</a:t>
            </a:r>
            <a:r>
              <a:rPr sz="1100" b="0" i="0" dirty="0">
                <a:solidFill>
                  <a:srgbClr val="33413D"/>
                </a:solidFill>
                <a:latin typeface="Aptos"/>
              </a:rPr>
              <a:t> </a:t>
            </a:r>
            <a:r>
              <a:rPr sz="1100" b="0" i="0" dirty="0" err="1">
                <a:solidFill>
                  <a:srgbClr val="33413D"/>
                </a:solidFill>
                <a:latin typeface="Aptos"/>
              </a:rPr>
              <a:t>Unveränderlichkeits-Sicherung</a:t>
            </a:r>
            <a:r>
              <a:rPr sz="1100" b="0" i="0" dirty="0">
                <a:solidFill>
                  <a:srgbClr val="33413D"/>
                </a:solidFill>
                <a:latin typeface="Aptos"/>
              </a:rPr>
              <a:t>.</a:t>
            </a:r>
          </a:p>
          <a:p>
            <a:pPr>
              <a:spcBef>
                <a:spcPts val="500"/>
              </a:spcBef>
            </a:pPr>
            <a:r>
              <a:rPr sz="1100" b="0" i="0" dirty="0">
                <a:solidFill>
                  <a:srgbClr val="33413D"/>
                </a:solidFill>
                <a:latin typeface="Aptos"/>
              </a:rPr>
              <a:t>•  Foto-/</a:t>
            </a:r>
            <a:r>
              <a:rPr sz="1100" b="0" i="0" dirty="0" err="1">
                <a:solidFill>
                  <a:srgbClr val="33413D"/>
                </a:solidFill>
                <a:latin typeface="Aptos"/>
              </a:rPr>
              <a:t>Videonachweis</a:t>
            </a:r>
            <a:r>
              <a:rPr sz="1100" b="0" i="0" dirty="0">
                <a:solidFill>
                  <a:srgbClr val="33413D"/>
                </a:solidFill>
                <a:latin typeface="Aptos"/>
              </a:rPr>
              <a:t> für </a:t>
            </a:r>
            <a:r>
              <a:rPr sz="1100" b="0" i="0" dirty="0" err="1">
                <a:solidFill>
                  <a:srgbClr val="33413D"/>
                </a:solidFill>
                <a:latin typeface="Aptos"/>
              </a:rPr>
              <a:t>Serviceaufträge</a:t>
            </a:r>
            <a:r>
              <a:rPr sz="1100" b="0" i="0" dirty="0">
                <a:solidFill>
                  <a:srgbClr val="33413D"/>
                </a:solidFill>
                <a:latin typeface="Aptos"/>
              </a:rPr>
              <a:t> </a:t>
            </a:r>
            <a:r>
              <a:rPr sz="1100" b="0" i="0" dirty="0" err="1">
                <a:solidFill>
                  <a:srgbClr val="33413D"/>
                </a:solidFill>
                <a:latin typeface="Aptos"/>
              </a:rPr>
              <a:t>durch</a:t>
            </a:r>
            <a:r>
              <a:rPr sz="1100" b="0" i="0" dirty="0">
                <a:solidFill>
                  <a:srgbClr val="33413D"/>
                </a:solidFill>
                <a:latin typeface="Aptos"/>
              </a:rPr>
              <a:t> den </a:t>
            </a:r>
            <a:r>
              <a:rPr sz="1100" b="0" i="0" dirty="0" err="1">
                <a:solidFill>
                  <a:srgbClr val="33413D"/>
                </a:solidFill>
                <a:latin typeface="Aptos"/>
              </a:rPr>
              <a:t>Außendienst</a:t>
            </a:r>
            <a:r>
              <a:rPr sz="1100" b="0" i="0" dirty="0">
                <a:solidFill>
                  <a:srgbClr val="33413D"/>
                </a:solidFill>
                <a:latin typeface="Aptos"/>
              </a:rPr>
              <a:t>.</a:t>
            </a:r>
          </a:p>
          <a:p>
            <a:pPr>
              <a:spcBef>
                <a:spcPts val="500"/>
              </a:spcBef>
            </a:pPr>
            <a:r>
              <a:rPr sz="1100" b="0" i="0" dirty="0">
                <a:solidFill>
                  <a:srgbClr val="33413D"/>
                </a:solidFill>
                <a:latin typeface="Aptos"/>
              </a:rPr>
              <a:t>•  </a:t>
            </a:r>
            <a:r>
              <a:rPr sz="1100" b="0" i="0" dirty="0" err="1">
                <a:solidFill>
                  <a:srgbClr val="33413D"/>
                </a:solidFill>
                <a:latin typeface="Aptos"/>
              </a:rPr>
              <a:t>Bearbeitungs-Übersicht</a:t>
            </a:r>
            <a:r>
              <a:rPr sz="1100" b="0" i="0" dirty="0">
                <a:solidFill>
                  <a:srgbClr val="33413D"/>
                </a:solidFill>
                <a:latin typeface="Aptos"/>
              </a:rPr>
              <a:t> für </a:t>
            </a:r>
            <a:r>
              <a:rPr sz="1100" b="0" i="0" dirty="0" err="1">
                <a:solidFill>
                  <a:srgbClr val="33413D"/>
                </a:solidFill>
                <a:latin typeface="Aptos"/>
              </a:rPr>
              <a:t>eingehende</a:t>
            </a:r>
            <a:r>
              <a:rPr sz="1100" b="0" i="0" dirty="0">
                <a:solidFill>
                  <a:srgbClr val="33413D"/>
                </a:solidFill>
                <a:latin typeface="Aptos"/>
              </a:rPr>
              <a:t> </a:t>
            </a:r>
            <a:r>
              <a:rPr sz="1100" b="0" i="0" dirty="0" err="1">
                <a:solidFill>
                  <a:srgbClr val="33413D"/>
                </a:solidFill>
                <a:latin typeface="Aptos"/>
              </a:rPr>
              <a:t>Registrierungen</a:t>
            </a:r>
            <a:r>
              <a:rPr sz="1100" b="0" i="0" dirty="0">
                <a:solidFill>
                  <a:srgbClr val="33413D"/>
                </a:solidFill>
                <a:latin typeface="Aptos"/>
              </a:rPr>
              <a:t> und </a:t>
            </a:r>
            <a:r>
              <a:rPr sz="1100" b="0" i="0" dirty="0" err="1">
                <a:solidFill>
                  <a:srgbClr val="33413D"/>
                </a:solidFill>
                <a:latin typeface="Aptos"/>
              </a:rPr>
              <a:t>Meldungen</a:t>
            </a:r>
            <a:r>
              <a:rPr sz="1100" b="0" i="0" dirty="0">
                <a:solidFill>
                  <a:srgbClr val="33413D"/>
                </a:solidFill>
                <a:latin typeface="Aptos"/>
              </a:rPr>
              <a:t> </a:t>
            </a:r>
            <a:r>
              <a:rPr sz="1100" b="0" i="0" dirty="0" err="1">
                <a:solidFill>
                  <a:srgbClr val="33413D"/>
                </a:solidFill>
                <a:latin typeface="Aptos"/>
              </a:rPr>
              <a:t>aus</a:t>
            </a:r>
            <a:r>
              <a:rPr sz="1100" b="0" i="0" dirty="0">
                <a:solidFill>
                  <a:srgbClr val="33413D"/>
                </a:solidFill>
                <a:latin typeface="Aptos"/>
              </a:rPr>
              <a:t> dem </a:t>
            </a:r>
            <a:r>
              <a:rPr sz="1100" b="0" i="0" dirty="0" err="1">
                <a:solidFill>
                  <a:srgbClr val="33413D"/>
                </a:solidFill>
                <a:latin typeface="Aptos"/>
              </a:rPr>
              <a:t>öffentlichen</a:t>
            </a:r>
            <a:r>
              <a:rPr sz="1100" b="0" i="0" dirty="0">
                <a:solidFill>
                  <a:srgbClr val="33413D"/>
                </a:solidFill>
                <a:latin typeface="Aptos"/>
              </a:rPr>
              <a:t> </a:t>
            </a:r>
            <a:r>
              <a:rPr sz="1100" b="0" i="0" dirty="0" err="1">
                <a:solidFill>
                  <a:srgbClr val="33413D"/>
                </a:solidFill>
                <a:latin typeface="Aptos"/>
              </a:rPr>
              <a:t>Bereich</a:t>
            </a:r>
            <a:r>
              <a:rPr sz="1100" b="0" i="0" dirty="0">
                <a:solidFill>
                  <a:srgbClr val="33413D"/>
                </a:solidFill>
                <a:latin typeface="Aptos"/>
              </a:rPr>
              <a:t>, </a:t>
            </a:r>
            <a:r>
              <a:rPr sz="1100" b="0" i="0" dirty="0" err="1">
                <a:solidFill>
                  <a:srgbClr val="33413D"/>
                </a:solidFill>
                <a:latin typeface="Aptos"/>
              </a:rPr>
              <a:t>inklusive</a:t>
            </a:r>
            <a:r>
              <a:rPr sz="1100" b="0" i="0" dirty="0">
                <a:solidFill>
                  <a:srgbClr val="33413D"/>
                </a:solidFill>
                <a:latin typeface="Aptos"/>
              </a:rPr>
              <a:t> </a:t>
            </a:r>
            <a:r>
              <a:rPr sz="1100" b="0" i="0" dirty="0" err="1">
                <a:solidFill>
                  <a:srgbClr val="33413D"/>
                </a:solidFill>
                <a:latin typeface="Aptos"/>
              </a:rPr>
              <a:t>Freigabe</a:t>
            </a:r>
            <a:r>
              <a:rPr sz="1100" b="0" i="0" dirty="0">
                <a:solidFill>
                  <a:srgbClr val="33413D"/>
                </a:solidFill>
                <a:latin typeface="Aptos"/>
              </a:rPr>
              <a:t> und </a:t>
            </a:r>
            <a:r>
              <a:rPr sz="1100" b="0" i="0" dirty="0" err="1">
                <a:solidFill>
                  <a:srgbClr val="33413D"/>
                </a:solidFill>
                <a:latin typeface="Aptos"/>
              </a:rPr>
              <a:t>Umwandlung</a:t>
            </a:r>
            <a:r>
              <a:rPr sz="1100" b="0" i="0" dirty="0">
                <a:solidFill>
                  <a:srgbClr val="33413D"/>
                </a:solidFill>
                <a:latin typeface="Aptos"/>
              </a:rPr>
              <a:t> in </a:t>
            </a:r>
            <a:r>
              <a:rPr sz="1100" b="0" i="0" dirty="0" err="1">
                <a:solidFill>
                  <a:srgbClr val="33413D"/>
                </a:solidFill>
                <a:latin typeface="Aptos"/>
              </a:rPr>
              <a:t>ein</a:t>
            </a:r>
            <a:r>
              <a:rPr sz="1100" b="0" i="0" dirty="0">
                <a:solidFill>
                  <a:srgbClr val="33413D"/>
                </a:solidFill>
                <a:latin typeface="Aptos"/>
              </a:rPr>
              <a:t> </a:t>
            </a:r>
            <a:r>
              <a:rPr sz="1100" b="0" i="0" dirty="0" err="1">
                <a:solidFill>
                  <a:srgbClr val="33413D"/>
                </a:solidFill>
                <a:latin typeface="Aptos"/>
              </a:rPr>
              <a:t>Konto</a:t>
            </a:r>
            <a:r>
              <a:rPr sz="1100" b="0" i="0" dirty="0">
                <a:solidFill>
                  <a:srgbClr val="33413D"/>
                </a:solidFill>
                <a:latin typeface="Aptos"/>
              </a:rPr>
              <a:t> </a:t>
            </a:r>
            <a:r>
              <a:rPr sz="1100" b="0" i="0" dirty="0" err="1">
                <a:solidFill>
                  <a:srgbClr val="33413D"/>
                </a:solidFill>
                <a:latin typeface="Aptos"/>
              </a:rPr>
              <a:t>bzw</a:t>
            </a:r>
            <a:r>
              <a:rPr sz="1100" b="0" i="0" dirty="0">
                <a:solidFill>
                  <a:srgbClr val="33413D"/>
                </a:solidFill>
                <a:latin typeface="Aptos"/>
              </a:rPr>
              <a:t>. Ticket.</a:t>
            </a:r>
          </a:p>
        </p:txBody>
      </p:sp>
      <p:sp>
        <p:nvSpPr>
          <p:cNvPr id="15" name="TextBox 14"/>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6" name="TextBox 15"/>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27</a:t>
            </a:r>
          </a:p>
        </p:txBody>
      </p:sp>
      <p:pic>
        <p:nvPicPr>
          <p:cNvPr id="17" name="Picture 16"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09 · NÄCHSTE SCHRITTE</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Schritt 3 </a:t>
            </a:r>
            <a:r>
              <a:rPr lang="de-DE" sz="2700" b="1" i="0" dirty="0">
                <a:solidFill>
                  <a:srgbClr val="044F49"/>
                </a:solidFill>
                <a:latin typeface="Aptos"/>
              </a:rPr>
              <a:t>-</a:t>
            </a:r>
            <a:r>
              <a:rPr sz="2700" b="1" i="0" dirty="0">
                <a:solidFill>
                  <a:srgbClr val="044F49"/>
                </a:solidFill>
                <a:latin typeface="Aptos"/>
              </a:rPr>
              <a:t> </a:t>
            </a:r>
            <a:r>
              <a:rPr sz="2700" b="1" i="0" dirty="0" err="1">
                <a:solidFill>
                  <a:srgbClr val="044F49"/>
                </a:solidFill>
                <a:latin typeface="Aptos"/>
              </a:rPr>
              <a:t>Freigaben</a:t>
            </a:r>
            <a:r>
              <a:rPr sz="2700" b="1" i="0" dirty="0">
                <a:solidFill>
                  <a:srgbClr val="044F49"/>
                </a:solidFill>
                <a:latin typeface="Aptos"/>
              </a:rPr>
              <a:t> &amp; </a:t>
            </a:r>
            <a:r>
              <a:rPr sz="2700" b="1" i="0" dirty="0" err="1">
                <a:solidFill>
                  <a:srgbClr val="044F49"/>
                </a:solidFill>
                <a:latin typeface="Aptos"/>
              </a:rPr>
              <a:t>Entscheidungen</a:t>
            </a:r>
            <a:r>
              <a:rPr sz="2700" b="1" i="0" dirty="0">
                <a:solidFill>
                  <a:srgbClr val="044F49"/>
                </a:solidFill>
                <a:latin typeface="Aptos"/>
              </a:rPr>
              <a:t> </a:t>
            </a:r>
            <a:r>
              <a:rPr sz="2700" b="1" i="0" dirty="0" err="1">
                <a:solidFill>
                  <a:srgbClr val="044F49"/>
                </a:solidFill>
                <a:latin typeface="Aptos"/>
              </a:rPr>
              <a:t>Ihrerseits</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463040"/>
            <a:ext cx="10881360" cy="502920"/>
          </a:xfrm>
          <a:prstGeom prst="rect">
            <a:avLst/>
          </a:prstGeom>
          <a:noFill/>
        </p:spPr>
        <p:txBody>
          <a:bodyPr wrap="square" lIns="0" tIns="0" rIns="0" bIns="0" anchor="t">
            <a:spAutoFit/>
          </a:bodyPr>
          <a:lstStyle/>
          <a:p>
            <a:pPr>
              <a:spcAft>
                <a:spcPts val="600"/>
              </a:spcAft>
            </a:pPr>
            <a:r>
              <a:rPr sz="1100" i="0">
                <a:solidFill>
                  <a:srgbClr val="33413D"/>
                </a:solidFill>
                <a:latin typeface="Aptos"/>
              </a:rPr>
              <a:t>Diese Punkte sind nicht durch Entwicklungsgeschwindigkeit steuerbar und sollten frühzeitig parallel gestartet werden:</a:t>
            </a:r>
          </a:p>
        </p:txBody>
      </p:sp>
      <p:graphicFrame>
        <p:nvGraphicFramePr>
          <p:cNvPr id="10" name="Table 9"/>
          <p:cNvGraphicFramePr>
            <a:graphicFrameLocks noGrp="1"/>
          </p:cNvGraphicFramePr>
          <p:nvPr/>
        </p:nvGraphicFramePr>
        <p:xfrm>
          <a:off x="640080" y="1965960"/>
          <a:ext cx="10881359" cy="2926080"/>
        </p:xfrm>
        <a:graphic>
          <a:graphicData uri="http://schemas.openxmlformats.org/drawingml/2006/table">
            <a:tbl>
              <a:tblPr>
                <a:tableStyleId>{5C22544A-7EE6-4342-B048-85BDC9FD1C3A}</a:tableStyleId>
              </a:tblPr>
              <a:tblGrid>
                <a:gridCol w="3482035">
                  <a:extLst>
                    <a:ext uri="{9D8B030D-6E8A-4147-A177-3AD203B41FA5}">
                      <a16:colId xmlns:a16="http://schemas.microsoft.com/office/drawing/2014/main" val="20000"/>
                    </a:ext>
                  </a:extLst>
                </a:gridCol>
                <a:gridCol w="7399324">
                  <a:extLst>
                    <a:ext uri="{9D8B030D-6E8A-4147-A177-3AD203B41FA5}">
                      <a16:colId xmlns:a16="http://schemas.microsoft.com/office/drawing/2014/main" val="20001"/>
                    </a:ext>
                  </a:extLst>
                </a:gridCol>
              </a:tblGrid>
              <a:tr h="365760">
                <a:tc>
                  <a:txBody>
                    <a:bodyPr/>
                    <a:lstStyle/>
                    <a:p>
                      <a:r>
                        <a:rPr sz="1050" b="1" i="0">
                          <a:solidFill>
                            <a:srgbClr val="FFFFFF"/>
                          </a:solidFill>
                          <a:latin typeface="Aptos"/>
                        </a:rPr>
                        <a:t>Thema</a:t>
                      </a:r>
                    </a:p>
                  </a:txBody>
                  <a:tcPr marL="73152" marR="73152" marT="36576" marB="36576" anchor="ctr">
                    <a:solidFill>
                      <a:srgbClr val="066B63"/>
                    </a:solidFill>
                  </a:tcPr>
                </a:tc>
                <a:tc>
                  <a:txBody>
                    <a:bodyPr/>
                    <a:lstStyle/>
                    <a:p>
                      <a:r>
                        <a:rPr sz="1050" b="1" i="0">
                          <a:solidFill>
                            <a:srgbClr val="FFFFFF"/>
                          </a:solidFill>
                          <a:latin typeface="Aptos"/>
                        </a:rPr>
                        <a:t>Erforderliche Entscheidung / Freigabe</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00" b="1" i="0">
                          <a:solidFill>
                            <a:srgbClr val="101820"/>
                          </a:solidFill>
                          <a:latin typeface="Aptos"/>
                        </a:rPr>
                        <a:t>Produktive Datenbank &amp; Hosting</a:t>
                      </a:r>
                    </a:p>
                  </a:txBody>
                  <a:tcPr marL="73152" marR="73152" marT="36576" marB="36576" anchor="ctr">
                    <a:solidFill>
                      <a:srgbClr val="FFFFFF"/>
                    </a:solidFill>
                  </a:tcPr>
                </a:tc>
                <a:tc>
                  <a:txBody>
                    <a:bodyPr/>
                    <a:lstStyle/>
                    <a:p>
                      <a:r>
                        <a:rPr sz="1000" b="0" i="0">
                          <a:solidFill>
                            <a:srgbClr val="33413D"/>
                          </a:solidFill>
                          <a:latin typeface="Aptos"/>
                        </a:rPr>
                        <a:t>Freigabe von Umgebung, Region, Backup-Regel und Budget für den Produktivbetrieb.</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1000" b="1" i="0">
                          <a:solidFill>
                            <a:srgbClr val="101820"/>
                          </a:solidFill>
                          <a:latin typeface="Aptos"/>
                        </a:rPr>
                        <a:t>Zahlungs- &amp; Bankanbindung</a:t>
                      </a:r>
                    </a:p>
                  </a:txBody>
                  <a:tcPr marL="73152" marR="73152" marT="36576" marB="36576" anchor="ctr">
                    <a:solidFill>
                      <a:srgbClr val="F1F5F4"/>
                    </a:solidFill>
                  </a:tcPr>
                </a:tc>
                <a:tc>
                  <a:txBody>
                    <a:bodyPr/>
                    <a:lstStyle/>
                    <a:p>
                      <a:r>
                        <a:rPr sz="1000" b="0" i="0">
                          <a:solidFill>
                            <a:srgbClr val="33413D"/>
                          </a:solidFill>
                          <a:latin typeface="Aptos"/>
                        </a:rPr>
                        <a:t>Anbieterwahl bzw. Bestätigung eines Bank-/Überweisungs-Workflows.</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1000" b="1" i="0">
                          <a:solidFill>
                            <a:srgbClr val="101820"/>
                          </a:solidFill>
                          <a:latin typeface="Aptos"/>
                        </a:rPr>
                        <a:t>Kommunikationskanäle</a:t>
                      </a:r>
                    </a:p>
                  </a:txBody>
                  <a:tcPr marL="73152" marR="73152" marT="36576" marB="36576" anchor="ctr">
                    <a:solidFill>
                      <a:srgbClr val="FFFFFF"/>
                    </a:solidFill>
                  </a:tcPr>
                </a:tc>
                <a:tc>
                  <a:txBody>
                    <a:bodyPr/>
                    <a:lstStyle/>
                    <a:p>
                      <a:r>
                        <a:rPr sz="1000" b="0" i="0">
                          <a:solidFill>
                            <a:srgbClr val="33413D"/>
                          </a:solidFill>
                          <a:latin typeface="Aptos"/>
                        </a:rPr>
                        <a:t>Auswahl der Anbieter für SMS, E-Mail und Push; WhatsApp-Business-Verifizierung (Vorlauf 1–6 Wochen).</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1000" b="1" i="0">
                          <a:solidFill>
                            <a:srgbClr val="101820"/>
                          </a:solidFill>
                          <a:latin typeface="Aptos"/>
                        </a:rPr>
                        <a:t>Zugangssystem</a:t>
                      </a:r>
                    </a:p>
                  </a:txBody>
                  <a:tcPr marL="73152" marR="73152" marT="36576" marB="36576" anchor="ctr">
                    <a:solidFill>
                      <a:srgbClr val="F1F5F4"/>
                    </a:solidFill>
                  </a:tcPr>
                </a:tc>
                <a:tc>
                  <a:txBody>
                    <a:bodyPr/>
                    <a:lstStyle/>
                    <a:p>
                      <a:r>
                        <a:rPr sz="1000" b="0" i="0">
                          <a:solidFill>
                            <a:srgbClr val="33413D"/>
                          </a:solidFill>
                          <a:latin typeface="Aptos"/>
                        </a:rPr>
                        <a:t>Vor-Ort-Bestandsaufnahme der Hardware und rechtliche Grenzen für Zugangsaktionen.</a:t>
                      </a:r>
                    </a:p>
                  </a:txBody>
                  <a:tcPr marL="73152" marR="73152" marT="36576" marB="36576" anchor="ctr">
                    <a:solidFill>
                      <a:srgbClr val="F1F5F4"/>
                    </a:solidFill>
                  </a:tcPr>
                </a:tc>
                <a:extLst>
                  <a:ext uri="{0D108BD9-81ED-4DB2-BD59-A6C34878D82A}">
                    <a16:rowId xmlns:a16="http://schemas.microsoft.com/office/drawing/2014/main" val="10004"/>
                  </a:ext>
                </a:extLst>
              </a:tr>
              <a:tr h="365760">
                <a:tc>
                  <a:txBody>
                    <a:bodyPr/>
                    <a:lstStyle/>
                    <a:p>
                      <a:r>
                        <a:rPr sz="1000" b="1" i="0">
                          <a:solidFill>
                            <a:srgbClr val="101820"/>
                          </a:solidFill>
                          <a:latin typeface="Aptos"/>
                        </a:rPr>
                        <a:t>Identitätsprüfung</a:t>
                      </a:r>
                    </a:p>
                  </a:txBody>
                  <a:tcPr marL="73152" marR="73152" marT="36576" marB="36576" anchor="ctr">
                    <a:solidFill>
                      <a:srgbClr val="FFFFFF"/>
                    </a:solidFill>
                  </a:tcPr>
                </a:tc>
                <a:tc>
                  <a:txBody>
                    <a:bodyPr/>
                    <a:lstStyle/>
                    <a:p>
                      <a:r>
                        <a:rPr sz="1000" b="0" i="0">
                          <a:solidFill>
                            <a:srgbClr val="33413D"/>
                          </a:solidFill>
                          <a:latin typeface="Aptos"/>
                        </a:rPr>
                        <a:t>Auswahl eines Prüfdienstes für die Verifizierung bei Owner-/Tenant-Registrierung.</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r>
                        <a:rPr sz="1000" b="1" i="0">
                          <a:solidFill>
                            <a:srgbClr val="101820"/>
                          </a:solidFill>
                          <a:latin typeface="Aptos"/>
                        </a:rPr>
                        <a:t>Rechtliche Bestätigungen</a:t>
                      </a:r>
                    </a:p>
                  </a:txBody>
                  <a:tcPr marL="73152" marR="73152" marT="36576" marB="36576" anchor="ctr">
                    <a:solidFill>
                      <a:srgbClr val="F1F5F4"/>
                    </a:solidFill>
                  </a:tcPr>
                </a:tc>
                <a:tc>
                  <a:txBody>
                    <a:bodyPr/>
                    <a:lstStyle/>
                    <a:p>
                      <a:r>
                        <a:rPr sz="1000" b="0" i="0">
                          <a:solidFill>
                            <a:srgbClr val="33413D"/>
                          </a:solidFill>
                          <a:latin typeface="Aptos"/>
                        </a:rPr>
                        <a:t>Fachliche Freigabe zu Schuldner-Restriktionen, Kautionen und Meldepflichten.</a:t>
                      </a:r>
                    </a:p>
                  </a:txBody>
                  <a:tcPr marL="73152" marR="73152" marT="36576" marB="36576" anchor="ctr">
                    <a:solidFill>
                      <a:srgbClr val="F1F5F4"/>
                    </a:solidFill>
                  </a:tcPr>
                </a:tc>
                <a:extLst>
                  <a:ext uri="{0D108BD9-81ED-4DB2-BD59-A6C34878D82A}">
                    <a16:rowId xmlns:a16="http://schemas.microsoft.com/office/drawing/2014/main" val="10006"/>
                  </a:ext>
                </a:extLst>
              </a:tr>
              <a:tr h="365760">
                <a:tc>
                  <a:txBody>
                    <a:bodyPr/>
                    <a:lstStyle/>
                    <a:p>
                      <a:r>
                        <a:rPr sz="1000" b="1" i="0">
                          <a:solidFill>
                            <a:srgbClr val="101820"/>
                          </a:solidFill>
                          <a:latin typeface="Aptos"/>
                        </a:rPr>
                        <a:t>Abnahmetest (UAT)</a:t>
                      </a:r>
                    </a:p>
                  </a:txBody>
                  <a:tcPr marL="73152" marR="73152" marT="36576" marB="36576" anchor="ctr">
                    <a:solidFill>
                      <a:srgbClr val="FFFFFF"/>
                    </a:solidFill>
                  </a:tcPr>
                </a:tc>
                <a:tc>
                  <a:txBody>
                    <a:bodyPr/>
                    <a:lstStyle/>
                    <a:p>
                      <a:r>
                        <a:rPr sz="1000" b="0" i="0">
                          <a:solidFill>
                            <a:srgbClr val="33413D"/>
                          </a:solidFill>
                          <a:latin typeface="Aptos"/>
                        </a:rPr>
                        <a:t>Gemeinsamer Test mit echten Daten und formale Abnahme vor dem Livegang.</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11" name="Rounded Rectangle 10"/>
          <p:cNvSpPr/>
          <p:nvPr/>
        </p:nvSpPr>
        <p:spPr>
          <a:xfrm>
            <a:off x="640080" y="5806440"/>
            <a:ext cx="10881360" cy="4572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5806440"/>
            <a:ext cx="54864" cy="45720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5934456"/>
            <a:ext cx="10469880" cy="201168"/>
          </a:xfrm>
          <a:prstGeom prst="rect">
            <a:avLst/>
          </a:prstGeom>
          <a:noFill/>
        </p:spPr>
        <p:txBody>
          <a:bodyPr wrap="square" lIns="0" tIns="0" rIns="0" bIns="0" anchor="ctr">
            <a:spAutoFit/>
          </a:bodyPr>
          <a:lstStyle/>
          <a:p>
            <a:r>
              <a:rPr sz="1250" b="1" i="0">
                <a:solidFill>
                  <a:srgbClr val="044F49"/>
                </a:solidFill>
                <a:latin typeface="Aptos"/>
              </a:rPr>
              <a:t>Empfehlung.  </a:t>
            </a:r>
            <a:r>
              <a:rPr sz="1150" b="0" i="0">
                <a:solidFill>
                  <a:srgbClr val="33413D"/>
                </a:solidFill>
                <a:latin typeface="Aptos"/>
              </a:rPr>
              <a:t>Schritt 1 zuerst (größter Effekt, geringster Aufwand); Reservierungs-Erfassung vorziehen; Schritt 3 unabhängig parallel anstoßen.</a:t>
            </a:r>
          </a:p>
        </p:txBody>
      </p:sp>
      <p:sp>
        <p:nvSpPr>
          <p:cNvPr id="14" name="TextBox 1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5" name="TextBox 1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28</a:t>
            </a:r>
          </a:p>
        </p:txBody>
      </p:sp>
      <p:pic>
        <p:nvPicPr>
          <p:cNvPr id="16" name="Picture 1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10</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Umsetzungsplan &amp; Fahrplan</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554480"/>
          <a:ext cx="10881359" cy="2938272"/>
        </p:xfrm>
        <a:graphic>
          <a:graphicData uri="http://schemas.openxmlformats.org/drawingml/2006/table">
            <a:tbl>
              <a:tblPr>
                <a:tableStyleId>{5C22544A-7EE6-4342-B048-85BDC9FD1C3A}</a:tableStyleId>
              </a:tblPr>
              <a:tblGrid>
                <a:gridCol w="3046780">
                  <a:extLst>
                    <a:ext uri="{9D8B030D-6E8A-4147-A177-3AD203B41FA5}">
                      <a16:colId xmlns:a16="http://schemas.microsoft.com/office/drawing/2014/main" val="20000"/>
                    </a:ext>
                  </a:extLst>
                </a:gridCol>
                <a:gridCol w="5658307">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Ausbaustufe</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Inhalt</a:t>
                      </a:r>
                    </a:p>
                  </a:txBody>
                  <a:tcPr marL="73152" marR="73152" marT="36576" marB="36576" anchor="ctr">
                    <a:solidFill>
                      <a:srgbClr val="066B63"/>
                    </a:solidFill>
                  </a:tcPr>
                </a:tc>
                <a:tc>
                  <a:txBody>
                    <a:bodyPr/>
                    <a:lstStyle/>
                    <a:p>
                      <a:r>
                        <a:rPr sz="1050" b="1" i="0">
                          <a:solidFill>
                            <a:srgbClr val="FFFFFF"/>
                          </a:solidFill>
                          <a:latin typeface="Aptos"/>
                        </a:rPr>
                        <a:t>Stand</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00" b="1" i="0">
                          <a:solidFill>
                            <a:srgbClr val="101820"/>
                          </a:solidFill>
                          <a:latin typeface="Aptos"/>
                        </a:rPr>
                        <a:t>Fundament (Betrieb, Finanzen, Service)</a:t>
                      </a:r>
                    </a:p>
                  </a:txBody>
                  <a:tcPr marL="73152" marR="73152" marT="36576" marB="36576" anchor="ctr">
                    <a:solidFill>
                      <a:srgbClr val="FFFFFF"/>
                    </a:solidFill>
                  </a:tcPr>
                </a:tc>
                <a:tc>
                  <a:txBody>
                    <a:bodyPr/>
                    <a:lstStyle/>
                    <a:p>
                      <a:r>
                        <a:rPr sz="1000" b="0" i="0">
                          <a:solidFill>
                            <a:srgbClr val="33413D"/>
                          </a:solidFill>
                          <a:latin typeface="Aptos"/>
                        </a:rPr>
                        <a:t>Zugang &amp; Rollen, Portfolio, Nutzerverwaltung, Finanzen, Zahlungs-/Schuldnerkontrollen, Service-Katalog, Aufgaben/SLA.</a:t>
                      </a:r>
                    </a:p>
                  </a:txBody>
                  <a:tcPr marL="73152" marR="73152" marT="36576" marB="36576" anchor="ctr">
                    <a:solidFill>
                      <a:srgbClr val="FFFFFF"/>
                    </a:solidFill>
                  </a:tcPr>
                </a:tc>
                <a:tc>
                  <a:txBody>
                    <a:bodyPr/>
                    <a:lstStyle/>
                    <a:p>
                      <a:pPr algn="ctr"/>
                      <a:r>
                        <a:rPr sz="950" b="1" i="0">
                          <a:solidFill>
                            <a:srgbClr val="044F49"/>
                          </a:solidFill>
                          <a:latin typeface="Aptos"/>
                        </a:rPr>
                        <a:t>Fertiggestellt (Demo)</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00" b="1" i="0" dirty="0">
                          <a:solidFill>
                            <a:srgbClr val="101820"/>
                          </a:solidFill>
                          <a:latin typeface="Aptos"/>
                        </a:rPr>
                        <a:t>New Level Premium </a:t>
                      </a:r>
                      <a:r>
                        <a:rPr lang="de-DE" sz="1000" b="1" i="0" dirty="0">
                          <a:solidFill>
                            <a:srgbClr val="101820"/>
                          </a:solidFill>
                          <a:latin typeface="Aptos"/>
                        </a:rPr>
                        <a:t>-</a:t>
                      </a:r>
                      <a:r>
                        <a:rPr sz="1000" b="1" i="0" dirty="0">
                          <a:solidFill>
                            <a:srgbClr val="101820"/>
                          </a:solidFill>
                          <a:latin typeface="Aptos"/>
                        </a:rPr>
                        <a:t> </a:t>
                      </a:r>
                      <a:r>
                        <a:rPr sz="1000" b="1" i="0" dirty="0" err="1">
                          <a:solidFill>
                            <a:srgbClr val="101820"/>
                          </a:solidFill>
                          <a:latin typeface="Aptos"/>
                        </a:rPr>
                        <a:t>öffentl</a:t>
                      </a:r>
                      <a:r>
                        <a:rPr sz="1000" b="1" i="0" dirty="0">
                          <a:solidFill>
                            <a:srgbClr val="101820"/>
                          </a:solidFill>
                          <a:latin typeface="Aptos"/>
                        </a:rPr>
                        <a:t>. </a:t>
                      </a:r>
                      <a:r>
                        <a:rPr sz="1000" b="1" i="0" dirty="0" err="1">
                          <a:solidFill>
                            <a:srgbClr val="101820"/>
                          </a:solidFill>
                          <a:latin typeface="Aptos"/>
                        </a:rPr>
                        <a:t>Bereich</a:t>
                      </a:r>
                      <a:endParaRPr sz="1000" b="1" i="0" dirty="0">
                        <a:solidFill>
                          <a:srgbClr val="101820"/>
                        </a:solidFill>
                        <a:latin typeface="Aptos"/>
                      </a:endParaRPr>
                    </a:p>
                  </a:txBody>
                  <a:tcPr marL="73152" marR="73152" marT="36576" marB="36576" anchor="ctr">
                    <a:solidFill>
                      <a:srgbClr val="F1F5F4"/>
                    </a:solidFill>
                  </a:tcPr>
                </a:tc>
                <a:tc>
                  <a:txBody>
                    <a:bodyPr/>
                    <a:lstStyle/>
                    <a:p>
                      <a:r>
                        <a:rPr sz="1000" b="0" i="0">
                          <a:solidFill>
                            <a:srgbClr val="33413D"/>
                          </a:solidFill>
                          <a:latin typeface="Aptos"/>
                        </a:rPr>
                        <a:t>Landingpage, Registrierung, Meldekanal, Identitätsprüfung, Zeitzugang, öffentlicher Concierge.</a:t>
                      </a:r>
                    </a:p>
                  </a:txBody>
                  <a:tcPr marL="73152" marR="73152" marT="36576" marB="36576" anchor="ctr">
                    <a:solidFill>
                      <a:srgbClr val="F1F5F4"/>
                    </a:solidFill>
                  </a:tcPr>
                </a:tc>
                <a:tc>
                  <a:txBody>
                    <a:bodyPr/>
                    <a:lstStyle/>
                    <a:p>
                      <a:pPr algn="ctr"/>
                      <a:r>
                        <a:rPr sz="950" b="1" i="0">
                          <a:solidFill>
                            <a:srgbClr val="044F49"/>
                          </a:solidFill>
                          <a:latin typeface="Aptos"/>
                        </a:rPr>
                        <a:t>Fertiggestellt (Demo)</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00" b="1" i="0">
                          <a:solidFill>
                            <a:srgbClr val="101820"/>
                          </a:solidFill>
                          <a:latin typeface="Aptos"/>
                        </a:rPr>
                        <a:t>Reservierung, Kommunikation &amp; Dokumente</a:t>
                      </a:r>
                    </a:p>
                  </a:txBody>
                  <a:tcPr marL="73152" marR="73152" marT="36576" marB="36576" anchor="ctr">
                    <a:solidFill>
                      <a:srgbClr val="FFFFFF"/>
                    </a:solidFill>
                  </a:tcPr>
                </a:tc>
                <a:tc>
                  <a:txBody>
                    <a:bodyPr/>
                    <a:lstStyle/>
                    <a:p>
                      <a:r>
                        <a:rPr sz="1000" b="0" i="0">
                          <a:solidFill>
                            <a:srgbClr val="33413D"/>
                          </a:solidFill>
                          <a:latin typeface="Aptos"/>
                        </a:rPr>
                        <a:t>Buchung/Move-in/Checkout, Nachrichten &amp; Vorlagen, Dokumentenverwaltung.</a:t>
                      </a:r>
                    </a:p>
                  </a:txBody>
                  <a:tcPr marL="73152" marR="73152" marT="36576" marB="36576" anchor="ctr">
                    <a:solidFill>
                      <a:srgbClr val="FFFFFF"/>
                    </a:solidFill>
                  </a:tcPr>
                </a:tc>
                <a:tc>
                  <a:txBody>
                    <a:bodyPr/>
                    <a:lstStyle/>
                    <a:p>
                      <a:pPr algn="ctr"/>
                      <a:r>
                        <a:rPr sz="950" b="1" i="0">
                          <a:solidFill>
                            <a:srgbClr val="7A5410"/>
                          </a:solidFill>
                          <a:latin typeface="Aptos"/>
                        </a:rPr>
                        <a:t>Demo verfügbar, Ausbau</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00" b="1" i="0">
                          <a:solidFill>
                            <a:srgbClr val="101820"/>
                          </a:solidFill>
                          <a:latin typeface="Aptos"/>
                        </a:rPr>
                        <a:t>Mobile &amp; installierbare Nutzung</a:t>
                      </a:r>
                    </a:p>
                  </a:txBody>
                  <a:tcPr marL="73152" marR="73152" marT="36576" marB="36576" anchor="ctr">
                    <a:solidFill>
                      <a:srgbClr val="F1F5F4"/>
                    </a:solidFill>
                  </a:tcPr>
                </a:tc>
                <a:tc>
                  <a:txBody>
                    <a:bodyPr/>
                    <a:lstStyle/>
                    <a:p>
                      <a:r>
                        <a:rPr sz="1000" b="0" i="0">
                          <a:solidFill>
                            <a:srgbClr val="33413D"/>
                          </a:solidFill>
                          <a:latin typeface="Aptos"/>
                        </a:rPr>
                        <a:t>Installierbare Web-App bereits nutzbar; Offline-Synchronisation und Push im Ausbau.</a:t>
                      </a:r>
                    </a:p>
                  </a:txBody>
                  <a:tcPr marL="73152" marR="73152" marT="36576" marB="36576" anchor="ctr">
                    <a:solidFill>
                      <a:srgbClr val="F1F5F4"/>
                    </a:solidFill>
                  </a:tcPr>
                </a:tc>
                <a:tc>
                  <a:txBody>
                    <a:bodyPr/>
                    <a:lstStyle/>
                    <a:p>
                      <a:pPr algn="ctr"/>
                      <a:r>
                        <a:rPr sz="950" b="1" i="0">
                          <a:solidFill>
                            <a:srgbClr val="7A5410"/>
                          </a:solidFill>
                          <a:latin typeface="Aptos"/>
                        </a:rPr>
                        <a:t>Teilweise live</a:t>
                      </a:r>
                    </a:p>
                  </a:txBody>
                  <a:tcPr marL="73152" marR="73152" marT="36576" marB="36576" anchor="ctr">
                    <a:solidFill>
                      <a:srgbClr val="F4EBDD"/>
                    </a:solidFill>
                  </a:tcPr>
                </a:tc>
                <a:extLst>
                  <a:ext uri="{0D108BD9-81ED-4DB2-BD59-A6C34878D82A}">
                    <a16:rowId xmlns:a16="http://schemas.microsoft.com/office/drawing/2014/main" val="10004"/>
                  </a:ext>
                </a:extLst>
              </a:tr>
              <a:tr h="365760">
                <a:tc>
                  <a:txBody>
                    <a:bodyPr/>
                    <a:lstStyle/>
                    <a:p>
                      <a:r>
                        <a:rPr sz="1000" b="1" i="0">
                          <a:solidFill>
                            <a:srgbClr val="101820"/>
                          </a:solidFill>
                          <a:latin typeface="Aptos"/>
                        </a:rPr>
                        <a:t>Externe Integrationen</a:t>
                      </a:r>
                    </a:p>
                  </a:txBody>
                  <a:tcPr marL="73152" marR="73152" marT="36576" marB="36576" anchor="ctr">
                    <a:solidFill>
                      <a:srgbClr val="FFFFFF"/>
                    </a:solidFill>
                  </a:tcPr>
                </a:tc>
                <a:tc>
                  <a:txBody>
                    <a:bodyPr/>
                    <a:lstStyle/>
                    <a:p>
                      <a:r>
                        <a:rPr sz="1000" b="0" i="0">
                          <a:solidFill>
                            <a:srgbClr val="33413D"/>
                          </a:solidFill>
                          <a:latin typeface="Aptos"/>
                        </a:rPr>
                        <a:t>Zahlungs-, Bank-, Kommunikations- und Zugangsanbindung.</a:t>
                      </a:r>
                    </a:p>
                  </a:txBody>
                  <a:tcPr marL="73152" marR="73152" marT="36576" marB="36576" anchor="ctr">
                    <a:solidFill>
                      <a:srgbClr val="FFFFFF"/>
                    </a:solidFill>
                  </a:tcPr>
                </a:tc>
                <a:tc>
                  <a:txBody>
                    <a:bodyPr/>
                    <a:lstStyle/>
                    <a:p>
                      <a:pPr algn="ctr"/>
                      <a:r>
                        <a:rPr sz="950" b="1" i="0">
                          <a:solidFill>
                            <a:srgbClr val="4B5652"/>
                          </a:solidFill>
                          <a:latin typeface="Aptos"/>
                        </a:rPr>
                        <a:t>Vorbereitet, Anbieterwahl offen</a:t>
                      </a:r>
                    </a:p>
                  </a:txBody>
                  <a:tcPr marL="73152" marR="73152" marT="36576" marB="36576" anchor="ctr">
                    <a:solidFill>
                      <a:srgbClr val="EAECEB"/>
                    </a:solidFill>
                  </a:tcPr>
                </a:tc>
                <a:extLst>
                  <a:ext uri="{0D108BD9-81ED-4DB2-BD59-A6C34878D82A}">
                    <a16:rowId xmlns:a16="http://schemas.microsoft.com/office/drawing/2014/main" val="10005"/>
                  </a:ext>
                </a:extLst>
              </a:tr>
              <a:tr h="365760">
                <a:tc>
                  <a:txBody>
                    <a:bodyPr/>
                    <a:lstStyle/>
                    <a:p>
                      <a:r>
                        <a:rPr sz="1000" b="1" i="0">
                          <a:solidFill>
                            <a:srgbClr val="101820"/>
                          </a:solidFill>
                          <a:latin typeface="Aptos"/>
                        </a:rPr>
                        <a:t>KI-Premium-Ebene</a:t>
                      </a:r>
                    </a:p>
                  </a:txBody>
                  <a:tcPr marL="73152" marR="73152" marT="36576" marB="36576" anchor="ctr">
                    <a:solidFill>
                      <a:srgbClr val="F1F5F4"/>
                    </a:solidFill>
                  </a:tcPr>
                </a:tc>
                <a:tc>
                  <a:txBody>
                    <a:bodyPr/>
                    <a:lstStyle/>
                    <a:p>
                      <a:r>
                        <a:rPr sz="1000" b="0" i="0">
                          <a:solidFill>
                            <a:srgbClr val="33413D"/>
                          </a:solidFill>
                          <a:latin typeface="Aptos"/>
                        </a:rPr>
                        <a:t>Erweiterte Analysen, Prognosen und Berichtsentwürfe.</a:t>
                      </a:r>
                    </a:p>
                  </a:txBody>
                  <a:tcPr marL="73152" marR="73152" marT="36576" marB="36576" anchor="ctr">
                    <a:solidFill>
                      <a:srgbClr val="F1F5F4"/>
                    </a:solidFill>
                  </a:tcPr>
                </a:tc>
                <a:tc>
                  <a:txBody>
                    <a:bodyPr/>
                    <a:lstStyle/>
                    <a:p>
                      <a:pPr algn="ctr"/>
                      <a:r>
                        <a:rPr sz="950" b="1" i="0">
                          <a:solidFill>
                            <a:srgbClr val="4B5652"/>
                          </a:solidFill>
                          <a:latin typeface="Aptos"/>
                        </a:rPr>
                        <a:t>Vorschau vorhanden</a:t>
                      </a:r>
                    </a:p>
                  </a:txBody>
                  <a:tcPr marL="73152" marR="73152" marT="36576" marB="36576" anchor="ctr">
                    <a:solidFill>
                      <a:srgbClr val="EAECEB"/>
                    </a:solidFill>
                  </a:tcPr>
                </a:tc>
                <a:extLst>
                  <a:ext uri="{0D108BD9-81ED-4DB2-BD59-A6C34878D82A}">
                    <a16:rowId xmlns:a16="http://schemas.microsoft.com/office/drawing/2014/main" val="10006"/>
                  </a:ext>
                </a:extLst>
              </a:tr>
              <a:tr h="365760">
                <a:tc>
                  <a:txBody>
                    <a:bodyPr/>
                    <a:lstStyle/>
                    <a:p>
                      <a:r>
                        <a:rPr sz="1000" b="1" i="0">
                          <a:solidFill>
                            <a:srgbClr val="101820"/>
                          </a:solidFill>
                          <a:latin typeface="Aptos"/>
                        </a:rPr>
                        <a:t>Abnahme &amp; Launch</a:t>
                      </a:r>
                    </a:p>
                  </a:txBody>
                  <a:tcPr marL="73152" marR="73152" marT="36576" marB="36576" anchor="ctr">
                    <a:solidFill>
                      <a:srgbClr val="FFFFFF"/>
                    </a:solidFill>
                  </a:tcPr>
                </a:tc>
                <a:tc>
                  <a:txBody>
                    <a:bodyPr/>
                    <a:lstStyle/>
                    <a:p>
                      <a:r>
                        <a:rPr sz="1000" b="0" i="0">
                          <a:solidFill>
                            <a:srgbClr val="33413D"/>
                          </a:solidFill>
                          <a:latin typeface="Aptos"/>
                        </a:rPr>
                        <a:t>Sicherheitsprüfung, Abnahmetest mit echten Daten, Schulung, Produktivstart.</a:t>
                      </a:r>
                    </a:p>
                  </a:txBody>
                  <a:tcPr marL="73152" marR="73152" marT="36576" marB="36576" anchor="ctr">
                    <a:solidFill>
                      <a:srgbClr val="FFFFFF"/>
                    </a:solidFill>
                  </a:tcPr>
                </a:tc>
                <a:tc>
                  <a:txBody>
                    <a:bodyPr/>
                    <a:lstStyle/>
                    <a:p>
                      <a:pPr algn="ctr"/>
                      <a:r>
                        <a:rPr sz="950" b="1" i="0">
                          <a:solidFill>
                            <a:srgbClr val="4B5652"/>
                          </a:solidFill>
                          <a:latin typeface="Aptos"/>
                        </a:rPr>
                        <a:t>Geplant</a:t>
                      </a:r>
                    </a:p>
                  </a:txBody>
                  <a:tcPr marL="73152" marR="73152" marT="36576" marB="36576" anchor="ctr">
                    <a:solidFill>
                      <a:srgbClr val="EAECEB"/>
                    </a:solidFill>
                  </a:tcPr>
                </a:tc>
                <a:extLst>
                  <a:ext uri="{0D108BD9-81ED-4DB2-BD59-A6C34878D82A}">
                    <a16:rowId xmlns:a16="http://schemas.microsoft.com/office/drawing/2014/main" val="10007"/>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29</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10 · UMSETZUNGSPLAN</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Realistische Einordnung</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2011680"/>
            <a:ext cx="10881360" cy="22860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011680"/>
            <a:ext cx="54864" cy="228600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793042"/>
            <a:ext cx="10469880" cy="723275"/>
          </a:xfrm>
          <a:prstGeom prst="rect">
            <a:avLst/>
          </a:prstGeom>
          <a:noFill/>
        </p:spPr>
        <p:txBody>
          <a:bodyPr wrap="square" lIns="0" tIns="0" rIns="0" bIns="0" anchor="ctr">
            <a:spAutoFit/>
          </a:bodyPr>
          <a:lstStyle/>
          <a:p>
            <a:r>
              <a:rPr sz="1250" b="1" i="0" dirty="0">
                <a:solidFill>
                  <a:srgbClr val="044F49"/>
                </a:solidFill>
                <a:latin typeface="Aptos"/>
              </a:rPr>
              <a:t>Ein </a:t>
            </a:r>
            <a:r>
              <a:rPr sz="1250" b="1" i="0" dirty="0" err="1">
                <a:solidFill>
                  <a:srgbClr val="044F49"/>
                </a:solidFill>
                <a:latin typeface="Aptos"/>
              </a:rPr>
              <a:t>funktionsfähiges</a:t>
            </a:r>
            <a:r>
              <a:rPr sz="1250" b="1" i="0" dirty="0">
                <a:solidFill>
                  <a:srgbClr val="044F49"/>
                </a:solidFill>
                <a:latin typeface="Aptos"/>
              </a:rPr>
              <a:t> </a:t>
            </a:r>
            <a:r>
              <a:rPr sz="1250" b="1" i="0" dirty="0" err="1">
                <a:solidFill>
                  <a:srgbClr val="044F49"/>
                </a:solidFill>
                <a:latin typeface="Aptos"/>
              </a:rPr>
              <a:t>Gesamtsystem</a:t>
            </a:r>
            <a:r>
              <a:rPr sz="1250" b="1" i="0" dirty="0">
                <a:solidFill>
                  <a:srgbClr val="044F49"/>
                </a:solidFill>
                <a:latin typeface="Aptos"/>
              </a:rPr>
              <a:t> </a:t>
            </a:r>
            <a:r>
              <a:rPr lang="de-DE" sz="1250" b="1" i="0" dirty="0">
                <a:solidFill>
                  <a:srgbClr val="044F49"/>
                </a:solidFill>
                <a:latin typeface="Aptos"/>
              </a:rPr>
              <a:t>-</a:t>
            </a:r>
            <a:r>
              <a:rPr sz="1250" b="1" i="0" dirty="0">
                <a:solidFill>
                  <a:srgbClr val="044F49"/>
                </a:solidFill>
                <a:latin typeface="Aptos"/>
              </a:rPr>
              <a:t> </a:t>
            </a:r>
            <a:r>
              <a:rPr sz="1250" b="1" i="0" dirty="0" err="1">
                <a:solidFill>
                  <a:srgbClr val="044F49"/>
                </a:solidFill>
                <a:latin typeface="Aptos"/>
              </a:rPr>
              <a:t>noch</a:t>
            </a:r>
            <a:r>
              <a:rPr sz="1250" b="1" i="0" dirty="0">
                <a:solidFill>
                  <a:srgbClr val="044F49"/>
                </a:solidFill>
                <a:latin typeface="Aptos"/>
              </a:rPr>
              <a:t> </a:t>
            </a:r>
            <a:r>
              <a:rPr sz="1250" b="1" i="0" dirty="0" err="1">
                <a:solidFill>
                  <a:srgbClr val="044F49"/>
                </a:solidFill>
                <a:latin typeface="Aptos"/>
              </a:rPr>
              <a:t>kein</a:t>
            </a:r>
            <a:r>
              <a:rPr sz="1250" b="1" i="0" dirty="0">
                <a:solidFill>
                  <a:srgbClr val="044F49"/>
                </a:solidFill>
                <a:latin typeface="Aptos"/>
              </a:rPr>
              <a:t> </a:t>
            </a:r>
            <a:r>
              <a:rPr sz="1250" b="1" i="0" dirty="0" err="1">
                <a:solidFill>
                  <a:srgbClr val="044F49"/>
                </a:solidFill>
                <a:latin typeface="Aptos"/>
              </a:rPr>
              <a:t>produktiv</a:t>
            </a:r>
            <a:r>
              <a:rPr sz="1250" b="1" i="0" dirty="0">
                <a:solidFill>
                  <a:srgbClr val="044F49"/>
                </a:solidFill>
                <a:latin typeface="Aptos"/>
              </a:rPr>
              <a:t> </a:t>
            </a:r>
            <a:r>
              <a:rPr sz="1250" b="1" i="0" dirty="0" err="1">
                <a:solidFill>
                  <a:srgbClr val="044F49"/>
                </a:solidFill>
                <a:latin typeface="Aptos"/>
              </a:rPr>
              <a:t>freigegebenes</a:t>
            </a:r>
            <a:r>
              <a:rPr sz="1250" b="1" i="0" dirty="0">
                <a:solidFill>
                  <a:srgbClr val="044F49"/>
                </a:solidFill>
                <a:latin typeface="Aptos"/>
              </a:rPr>
              <a:t> </a:t>
            </a:r>
            <a:r>
              <a:rPr sz="1250" b="1" i="0" dirty="0" err="1">
                <a:solidFill>
                  <a:srgbClr val="044F49"/>
                </a:solidFill>
                <a:latin typeface="Aptos"/>
              </a:rPr>
              <a:t>Endprodukt</a:t>
            </a:r>
            <a:r>
              <a:rPr sz="1250" b="1" i="0" dirty="0">
                <a:solidFill>
                  <a:srgbClr val="044F49"/>
                </a:solidFill>
                <a:latin typeface="Aptos"/>
              </a:rPr>
              <a:t>.  </a:t>
            </a:r>
            <a:r>
              <a:rPr sz="1150" b="0" i="0" dirty="0">
                <a:solidFill>
                  <a:srgbClr val="33413D"/>
                </a:solidFill>
                <a:latin typeface="Aptos"/>
              </a:rPr>
              <a:t>Der </a:t>
            </a:r>
            <a:r>
              <a:rPr sz="1150" b="0" i="0" dirty="0" err="1">
                <a:solidFill>
                  <a:srgbClr val="33413D"/>
                </a:solidFill>
                <a:latin typeface="Aptos"/>
              </a:rPr>
              <a:t>aktuelle</a:t>
            </a:r>
            <a:r>
              <a:rPr sz="1150" b="0" i="0" dirty="0">
                <a:solidFill>
                  <a:srgbClr val="33413D"/>
                </a:solidFill>
                <a:latin typeface="Aptos"/>
              </a:rPr>
              <a:t> Stand </a:t>
            </a:r>
            <a:r>
              <a:rPr sz="1150" b="0" i="0" dirty="0" err="1">
                <a:solidFill>
                  <a:srgbClr val="33413D"/>
                </a:solidFill>
                <a:latin typeface="Aptos"/>
              </a:rPr>
              <a:t>ist</a:t>
            </a:r>
            <a:r>
              <a:rPr sz="1150" b="0" i="0" dirty="0">
                <a:solidFill>
                  <a:srgbClr val="33413D"/>
                </a:solidFill>
                <a:latin typeface="Aptos"/>
              </a:rPr>
              <a:t> </a:t>
            </a:r>
            <a:r>
              <a:rPr sz="1150" b="0" i="0" dirty="0" err="1">
                <a:solidFill>
                  <a:srgbClr val="33413D"/>
                </a:solidFill>
                <a:latin typeface="Aptos"/>
              </a:rPr>
              <a:t>ein</a:t>
            </a:r>
            <a:r>
              <a:rPr sz="1150" b="0" i="0" dirty="0">
                <a:solidFill>
                  <a:srgbClr val="33413D"/>
                </a:solidFill>
                <a:latin typeface="Aptos"/>
              </a:rPr>
              <a:t> </a:t>
            </a:r>
            <a:r>
              <a:rPr sz="1150" b="0" i="0" dirty="0" err="1">
                <a:solidFill>
                  <a:srgbClr val="33413D"/>
                </a:solidFill>
                <a:latin typeface="Aptos"/>
              </a:rPr>
              <a:t>mit</a:t>
            </a:r>
            <a:r>
              <a:rPr sz="1150" b="0" i="0" dirty="0">
                <a:solidFill>
                  <a:srgbClr val="33413D"/>
                </a:solidFill>
                <a:latin typeface="Aptos"/>
              </a:rPr>
              <a:t> </a:t>
            </a:r>
            <a:r>
              <a:rPr sz="1150" b="0" i="0" dirty="0" err="1">
                <a:solidFill>
                  <a:srgbClr val="33413D"/>
                </a:solidFill>
                <a:latin typeface="Aptos"/>
              </a:rPr>
              <a:t>realistischen</a:t>
            </a:r>
            <a:r>
              <a:rPr sz="1150" b="0" i="0" dirty="0">
                <a:solidFill>
                  <a:srgbClr val="33413D"/>
                </a:solidFill>
                <a:latin typeface="Aptos"/>
              </a:rPr>
              <a:t> </a:t>
            </a:r>
            <a:r>
              <a:rPr sz="1150" b="0" i="0" dirty="0" err="1">
                <a:solidFill>
                  <a:srgbClr val="33413D"/>
                </a:solidFill>
                <a:latin typeface="Aptos"/>
              </a:rPr>
              <a:t>Daten</a:t>
            </a:r>
            <a:r>
              <a:rPr sz="1150" b="0" i="0" dirty="0">
                <a:solidFill>
                  <a:srgbClr val="33413D"/>
                </a:solidFill>
                <a:latin typeface="Aptos"/>
              </a:rPr>
              <a:t> </a:t>
            </a:r>
            <a:r>
              <a:rPr sz="1150" b="0" i="0" dirty="0" err="1">
                <a:solidFill>
                  <a:srgbClr val="33413D"/>
                </a:solidFill>
                <a:latin typeface="Aptos"/>
              </a:rPr>
              <a:t>lauffähiges</a:t>
            </a:r>
            <a:r>
              <a:rPr sz="1150" b="0" i="0" dirty="0">
                <a:solidFill>
                  <a:srgbClr val="33413D"/>
                </a:solidFill>
                <a:latin typeface="Aptos"/>
              </a:rPr>
              <a:t> </a:t>
            </a:r>
            <a:r>
              <a:rPr sz="1150" b="0" i="0" dirty="0" err="1">
                <a:solidFill>
                  <a:srgbClr val="33413D"/>
                </a:solidFill>
                <a:latin typeface="Aptos"/>
              </a:rPr>
              <a:t>Gesamtsystem</a:t>
            </a:r>
            <a:r>
              <a:rPr sz="1150" b="0" i="0" dirty="0">
                <a:solidFill>
                  <a:srgbClr val="33413D"/>
                </a:solidFill>
                <a:latin typeface="Aptos"/>
              </a:rPr>
              <a:t> für </a:t>
            </a:r>
            <a:r>
              <a:rPr sz="1150" b="0" i="0" dirty="0" err="1">
                <a:solidFill>
                  <a:srgbClr val="33413D"/>
                </a:solidFill>
                <a:latin typeface="Aptos"/>
              </a:rPr>
              <a:t>Ihre</a:t>
            </a:r>
            <a:r>
              <a:rPr sz="1150" b="0" i="0" dirty="0">
                <a:solidFill>
                  <a:srgbClr val="33413D"/>
                </a:solidFill>
                <a:latin typeface="Aptos"/>
              </a:rPr>
              <a:t> </a:t>
            </a:r>
            <a:r>
              <a:rPr sz="1150" b="0" i="0" dirty="0" err="1">
                <a:solidFill>
                  <a:srgbClr val="33413D"/>
                </a:solidFill>
                <a:latin typeface="Aptos"/>
              </a:rPr>
              <a:t>Bewertung</a:t>
            </a:r>
            <a:r>
              <a:rPr sz="1150" b="0" i="0" dirty="0">
                <a:solidFill>
                  <a:srgbClr val="33413D"/>
                </a:solidFill>
                <a:latin typeface="Aptos"/>
              </a:rPr>
              <a:t>, </a:t>
            </a:r>
            <a:r>
              <a:rPr sz="1150" b="0" i="0" dirty="0" err="1">
                <a:solidFill>
                  <a:srgbClr val="33413D"/>
                </a:solidFill>
                <a:latin typeface="Aptos"/>
              </a:rPr>
              <a:t>Präsentationen</a:t>
            </a:r>
            <a:r>
              <a:rPr sz="1150" b="0" i="0" dirty="0">
                <a:solidFill>
                  <a:srgbClr val="33413D"/>
                </a:solidFill>
                <a:latin typeface="Aptos"/>
              </a:rPr>
              <a:t> und </a:t>
            </a:r>
            <a:r>
              <a:rPr sz="1150" b="0" i="0" dirty="0" err="1">
                <a:solidFill>
                  <a:srgbClr val="33413D"/>
                </a:solidFill>
                <a:latin typeface="Aptos"/>
              </a:rPr>
              <a:t>erste</a:t>
            </a:r>
            <a:r>
              <a:rPr sz="1150" b="0" i="0" dirty="0">
                <a:solidFill>
                  <a:srgbClr val="33413D"/>
                </a:solidFill>
                <a:latin typeface="Aptos"/>
              </a:rPr>
              <a:t> </a:t>
            </a:r>
            <a:r>
              <a:rPr sz="1150" b="0" i="0" dirty="0" err="1">
                <a:solidFill>
                  <a:srgbClr val="33413D"/>
                </a:solidFill>
                <a:latin typeface="Aptos"/>
              </a:rPr>
              <a:t>Rückmeldungen</a:t>
            </a:r>
            <a:r>
              <a:rPr sz="1150" b="0" i="0" dirty="0">
                <a:solidFill>
                  <a:srgbClr val="33413D"/>
                </a:solidFill>
                <a:latin typeface="Aptos"/>
              </a:rPr>
              <a:t>. </a:t>
            </a:r>
            <a:r>
              <a:rPr sz="1150" b="0" i="0" dirty="0" err="1">
                <a:solidFill>
                  <a:srgbClr val="33413D"/>
                </a:solidFill>
                <a:latin typeface="Aptos"/>
              </a:rPr>
              <a:t>Insbesondere</a:t>
            </a:r>
            <a:r>
              <a:rPr sz="1150" b="0" i="0" dirty="0">
                <a:solidFill>
                  <a:srgbClr val="33413D"/>
                </a:solidFill>
                <a:latin typeface="Aptos"/>
              </a:rPr>
              <a:t> </a:t>
            </a:r>
            <a:r>
              <a:rPr sz="1150" b="0" i="0" dirty="0" err="1">
                <a:solidFill>
                  <a:srgbClr val="33413D"/>
                </a:solidFill>
                <a:latin typeface="Aptos"/>
              </a:rPr>
              <a:t>Zahlungsabwicklung</a:t>
            </a:r>
            <a:r>
              <a:rPr sz="1150" b="0" i="0" dirty="0">
                <a:solidFill>
                  <a:srgbClr val="33413D"/>
                </a:solidFill>
                <a:latin typeface="Aptos"/>
              </a:rPr>
              <a:t>, </a:t>
            </a:r>
            <a:r>
              <a:rPr sz="1150" b="0" i="0" dirty="0" err="1">
                <a:solidFill>
                  <a:srgbClr val="33413D"/>
                </a:solidFill>
                <a:latin typeface="Aptos"/>
              </a:rPr>
              <a:t>Zugangskontrolle</a:t>
            </a:r>
            <a:r>
              <a:rPr sz="1150" b="0" i="0" dirty="0">
                <a:solidFill>
                  <a:srgbClr val="33413D"/>
                </a:solidFill>
                <a:latin typeface="Aptos"/>
              </a:rPr>
              <a:t>, </a:t>
            </a:r>
            <a:r>
              <a:rPr sz="1150" b="0" i="0" dirty="0" err="1">
                <a:solidFill>
                  <a:srgbClr val="33413D"/>
                </a:solidFill>
                <a:latin typeface="Aptos"/>
              </a:rPr>
              <a:t>Behördenmeldung</a:t>
            </a:r>
            <a:r>
              <a:rPr sz="1150" b="0" i="0" dirty="0">
                <a:solidFill>
                  <a:srgbClr val="33413D"/>
                </a:solidFill>
                <a:latin typeface="Aptos"/>
              </a:rPr>
              <a:t> und </a:t>
            </a:r>
            <a:r>
              <a:rPr sz="1150" b="0" i="0" dirty="0" err="1">
                <a:solidFill>
                  <a:srgbClr val="33413D"/>
                </a:solidFill>
                <a:latin typeface="Aptos"/>
              </a:rPr>
              <a:t>jede</a:t>
            </a:r>
            <a:r>
              <a:rPr sz="1150" b="0" i="0" dirty="0">
                <a:solidFill>
                  <a:srgbClr val="33413D"/>
                </a:solidFill>
                <a:latin typeface="Aptos"/>
              </a:rPr>
              <a:t> Form von KI-</a:t>
            </a:r>
            <a:r>
              <a:rPr sz="1150" b="0" i="0" dirty="0" err="1">
                <a:solidFill>
                  <a:srgbClr val="33413D"/>
                </a:solidFill>
                <a:latin typeface="Aptos"/>
              </a:rPr>
              <a:t>Automatisierung</a:t>
            </a:r>
            <a:r>
              <a:rPr sz="1150" b="0" i="0" dirty="0">
                <a:solidFill>
                  <a:srgbClr val="33413D"/>
                </a:solidFill>
                <a:latin typeface="Aptos"/>
              </a:rPr>
              <a:t> </a:t>
            </a:r>
            <a:r>
              <a:rPr sz="1150" b="0" i="0" dirty="0" err="1">
                <a:solidFill>
                  <a:srgbClr val="33413D"/>
                </a:solidFill>
                <a:latin typeface="Aptos"/>
              </a:rPr>
              <a:t>starten</a:t>
            </a:r>
            <a:r>
              <a:rPr sz="1150" b="0" i="0" dirty="0">
                <a:solidFill>
                  <a:srgbClr val="33413D"/>
                </a:solidFill>
                <a:latin typeface="Aptos"/>
              </a:rPr>
              <a:t> </a:t>
            </a:r>
            <a:r>
              <a:rPr sz="1150" b="0" i="0" dirty="0" err="1">
                <a:solidFill>
                  <a:srgbClr val="33413D"/>
                </a:solidFill>
                <a:latin typeface="Aptos"/>
              </a:rPr>
              <a:t>bewusst</a:t>
            </a:r>
            <a:r>
              <a:rPr sz="1150" b="0" i="0" dirty="0">
                <a:solidFill>
                  <a:srgbClr val="33413D"/>
                </a:solidFill>
                <a:latin typeface="Aptos"/>
              </a:rPr>
              <a:t> </a:t>
            </a:r>
            <a:r>
              <a:rPr sz="1150" b="0" i="0" dirty="0" err="1">
                <a:solidFill>
                  <a:srgbClr val="33413D"/>
                </a:solidFill>
                <a:latin typeface="Aptos"/>
              </a:rPr>
              <a:t>mit</a:t>
            </a:r>
            <a:r>
              <a:rPr sz="1150" b="0" i="0" dirty="0">
                <a:solidFill>
                  <a:srgbClr val="33413D"/>
                </a:solidFill>
                <a:latin typeface="Aptos"/>
              </a:rPr>
              <a:t> </a:t>
            </a:r>
            <a:r>
              <a:rPr sz="1150" b="0" i="0" dirty="0" err="1">
                <a:solidFill>
                  <a:srgbClr val="33413D"/>
                </a:solidFill>
                <a:latin typeface="Aptos"/>
              </a:rPr>
              <a:t>menschlicher</a:t>
            </a:r>
            <a:r>
              <a:rPr sz="1150" b="0" i="0" dirty="0">
                <a:solidFill>
                  <a:srgbClr val="33413D"/>
                </a:solidFill>
                <a:latin typeface="Aptos"/>
              </a:rPr>
              <a:t> </a:t>
            </a:r>
            <a:r>
              <a:rPr sz="1150" b="0" i="0" dirty="0" err="1">
                <a:solidFill>
                  <a:srgbClr val="33413D"/>
                </a:solidFill>
                <a:latin typeface="Aptos"/>
              </a:rPr>
              <a:t>Freigabe</a:t>
            </a:r>
            <a:r>
              <a:rPr sz="1150" b="0" i="0" dirty="0">
                <a:solidFill>
                  <a:srgbClr val="33413D"/>
                </a:solidFill>
                <a:latin typeface="Aptos"/>
              </a:rPr>
              <a:t> </a:t>
            </a:r>
            <a:r>
              <a:rPr sz="1150" b="0" i="0" dirty="0" err="1">
                <a:solidFill>
                  <a:srgbClr val="33413D"/>
                </a:solidFill>
                <a:latin typeface="Aptos"/>
              </a:rPr>
              <a:t>bzw</a:t>
            </a:r>
            <a:r>
              <a:rPr sz="1150" b="0" i="0" dirty="0">
                <a:solidFill>
                  <a:srgbClr val="33413D"/>
                </a:solidFill>
                <a:latin typeface="Aptos"/>
              </a:rPr>
              <a:t>. </a:t>
            </a:r>
            <a:r>
              <a:rPr sz="1150" b="0" i="0" dirty="0" err="1">
                <a:solidFill>
                  <a:srgbClr val="33413D"/>
                </a:solidFill>
                <a:latin typeface="Aptos"/>
              </a:rPr>
              <a:t>reinem</a:t>
            </a:r>
            <a:r>
              <a:rPr sz="1150" b="0" i="0" dirty="0">
                <a:solidFill>
                  <a:srgbClr val="33413D"/>
                </a:solidFill>
                <a:latin typeface="Aptos"/>
              </a:rPr>
              <a:t> </a:t>
            </a:r>
            <a:r>
              <a:rPr sz="1150" b="0" i="0" dirty="0" err="1">
                <a:solidFill>
                  <a:srgbClr val="33413D"/>
                </a:solidFill>
                <a:latin typeface="Aptos"/>
              </a:rPr>
              <a:t>Empfehlungscharakter</a:t>
            </a:r>
            <a:r>
              <a:rPr sz="1150" b="0" i="0" dirty="0">
                <a:solidFill>
                  <a:srgbClr val="33413D"/>
                </a:solidFill>
                <a:latin typeface="Aptos"/>
              </a:rPr>
              <a:t> und </a:t>
            </a:r>
            <a:r>
              <a:rPr sz="1150" b="0" i="0" dirty="0" err="1">
                <a:solidFill>
                  <a:srgbClr val="33413D"/>
                </a:solidFill>
                <a:latin typeface="Aptos"/>
              </a:rPr>
              <a:t>werden</a:t>
            </a:r>
            <a:r>
              <a:rPr sz="1150" b="0" i="0" dirty="0">
                <a:solidFill>
                  <a:srgbClr val="33413D"/>
                </a:solidFill>
                <a:latin typeface="Aptos"/>
              </a:rPr>
              <a:t> erst </a:t>
            </a:r>
            <a:r>
              <a:rPr sz="1150" b="0" i="0" dirty="0" err="1">
                <a:solidFill>
                  <a:srgbClr val="33413D"/>
                </a:solidFill>
                <a:latin typeface="Aptos"/>
              </a:rPr>
              <a:t>nach</a:t>
            </a:r>
            <a:r>
              <a:rPr sz="1150" b="0" i="0" dirty="0">
                <a:solidFill>
                  <a:srgbClr val="33413D"/>
                </a:solidFill>
                <a:latin typeface="Aptos"/>
              </a:rPr>
              <a:t> den </a:t>
            </a:r>
            <a:r>
              <a:rPr sz="1150" b="0" i="0" dirty="0" err="1">
                <a:solidFill>
                  <a:srgbClr val="33413D"/>
                </a:solidFill>
                <a:latin typeface="Aptos"/>
              </a:rPr>
              <a:t>Entscheidungen</a:t>
            </a:r>
            <a:r>
              <a:rPr sz="1150" b="0" i="0" dirty="0">
                <a:solidFill>
                  <a:srgbClr val="33413D"/>
                </a:solidFill>
                <a:latin typeface="Aptos"/>
              </a:rPr>
              <a:t> </a:t>
            </a:r>
            <a:r>
              <a:rPr sz="1150" b="0" i="0" dirty="0" err="1">
                <a:solidFill>
                  <a:srgbClr val="33413D"/>
                </a:solidFill>
                <a:latin typeface="Aptos"/>
              </a:rPr>
              <a:t>aus</a:t>
            </a:r>
            <a:r>
              <a:rPr sz="1150" b="0" i="0" dirty="0">
                <a:solidFill>
                  <a:srgbClr val="33413D"/>
                </a:solidFill>
                <a:latin typeface="Aptos"/>
              </a:rPr>
              <a:t> </a:t>
            </a:r>
            <a:r>
              <a:rPr sz="1150" b="0" i="0" dirty="0" err="1">
                <a:solidFill>
                  <a:srgbClr val="33413D"/>
                </a:solidFill>
                <a:latin typeface="Aptos"/>
              </a:rPr>
              <a:t>Kapitel</a:t>
            </a:r>
            <a:r>
              <a:rPr sz="1150" b="0" i="0" dirty="0">
                <a:solidFill>
                  <a:srgbClr val="33413D"/>
                </a:solidFill>
                <a:latin typeface="Aptos"/>
              </a:rPr>
              <a:t> 9 </a:t>
            </a:r>
            <a:r>
              <a:rPr sz="1150" b="0" i="0" dirty="0" err="1">
                <a:solidFill>
                  <a:srgbClr val="33413D"/>
                </a:solidFill>
                <a:latin typeface="Aptos"/>
              </a:rPr>
              <a:t>produktiv</a:t>
            </a:r>
            <a:r>
              <a:rPr sz="1150" b="0" i="0" dirty="0">
                <a:solidFill>
                  <a:srgbClr val="33413D"/>
                </a:solidFill>
                <a:latin typeface="Aptos"/>
              </a:rPr>
              <a:t> </a:t>
            </a:r>
            <a:r>
              <a:rPr sz="1150" b="0" i="0" dirty="0" err="1">
                <a:solidFill>
                  <a:srgbClr val="33413D"/>
                </a:solidFill>
                <a:latin typeface="Aptos"/>
              </a:rPr>
              <a:t>geschaltet</a:t>
            </a:r>
            <a:r>
              <a:rPr sz="1150" b="0" i="0" dirty="0">
                <a:solidFill>
                  <a:srgbClr val="33413D"/>
                </a:solidFill>
                <a:latin typeface="Aptos"/>
              </a:rPr>
              <a:t>.</a:t>
            </a:r>
          </a:p>
        </p:txBody>
      </p:sp>
      <p:sp>
        <p:nvSpPr>
          <p:cNvPr id="12" name="TextBox 11"/>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13" name="TextBox 12"/>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30</a:t>
            </a:r>
          </a:p>
        </p:txBody>
      </p:sp>
      <p:pic>
        <p:nvPicPr>
          <p:cNvPr id="14" name="Picture 13"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KAPITEL 11</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Chancen</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92224"/>
            <a:ext cx="4869180" cy="1280160"/>
          </a:xfrm>
          <a:prstGeom prst="rect">
            <a:avLst/>
          </a:prstGeom>
          <a:noFill/>
        </p:spPr>
        <p:txBody>
          <a:bodyPr wrap="square" lIns="0" tIns="0" rIns="0" bIns="0" anchor="t">
            <a:spAutoFit/>
          </a:bodyPr>
          <a:lstStyle/>
          <a:p>
            <a:r>
              <a:rPr sz="1300" b="1" i="0">
                <a:solidFill>
                  <a:srgbClr val="044F49"/>
                </a:solidFill>
                <a:latin typeface="Aptos"/>
              </a:rPr>
              <a:t>Alleinstellung am türkischen Markt</a:t>
            </a:r>
          </a:p>
          <a:p>
            <a:pPr>
              <a:spcBef>
                <a:spcPts val="400"/>
              </a:spcBef>
            </a:pPr>
            <a:r>
              <a:rPr sz="1050" b="0" i="0">
                <a:solidFill>
                  <a:srgbClr val="64716D"/>
                </a:solidFill>
                <a:latin typeface="Aptos"/>
              </a:rPr>
              <a:t>Die Kombination aus belastbarer Finanzführung, strukturiertem Service-Desk und kontrollierter KI hat am türkischen Markt kein direktes Gegenstück.</a:t>
            </a:r>
          </a:p>
        </p:txBody>
      </p:sp>
      <p:sp>
        <p:nvSpPr>
          <p:cNvPr id="11" name="Rounded Rectangle 10"/>
          <p:cNvSpPr/>
          <p:nvPr/>
        </p:nvSpPr>
        <p:spPr>
          <a:xfrm>
            <a:off x="619506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792224"/>
            <a:ext cx="4869180" cy="1280160"/>
          </a:xfrm>
          <a:prstGeom prst="rect">
            <a:avLst/>
          </a:prstGeom>
          <a:noFill/>
        </p:spPr>
        <p:txBody>
          <a:bodyPr wrap="square" lIns="0" tIns="0" rIns="0" bIns="0" anchor="t">
            <a:spAutoFit/>
          </a:bodyPr>
          <a:lstStyle/>
          <a:p>
            <a:r>
              <a:rPr sz="1300" b="1" i="0">
                <a:solidFill>
                  <a:srgbClr val="044F49"/>
                </a:solidFill>
                <a:latin typeface="Aptos"/>
              </a:rPr>
              <a:t>Rückenwind durch KI-Akzeptanz</a:t>
            </a:r>
          </a:p>
          <a:p>
            <a:pPr>
              <a:spcBef>
                <a:spcPts val="400"/>
              </a:spcBef>
            </a:pPr>
            <a:r>
              <a:rPr sz="1050" b="0" i="0">
                <a:solidFill>
                  <a:srgbClr val="64716D"/>
                </a:solidFill>
                <a:latin typeface="Aptos"/>
              </a:rPr>
              <a:t>Die schnell steigende KI-Akzeptanz trifft auf ein bereits verankertes, vertrauensbildendes »Mensch entscheidet«-Prinzip.</a:t>
            </a:r>
          </a:p>
        </p:txBody>
      </p:sp>
      <p:sp>
        <p:nvSpPr>
          <p:cNvPr id="13" name="Rounded Rectangle 12"/>
          <p:cNvSpPr/>
          <p:nvPr/>
        </p:nvSpPr>
        <p:spPr>
          <a:xfrm>
            <a:off x="64008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575304"/>
            <a:ext cx="4869180" cy="574516"/>
          </a:xfrm>
          <a:prstGeom prst="rect">
            <a:avLst/>
          </a:prstGeom>
          <a:noFill/>
        </p:spPr>
        <p:txBody>
          <a:bodyPr wrap="square" lIns="0" tIns="0" rIns="0" bIns="0" anchor="t">
            <a:spAutoFit/>
          </a:bodyPr>
          <a:lstStyle/>
          <a:p>
            <a:r>
              <a:rPr sz="1300" b="1" i="0" dirty="0">
                <a:solidFill>
                  <a:srgbClr val="044F49"/>
                </a:solidFill>
                <a:latin typeface="Aptos"/>
              </a:rPr>
              <a:t>Wert in </a:t>
            </a:r>
            <a:r>
              <a:rPr sz="1300" b="1" i="0" dirty="0" err="1">
                <a:solidFill>
                  <a:srgbClr val="044F49"/>
                </a:solidFill>
                <a:latin typeface="Aptos"/>
              </a:rPr>
              <a:t>einem</a:t>
            </a:r>
            <a:r>
              <a:rPr sz="1300" b="1" i="0" dirty="0">
                <a:solidFill>
                  <a:srgbClr val="044F49"/>
                </a:solidFill>
                <a:latin typeface="Aptos"/>
              </a:rPr>
              <a:t> </a:t>
            </a:r>
            <a:r>
              <a:rPr sz="1300" b="1" i="0" dirty="0" err="1">
                <a:solidFill>
                  <a:srgbClr val="044F49"/>
                </a:solidFill>
                <a:latin typeface="Aptos"/>
              </a:rPr>
              <a:t>engeren</a:t>
            </a:r>
            <a:r>
              <a:rPr sz="1300" b="1" i="0" dirty="0">
                <a:solidFill>
                  <a:srgbClr val="044F49"/>
                </a:solidFill>
                <a:latin typeface="Aptos"/>
              </a:rPr>
              <a:t> Markt</a:t>
            </a:r>
          </a:p>
          <a:p>
            <a:pPr>
              <a:spcBef>
                <a:spcPts val="400"/>
              </a:spcBef>
            </a:pPr>
            <a:r>
              <a:rPr sz="1050" b="0" i="0" dirty="0">
                <a:solidFill>
                  <a:srgbClr val="64716D"/>
                </a:solidFill>
                <a:latin typeface="Aptos"/>
              </a:rPr>
              <a:t>Ein </a:t>
            </a:r>
            <a:r>
              <a:rPr sz="1050" b="0" i="0" dirty="0" err="1">
                <a:solidFill>
                  <a:srgbClr val="64716D"/>
                </a:solidFill>
                <a:latin typeface="Aptos"/>
              </a:rPr>
              <a:t>schrumpfender</a:t>
            </a:r>
            <a:r>
              <a:rPr sz="1050" b="0" i="0" dirty="0">
                <a:solidFill>
                  <a:srgbClr val="64716D"/>
                </a:solidFill>
                <a:latin typeface="Aptos"/>
              </a:rPr>
              <a:t> Markt </a:t>
            </a:r>
            <a:r>
              <a:rPr sz="1050" b="0" i="0" dirty="0" err="1">
                <a:solidFill>
                  <a:srgbClr val="64716D"/>
                </a:solidFill>
                <a:latin typeface="Aptos"/>
              </a:rPr>
              <a:t>erhöht</a:t>
            </a:r>
            <a:r>
              <a:rPr sz="1050" b="0" i="0" dirty="0">
                <a:solidFill>
                  <a:srgbClr val="64716D"/>
                </a:solidFill>
                <a:latin typeface="Aptos"/>
              </a:rPr>
              <a:t> den </a:t>
            </a:r>
            <a:r>
              <a:rPr sz="1050" b="0" i="0" dirty="0" err="1">
                <a:solidFill>
                  <a:srgbClr val="64716D"/>
                </a:solidFill>
                <a:latin typeface="Aptos"/>
              </a:rPr>
              <a:t>relativen</a:t>
            </a:r>
            <a:r>
              <a:rPr sz="1050" b="0" i="0" dirty="0">
                <a:solidFill>
                  <a:srgbClr val="64716D"/>
                </a:solidFill>
                <a:latin typeface="Aptos"/>
              </a:rPr>
              <a:t> Wert </a:t>
            </a:r>
            <a:r>
              <a:rPr sz="1050" b="0" i="0" dirty="0" err="1">
                <a:solidFill>
                  <a:srgbClr val="64716D"/>
                </a:solidFill>
                <a:latin typeface="Aptos"/>
              </a:rPr>
              <a:t>operativer</a:t>
            </a:r>
            <a:r>
              <a:rPr sz="1050" b="0" i="0" dirty="0">
                <a:solidFill>
                  <a:srgbClr val="64716D"/>
                </a:solidFill>
                <a:latin typeface="Aptos"/>
              </a:rPr>
              <a:t> </a:t>
            </a:r>
            <a:r>
              <a:rPr sz="1050" b="0" i="0" dirty="0" err="1">
                <a:solidFill>
                  <a:srgbClr val="64716D"/>
                </a:solidFill>
                <a:latin typeface="Aptos"/>
              </a:rPr>
              <a:t>Exzellenz</a:t>
            </a:r>
            <a:r>
              <a:rPr sz="1050" b="0" i="0" dirty="0">
                <a:solidFill>
                  <a:srgbClr val="64716D"/>
                </a:solidFill>
                <a:latin typeface="Aptos"/>
              </a:rPr>
              <a:t> </a:t>
            </a:r>
            <a:r>
              <a:rPr sz="1050" b="0" i="0" dirty="0" err="1">
                <a:solidFill>
                  <a:srgbClr val="64716D"/>
                </a:solidFill>
                <a:latin typeface="Aptos"/>
              </a:rPr>
              <a:t>gegenüber</a:t>
            </a:r>
            <a:r>
              <a:rPr sz="1050" b="0" i="0" dirty="0">
                <a:solidFill>
                  <a:srgbClr val="64716D"/>
                </a:solidFill>
                <a:latin typeface="Aptos"/>
              </a:rPr>
              <a:t> </a:t>
            </a:r>
            <a:r>
              <a:rPr sz="1050" b="0" i="0" dirty="0" err="1">
                <a:solidFill>
                  <a:srgbClr val="64716D"/>
                </a:solidFill>
                <a:latin typeface="Aptos"/>
              </a:rPr>
              <a:t>Bestandskunden</a:t>
            </a:r>
            <a:r>
              <a:rPr sz="1050" b="0" i="0" dirty="0">
                <a:solidFill>
                  <a:srgbClr val="64716D"/>
                </a:solidFill>
                <a:latin typeface="Aptos"/>
              </a:rPr>
              <a:t> </a:t>
            </a:r>
            <a:r>
              <a:rPr lang="de-DE" sz="1050" b="0" i="0" dirty="0">
                <a:solidFill>
                  <a:srgbClr val="64716D"/>
                </a:solidFill>
                <a:latin typeface="Aptos"/>
              </a:rPr>
              <a:t>-</a:t>
            </a:r>
            <a:r>
              <a:rPr sz="1050" b="0" i="0" dirty="0">
                <a:solidFill>
                  <a:srgbClr val="64716D"/>
                </a:solidFill>
                <a:latin typeface="Aptos"/>
              </a:rPr>
              <a:t> </a:t>
            </a:r>
            <a:r>
              <a:rPr sz="1050" b="0" i="0" dirty="0" err="1">
                <a:solidFill>
                  <a:srgbClr val="64716D"/>
                </a:solidFill>
                <a:latin typeface="Aptos"/>
              </a:rPr>
              <a:t>genau</a:t>
            </a:r>
            <a:r>
              <a:rPr sz="1050" b="0" i="0" dirty="0">
                <a:solidFill>
                  <a:srgbClr val="64716D"/>
                </a:solidFill>
                <a:latin typeface="Aptos"/>
              </a:rPr>
              <a:t> </a:t>
            </a:r>
            <a:r>
              <a:rPr sz="1050" b="0" i="0" dirty="0" err="1">
                <a:solidFill>
                  <a:srgbClr val="64716D"/>
                </a:solidFill>
                <a:latin typeface="Aptos"/>
              </a:rPr>
              <a:t>darauf</a:t>
            </a:r>
            <a:r>
              <a:rPr sz="1050" b="0" i="0" dirty="0">
                <a:solidFill>
                  <a:srgbClr val="64716D"/>
                </a:solidFill>
                <a:latin typeface="Aptos"/>
              </a:rPr>
              <a:t> </a:t>
            </a:r>
            <a:r>
              <a:rPr sz="1050" b="0" i="0" dirty="0" err="1">
                <a:solidFill>
                  <a:srgbClr val="64716D"/>
                </a:solidFill>
                <a:latin typeface="Aptos"/>
              </a:rPr>
              <a:t>zielt</a:t>
            </a:r>
            <a:r>
              <a:rPr sz="1050" b="0" i="0" dirty="0">
                <a:solidFill>
                  <a:srgbClr val="64716D"/>
                </a:solidFill>
                <a:latin typeface="Aptos"/>
              </a:rPr>
              <a:t> 1Çatı.</a:t>
            </a:r>
          </a:p>
        </p:txBody>
      </p:sp>
      <p:sp>
        <p:nvSpPr>
          <p:cNvPr id="15" name="Rounded Rectangle 14"/>
          <p:cNvSpPr/>
          <p:nvPr/>
        </p:nvSpPr>
        <p:spPr>
          <a:xfrm>
            <a:off x="619506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575304"/>
            <a:ext cx="4869180" cy="1280160"/>
          </a:xfrm>
          <a:prstGeom prst="rect">
            <a:avLst/>
          </a:prstGeom>
          <a:noFill/>
        </p:spPr>
        <p:txBody>
          <a:bodyPr wrap="square" lIns="0" tIns="0" rIns="0" bIns="0" anchor="t">
            <a:spAutoFit/>
          </a:bodyPr>
          <a:lstStyle/>
          <a:p>
            <a:r>
              <a:rPr sz="1300" b="1" i="0">
                <a:solidFill>
                  <a:srgbClr val="044F49"/>
                </a:solidFill>
                <a:latin typeface="Aptos"/>
              </a:rPr>
              <a:t>Übertragbares Muster</a:t>
            </a:r>
          </a:p>
          <a:p>
            <a:pPr>
              <a:spcBef>
                <a:spcPts val="400"/>
              </a:spcBef>
            </a:pPr>
            <a:r>
              <a:rPr sz="1050" b="0" i="0">
                <a:solidFill>
                  <a:srgbClr val="64716D"/>
                </a:solidFill>
                <a:latin typeface="Aptos"/>
              </a:rPr>
              <a:t>Der öffentliche Registrierungs- und Meldekanal ist ein wiederverwendbares Muster für weitere Bauprojekte und Standorte.</a:t>
            </a:r>
          </a:p>
        </p:txBody>
      </p:sp>
      <p:sp>
        <p:nvSpPr>
          <p:cNvPr id="17" name="Rounded Rectangle 16"/>
          <p:cNvSpPr/>
          <p:nvPr/>
        </p:nvSpPr>
        <p:spPr>
          <a:xfrm>
            <a:off x="640080" y="5212080"/>
            <a:ext cx="10881360" cy="10058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212080"/>
            <a:ext cx="54864" cy="100584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441848"/>
            <a:ext cx="10469880" cy="546303"/>
          </a:xfrm>
          <a:prstGeom prst="rect">
            <a:avLst/>
          </a:prstGeom>
          <a:noFill/>
        </p:spPr>
        <p:txBody>
          <a:bodyPr wrap="square" lIns="0" tIns="0" rIns="0" bIns="0" anchor="ctr">
            <a:spAutoFit/>
          </a:bodyPr>
          <a:lstStyle/>
          <a:p>
            <a:r>
              <a:rPr sz="1250" b="1" i="0" dirty="0" err="1">
                <a:solidFill>
                  <a:srgbClr val="044F49"/>
                </a:solidFill>
                <a:latin typeface="Aptos"/>
              </a:rPr>
              <a:t>Voraussetzungen</a:t>
            </a:r>
            <a:r>
              <a:rPr sz="1250" b="1" i="0" dirty="0">
                <a:solidFill>
                  <a:srgbClr val="044F49"/>
                </a:solidFill>
                <a:latin typeface="Aptos"/>
              </a:rPr>
              <a:t> für den </a:t>
            </a:r>
            <a:r>
              <a:rPr sz="1250" b="1" i="0" dirty="0" err="1">
                <a:solidFill>
                  <a:srgbClr val="044F49"/>
                </a:solidFill>
                <a:latin typeface="Aptos"/>
              </a:rPr>
              <a:t>Produktivbetrieb</a:t>
            </a:r>
            <a:r>
              <a:rPr sz="1250" b="1" i="0" dirty="0">
                <a:solidFill>
                  <a:srgbClr val="044F49"/>
                </a:solidFill>
                <a:latin typeface="Aptos"/>
              </a:rPr>
              <a:t>.  </a:t>
            </a:r>
            <a:r>
              <a:rPr sz="1150" b="0" i="0" dirty="0" err="1">
                <a:solidFill>
                  <a:srgbClr val="33413D"/>
                </a:solidFill>
                <a:latin typeface="Aptos"/>
              </a:rPr>
              <a:t>Erforderlich</a:t>
            </a:r>
            <a:r>
              <a:rPr sz="1150" b="0" i="0" dirty="0">
                <a:solidFill>
                  <a:srgbClr val="33413D"/>
                </a:solidFill>
                <a:latin typeface="Aptos"/>
              </a:rPr>
              <a:t> </a:t>
            </a:r>
            <a:r>
              <a:rPr sz="1150" b="0" i="0" dirty="0" err="1">
                <a:solidFill>
                  <a:srgbClr val="33413D"/>
                </a:solidFill>
                <a:latin typeface="Aptos"/>
              </a:rPr>
              <a:t>sind</a:t>
            </a:r>
            <a:r>
              <a:rPr sz="1150" b="0" i="0" dirty="0">
                <a:solidFill>
                  <a:srgbClr val="33413D"/>
                </a:solidFill>
                <a:latin typeface="Aptos"/>
              </a:rPr>
              <a:t> </a:t>
            </a:r>
            <a:r>
              <a:rPr sz="1150" b="0" i="0" dirty="0" err="1">
                <a:solidFill>
                  <a:srgbClr val="33413D"/>
                </a:solidFill>
                <a:latin typeface="Aptos"/>
              </a:rPr>
              <a:t>produktive</a:t>
            </a:r>
            <a:r>
              <a:rPr sz="1150" b="0" i="0" dirty="0">
                <a:solidFill>
                  <a:srgbClr val="33413D"/>
                </a:solidFill>
                <a:latin typeface="Aptos"/>
              </a:rPr>
              <a:t> </a:t>
            </a:r>
            <a:r>
              <a:rPr sz="1150" b="0" i="0" dirty="0" err="1">
                <a:solidFill>
                  <a:srgbClr val="33413D"/>
                </a:solidFill>
                <a:latin typeface="Aptos"/>
              </a:rPr>
              <a:t>Datenumgebung</a:t>
            </a:r>
            <a:r>
              <a:rPr sz="1150" b="0" i="0" dirty="0">
                <a:solidFill>
                  <a:srgbClr val="33413D"/>
                </a:solidFill>
                <a:latin typeface="Aptos"/>
              </a:rPr>
              <a:t>, </a:t>
            </a:r>
            <a:r>
              <a:rPr sz="1150" b="0" i="0" dirty="0" err="1">
                <a:solidFill>
                  <a:srgbClr val="33413D"/>
                </a:solidFill>
                <a:latin typeface="Aptos"/>
              </a:rPr>
              <a:t>Zahlungs</a:t>
            </a:r>
            <a:r>
              <a:rPr sz="1150" b="0" i="0" dirty="0">
                <a:solidFill>
                  <a:srgbClr val="33413D"/>
                </a:solidFill>
                <a:latin typeface="Aptos"/>
              </a:rPr>
              <a:t>-/</a:t>
            </a:r>
            <a:r>
              <a:rPr sz="1150" b="0" i="0" dirty="0" err="1">
                <a:solidFill>
                  <a:srgbClr val="33413D"/>
                </a:solidFill>
                <a:latin typeface="Aptos"/>
              </a:rPr>
              <a:t>Bankweg</a:t>
            </a:r>
            <a:r>
              <a:rPr sz="1150" b="0" i="0" dirty="0">
                <a:solidFill>
                  <a:srgbClr val="33413D"/>
                </a:solidFill>
                <a:latin typeface="Aptos"/>
              </a:rPr>
              <a:t>, </a:t>
            </a:r>
            <a:r>
              <a:rPr sz="1150" b="0" i="0" dirty="0" err="1">
                <a:solidFill>
                  <a:srgbClr val="33413D"/>
                </a:solidFill>
                <a:latin typeface="Aptos"/>
              </a:rPr>
              <a:t>Kommunikationsanbieter</a:t>
            </a:r>
            <a:r>
              <a:rPr sz="1150" b="0" i="0" dirty="0">
                <a:solidFill>
                  <a:srgbClr val="33413D"/>
                </a:solidFill>
                <a:latin typeface="Aptos"/>
              </a:rPr>
              <a:t>, </a:t>
            </a:r>
            <a:r>
              <a:rPr sz="1150" b="0" i="0" dirty="0" err="1">
                <a:solidFill>
                  <a:srgbClr val="33413D"/>
                </a:solidFill>
                <a:latin typeface="Aptos"/>
              </a:rPr>
              <a:t>Zugangssystem</a:t>
            </a:r>
            <a:r>
              <a:rPr sz="1150" b="0" i="0" dirty="0">
                <a:solidFill>
                  <a:srgbClr val="33413D"/>
                </a:solidFill>
                <a:latin typeface="Aptos"/>
              </a:rPr>
              <a:t>, </a:t>
            </a:r>
            <a:r>
              <a:rPr sz="1150" b="0" i="0" dirty="0" err="1">
                <a:solidFill>
                  <a:srgbClr val="33413D"/>
                </a:solidFill>
                <a:latin typeface="Aptos"/>
              </a:rPr>
              <a:t>Identitätsprüfung</a:t>
            </a:r>
            <a:r>
              <a:rPr sz="1150" b="0" i="0" dirty="0">
                <a:solidFill>
                  <a:srgbClr val="33413D"/>
                </a:solidFill>
                <a:latin typeface="Aptos"/>
              </a:rPr>
              <a:t>, </a:t>
            </a:r>
            <a:r>
              <a:rPr sz="1150" b="0" i="0" dirty="0" err="1">
                <a:solidFill>
                  <a:srgbClr val="33413D"/>
                </a:solidFill>
                <a:latin typeface="Aptos"/>
              </a:rPr>
              <a:t>rechtliche</a:t>
            </a:r>
            <a:r>
              <a:rPr sz="1150" b="0" i="0" dirty="0">
                <a:solidFill>
                  <a:srgbClr val="33413D"/>
                </a:solidFill>
                <a:latin typeface="Aptos"/>
              </a:rPr>
              <a:t> </a:t>
            </a:r>
            <a:r>
              <a:rPr sz="1150" b="0" i="0" dirty="0" err="1">
                <a:solidFill>
                  <a:srgbClr val="33413D"/>
                </a:solidFill>
                <a:latin typeface="Aptos"/>
              </a:rPr>
              <a:t>Bestätigungen</a:t>
            </a:r>
            <a:r>
              <a:rPr sz="1150" b="0" i="0" dirty="0">
                <a:solidFill>
                  <a:srgbClr val="33413D"/>
                </a:solidFill>
                <a:latin typeface="Aptos"/>
              </a:rPr>
              <a:t> und </a:t>
            </a:r>
            <a:r>
              <a:rPr sz="1150" b="0" i="0" dirty="0" err="1">
                <a:solidFill>
                  <a:srgbClr val="33413D"/>
                </a:solidFill>
                <a:latin typeface="Aptos"/>
              </a:rPr>
              <a:t>ein</a:t>
            </a:r>
            <a:r>
              <a:rPr sz="1150" b="0" i="0" dirty="0">
                <a:solidFill>
                  <a:srgbClr val="33413D"/>
                </a:solidFill>
                <a:latin typeface="Aptos"/>
              </a:rPr>
              <a:t> </a:t>
            </a:r>
            <a:r>
              <a:rPr sz="1150" b="0" i="0" dirty="0" err="1">
                <a:solidFill>
                  <a:srgbClr val="33413D"/>
                </a:solidFill>
                <a:latin typeface="Aptos"/>
              </a:rPr>
              <a:t>gemeinsamer</a:t>
            </a:r>
            <a:r>
              <a:rPr sz="1150" b="0" i="0" dirty="0">
                <a:solidFill>
                  <a:srgbClr val="33413D"/>
                </a:solidFill>
                <a:latin typeface="Aptos"/>
              </a:rPr>
              <a:t> </a:t>
            </a:r>
            <a:r>
              <a:rPr sz="1150" b="0" i="0" dirty="0" err="1">
                <a:solidFill>
                  <a:srgbClr val="33413D"/>
                </a:solidFill>
                <a:latin typeface="Aptos"/>
              </a:rPr>
              <a:t>Abnahmetest</a:t>
            </a:r>
            <a:r>
              <a:rPr sz="1150" b="0" i="0" dirty="0">
                <a:solidFill>
                  <a:srgbClr val="33413D"/>
                </a:solidFill>
                <a:latin typeface="Aptos"/>
              </a:rPr>
              <a:t> (Details in </a:t>
            </a:r>
            <a:r>
              <a:rPr sz="1150" b="0" i="0" dirty="0" err="1">
                <a:solidFill>
                  <a:srgbClr val="33413D"/>
                </a:solidFill>
                <a:latin typeface="Aptos"/>
              </a:rPr>
              <a:t>Kapitel</a:t>
            </a:r>
            <a:r>
              <a:rPr sz="1150" b="0" i="0" dirty="0">
                <a:solidFill>
                  <a:srgbClr val="33413D"/>
                </a:solidFill>
                <a:latin typeface="Aptos"/>
              </a:rPr>
              <a:t> 9). Keiner </a:t>
            </a:r>
            <a:r>
              <a:rPr sz="1150" b="0" i="0" dirty="0" err="1">
                <a:solidFill>
                  <a:srgbClr val="33413D"/>
                </a:solidFill>
                <a:latin typeface="Aptos"/>
              </a:rPr>
              <a:t>dieser</a:t>
            </a:r>
            <a:r>
              <a:rPr sz="1150" b="0" i="0" dirty="0">
                <a:solidFill>
                  <a:srgbClr val="33413D"/>
                </a:solidFill>
                <a:latin typeface="Aptos"/>
              </a:rPr>
              <a:t> </a:t>
            </a:r>
            <a:r>
              <a:rPr sz="1150" b="0" i="0" dirty="0" err="1">
                <a:solidFill>
                  <a:srgbClr val="33413D"/>
                </a:solidFill>
                <a:latin typeface="Aptos"/>
              </a:rPr>
              <a:t>Punkte</a:t>
            </a:r>
            <a:r>
              <a:rPr sz="1150" b="0" i="0" dirty="0">
                <a:solidFill>
                  <a:srgbClr val="33413D"/>
                </a:solidFill>
                <a:latin typeface="Aptos"/>
              </a:rPr>
              <a:t> </a:t>
            </a:r>
            <a:r>
              <a:rPr sz="1150" b="0" i="0" dirty="0" err="1">
                <a:solidFill>
                  <a:srgbClr val="33413D"/>
                </a:solidFill>
                <a:latin typeface="Aptos"/>
              </a:rPr>
              <a:t>ist</a:t>
            </a:r>
            <a:r>
              <a:rPr sz="1150" b="0" i="0" dirty="0">
                <a:solidFill>
                  <a:srgbClr val="33413D"/>
                </a:solidFill>
                <a:latin typeface="Aptos"/>
              </a:rPr>
              <a:t> </a:t>
            </a:r>
            <a:r>
              <a:rPr sz="1150" b="0" i="0" dirty="0" err="1">
                <a:solidFill>
                  <a:srgbClr val="33413D"/>
                </a:solidFill>
                <a:latin typeface="Aptos"/>
              </a:rPr>
              <a:t>ein</a:t>
            </a:r>
            <a:r>
              <a:rPr sz="1150" b="0" i="0" dirty="0">
                <a:solidFill>
                  <a:srgbClr val="33413D"/>
                </a:solidFill>
                <a:latin typeface="Aptos"/>
              </a:rPr>
              <a:t> </a:t>
            </a:r>
            <a:r>
              <a:rPr sz="1150" b="0" i="0" dirty="0" err="1">
                <a:solidFill>
                  <a:srgbClr val="33413D"/>
                </a:solidFill>
                <a:latin typeface="Aptos"/>
              </a:rPr>
              <a:t>technisches</a:t>
            </a:r>
            <a:r>
              <a:rPr sz="1150" b="0" i="0" dirty="0">
                <a:solidFill>
                  <a:srgbClr val="33413D"/>
                </a:solidFill>
                <a:latin typeface="Aptos"/>
              </a:rPr>
              <a:t> Risiko </a:t>
            </a:r>
            <a:r>
              <a:rPr lang="de-DE" sz="1150" b="0" i="0" dirty="0">
                <a:solidFill>
                  <a:srgbClr val="33413D"/>
                </a:solidFill>
                <a:latin typeface="Aptos"/>
              </a:rPr>
              <a:t>-</a:t>
            </a:r>
            <a:r>
              <a:rPr sz="1150" b="0" i="0" dirty="0">
                <a:solidFill>
                  <a:srgbClr val="33413D"/>
                </a:solidFill>
                <a:latin typeface="Aptos"/>
              </a:rPr>
              <a:t> es </a:t>
            </a:r>
            <a:r>
              <a:rPr sz="1150" b="0" i="0" dirty="0" err="1">
                <a:solidFill>
                  <a:srgbClr val="33413D"/>
                </a:solidFill>
                <a:latin typeface="Aptos"/>
              </a:rPr>
              <a:t>sind</a:t>
            </a:r>
            <a:r>
              <a:rPr sz="1150" b="0" i="0" dirty="0">
                <a:solidFill>
                  <a:srgbClr val="33413D"/>
                </a:solidFill>
                <a:latin typeface="Aptos"/>
              </a:rPr>
              <a:t> </a:t>
            </a:r>
            <a:r>
              <a:rPr sz="1150" b="0" i="0" dirty="0" err="1">
                <a:solidFill>
                  <a:srgbClr val="33413D"/>
                </a:solidFill>
                <a:latin typeface="Aptos"/>
              </a:rPr>
              <a:t>klar</a:t>
            </a:r>
            <a:r>
              <a:rPr sz="1150" b="0" i="0" dirty="0">
                <a:solidFill>
                  <a:srgbClr val="33413D"/>
                </a:solidFill>
                <a:latin typeface="Aptos"/>
              </a:rPr>
              <a:t> </a:t>
            </a:r>
            <a:r>
              <a:rPr sz="1150" b="0" i="0" dirty="0" err="1">
                <a:solidFill>
                  <a:srgbClr val="33413D"/>
                </a:solidFill>
                <a:latin typeface="Aptos"/>
              </a:rPr>
              <a:t>benannte</a:t>
            </a:r>
            <a:r>
              <a:rPr sz="1150" b="0" i="0" dirty="0">
                <a:solidFill>
                  <a:srgbClr val="33413D"/>
                </a:solidFill>
                <a:latin typeface="Aptos"/>
              </a:rPr>
              <a:t>, </a:t>
            </a:r>
            <a:r>
              <a:rPr sz="1150" b="0" i="0" dirty="0" err="1">
                <a:solidFill>
                  <a:srgbClr val="33413D"/>
                </a:solidFill>
                <a:latin typeface="Aptos"/>
              </a:rPr>
              <a:t>planbare</a:t>
            </a:r>
            <a:r>
              <a:rPr sz="1150" b="0" i="0" dirty="0">
                <a:solidFill>
                  <a:srgbClr val="33413D"/>
                </a:solidFill>
                <a:latin typeface="Aptos"/>
              </a:rPr>
              <a:t> </a:t>
            </a:r>
            <a:r>
              <a:rPr sz="1150" b="0" i="0" dirty="0" err="1">
                <a:solidFill>
                  <a:srgbClr val="33413D"/>
                </a:solidFill>
                <a:latin typeface="Aptos"/>
              </a:rPr>
              <a:t>Freigaben</a:t>
            </a:r>
            <a:r>
              <a:rPr sz="1150" b="0" i="0" dirty="0">
                <a:solidFill>
                  <a:srgbClr val="33413D"/>
                </a:solidFill>
                <a:latin typeface="Aptos"/>
              </a:rPr>
              <a:t>.</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a:t>
            </a:r>
            <a:r>
              <a:rPr sz="750" b="0" i="0" dirty="0">
                <a:solidFill>
                  <a:srgbClr val="64716D"/>
                </a:solidFill>
                <a:latin typeface="Aptos"/>
              </a:rPr>
              <a:t> Property-Management- &amp; Real-Estate-ERP · WAMOCON GmbH für </a:t>
            </a:r>
            <a:r>
              <a:rPr sz="750" b="0" i="0" dirty="0" err="1">
                <a:solidFill>
                  <a:srgbClr val="64716D"/>
                </a:solidFill>
                <a:latin typeface="Aptos"/>
              </a:rPr>
              <a:t>Ataberk</a:t>
            </a:r>
            <a:r>
              <a:rPr sz="750" b="0" i="0" dirty="0">
                <a:solidFill>
                  <a:srgbClr val="64716D"/>
                </a:solidFill>
                <a:latin typeface="Aptos"/>
              </a:rPr>
              <a:t> Estate · </a:t>
            </a:r>
            <a:r>
              <a:rPr sz="750" b="0" i="0" dirty="0" err="1">
                <a:solidFill>
                  <a:srgbClr val="64716D"/>
                </a:solidFill>
                <a:latin typeface="Aptos"/>
              </a:rPr>
              <a:t>Vertraulich</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31</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losing_photo.jpg"/>
          <p:cNvPicPr>
            <a:picLocks noChangeAspect="1"/>
          </p:cNvPicPr>
          <p:nvPr/>
        </p:nvPicPr>
        <p:blipFill>
          <a:blip r:embed="rId2"/>
          <a:stretch>
            <a:fillRect/>
          </a:stretch>
        </p:blipFill>
        <p:spPr>
          <a:xfrm>
            <a:off x="0" y="0"/>
            <a:ext cx="12191695" cy="6858000"/>
          </a:xfrm>
          <a:prstGeom prst="rect">
            <a:avLst/>
          </a:prstGeom>
        </p:spPr>
      </p:pic>
      <p:sp>
        <p:nvSpPr>
          <p:cNvPr id="4" name="Rounded Rectangle 3"/>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taberk_logo_transparent.png"/>
          <p:cNvPicPr>
            <a:picLocks noChangeAspect="1"/>
          </p:cNvPicPr>
          <p:nvPr/>
        </p:nvPicPr>
        <p:blipFill>
          <a:blip r:embed="rId3"/>
          <a:stretch>
            <a:fillRect/>
          </a:stretch>
        </p:blipFill>
        <p:spPr>
          <a:xfrm>
            <a:off x="10104120" y="473659"/>
            <a:ext cx="1298448" cy="259689"/>
          </a:xfrm>
          <a:prstGeom prst="rect">
            <a:avLst/>
          </a:prstGeom>
        </p:spPr>
      </p:pic>
      <p:pic>
        <p:nvPicPr>
          <p:cNvPr id="6" name="Picture 5" descr="logo.png"/>
          <p:cNvPicPr>
            <a:picLocks noChangeAspect="1"/>
          </p:cNvPicPr>
          <p:nvPr/>
        </p:nvPicPr>
        <p:blipFill>
          <a:blip r:embed="rId4"/>
          <a:stretch>
            <a:fillRect/>
          </a:stretch>
        </p:blipFill>
        <p:spPr>
          <a:xfrm>
            <a:off x="822960" y="2194560"/>
            <a:ext cx="822960" cy="822960"/>
          </a:xfrm>
          <a:prstGeom prst="rect">
            <a:avLst/>
          </a:prstGeom>
        </p:spPr>
      </p:pic>
      <p:sp>
        <p:nvSpPr>
          <p:cNvPr id="7" name="TextBox 6"/>
          <p:cNvSpPr txBox="1"/>
          <p:nvPr/>
        </p:nvSpPr>
        <p:spPr>
          <a:xfrm>
            <a:off x="822960" y="3200400"/>
            <a:ext cx="10515600" cy="1463040"/>
          </a:xfrm>
          <a:prstGeom prst="rect">
            <a:avLst/>
          </a:prstGeom>
          <a:noFill/>
        </p:spPr>
        <p:txBody>
          <a:bodyPr wrap="square" lIns="0" tIns="0" rIns="0" bIns="0" anchor="t">
            <a:spAutoFit/>
          </a:bodyPr>
          <a:lstStyle/>
          <a:p>
            <a:r>
              <a:rPr sz="3000" b="1" i="0">
                <a:solidFill>
                  <a:srgbClr val="FFFFFF"/>
                </a:solidFill>
                <a:latin typeface="Aptos"/>
              </a:rPr>
              <a:t>Ein Dach für Ihren gesamten Immobilienbetrieb.</a:t>
            </a:r>
          </a:p>
        </p:txBody>
      </p:sp>
      <p:sp>
        <p:nvSpPr>
          <p:cNvPr id="8" name="TextBox 7"/>
          <p:cNvSpPr txBox="1"/>
          <p:nvPr/>
        </p:nvSpPr>
        <p:spPr>
          <a:xfrm>
            <a:off x="822960" y="4343400"/>
            <a:ext cx="9875520" cy="1097280"/>
          </a:xfrm>
          <a:prstGeom prst="rect">
            <a:avLst/>
          </a:prstGeom>
          <a:noFill/>
        </p:spPr>
        <p:txBody>
          <a:bodyPr wrap="square" lIns="0" tIns="0" rIns="0" bIns="0" anchor="t">
            <a:spAutoFit/>
          </a:bodyPr>
          <a:lstStyle/>
          <a:p>
            <a:r>
              <a:rPr sz="1400" b="0" i="0">
                <a:solidFill>
                  <a:srgbClr val="CDE7E1"/>
                </a:solidFill>
                <a:latin typeface="Aptos"/>
              </a:rPr>
              <a:t>1Çatı liefert heute ein vollständig erlebbares, in Ihrem Markendesign gestaltetes Betriebssystem für New Level Premium. Der Weg zum Livebetrieb ist klar, überschaubar und ohne verdeckte Überraschungen.</a:t>
            </a:r>
          </a:p>
        </p:txBody>
      </p:sp>
      <p:sp>
        <p:nvSpPr>
          <p:cNvPr id="9" name="TextBox 8"/>
          <p:cNvSpPr txBox="1"/>
          <p:nvPr/>
        </p:nvSpPr>
        <p:spPr>
          <a:xfrm>
            <a:off x="822960" y="5943600"/>
            <a:ext cx="10515600" cy="457200"/>
          </a:xfrm>
          <a:prstGeom prst="rect">
            <a:avLst/>
          </a:prstGeom>
          <a:noFill/>
        </p:spPr>
        <p:txBody>
          <a:bodyPr wrap="square" lIns="0" tIns="0" rIns="0" bIns="0" anchor="t">
            <a:spAutoFit/>
          </a:bodyPr>
          <a:lstStyle/>
          <a:p>
            <a:r>
              <a:rPr sz="1050" b="0" i="0">
                <a:solidFill>
                  <a:srgbClr val="A9D2CB"/>
                </a:solidFill>
                <a:latin typeface="Aptos"/>
              </a:rPr>
              <a:t>WAMOCON GmbH  ·  für Ataberk Estate  ·  Vertraulich  ·  07. Juli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4118</Words>
  <Application>Microsoft Office PowerPoint</Application>
  <PresentationFormat>Breitbild</PresentationFormat>
  <Paragraphs>539</Paragraphs>
  <Slides>33</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33</vt:i4>
      </vt:variant>
    </vt:vector>
  </HeadingPairs>
  <TitlesOfParts>
    <vt:vector size="37" baseType="lpstr">
      <vt:lpstr>Aptos</vt: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Waleri Moretz</cp:lastModifiedBy>
  <cp:revision>3</cp:revision>
  <dcterms:created xsi:type="dcterms:W3CDTF">2013-01-27T09:14:16Z</dcterms:created>
  <dcterms:modified xsi:type="dcterms:W3CDTF">2026-07-07T10:28:13Z</dcterms:modified>
  <cp:category/>
</cp:coreProperties>
</file>