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3" d="100"/>
          <a:sy n="103" d="100"/>
        </p:scale>
        <p:origin x="17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ver_photo.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pic>
        <p:nvPicPr>
          <p:cNvPr id="6" name="Picture 5" descr="logo.png"/>
          <p:cNvPicPr>
            <a:picLocks noChangeAspect="1"/>
          </p:cNvPicPr>
          <p:nvPr/>
        </p:nvPicPr>
        <p:blipFill>
          <a:blip r:embed="rId4"/>
          <a:stretch>
            <a:fillRect/>
          </a:stretch>
        </p:blipFill>
        <p:spPr>
          <a:xfrm>
            <a:off x="777240" y="640080"/>
            <a:ext cx="658368" cy="658368"/>
          </a:xfrm>
          <a:prstGeom prst="rect">
            <a:avLst/>
          </a:prstGeom>
        </p:spPr>
      </p:pic>
      <p:sp>
        <p:nvSpPr>
          <p:cNvPr id="7" name="TextBox 6"/>
          <p:cNvSpPr txBox="1"/>
          <p:nvPr/>
        </p:nvSpPr>
        <p:spPr>
          <a:xfrm>
            <a:off x="1572768" y="621792"/>
            <a:ext cx="8229600" cy="731520"/>
          </a:xfrm>
          <a:prstGeom prst="rect">
            <a:avLst/>
          </a:prstGeom>
          <a:noFill/>
        </p:spPr>
        <p:txBody>
          <a:bodyPr wrap="square" lIns="0" tIns="0" rIns="0" bIns="0" anchor="t">
            <a:spAutoFit/>
          </a:bodyPr>
          <a:lstStyle/>
          <a:p>
            <a:r>
              <a:rPr sz="2200" b="1" i="0">
                <a:solidFill>
                  <a:srgbClr val="FFFFFF"/>
                </a:solidFill>
                <a:latin typeface="Aptos"/>
              </a:rPr>
              <a:t>1Roof</a:t>
            </a:r>
          </a:p>
          <a:p>
            <a:r>
              <a:rPr sz="1050" b="0" i="0">
                <a:solidFill>
                  <a:srgbClr val="CDE7E1"/>
                </a:solidFill>
                <a:latin typeface="Aptos"/>
              </a:rPr>
              <a:t>Property Management &amp; Real Estate ERP · implemented by WAMOCON GmbH</a:t>
            </a:r>
          </a:p>
        </p:txBody>
      </p:sp>
      <p:sp>
        <p:nvSpPr>
          <p:cNvPr id="8" name="Rounded Rectangle 7"/>
          <p:cNvSpPr/>
          <p:nvPr/>
        </p:nvSpPr>
        <p:spPr>
          <a:xfrm>
            <a:off x="777240" y="2148840"/>
            <a:ext cx="4206240" cy="384048"/>
          </a:xfrm>
          <a:prstGeom prst="roundRect">
            <a:avLst>
              <a:gd name="adj" fmla="val 50000"/>
            </a:avLst>
          </a:prstGeom>
          <a:solidFill>
            <a:srgbClr val="043F3A"/>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167128"/>
            <a:ext cx="4206240" cy="347472"/>
          </a:xfrm>
          <a:prstGeom prst="rect">
            <a:avLst/>
          </a:prstGeom>
          <a:noFill/>
        </p:spPr>
        <p:txBody>
          <a:bodyPr wrap="square" lIns="0" tIns="0" rIns="0" bIns="0" anchor="ctr">
            <a:spAutoFit/>
          </a:bodyPr>
          <a:lstStyle/>
          <a:p>
            <a:pPr algn="ctr"/>
            <a:r>
              <a:rPr sz="1100" b="1" i="0">
                <a:solidFill>
                  <a:srgbClr val="E2B75D"/>
                </a:solidFill>
                <a:latin typeface="Aptos"/>
              </a:rPr>
              <a:t>REQUIREMENTS &amp; SPECIFICATIONS DOCUMENT</a:t>
            </a:r>
          </a:p>
        </p:txBody>
      </p:sp>
      <p:sp>
        <p:nvSpPr>
          <p:cNvPr id="10" name="TextBox 9"/>
          <p:cNvSpPr txBox="1"/>
          <p:nvPr/>
        </p:nvSpPr>
        <p:spPr>
          <a:xfrm>
            <a:off x="777240" y="2697480"/>
            <a:ext cx="9831036" cy="1231106"/>
          </a:xfrm>
          <a:prstGeom prst="rect">
            <a:avLst/>
          </a:prstGeom>
          <a:noFill/>
        </p:spPr>
        <p:txBody>
          <a:bodyPr wrap="square" lIns="0" tIns="0" rIns="0" bIns="0" anchor="t">
            <a:spAutoFit/>
          </a:bodyPr>
          <a:lstStyle/>
          <a:p>
            <a:r>
              <a:rPr sz="4000" b="1" i="0" dirty="0">
                <a:solidFill>
                  <a:srgbClr val="FFFFFF"/>
                </a:solidFill>
                <a:latin typeface="Aptos"/>
              </a:rPr>
              <a:t>One platform for your
entire property management operation</a:t>
            </a:r>
          </a:p>
        </p:txBody>
      </p:sp>
      <p:sp>
        <p:nvSpPr>
          <p:cNvPr id="11" name="TextBox 10"/>
          <p:cNvSpPr txBox="1"/>
          <p:nvPr/>
        </p:nvSpPr>
        <p:spPr>
          <a:xfrm>
            <a:off x="777240" y="4343400"/>
            <a:ext cx="7680960" cy="400110"/>
          </a:xfrm>
          <a:prstGeom prst="rect">
            <a:avLst/>
          </a:prstGeom>
          <a:noFill/>
        </p:spPr>
        <p:txBody>
          <a:bodyPr wrap="square" lIns="0" tIns="0" rIns="0" bIns="0" anchor="t">
            <a:spAutoFit/>
          </a:bodyPr>
          <a:lstStyle/>
          <a:p>
            <a:r>
              <a:rPr sz="1300" b="0" i="0" dirty="0">
                <a:solidFill>
                  <a:srgbClr val="CDE7E1"/>
                </a:solidFill>
                <a:latin typeface="Aptos"/>
              </a:rPr>
              <a:t>The </a:t>
            </a:r>
            <a:r>
              <a:rPr sz="1300" b="0" i="0" dirty="0" err="1">
                <a:solidFill>
                  <a:srgbClr val="CDE7E1"/>
                </a:solidFill>
                <a:latin typeface="Aptos"/>
              </a:rPr>
              <a:t>central</a:t>
            </a:r>
            <a:r>
              <a:rPr sz="1300" b="0" i="0" dirty="0">
                <a:solidFill>
                  <a:srgbClr val="CDE7E1"/>
                </a:solidFill>
                <a:latin typeface="Aptos"/>
              </a:rPr>
              <a:t>, </a:t>
            </a:r>
            <a:r>
              <a:rPr sz="1300" b="0" i="0" dirty="0" err="1">
                <a:solidFill>
                  <a:srgbClr val="CDE7E1"/>
                </a:solidFill>
                <a:latin typeface="Aptos"/>
              </a:rPr>
              <a:t>multilingual platform </a:t>
            </a:r>
            <a:r>
              <a:rPr sz="1300" b="0" i="0" dirty="0">
                <a:solidFill>
                  <a:srgbClr val="CDE7E1"/>
                </a:solidFill>
                <a:latin typeface="Aptos"/>
              </a:rPr>
              <a:t>for New Level Premium </a:t>
            </a:r>
            <a:r>
              <a:rPr lang="de-DE" sz="1300" b="0" i="0" dirty="0">
                <a:solidFill>
                  <a:srgbClr val="CDE7E1"/>
                </a:solidFill>
                <a:latin typeface="Aptos"/>
              </a:rPr>
              <a:t>– </a:t>
            </a:r>
            <a:r>
              <a:rPr sz="1300" b="0" i="0" dirty="0">
                <a:solidFill>
                  <a:srgbClr val="CDE7E1"/>
                </a:solidFill>
                <a:latin typeface="Aptos"/>
              </a:rPr>
              <a:t>portfolio, </a:t>
            </a:r>
            <a:r>
              <a:rPr sz="1300" b="0" i="0" dirty="0" err="1">
                <a:solidFill>
                  <a:srgbClr val="CDE7E1"/>
                </a:solidFill>
                <a:latin typeface="Aptos"/>
              </a:rPr>
              <a:t>owners </a:t>
            </a:r>
            <a:r>
              <a:rPr sz="1300" b="0" i="0" dirty="0">
                <a:solidFill>
                  <a:srgbClr val="CDE7E1"/>
                </a:solidFill>
                <a:latin typeface="Aptos"/>
              </a:rPr>
              <a:t>&amp; </a:t>
            </a:r>
            <a:r>
              <a:rPr sz="1300" b="0" i="0" dirty="0" err="1">
                <a:solidFill>
                  <a:srgbClr val="CDE7E1"/>
                </a:solidFill>
                <a:latin typeface="Aptos"/>
              </a:rPr>
              <a:t>tenants</a:t>
            </a:r>
            <a:r>
              <a:rPr sz="1300" b="0" i="0" dirty="0">
                <a:solidFill>
                  <a:srgbClr val="CDE7E1"/>
                </a:solidFill>
                <a:latin typeface="Aptos"/>
              </a:rPr>
              <a:t>, </a:t>
            </a:r>
            <a:r>
              <a:rPr sz="1300" b="0" i="0" dirty="0" err="1">
                <a:solidFill>
                  <a:srgbClr val="CDE7E1"/>
                </a:solidFill>
                <a:latin typeface="Aptos"/>
              </a:rPr>
              <a:t>finance</a:t>
            </a:r>
            <a:r>
              <a:rPr sz="1300" b="0" i="0" dirty="0">
                <a:solidFill>
                  <a:srgbClr val="CDE7E1"/>
                </a:solidFill>
                <a:latin typeface="Aptos"/>
              </a:rPr>
              <a:t>, services, </a:t>
            </a:r>
            <a:r>
              <a:rPr sz="1300" b="0" i="0" dirty="0" err="1">
                <a:solidFill>
                  <a:srgbClr val="CDE7E1"/>
                </a:solidFill>
                <a:latin typeface="Aptos"/>
              </a:rPr>
              <a:t>bookings</a:t>
            </a:r>
            <a:r>
              <a:rPr sz="1300" b="0" i="0" dirty="0">
                <a:solidFill>
                  <a:srgbClr val="CDE7E1"/>
                </a:solidFill>
                <a:latin typeface="Aptos"/>
              </a:rPr>
              <a:t>, </a:t>
            </a:r>
            <a:r>
              <a:rPr sz="1300" b="0" i="0" dirty="0" err="1">
                <a:solidFill>
                  <a:srgbClr val="CDE7E1"/>
                </a:solidFill>
                <a:latin typeface="Aptos"/>
              </a:rPr>
              <a:t>documents</a:t>
            </a:r>
            <a:r>
              <a:rPr sz="1300" b="0" i="0" dirty="0">
                <a:solidFill>
                  <a:srgbClr val="CDE7E1"/>
                </a:solidFill>
                <a:latin typeface="Aptos"/>
              </a:rPr>
              <a:t>, communication and </a:t>
            </a:r>
            <a:r>
              <a:rPr sz="1300" b="0" i="0" dirty="0" err="1">
                <a:solidFill>
                  <a:srgbClr val="CDE7E1"/>
                </a:solidFill>
                <a:latin typeface="Aptos"/>
              </a:rPr>
              <a:t>reports</a:t>
            </a:r>
            <a:r>
              <a:rPr sz="1300" b="0" i="0" dirty="0">
                <a:solidFill>
                  <a:srgbClr val="CDE7E1"/>
                </a:solidFill>
                <a:latin typeface="Aptos"/>
              </a:rPr>
              <a:t>, all in </a:t>
            </a:r>
            <a:r>
              <a:rPr sz="1300" b="0" i="0" dirty="0" err="1">
                <a:solidFill>
                  <a:srgbClr val="CDE7E1"/>
                </a:solidFill>
                <a:latin typeface="Aptos"/>
              </a:rPr>
              <a:t>one </a:t>
            </a:r>
            <a:r>
              <a:rPr sz="1300" b="0" i="0" dirty="0">
                <a:solidFill>
                  <a:srgbClr val="CDE7E1"/>
                </a:solidFill>
                <a:latin typeface="Aptos"/>
              </a:rPr>
              <a:t>system.</a:t>
            </a:r>
          </a:p>
        </p:txBody>
      </p:sp>
      <p:sp>
        <p:nvSpPr>
          <p:cNvPr id="12" name="Rounded Rectangle 11"/>
          <p:cNvSpPr/>
          <p:nvPr/>
        </p:nvSpPr>
        <p:spPr>
          <a:xfrm>
            <a:off x="777240"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248656"/>
            <a:ext cx="3108960" cy="365760"/>
          </a:xfrm>
          <a:prstGeom prst="rect">
            <a:avLst/>
          </a:prstGeom>
          <a:noFill/>
        </p:spPr>
        <p:txBody>
          <a:bodyPr wrap="square" lIns="0" tIns="0" rIns="0" bIns="0" anchor="t">
            <a:spAutoFit/>
          </a:bodyPr>
          <a:lstStyle/>
          <a:p>
            <a:r>
              <a:rPr sz="750" b="1" i="0">
                <a:solidFill>
                  <a:srgbClr val="9FCFC6"/>
                </a:solidFill>
                <a:latin typeface="Aptos"/>
              </a:rPr>
              <a:t>CLIENT</a:t>
            </a:r>
          </a:p>
          <a:p>
            <a:r>
              <a:rPr sz="1050" b="1" i="0">
                <a:solidFill>
                  <a:srgbClr val="FFFFFF"/>
                </a:solidFill>
                <a:latin typeface="Aptos"/>
              </a:rPr>
              <a:t>Ataberk Estate, Turkey</a:t>
            </a:r>
          </a:p>
        </p:txBody>
      </p:sp>
      <p:sp>
        <p:nvSpPr>
          <p:cNvPr id="14" name="Rounded Rectangle 13"/>
          <p:cNvSpPr/>
          <p:nvPr/>
        </p:nvSpPr>
        <p:spPr>
          <a:xfrm>
            <a:off x="4270248"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07408" y="5248656"/>
            <a:ext cx="3108960" cy="365760"/>
          </a:xfrm>
          <a:prstGeom prst="rect">
            <a:avLst/>
          </a:prstGeom>
          <a:noFill/>
        </p:spPr>
        <p:txBody>
          <a:bodyPr wrap="square" lIns="0" tIns="0" rIns="0" bIns="0" anchor="t">
            <a:spAutoFit/>
          </a:bodyPr>
          <a:lstStyle/>
          <a:p>
            <a:r>
              <a:rPr sz="750" b="1" i="0">
                <a:solidFill>
                  <a:srgbClr val="9FCFC6"/>
                </a:solidFill>
                <a:latin typeface="Aptos"/>
              </a:rPr>
              <a:t>REFERENCE PROPERTY</a:t>
            </a:r>
          </a:p>
          <a:p>
            <a:r>
              <a:rPr sz="1050" b="1" i="0">
                <a:solidFill>
                  <a:srgbClr val="FFFFFF"/>
                </a:solidFill>
                <a:latin typeface="Aptos"/>
              </a:rPr>
              <a:t>New Level Premium, Avsallar/Alanya</a:t>
            </a:r>
          </a:p>
        </p:txBody>
      </p:sp>
      <p:sp>
        <p:nvSpPr>
          <p:cNvPr id="16" name="Rounded Rectangle 15"/>
          <p:cNvSpPr/>
          <p:nvPr/>
        </p:nvSpPr>
        <p:spPr>
          <a:xfrm>
            <a:off x="7763256"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0416" y="5248656"/>
            <a:ext cx="3108960" cy="365760"/>
          </a:xfrm>
          <a:prstGeom prst="rect">
            <a:avLst/>
          </a:prstGeom>
          <a:noFill/>
        </p:spPr>
        <p:txBody>
          <a:bodyPr wrap="square" lIns="0" tIns="0" rIns="0" bIns="0" anchor="t">
            <a:spAutoFit/>
          </a:bodyPr>
          <a:lstStyle/>
          <a:p>
            <a:r>
              <a:rPr sz="750" b="1" i="0">
                <a:solidFill>
                  <a:srgbClr val="9FCFC6"/>
                </a:solidFill>
                <a:latin typeface="Aptos"/>
              </a:rPr>
              <a:t>IMPLEMENTATION</a:t>
            </a:r>
          </a:p>
          <a:p>
            <a:r>
              <a:rPr sz="1050" b="1" i="0">
                <a:solidFill>
                  <a:srgbClr val="FFFFFF"/>
                </a:solidFill>
                <a:latin typeface="Aptos"/>
              </a:rPr>
              <a:t>WAMOCON GmbH</a:t>
            </a:r>
          </a:p>
        </p:txBody>
      </p:sp>
      <p:sp>
        <p:nvSpPr>
          <p:cNvPr id="18" name="Rounded Rectangle 17"/>
          <p:cNvSpPr/>
          <p:nvPr/>
        </p:nvSpPr>
        <p:spPr>
          <a:xfrm>
            <a:off x="777240"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815584"/>
            <a:ext cx="3108960" cy="365760"/>
          </a:xfrm>
          <a:prstGeom prst="rect">
            <a:avLst/>
          </a:prstGeom>
          <a:noFill/>
        </p:spPr>
        <p:txBody>
          <a:bodyPr wrap="square" lIns="0" tIns="0" rIns="0" bIns="0" anchor="t">
            <a:spAutoFit/>
          </a:bodyPr>
          <a:lstStyle/>
          <a:p>
            <a:r>
              <a:rPr sz="750" b="1" i="0">
                <a:solidFill>
                  <a:srgbClr val="9FCFC6"/>
                </a:solidFill>
                <a:latin typeface="Aptos"/>
              </a:rPr>
              <a:t>PLATFORM</a:t>
            </a:r>
          </a:p>
          <a:p>
            <a:r>
              <a:rPr sz="1050" b="1" i="0">
                <a:solidFill>
                  <a:srgbClr val="FFFFFF"/>
                </a:solidFill>
                <a:latin typeface="Aptos"/>
              </a:rPr>
              <a:t>1Çatı ERP · Demonstration stand</a:t>
            </a:r>
          </a:p>
        </p:txBody>
      </p:sp>
      <p:sp>
        <p:nvSpPr>
          <p:cNvPr id="20" name="Rounded Rectangle 19"/>
          <p:cNvSpPr/>
          <p:nvPr/>
        </p:nvSpPr>
        <p:spPr>
          <a:xfrm>
            <a:off x="4270248"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07408" y="5815584"/>
            <a:ext cx="3108960" cy="365760"/>
          </a:xfrm>
          <a:prstGeom prst="rect">
            <a:avLst/>
          </a:prstGeom>
          <a:noFill/>
        </p:spPr>
        <p:txBody>
          <a:bodyPr wrap="square" lIns="0" tIns="0" rIns="0" bIns="0" anchor="t">
            <a:spAutoFit/>
          </a:bodyPr>
          <a:lstStyle/>
          <a:p>
            <a:r>
              <a:rPr sz="750" b="1" i="0">
                <a:solidFill>
                  <a:srgbClr val="9FCFC6"/>
                </a:solidFill>
                <a:latin typeface="Aptos"/>
              </a:rPr>
              <a:t>DOCUMENT</a:t>
            </a:r>
          </a:p>
          <a:p>
            <a:r>
              <a:rPr sz="1050" b="1" i="0">
                <a:solidFill>
                  <a:srgbClr val="FFFFFF"/>
                </a:solidFill>
                <a:latin typeface="Aptos"/>
              </a:rPr>
              <a:t>Customer version</a:t>
            </a:r>
          </a:p>
        </p:txBody>
      </p:sp>
      <p:sp>
        <p:nvSpPr>
          <p:cNvPr id="22" name="Rounded Rectangle 21"/>
          <p:cNvSpPr/>
          <p:nvPr/>
        </p:nvSpPr>
        <p:spPr>
          <a:xfrm>
            <a:off x="7763256"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0416" y="5815584"/>
            <a:ext cx="3108960" cy="365760"/>
          </a:xfrm>
          <a:prstGeom prst="rect">
            <a:avLst/>
          </a:prstGeom>
          <a:noFill/>
        </p:spPr>
        <p:txBody>
          <a:bodyPr wrap="square" lIns="0" tIns="0" rIns="0" bIns="0" anchor="t">
            <a:spAutoFit/>
          </a:bodyPr>
          <a:lstStyle/>
          <a:p>
            <a:r>
              <a:rPr sz="750" b="1" i="0">
                <a:solidFill>
                  <a:srgbClr val="9FCFC6"/>
                </a:solidFill>
                <a:latin typeface="Aptos"/>
              </a:rPr>
              <a:t>DATE</a:t>
            </a:r>
          </a:p>
          <a:p>
            <a:r>
              <a:rPr sz="1050" b="1" i="0">
                <a:solidFill>
                  <a:srgbClr val="FFFFFF"/>
                </a:solidFill>
                <a:latin typeface="Aptos"/>
              </a:rPr>
              <a:t>7 July 2026</a:t>
            </a:r>
          </a:p>
        </p:txBody>
      </p:sp>
      <p:sp>
        <p:nvSpPr>
          <p:cNvPr id="24" name="TextBox 23"/>
          <p:cNvSpPr txBox="1"/>
          <p:nvPr/>
        </p:nvSpPr>
        <p:spPr>
          <a:xfrm>
            <a:off x="777240" y="6473952"/>
            <a:ext cx="8229600" cy="130805"/>
          </a:xfrm>
          <a:prstGeom prst="rect">
            <a:avLst/>
          </a:prstGeom>
          <a:noFill/>
        </p:spPr>
        <p:txBody>
          <a:bodyPr wrap="square" lIns="0" tIns="0" rIns="0" bIns="0" anchor="t">
            <a:spAutoFit/>
          </a:bodyPr>
          <a:lstStyle/>
          <a:p>
            <a:r>
              <a:rPr sz="850" b="0" i="0" dirty="0" err="1">
                <a:solidFill>
                  <a:srgbClr val="A9D2CB"/>
                </a:solidFill>
                <a:latin typeface="Aptos"/>
              </a:rPr>
              <a:t>Confidential </a:t>
            </a:r>
            <a:r>
              <a:rPr lang="de-DE" sz="850" b="0" i="0" dirty="0">
                <a:solidFill>
                  <a:srgbClr val="A9D2CB"/>
                </a:solidFill>
                <a:latin typeface="Aptos"/>
              </a:rPr>
              <a:t>– </a:t>
            </a:r>
            <a:r>
              <a:rPr sz="850" b="0" i="0" dirty="0" err="1">
                <a:solidFill>
                  <a:srgbClr val="A9D2CB"/>
                </a:solidFill>
                <a:latin typeface="Aptos"/>
              </a:rPr>
              <a:t>intended solely </a:t>
            </a:r>
            <a:r>
              <a:rPr sz="850" b="0" i="0" dirty="0">
                <a:solidFill>
                  <a:srgbClr val="A9D2CB"/>
                </a:solidFill>
                <a:latin typeface="Aptos"/>
              </a:rPr>
              <a:t>for </a:t>
            </a:r>
            <a:r>
              <a:rPr sz="850" b="0" i="0" dirty="0" err="1">
                <a:solidFill>
                  <a:srgbClr val="A9D2CB"/>
                </a:solidFill>
                <a:latin typeface="Aptos"/>
              </a:rPr>
              <a:t>Ataberk </a:t>
            </a:r>
            <a:r>
              <a:rPr sz="850" b="0" i="0" dirty="0">
                <a:solidFill>
                  <a:srgbClr val="A9D2CB"/>
                </a:solidFill>
                <a:latin typeface="Aptos"/>
              </a:rPr>
              <a:t>Estate.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OVERVIEW</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Contents of the presentation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645920"/>
            <a:ext cx="4937760" cy="475488"/>
          </a:xfrm>
          <a:prstGeom prst="rect">
            <a:avLst/>
          </a:prstGeom>
          <a:noFill/>
        </p:spPr>
        <p:txBody>
          <a:bodyPr wrap="square" lIns="0" tIns="0" rIns="0" bIns="0" anchor="ctr">
            <a:spAutoFit/>
          </a:bodyPr>
          <a:lstStyle/>
          <a:p>
            <a:r>
              <a:rPr sz="1300" b="1" i="0">
                <a:solidFill>
                  <a:srgbClr val="B9822B"/>
                </a:solidFill>
                <a:latin typeface="Aptos"/>
              </a:rPr>
              <a:t>01 </a:t>
            </a:r>
            <a:r>
              <a:rPr sz="1250" b="1" i="0">
                <a:solidFill>
                  <a:srgbClr val="101820"/>
                </a:solidFill>
                <a:latin typeface="Aptos"/>
              </a:rPr>
              <a:t>  Management Summary</a:t>
            </a:r>
          </a:p>
        </p:txBody>
      </p:sp>
      <p:sp>
        <p:nvSpPr>
          <p:cNvPr id="11" name="Rounded Rectangle 10"/>
          <p:cNvSpPr/>
          <p:nvPr/>
        </p:nvSpPr>
        <p:spPr>
          <a:xfrm>
            <a:off x="640080" y="2231136"/>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231136"/>
            <a:ext cx="4937760" cy="475488"/>
          </a:xfrm>
          <a:prstGeom prst="rect">
            <a:avLst/>
          </a:prstGeom>
          <a:noFill/>
        </p:spPr>
        <p:txBody>
          <a:bodyPr wrap="square" lIns="0" tIns="0" rIns="0" bIns="0" anchor="ctr">
            <a:spAutoFit/>
          </a:bodyPr>
          <a:lstStyle/>
          <a:p>
            <a:r>
              <a:rPr sz="1300" b="1" i="0">
                <a:solidFill>
                  <a:srgbClr val="B9822B"/>
                </a:solidFill>
                <a:latin typeface="Aptos"/>
              </a:rPr>
              <a:t>02 </a:t>
            </a:r>
            <a:r>
              <a:rPr sz="1250" b="1" i="0">
                <a:solidFill>
                  <a:srgbClr val="101820"/>
                </a:solidFill>
                <a:latin typeface="Aptos"/>
              </a:rPr>
              <a:t>  Market Environment &amp; Timing</a:t>
            </a:r>
          </a:p>
        </p:txBody>
      </p:sp>
      <p:sp>
        <p:nvSpPr>
          <p:cNvPr id="13" name="Rounded Rectangle 12"/>
          <p:cNvSpPr/>
          <p:nvPr/>
        </p:nvSpPr>
        <p:spPr>
          <a:xfrm>
            <a:off x="640080" y="2816352"/>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2816352"/>
            <a:ext cx="4937760" cy="475488"/>
          </a:xfrm>
          <a:prstGeom prst="rect">
            <a:avLst/>
          </a:prstGeom>
          <a:noFill/>
        </p:spPr>
        <p:txBody>
          <a:bodyPr wrap="square" lIns="0" tIns="0" rIns="0" bIns="0" anchor="ctr">
            <a:spAutoFit/>
          </a:bodyPr>
          <a:lstStyle/>
          <a:p>
            <a:r>
              <a:rPr sz="1300" b="1" i="0">
                <a:solidFill>
                  <a:srgbClr val="B9822B"/>
                </a:solidFill>
                <a:latin typeface="Aptos"/>
              </a:rPr>
              <a:t>03 </a:t>
            </a:r>
            <a:r>
              <a:rPr sz="1250" b="1" i="0">
                <a:solidFill>
                  <a:srgbClr val="101820"/>
                </a:solidFill>
                <a:latin typeface="Aptos"/>
              </a:rPr>
              <a:t>  Competition &amp; Positioning</a:t>
            </a:r>
          </a:p>
        </p:txBody>
      </p:sp>
      <p:sp>
        <p:nvSpPr>
          <p:cNvPr id="15" name="Rounded Rectangle 14"/>
          <p:cNvSpPr/>
          <p:nvPr/>
        </p:nvSpPr>
        <p:spPr>
          <a:xfrm>
            <a:off x="640080" y="3401568"/>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401568"/>
            <a:ext cx="4937760" cy="475488"/>
          </a:xfrm>
          <a:prstGeom prst="rect">
            <a:avLst/>
          </a:prstGeom>
          <a:noFill/>
        </p:spPr>
        <p:txBody>
          <a:bodyPr wrap="square" lIns="0" tIns="0" rIns="0" bIns="0" anchor="ctr">
            <a:spAutoFit/>
          </a:bodyPr>
          <a:lstStyle/>
          <a:p>
            <a:r>
              <a:rPr sz="1300" b="1" i="0">
                <a:solidFill>
                  <a:srgbClr val="B9822B"/>
                </a:solidFill>
                <a:latin typeface="Aptos"/>
              </a:rPr>
              <a:t>04 </a:t>
            </a:r>
            <a:r>
              <a:rPr sz="1250" b="1" i="0">
                <a:solidFill>
                  <a:srgbClr val="101820"/>
                </a:solidFill>
                <a:latin typeface="Aptos"/>
              </a:rPr>
              <a:t>  Target Audience</a:t>
            </a:r>
          </a:p>
        </p:txBody>
      </p:sp>
      <p:sp>
        <p:nvSpPr>
          <p:cNvPr id="17" name="Rounded Rectangle 16"/>
          <p:cNvSpPr/>
          <p:nvPr/>
        </p:nvSpPr>
        <p:spPr>
          <a:xfrm>
            <a:off x="640080" y="3986784"/>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86784"/>
            <a:ext cx="4937760" cy="475488"/>
          </a:xfrm>
          <a:prstGeom prst="rect">
            <a:avLst/>
          </a:prstGeom>
          <a:noFill/>
        </p:spPr>
        <p:txBody>
          <a:bodyPr wrap="square" lIns="0" tIns="0" rIns="0" bIns="0" anchor="ctr">
            <a:spAutoFit/>
          </a:bodyPr>
          <a:lstStyle/>
          <a:p>
            <a:r>
              <a:rPr sz="1300" b="1" i="0">
                <a:solidFill>
                  <a:srgbClr val="B9822B"/>
                </a:solidFill>
                <a:latin typeface="Aptos"/>
              </a:rPr>
              <a:t>05 </a:t>
            </a:r>
            <a:r>
              <a:rPr sz="1250" b="1" i="0">
                <a:solidFill>
                  <a:srgbClr val="101820"/>
                </a:solidFill>
                <a:latin typeface="Aptos"/>
              </a:rPr>
              <a:t>  Benefits for Ataberk Estate</a:t>
            </a:r>
          </a:p>
        </p:txBody>
      </p:sp>
      <p:sp>
        <p:nvSpPr>
          <p:cNvPr id="19" name="Rounded Rectangle 18"/>
          <p:cNvSpPr/>
          <p:nvPr/>
        </p:nvSpPr>
        <p:spPr>
          <a:xfrm>
            <a:off x="640080" y="457200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709716"/>
            <a:ext cx="4937760" cy="200055"/>
          </a:xfrm>
          <a:prstGeom prst="rect">
            <a:avLst/>
          </a:prstGeom>
          <a:noFill/>
        </p:spPr>
        <p:txBody>
          <a:bodyPr wrap="square" lIns="0" tIns="0" rIns="0" bIns="0" anchor="ctr">
            <a:spAutoFit/>
          </a:bodyPr>
          <a:lstStyle/>
          <a:p>
            <a:r>
              <a:rPr sz="1300" b="1" i="0" dirty="0">
                <a:solidFill>
                  <a:srgbClr val="B9822B"/>
                </a:solidFill>
                <a:latin typeface="Aptos"/>
              </a:rPr>
              <a:t>06 </a:t>
            </a:r>
            <a:r>
              <a:rPr sz="1250" b="1" i="0" dirty="0" err="1">
                <a:solidFill>
                  <a:srgbClr val="101820"/>
                </a:solidFill>
                <a:latin typeface="Aptos"/>
              </a:rPr>
              <a:t>  Scope of functions </a:t>
            </a:r>
            <a:r>
              <a:rPr lang="de-DE" sz="1250" b="1" i="0" dirty="0">
                <a:solidFill>
                  <a:srgbClr val="101820"/>
                </a:solidFill>
                <a:latin typeface="Aptos"/>
              </a:rPr>
              <a:t>– </a:t>
            </a:r>
            <a:r>
              <a:rPr sz="1250" b="1" i="0" dirty="0">
                <a:solidFill>
                  <a:srgbClr val="101820"/>
                </a:solidFill>
                <a:latin typeface="Aptos"/>
              </a:rPr>
              <a:t>what 1Çatı </a:t>
            </a:r>
            <a:r>
              <a:rPr sz="1250" b="1" i="0" dirty="0" err="1">
                <a:solidFill>
                  <a:srgbClr val="101820"/>
                </a:solidFill>
                <a:latin typeface="Aptos"/>
              </a:rPr>
              <a:t>delivers</a:t>
            </a:r>
            <a:endParaRPr sz="1250" b="1" i="0" dirty="0">
              <a:solidFill>
                <a:srgbClr val="101820"/>
              </a:solidFill>
              <a:latin typeface="Aptos"/>
            </a:endParaRPr>
          </a:p>
        </p:txBody>
      </p:sp>
      <p:sp>
        <p:nvSpPr>
          <p:cNvPr id="21" name="Rounded Rectangle 20"/>
          <p:cNvSpPr/>
          <p:nvPr/>
        </p:nvSpPr>
        <p:spPr>
          <a:xfrm>
            <a:off x="6217920" y="164592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1645920"/>
            <a:ext cx="4937760" cy="475488"/>
          </a:xfrm>
          <a:prstGeom prst="rect">
            <a:avLst/>
          </a:prstGeom>
          <a:noFill/>
        </p:spPr>
        <p:txBody>
          <a:bodyPr wrap="square" lIns="0" tIns="0" rIns="0" bIns="0" anchor="ctr">
            <a:spAutoFit/>
          </a:bodyPr>
          <a:lstStyle/>
          <a:p>
            <a:r>
              <a:rPr sz="1300" b="1" i="0">
                <a:solidFill>
                  <a:srgbClr val="B9822B"/>
                </a:solidFill>
                <a:latin typeface="Aptos"/>
              </a:rPr>
              <a:t>07 </a:t>
            </a:r>
            <a:r>
              <a:rPr sz="1250" b="1" i="0">
                <a:solidFill>
                  <a:srgbClr val="101820"/>
                </a:solidFill>
                <a:latin typeface="Aptos"/>
              </a:rPr>
              <a:t>  Aligning with your requirements</a:t>
            </a:r>
          </a:p>
        </p:txBody>
      </p:sp>
      <p:sp>
        <p:nvSpPr>
          <p:cNvPr id="23" name="Rounded Rectangle 22"/>
          <p:cNvSpPr/>
          <p:nvPr/>
        </p:nvSpPr>
        <p:spPr>
          <a:xfrm>
            <a:off x="6217920" y="2231136"/>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368852"/>
            <a:ext cx="4937760" cy="200055"/>
          </a:xfrm>
          <a:prstGeom prst="rect">
            <a:avLst/>
          </a:prstGeom>
          <a:noFill/>
        </p:spPr>
        <p:txBody>
          <a:bodyPr wrap="square" lIns="0" tIns="0" rIns="0" bIns="0" anchor="ctr">
            <a:spAutoFit/>
          </a:bodyPr>
          <a:lstStyle/>
          <a:p>
            <a:r>
              <a:rPr sz="1300" b="1" i="0" dirty="0">
                <a:solidFill>
                  <a:srgbClr val="B9822B"/>
                </a:solidFill>
                <a:latin typeface="Aptos"/>
              </a:rPr>
              <a:t>08 </a:t>
            </a:r>
            <a:r>
              <a:rPr sz="1250" b="1" i="0" dirty="0">
                <a:solidFill>
                  <a:srgbClr val="101820"/>
                </a:solidFill>
                <a:latin typeface="Aptos"/>
              </a:rPr>
              <a:t>  The demonstration </a:t>
            </a:r>
            <a:r>
              <a:rPr lang="de-DE" sz="1250" b="1" i="0" dirty="0">
                <a:solidFill>
                  <a:srgbClr val="101820"/>
                </a:solidFill>
                <a:latin typeface="Aptos"/>
              </a:rPr>
              <a:t>– </a:t>
            </a:r>
            <a:r>
              <a:rPr sz="1250" b="1" i="0" dirty="0">
                <a:solidFill>
                  <a:srgbClr val="101820"/>
                </a:solidFill>
                <a:latin typeface="Aptos"/>
              </a:rPr>
              <a:t>purpose &amp; </a:t>
            </a:r>
            <a:r>
              <a:rPr sz="1250" b="1" i="0" dirty="0" err="1">
                <a:solidFill>
                  <a:srgbClr val="101820"/>
                </a:solidFill>
                <a:latin typeface="Aptos"/>
              </a:rPr>
              <a:t>scope</a:t>
            </a:r>
            <a:endParaRPr sz="1250" b="1" i="0" dirty="0">
              <a:solidFill>
                <a:srgbClr val="101820"/>
              </a:solidFill>
              <a:latin typeface="Aptos"/>
            </a:endParaRPr>
          </a:p>
        </p:txBody>
      </p:sp>
      <p:sp>
        <p:nvSpPr>
          <p:cNvPr id="25" name="Rounded Rectangle 24"/>
          <p:cNvSpPr/>
          <p:nvPr/>
        </p:nvSpPr>
        <p:spPr>
          <a:xfrm>
            <a:off x="6217920" y="2816352"/>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2816352"/>
            <a:ext cx="4937760" cy="475488"/>
          </a:xfrm>
          <a:prstGeom prst="rect">
            <a:avLst/>
          </a:prstGeom>
          <a:noFill/>
        </p:spPr>
        <p:txBody>
          <a:bodyPr wrap="square" lIns="0" tIns="0" rIns="0" bIns="0" anchor="ctr">
            <a:spAutoFit/>
          </a:bodyPr>
          <a:lstStyle/>
          <a:p>
            <a:r>
              <a:rPr sz="1300" b="1" i="0">
                <a:solidFill>
                  <a:srgbClr val="B9822B"/>
                </a:solidFill>
                <a:latin typeface="Aptos"/>
              </a:rPr>
              <a:t>09 </a:t>
            </a:r>
            <a:r>
              <a:rPr sz="1250" b="1" i="0">
                <a:solidFill>
                  <a:srgbClr val="101820"/>
                </a:solidFill>
                <a:latin typeface="Aptos"/>
              </a:rPr>
              <a:t>  Next steps</a:t>
            </a:r>
          </a:p>
        </p:txBody>
      </p:sp>
      <p:sp>
        <p:nvSpPr>
          <p:cNvPr id="27" name="Rounded Rectangle 26"/>
          <p:cNvSpPr/>
          <p:nvPr/>
        </p:nvSpPr>
        <p:spPr>
          <a:xfrm>
            <a:off x="6217920" y="3401568"/>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3401568"/>
            <a:ext cx="4937760" cy="475488"/>
          </a:xfrm>
          <a:prstGeom prst="rect">
            <a:avLst/>
          </a:prstGeom>
          <a:noFill/>
        </p:spPr>
        <p:txBody>
          <a:bodyPr wrap="square" lIns="0" tIns="0" rIns="0" bIns="0" anchor="ctr">
            <a:spAutoFit/>
          </a:bodyPr>
          <a:lstStyle/>
          <a:p>
            <a:r>
              <a:rPr sz="1300" b="1" i="0">
                <a:solidFill>
                  <a:srgbClr val="B9822B"/>
                </a:solidFill>
                <a:latin typeface="Aptos"/>
              </a:rPr>
              <a:t>10 </a:t>
            </a:r>
            <a:r>
              <a:rPr sz="1250" b="1" i="0">
                <a:solidFill>
                  <a:srgbClr val="101820"/>
                </a:solidFill>
                <a:latin typeface="Aptos"/>
              </a:rPr>
              <a:t>  Implementation plan &amp; roadmap</a:t>
            </a:r>
          </a:p>
        </p:txBody>
      </p:sp>
      <p:sp>
        <p:nvSpPr>
          <p:cNvPr id="29" name="Rounded Rectangle 28"/>
          <p:cNvSpPr/>
          <p:nvPr/>
        </p:nvSpPr>
        <p:spPr>
          <a:xfrm>
            <a:off x="6217920" y="3986784"/>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3986784"/>
            <a:ext cx="4937760" cy="475488"/>
          </a:xfrm>
          <a:prstGeom prst="rect">
            <a:avLst/>
          </a:prstGeom>
          <a:noFill/>
        </p:spPr>
        <p:txBody>
          <a:bodyPr wrap="square" lIns="0" tIns="0" rIns="0" bIns="0" anchor="ctr">
            <a:spAutoFit/>
          </a:bodyPr>
          <a:lstStyle/>
          <a:p>
            <a:r>
              <a:rPr sz="1300" b="1" i="0">
                <a:solidFill>
                  <a:srgbClr val="B9822B"/>
                </a:solidFill>
                <a:latin typeface="Aptos"/>
              </a:rPr>
              <a:t>11 </a:t>
            </a:r>
            <a:r>
              <a:rPr sz="1250" b="1" i="0">
                <a:solidFill>
                  <a:srgbClr val="101820"/>
                </a:solidFill>
                <a:latin typeface="Aptos"/>
              </a:rPr>
              <a:t>  Opportunities &amp; Prerequisites</a:t>
            </a:r>
          </a:p>
        </p:txBody>
      </p:sp>
      <p:sp>
        <p:nvSpPr>
          <p:cNvPr id="31" name="Rounded Rectangle 30"/>
          <p:cNvSpPr/>
          <p:nvPr/>
        </p:nvSpPr>
        <p:spPr>
          <a:xfrm>
            <a:off x="640080" y="5440680"/>
            <a:ext cx="10881360" cy="7772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 y="5440680"/>
            <a:ext cx="54864" cy="7772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6112" y="5644634"/>
            <a:ext cx="10469880" cy="369332"/>
          </a:xfrm>
          <a:prstGeom prst="rect">
            <a:avLst/>
          </a:prstGeom>
          <a:noFill/>
        </p:spPr>
        <p:txBody>
          <a:bodyPr wrap="square" lIns="0" tIns="0" rIns="0" bIns="0" anchor="ctr">
            <a:spAutoFit/>
          </a:bodyPr>
          <a:lstStyle/>
          <a:p>
            <a:r>
              <a:rPr sz="1250" b="1" i="0" dirty="0">
                <a:solidFill>
                  <a:srgbClr val="044F49"/>
                </a:solidFill>
                <a:latin typeface="Aptos"/>
              </a:rPr>
              <a:t>How </a:t>
            </a:r>
            <a:r>
              <a:rPr sz="1250" b="1" i="0" dirty="0" err="1">
                <a:solidFill>
                  <a:srgbClr val="044F49"/>
                </a:solidFill>
                <a:latin typeface="Aptos"/>
              </a:rPr>
              <a:t>to read this presentation</a:t>
            </a:r>
            <a:r>
              <a:rPr sz="1250" b="1" i="0" dirty="0">
                <a:solidFill>
                  <a:srgbClr val="044F49"/>
                </a:solidFill>
                <a:latin typeface="Aptos"/>
              </a:rPr>
              <a:t>. </a:t>
            </a:r>
            <a:r>
              <a:rPr sz="1150" b="0" i="0" dirty="0">
                <a:solidFill>
                  <a:srgbClr val="33413D"/>
                </a:solidFill>
                <a:latin typeface="Aptos"/>
              </a:rPr>
              <a:t> 1Çatı </a:t>
            </a:r>
            <a:r>
              <a:rPr sz="1150" b="0" i="0" dirty="0" err="1">
                <a:solidFill>
                  <a:srgbClr val="33413D"/>
                </a:solidFill>
                <a:latin typeface="Aptos"/>
              </a:rPr>
              <a:t>is available as a fully functional demonstration environment</a:t>
            </a:r>
            <a:r>
              <a:rPr sz="1150" b="0" i="0" dirty="0">
                <a:solidFill>
                  <a:srgbClr val="33413D"/>
                </a:solidFill>
                <a:latin typeface="Aptos"/>
              </a:rPr>
              <a:t>. </a:t>
            </a:r>
            <a:r>
              <a:rPr sz="1150" b="0" i="0" dirty="0" err="1">
                <a:solidFill>
                  <a:srgbClr val="33413D"/>
                </a:solidFill>
                <a:latin typeface="Aptos"/>
              </a:rPr>
              <a:t>Each feature is marked with a </a:t>
            </a:r>
            <a:r>
              <a:rPr sz="1150" b="0" i="0" dirty="0">
                <a:solidFill>
                  <a:srgbClr val="33413D"/>
                </a:solidFill>
                <a:latin typeface="Aptos"/>
              </a:rPr>
              <a:t>status </a:t>
            </a:r>
            <a:r>
              <a:rPr lang="de-DE" sz="1150" b="0" i="0" dirty="0">
                <a:solidFill>
                  <a:srgbClr val="33413D"/>
                </a:solidFill>
                <a:latin typeface="Aptos"/>
              </a:rPr>
              <a:t>– </a:t>
            </a:r>
            <a:r>
              <a:rPr sz="1150" b="0" i="0" dirty="0">
                <a:solidFill>
                  <a:srgbClr val="33413D"/>
                </a:solidFill>
                <a:latin typeface="Aptos"/>
              </a:rPr>
              <a:t>so </a:t>
            </a:r>
            <a:r>
              <a:rPr sz="1150" b="0" i="0" dirty="0" err="1">
                <a:solidFill>
                  <a:srgbClr val="33413D"/>
                </a:solidFill>
                <a:latin typeface="Aptos"/>
              </a:rPr>
              <a:t>it is clear </a:t>
            </a:r>
            <a:r>
              <a:rPr sz="1150" b="0" i="0" dirty="0">
                <a:solidFill>
                  <a:srgbClr val="33413D"/>
                </a:solidFill>
                <a:latin typeface="Aptos"/>
              </a:rPr>
              <a:t>what </a:t>
            </a:r>
            <a:r>
              <a:rPr sz="1150" b="0" i="0" dirty="0" err="1">
                <a:solidFill>
                  <a:srgbClr val="33413D"/>
                </a:solidFill>
                <a:latin typeface="Aptos"/>
              </a:rPr>
              <a:t>is available today </a:t>
            </a:r>
            <a:r>
              <a:rPr sz="1150" b="0" i="0" dirty="0">
                <a:solidFill>
                  <a:srgbClr val="33413D"/>
                </a:solidFill>
                <a:latin typeface="Aptos"/>
              </a:rPr>
              <a:t>and what </a:t>
            </a:r>
            <a:r>
              <a:rPr sz="1150" b="0" i="0" dirty="0" err="1">
                <a:solidFill>
                  <a:srgbClr val="33413D"/>
                </a:solidFill>
                <a:latin typeface="Aptos"/>
              </a:rPr>
              <a:t>will be enabled </a:t>
            </a:r>
            <a:r>
              <a:rPr sz="1150" b="0" i="0" dirty="0">
                <a:solidFill>
                  <a:srgbClr val="33413D"/>
                </a:solidFill>
                <a:latin typeface="Aptos"/>
              </a:rPr>
              <a:t>for </a:t>
            </a:r>
            <a:r>
              <a:rPr sz="1150" b="0" i="0" dirty="0" err="1">
                <a:solidFill>
                  <a:srgbClr val="33413D"/>
                </a:solidFill>
                <a:latin typeface="Aptos"/>
              </a:rPr>
              <a:t>production use</a:t>
            </a:r>
            <a:r>
              <a:rPr sz="1150" b="0" i="0" dirty="0">
                <a:solidFill>
                  <a:srgbClr val="33413D"/>
                </a:solidFill>
                <a:latin typeface="Aptos"/>
              </a:rPr>
              <a:t>.</a:t>
            </a:r>
          </a:p>
        </p:txBody>
      </p:sp>
      <p:sp>
        <p:nvSpPr>
          <p:cNvPr id="34" name="TextBox 3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35" name="TextBox 3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a:t>
            </a:r>
          </a:p>
        </p:txBody>
      </p:sp>
      <p:pic>
        <p:nvPicPr>
          <p:cNvPr id="36" name="Picture 3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THE FEATURED PROPERTY</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New Level Premium </a:t>
            </a:r>
            <a:r>
              <a:rPr lang="de-DE" sz="2700" b="1" i="0" dirty="0">
                <a:solidFill>
                  <a:srgbClr val="044F49"/>
                </a:solidFill>
                <a:latin typeface="Aptos"/>
              </a:rPr>
              <a:t>– </a:t>
            </a:r>
            <a:r>
              <a:rPr sz="2700" b="1" i="0" dirty="0" err="1">
                <a:solidFill>
                  <a:srgbClr val="044F49"/>
                </a:solidFill>
                <a:latin typeface="Aptos"/>
              </a:rPr>
              <a:t>Avsallar </a:t>
            </a:r>
            <a:r>
              <a:rPr sz="2700" b="1" i="0" dirty="0">
                <a:solidFill>
                  <a:srgbClr val="044F49"/>
                </a:solidFill>
                <a:latin typeface="Aptos"/>
              </a:rPr>
              <a:t>/ Alanya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481328"/>
            <a:ext cx="10881360" cy="176972"/>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A </a:t>
            </a:r>
            <a:r>
              <a:rPr sz="1150" i="0" dirty="0" err="1">
                <a:solidFill>
                  <a:srgbClr val="33413D"/>
                </a:solidFill>
                <a:latin typeface="Aptos"/>
              </a:rPr>
              <a:t>new-build development comprising</a:t>
            </a:r>
            <a:r>
              <a:rPr sz="1150" i="0" dirty="0">
                <a:solidFill>
                  <a:srgbClr val="33413D"/>
                </a:solidFill>
                <a:latin typeface="Aptos"/>
              </a:rPr>
              <a:t> 769 </a:t>
            </a:r>
            <a:r>
              <a:rPr sz="1150" i="0" dirty="0" err="1">
                <a:solidFill>
                  <a:srgbClr val="33413D"/>
                </a:solidFill>
                <a:latin typeface="Aptos"/>
              </a:rPr>
              <a:t>residential units </a:t>
            </a:r>
            <a:r>
              <a:rPr sz="1150" i="0" dirty="0">
                <a:solidFill>
                  <a:srgbClr val="33413D"/>
                </a:solidFill>
                <a:latin typeface="Aptos"/>
              </a:rPr>
              <a:t>on </a:t>
            </a:r>
            <a:r>
              <a:rPr sz="1150" i="0" dirty="0" err="1">
                <a:solidFill>
                  <a:srgbClr val="33413D"/>
                </a:solidFill>
                <a:latin typeface="Aptos"/>
              </a:rPr>
              <a:t>a wooded hillside with sea views </a:t>
            </a:r>
            <a:r>
              <a:rPr lang="de-DE" sz="1150" i="0" dirty="0">
                <a:solidFill>
                  <a:srgbClr val="33413D"/>
                </a:solidFill>
                <a:latin typeface="Aptos"/>
              </a:rPr>
              <a:t>– </a:t>
            </a:r>
            <a:r>
              <a:rPr sz="1150" i="0" dirty="0">
                <a:solidFill>
                  <a:srgbClr val="33413D"/>
                </a:solidFill>
                <a:latin typeface="Aptos"/>
              </a:rPr>
              <a:t>the </a:t>
            </a:r>
            <a:r>
              <a:rPr sz="1150" i="0" dirty="0" err="1">
                <a:solidFill>
                  <a:srgbClr val="33413D"/>
                </a:solidFill>
                <a:latin typeface="Aptos"/>
              </a:rPr>
              <a:t>reference property </a:t>
            </a:r>
            <a:r>
              <a:rPr sz="1150" i="0" dirty="0">
                <a:solidFill>
                  <a:srgbClr val="33413D"/>
                </a:solidFill>
                <a:latin typeface="Aptos"/>
              </a:rPr>
              <a:t>for which 1Çatı </a:t>
            </a:r>
            <a:r>
              <a:rPr sz="1150" i="0" dirty="0" err="1">
                <a:solidFill>
                  <a:srgbClr val="33413D"/>
                </a:solidFill>
                <a:latin typeface="Aptos"/>
              </a:rPr>
              <a:t>was developed</a:t>
            </a:r>
            <a:r>
              <a:rPr sz="1150" i="0" dirty="0">
                <a:solidFill>
                  <a:srgbClr val="33413D"/>
                </a:solidFill>
                <a:latin typeface="Aptos"/>
              </a:rPr>
              <a:t>.</a:t>
            </a:r>
          </a:p>
        </p:txBody>
      </p:sp>
      <p:pic>
        <p:nvPicPr>
          <p:cNvPr id="10" name="Picture 9" descr="oben.jpg"/>
          <p:cNvPicPr>
            <a:picLocks noChangeAspect="1"/>
          </p:cNvPicPr>
          <p:nvPr/>
        </p:nvPicPr>
        <p:blipFill>
          <a:blip r:embed="rId3"/>
          <a:stretch>
            <a:fillRect/>
          </a:stretch>
        </p:blipFill>
        <p:spPr>
          <a:xfrm>
            <a:off x="640080" y="2057400"/>
            <a:ext cx="5321808" cy="2990088"/>
          </a:xfrm>
          <a:prstGeom prst="rect">
            <a:avLst/>
          </a:prstGeom>
          <a:ln w="12700">
            <a:solidFill>
              <a:srgbClr val="DAE3E0"/>
            </a:solidFill>
          </a:ln>
        </p:spPr>
      </p:pic>
      <p:pic>
        <p:nvPicPr>
          <p:cNvPr id="11" name="Picture 10" descr="seite.jpg"/>
          <p:cNvPicPr>
            <a:picLocks noChangeAspect="1"/>
          </p:cNvPicPr>
          <p:nvPr/>
        </p:nvPicPr>
        <p:blipFill>
          <a:blip r:embed="rId4"/>
          <a:stretch>
            <a:fillRect/>
          </a:stretch>
        </p:blipFill>
        <p:spPr>
          <a:xfrm>
            <a:off x="6190488" y="2057400"/>
            <a:ext cx="5321808" cy="2990088"/>
          </a:xfrm>
          <a:prstGeom prst="rect">
            <a:avLst/>
          </a:prstGeom>
          <a:ln w="12700">
            <a:solidFill>
              <a:srgbClr val="DAE3E0"/>
            </a:solidFill>
          </a:ln>
        </p:spPr>
      </p:pic>
      <p:sp>
        <p:nvSpPr>
          <p:cNvPr id="12" name="TextBox 11"/>
          <p:cNvSpPr txBox="1"/>
          <p:nvPr/>
        </p:nvSpPr>
        <p:spPr>
          <a:xfrm>
            <a:off x="640080" y="5120640"/>
            <a:ext cx="5321808" cy="146194"/>
          </a:xfrm>
          <a:prstGeom prst="rect">
            <a:avLst/>
          </a:prstGeom>
          <a:noFill/>
        </p:spPr>
        <p:txBody>
          <a:bodyPr wrap="square" lIns="0" tIns="0" rIns="0" bIns="0" anchor="t">
            <a:spAutoFit/>
          </a:bodyPr>
          <a:lstStyle/>
          <a:p>
            <a:r>
              <a:rPr sz="950" b="0" i="1" dirty="0" err="1">
                <a:solidFill>
                  <a:srgbClr val="64716D"/>
                </a:solidFill>
                <a:latin typeface="Aptos"/>
              </a:rPr>
              <a:t>Bird’s-eye</a:t>
            </a:r>
            <a:r>
              <a:rPr sz="950" b="0" i="1" dirty="0">
                <a:solidFill>
                  <a:srgbClr val="64716D"/>
                </a:solidFill>
                <a:latin typeface="Aptos"/>
              </a:rPr>
              <a:t> view</a:t>
            </a:r>
            <a:r>
              <a:rPr sz="950" b="0" i="1" dirty="0" err="1">
                <a:solidFill>
                  <a:srgbClr val="64716D"/>
                </a:solidFill>
                <a:latin typeface="Aptos"/>
              </a:rPr>
              <a:t> of</a:t>
            </a:r>
            <a:r>
              <a:rPr sz="950" b="0" i="1" dirty="0">
                <a:solidFill>
                  <a:srgbClr val="64716D"/>
                </a:solidFill>
                <a:latin typeface="Aptos"/>
              </a:rPr>
              <a:t> the complex </a:t>
            </a:r>
            <a:r>
              <a:rPr lang="de-DE" sz="950" b="0" i="1" dirty="0">
                <a:solidFill>
                  <a:srgbClr val="64716D"/>
                </a:solidFill>
                <a:latin typeface="Aptos"/>
              </a:rPr>
              <a:t>– </a:t>
            </a:r>
            <a:r>
              <a:rPr sz="950" b="0" i="1" dirty="0" err="1">
                <a:solidFill>
                  <a:srgbClr val="64716D"/>
                </a:solidFill>
                <a:latin typeface="Aptos"/>
              </a:rPr>
              <a:t>block layout</a:t>
            </a:r>
            <a:r>
              <a:rPr sz="950" b="0" i="1" dirty="0">
                <a:solidFill>
                  <a:srgbClr val="64716D"/>
                </a:solidFill>
                <a:latin typeface="Aptos"/>
              </a:rPr>
              <a:t>, swimming pools and </a:t>
            </a:r>
            <a:r>
              <a:rPr sz="950" b="0" i="1" dirty="0" err="1">
                <a:solidFill>
                  <a:srgbClr val="64716D"/>
                </a:solidFill>
                <a:latin typeface="Aptos"/>
              </a:rPr>
              <a:t>sports facilities</a:t>
            </a:r>
            <a:r>
              <a:rPr sz="950" b="0" i="1" dirty="0">
                <a:solidFill>
                  <a:srgbClr val="64716D"/>
                </a:solidFill>
                <a:latin typeface="Aptos"/>
              </a:rPr>
              <a:t>.</a:t>
            </a:r>
          </a:p>
        </p:txBody>
      </p:sp>
      <p:sp>
        <p:nvSpPr>
          <p:cNvPr id="13" name="TextBox 12"/>
          <p:cNvSpPr txBox="1"/>
          <p:nvPr/>
        </p:nvSpPr>
        <p:spPr>
          <a:xfrm>
            <a:off x="6190488" y="5120640"/>
            <a:ext cx="5321808" cy="146194"/>
          </a:xfrm>
          <a:prstGeom prst="rect">
            <a:avLst/>
          </a:prstGeom>
          <a:noFill/>
        </p:spPr>
        <p:txBody>
          <a:bodyPr wrap="square" lIns="0" tIns="0" rIns="0" bIns="0" anchor="t">
            <a:spAutoFit/>
          </a:bodyPr>
          <a:lstStyle/>
          <a:p>
            <a:r>
              <a:rPr sz="950" b="0" i="1" dirty="0" err="1">
                <a:solidFill>
                  <a:srgbClr val="64716D"/>
                </a:solidFill>
                <a:latin typeface="Aptos"/>
              </a:rPr>
              <a:t>Side view with sea views </a:t>
            </a:r>
            <a:r>
              <a:rPr lang="de-DE" sz="950" b="0" i="1" dirty="0">
                <a:solidFill>
                  <a:srgbClr val="64716D"/>
                </a:solidFill>
                <a:latin typeface="Aptos"/>
              </a:rPr>
              <a:t>– </a:t>
            </a:r>
            <a:r>
              <a:rPr sz="950" b="0" i="1" dirty="0">
                <a:solidFill>
                  <a:srgbClr val="64716D"/>
                </a:solidFill>
                <a:latin typeface="Aptos"/>
              </a:rPr>
              <a:t>the </a:t>
            </a:r>
            <a:r>
              <a:rPr sz="950" b="0" i="1" dirty="0" err="1">
                <a:solidFill>
                  <a:srgbClr val="64716D"/>
                </a:solidFill>
                <a:latin typeface="Aptos"/>
              </a:rPr>
              <a:t>residential towers </a:t>
            </a:r>
            <a:r>
              <a:rPr sz="950" b="0" i="1" dirty="0">
                <a:solidFill>
                  <a:srgbClr val="64716D"/>
                </a:solidFill>
                <a:latin typeface="Aptos"/>
              </a:rPr>
              <a:t>set amongst the </a:t>
            </a:r>
            <a:r>
              <a:rPr sz="950" b="0" i="1" dirty="0" err="1">
                <a:solidFill>
                  <a:srgbClr val="64716D"/>
                </a:solidFill>
                <a:latin typeface="Aptos"/>
              </a:rPr>
              <a:t>pine trees</a:t>
            </a:r>
            <a:r>
              <a:rPr sz="950" b="0" i="1" dirty="0">
                <a:solidFill>
                  <a:srgbClr val="64716D"/>
                </a:solidFill>
                <a:latin typeface="Aptos"/>
              </a:rPr>
              <a:t>.</a:t>
            </a:r>
          </a:p>
        </p:txBody>
      </p:sp>
      <p:sp>
        <p:nvSpPr>
          <p:cNvPr id="14" name="Rounded Rectangle 13"/>
          <p:cNvSpPr/>
          <p:nvPr/>
        </p:nvSpPr>
        <p:spPr>
          <a:xfrm>
            <a:off x="640080" y="5715000"/>
            <a:ext cx="10881360" cy="50292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5715000"/>
            <a:ext cx="54864" cy="50292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5843016"/>
            <a:ext cx="10469880" cy="246888"/>
          </a:xfrm>
          <a:prstGeom prst="rect">
            <a:avLst/>
          </a:prstGeom>
          <a:noFill/>
        </p:spPr>
        <p:txBody>
          <a:bodyPr wrap="square" lIns="0" tIns="0" rIns="0" bIns="0" anchor="ctr">
            <a:spAutoFit/>
          </a:bodyPr>
          <a:lstStyle/>
          <a:p>
            <a:r>
              <a:rPr sz="1250" b="1" i="0">
                <a:solidFill>
                  <a:srgbClr val="044F49"/>
                </a:solidFill>
                <a:latin typeface="Aptos"/>
              </a:rPr>
              <a:t>769 residential units. </a:t>
            </a:r>
            <a:r>
              <a:rPr sz="1150" b="0" i="0">
                <a:solidFill>
                  <a:srgbClr val="33413D"/>
                </a:solidFill>
                <a:latin typeface="Aptos"/>
              </a:rPr>
              <a:t> For this portfolio, 1Çatı brings together sales, owners &amp; tenants, finance, services and communications on a single platform.</a:t>
            </a:r>
          </a:p>
        </p:txBody>
      </p:sp>
      <p:sp>
        <p:nvSpPr>
          <p:cNvPr id="17" name="TextBox 16"/>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8" name="TextBox 17"/>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a:t>
            </a:r>
          </a:p>
        </p:txBody>
      </p:sp>
      <p:pic>
        <p:nvPicPr>
          <p:cNvPr id="19" name="Picture 18" descr="logo.png"/>
          <p:cNvPicPr>
            <a:picLocks noChangeAspect="1"/>
          </p:cNvPicPr>
          <p:nvPr/>
        </p:nvPicPr>
        <p:blipFill>
          <a:blip r:embed="rId5"/>
          <a:stretch>
            <a:fillRect/>
          </a:stretch>
        </p:blipFill>
        <p:spPr>
          <a:xfrm>
            <a:off x="10744200" y="6382512"/>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01</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Management Summary</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600200"/>
            <a:ext cx="10881360" cy="530915"/>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1Çatı (‘One Roof’) </a:t>
            </a:r>
            <a:r>
              <a:rPr sz="1150" i="0" dirty="0" err="1">
                <a:solidFill>
                  <a:srgbClr val="33413D"/>
                </a:solidFill>
                <a:latin typeface="Aptos"/>
              </a:rPr>
              <a:t>brings together all </a:t>
            </a:r>
            <a:r>
              <a:rPr sz="1150" i="0" dirty="0">
                <a:solidFill>
                  <a:srgbClr val="33413D"/>
                </a:solidFill>
                <a:latin typeface="Aptos"/>
              </a:rPr>
              <a:t>of Ataberk Estate’s </a:t>
            </a:r>
            <a:r>
              <a:rPr sz="1150" i="0" dirty="0" err="1">
                <a:solidFill>
                  <a:srgbClr val="33413D"/>
                </a:solidFill>
                <a:latin typeface="Aptos"/>
              </a:rPr>
              <a:t>property operations </a:t>
            </a:r>
            <a:r>
              <a:rPr sz="1150" i="0" dirty="0">
                <a:solidFill>
                  <a:srgbClr val="33413D"/>
                </a:solidFill>
                <a:latin typeface="Aptos"/>
              </a:rPr>
              <a:t>in </a:t>
            </a:r>
            <a:r>
              <a:rPr sz="1150" i="0" dirty="0" err="1">
                <a:solidFill>
                  <a:srgbClr val="33413D"/>
                </a:solidFill>
                <a:latin typeface="Aptos"/>
              </a:rPr>
              <a:t>one </a:t>
            </a:r>
            <a:r>
              <a:rPr sz="1150" i="0" dirty="0">
                <a:solidFill>
                  <a:srgbClr val="33413D"/>
                </a:solidFill>
                <a:latin typeface="Aptos"/>
              </a:rPr>
              <a:t>place </a:t>
            </a:r>
            <a:r>
              <a:rPr lang="de-DE" sz="1150" i="0" dirty="0">
                <a:solidFill>
                  <a:srgbClr val="33413D"/>
                </a:solidFill>
                <a:latin typeface="Aptos"/>
              </a:rPr>
              <a:t>– </a:t>
            </a:r>
            <a:r>
              <a:rPr sz="1150" i="0" dirty="0" err="1">
                <a:solidFill>
                  <a:srgbClr val="33413D"/>
                </a:solidFill>
                <a:latin typeface="Aptos"/>
              </a:rPr>
              <a:t>developed </a:t>
            </a:r>
            <a:r>
              <a:rPr sz="1150" i="0" dirty="0">
                <a:solidFill>
                  <a:srgbClr val="33413D"/>
                </a:solidFill>
                <a:latin typeface="Aptos"/>
              </a:rPr>
              <a:t>for New Level Premium in Avsallar/Alanya, </a:t>
            </a:r>
            <a:r>
              <a:rPr sz="1150" i="0" dirty="0" err="1">
                <a:solidFill>
                  <a:srgbClr val="33413D"/>
                </a:solidFill>
                <a:latin typeface="Aptos"/>
              </a:rPr>
              <a:t>comprising</a:t>
            </a:r>
            <a:r>
              <a:rPr sz="1150" i="0" dirty="0">
                <a:solidFill>
                  <a:srgbClr val="33413D"/>
                </a:solidFill>
                <a:latin typeface="Aptos"/>
              </a:rPr>
              <a:t> 769 </a:t>
            </a:r>
            <a:r>
              <a:rPr sz="1150" i="0" dirty="0" err="1">
                <a:solidFill>
                  <a:srgbClr val="33413D"/>
                </a:solidFill>
                <a:latin typeface="Aptos"/>
              </a:rPr>
              <a:t>residential units</a:t>
            </a:r>
            <a:r>
              <a:rPr sz="1150" i="0" dirty="0">
                <a:solidFill>
                  <a:srgbClr val="33413D"/>
                </a:solidFill>
                <a:latin typeface="Aptos"/>
              </a:rPr>
              <a:t>. The </a:t>
            </a:r>
            <a:r>
              <a:rPr sz="1150" i="0" dirty="0" err="1">
                <a:solidFill>
                  <a:srgbClr val="33413D"/>
                </a:solidFill>
                <a:latin typeface="Aptos"/>
              </a:rPr>
              <a:t>previous</a:t>
            </a:r>
            <a:r>
              <a:rPr sz="1150" i="0" dirty="0">
                <a:solidFill>
                  <a:srgbClr val="33413D"/>
                </a:solidFill>
                <a:latin typeface="Aptos"/>
              </a:rPr>
              <a:t> </a:t>
            </a:r>
            <a:r>
              <a:rPr sz="1150" i="0" dirty="0" err="1">
                <a:solidFill>
                  <a:srgbClr val="33413D"/>
                </a:solidFill>
                <a:latin typeface="Aptos"/>
              </a:rPr>
              <a:t>system of coordination via </a:t>
            </a:r>
            <a:r>
              <a:rPr sz="1150" i="0" dirty="0">
                <a:solidFill>
                  <a:srgbClr val="33413D"/>
                </a:solidFill>
                <a:latin typeface="Aptos"/>
              </a:rPr>
              <a:t>Excel spreadsheets, WhatsApp and </a:t>
            </a:r>
            <a:r>
              <a:rPr sz="1150" i="0" dirty="0" err="1">
                <a:solidFill>
                  <a:srgbClr val="33413D"/>
                </a:solidFill>
                <a:latin typeface="Aptos"/>
              </a:rPr>
              <a:t>on-site meetings is being replaced by a </a:t>
            </a:r>
            <a:r>
              <a:rPr sz="1150" b="1" i="0" dirty="0" err="1">
                <a:solidFill>
                  <a:srgbClr val="33413D"/>
                </a:solidFill>
                <a:latin typeface="Aptos"/>
              </a:rPr>
              <a:t>role-based</a:t>
            </a:r>
            <a:r>
              <a:rPr sz="1150" b="1" i="0" dirty="0">
                <a:solidFill>
                  <a:srgbClr val="33413D"/>
                </a:solidFill>
                <a:latin typeface="Aptos"/>
              </a:rPr>
              <a:t>, </a:t>
            </a:r>
            <a:r>
              <a:rPr sz="1150" b="1" i="0" dirty="0" err="1">
                <a:solidFill>
                  <a:srgbClr val="33413D"/>
                </a:solidFill>
                <a:latin typeface="Aptos"/>
              </a:rPr>
              <a:t>four-language operating system </a:t>
            </a:r>
            <a:r>
              <a:rPr sz="1150" i="0" dirty="0">
                <a:solidFill>
                  <a:srgbClr val="33413D"/>
                </a:solidFill>
                <a:latin typeface="Aptos"/>
              </a:rPr>
              <a:t>(</a:t>
            </a:r>
            <a:r>
              <a:rPr sz="1150" i="0" dirty="0" err="1">
                <a:solidFill>
                  <a:srgbClr val="33413D"/>
                </a:solidFill>
                <a:latin typeface="Aptos"/>
              </a:rPr>
              <a:t>Turkish</a:t>
            </a:r>
            <a:r>
              <a:rPr sz="1150" i="0" dirty="0">
                <a:solidFill>
                  <a:srgbClr val="33413D"/>
                </a:solidFill>
                <a:latin typeface="Aptos"/>
              </a:rPr>
              <a:t>, English, German, </a:t>
            </a:r>
            <a:r>
              <a:rPr sz="1150" i="0" dirty="0" err="1">
                <a:solidFill>
                  <a:srgbClr val="33413D"/>
                </a:solidFill>
                <a:latin typeface="Aptos"/>
              </a:rPr>
              <a:t>Russian</a:t>
            </a:r>
            <a:r>
              <a:rPr sz="1150" i="0" dirty="0">
                <a:solidFill>
                  <a:srgbClr val="33413D"/>
                </a:solidFill>
                <a:latin typeface="Aptos"/>
              </a:rPr>
              <a:t>) for </a:t>
            </a:r>
            <a:r>
              <a:rPr sz="1150" i="0" dirty="0" err="1">
                <a:solidFill>
                  <a:srgbClr val="33413D"/>
                </a:solidFill>
                <a:latin typeface="Aptos"/>
              </a:rPr>
              <a:t>owners</a:t>
            </a:r>
            <a:r>
              <a:rPr sz="1150" i="0" dirty="0">
                <a:solidFill>
                  <a:srgbClr val="33413D"/>
                </a:solidFill>
                <a:latin typeface="Aptos"/>
              </a:rPr>
              <a:t>, </a:t>
            </a:r>
            <a:r>
              <a:rPr sz="1150" i="0" dirty="0" err="1">
                <a:solidFill>
                  <a:srgbClr val="33413D"/>
                </a:solidFill>
                <a:latin typeface="Aptos"/>
              </a:rPr>
              <a:t>tenants</a:t>
            </a:r>
            <a:r>
              <a:rPr sz="1150" i="0" dirty="0">
                <a:solidFill>
                  <a:srgbClr val="33413D"/>
                </a:solidFill>
                <a:latin typeface="Aptos"/>
              </a:rPr>
              <a:t>, staff, </a:t>
            </a:r>
            <a:r>
              <a:rPr sz="1150" i="0" dirty="0" err="1">
                <a:solidFill>
                  <a:srgbClr val="33413D"/>
                </a:solidFill>
                <a:latin typeface="Aptos"/>
              </a:rPr>
              <a:t>accounts </a:t>
            </a:r>
            <a:r>
              <a:rPr sz="1150" i="0" dirty="0">
                <a:solidFill>
                  <a:srgbClr val="33413D"/>
                </a:solidFill>
                <a:latin typeface="Aptos"/>
              </a:rPr>
              <a:t>and </a:t>
            </a:r>
            <a:r>
              <a:rPr sz="1150" i="0" dirty="0" err="1">
                <a:solidFill>
                  <a:srgbClr val="33413D"/>
                </a:solidFill>
                <a:latin typeface="Aptos"/>
              </a:rPr>
              <a:t>management</a:t>
            </a:r>
            <a:r>
              <a:rPr sz="1150" i="0" dirty="0">
                <a:solidFill>
                  <a:srgbClr val="33413D"/>
                </a:solidFill>
                <a:latin typeface="Aptos"/>
              </a:rPr>
              <a:t>.</a:t>
            </a:r>
          </a:p>
        </p:txBody>
      </p:sp>
      <p:sp>
        <p:nvSpPr>
          <p:cNvPr id="10" name="Rounded Rectangle 9"/>
          <p:cNvSpPr/>
          <p:nvPr/>
        </p:nvSpPr>
        <p:spPr>
          <a:xfrm>
            <a:off x="64008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209544"/>
            <a:ext cx="2183130" cy="640080"/>
          </a:xfrm>
          <a:prstGeom prst="rect">
            <a:avLst/>
          </a:prstGeom>
          <a:noFill/>
        </p:spPr>
        <p:txBody>
          <a:bodyPr wrap="square" lIns="0" tIns="0" rIns="0" bIns="0" anchor="t">
            <a:spAutoFit/>
          </a:bodyPr>
          <a:lstStyle/>
          <a:p>
            <a:r>
              <a:rPr sz="3200" b="1" i="0">
                <a:solidFill>
                  <a:srgbClr val="066B63"/>
                </a:solidFill>
                <a:latin typeface="Aptos"/>
              </a:rPr>
              <a:t>769</a:t>
            </a:r>
          </a:p>
        </p:txBody>
      </p:sp>
      <p:sp>
        <p:nvSpPr>
          <p:cNvPr id="12" name="TextBox 11"/>
          <p:cNvSpPr txBox="1"/>
          <p:nvPr/>
        </p:nvSpPr>
        <p:spPr>
          <a:xfrm>
            <a:off x="822960" y="3813048"/>
            <a:ext cx="2183130" cy="411480"/>
          </a:xfrm>
          <a:prstGeom prst="rect">
            <a:avLst/>
          </a:prstGeom>
          <a:noFill/>
        </p:spPr>
        <p:txBody>
          <a:bodyPr wrap="square" lIns="0" tIns="0" rIns="0" bIns="0" anchor="t">
            <a:spAutoFit/>
          </a:bodyPr>
          <a:lstStyle/>
          <a:p>
            <a:r>
              <a:rPr sz="1050" b="0" i="0">
                <a:solidFill>
                  <a:srgbClr val="64716D"/>
                </a:solidFill>
                <a:latin typeface="Aptos"/>
              </a:rPr>
              <a:t>residential units in the reference property</a:t>
            </a:r>
          </a:p>
        </p:txBody>
      </p:sp>
      <p:sp>
        <p:nvSpPr>
          <p:cNvPr id="13" name="Rounded Rectangle 12"/>
          <p:cNvSpPr/>
          <p:nvPr/>
        </p:nvSpPr>
        <p:spPr>
          <a:xfrm>
            <a:off x="341757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00450" y="3209544"/>
            <a:ext cx="2183130" cy="640080"/>
          </a:xfrm>
          <a:prstGeom prst="rect">
            <a:avLst/>
          </a:prstGeom>
          <a:noFill/>
        </p:spPr>
        <p:txBody>
          <a:bodyPr wrap="square" lIns="0" tIns="0" rIns="0" bIns="0" anchor="t">
            <a:spAutoFit/>
          </a:bodyPr>
          <a:lstStyle/>
          <a:p>
            <a:r>
              <a:rPr sz="3200" b="1" i="0">
                <a:solidFill>
                  <a:srgbClr val="066B63"/>
                </a:solidFill>
                <a:latin typeface="Aptos"/>
              </a:rPr>
              <a:t>4</a:t>
            </a:r>
          </a:p>
        </p:txBody>
      </p:sp>
      <p:sp>
        <p:nvSpPr>
          <p:cNvPr id="15" name="TextBox 14"/>
          <p:cNvSpPr txBox="1"/>
          <p:nvPr/>
        </p:nvSpPr>
        <p:spPr>
          <a:xfrm>
            <a:off x="3600450" y="3813048"/>
            <a:ext cx="2183130" cy="411480"/>
          </a:xfrm>
          <a:prstGeom prst="rect">
            <a:avLst/>
          </a:prstGeom>
          <a:noFill/>
        </p:spPr>
        <p:txBody>
          <a:bodyPr wrap="square" lIns="0" tIns="0" rIns="0" bIns="0" anchor="t">
            <a:spAutoFit/>
          </a:bodyPr>
          <a:lstStyle/>
          <a:p>
            <a:r>
              <a:rPr sz="1050" b="0" i="0">
                <a:solidFill>
                  <a:srgbClr val="64716D"/>
                </a:solidFill>
                <a:latin typeface="Aptos"/>
              </a:rPr>
              <a:t>Languages (TR · EN · DE · RU)</a:t>
            </a:r>
          </a:p>
        </p:txBody>
      </p:sp>
      <p:sp>
        <p:nvSpPr>
          <p:cNvPr id="16" name="Rounded Rectangle 15"/>
          <p:cNvSpPr/>
          <p:nvPr/>
        </p:nvSpPr>
        <p:spPr>
          <a:xfrm>
            <a:off x="619506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7940" y="3209544"/>
            <a:ext cx="2183130" cy="640080"/>
          </a:xfrm>
          <a:prstGeom prst="rect">
            <a:avLst/>
          </a:prstGeom>
          <a:noFill/>
        </p:spPr>
        <p:txBody>
          <a:bodyPr wrap="square" lIns="0" tIns="0" rIns="0" bIns="0" anchor="t">
            <a:spAutoFit/>
          </a:bodyPr>
          <a:lstStyle/>
          <a:p>
            <a:r>
              <a:rPr sz="3200" b="1" i="0">
                <a:solidFill>
                  <a:srgbClr val="066B63"/>
                </a:solidFill>
                <a:latin typeface="Aptos"/>
              </a:rPr>
              <a:t>6</a:t>
            </a:r>
          </a:p>
        </p:txBody>
      </p:sp>
      <p:sp>
        <p:nvSpPr>
          <p:cNvPr id="18" name="TextBox 17"/>
          <p:cNvSpPr txBox="1"/>
          <p:nvPr/>
        </p:nvSpPr>
        <p:spPr>
          <a:xfrm>
            <a:off x="6377940" y="3813048"/>
            <a:ext cx="2183130" cy="411480"/>
          </a:xfrm>
          <a:prstGeom prst="rect">
            <a:avLst/>
          </a:prstGeom>
          <a:noFill/>
        </p:spPr>
        <p:txBody>
          <a:bodyPr wrap="square" lIns="0" tIns="0" rIns="0" bIns="0" anchor="t">
            <a:spAutoFit/>
          </a:bodyPr>
          <a:lstStyle/>
          <a:p>
            <a:r>
              <a:rPr sz="1050" b="0" i="0">
                <a:solidFill>
                  <a:srgbClr val="64716D"/>
                </a:solidFill>
                <a:latin typeface="Aptos"/>
              </a:rPr>
              <a:t>Roles with finely graded permissions</a:t>
            </a:r>
          </a:p>
        </p:txBody>
      </p:sp>
      <p:sp>
        <p:nvSpPr>
          <p:cNvPr id="19" name="Rounded Rectangle 18"/>
          <p:cNvSpPr/>
          <p:nvPr/>
        </p:nvSpPr>
        <p:spPr>
          <a:xfrm>
            <a:off x="897255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55430" y="3209544"/>
            <a:ext cx="2183130" cy="640080"/>
          </a:xfrm>
          <a:prstGeom prst="rect">
            <a:avLst/>
          </a:prstGeom>
          <a:noFill/>
        </p:spPr>
        <p:txBody>
          <a:bodyPr wrap="square" lIns="0" tIns="0" rIns="0" bIns="0" anchor="t">
            <a:spAutoFit/>
          </a:bodyPr>
          <a:lstStyle/>
          <a:p>
            <a:r>
              <a:rPr sz="3200" b="1" i="0">
                <a:solidFill>
                  <a:srgbClr val="066B63"/>
                </a:solidFill>
                <a:latin typeface="Aptos"/>
              </a:rPr>
              <a:t>13</a:t>
            </a:r>
          </a:p>
        </p:txBody>
      </p:sp>
      <p:sp>
        <p:nvSpPr>
          <p:cNvPr id="21" name="TextBox 20"/>
          <p:cNvSpPr txBox="1"/>
          <p:nvPr/>
        </p:nvSpPr>
        <p:spPr>
          <a:xfrm>
            <a:off x="9155430" y="3813048"/>
            <a:ext cx="2183130" cy="411480"/>
          </a:xfrm>
          <a:prstGeom prst="rect">
            <a:avLst/>
          </a:prstGeom>
          <a:noFill/>
        </p:spPr>
        <p:txBody>
          <a:bodyPr wrap="square" lIns="0" tIns="0" rIns="0" bIns="0" anchor="t">
            <a:spAutoFit/>
          </a:bodyPr>
          <a:lstStyle/>
          <a:p>
            <a:r>
              <a:rPr sz="1050" b="0" i="0">
                <a:solidFill>
                  <a:srgbClr val="64716D"/>
                </a:solidFill>
                <a:latin typeface="Aptos"/>
              </a:rPr>
              <a:t>Workspaces in the portal</a:t>
            </a:r>
          </a:p>
        </p:txBody>
      </p:sp>
      <p:sp>
        <p:nvSpPr>
          <p:cNvPr id="22" name="Rounded Rectangle 21"/>
          <p:cNvSpPr/>
          <p:nvPr/>
        </p:nvSpPr>
        <p:spPr>
          <a:xfrm>
            <a:off x="640080" y="4617720"/>
            <a:ext cx="10881360" cy="16002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4617720"/>
            <a:ext cx="54864" cy="16002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144668"/>
            <a:ext cx="10469880" cy="546303"/>
          </a:xfrm>
          <a:prstGeom prst="rect">
            <a:avLst/>
          </a:prstGeom>
          <a:noFill/>
        </p:spPr>
        <p:txBody>
          <a:bodyPr wrap="square" lIns="0" tIns="0" rIns="0" bIns="0" anchor="ctr">
            <a:spAutoFit/>
          </a:bodyPr>
          <a:lstStyle/>
          <a:p>
            <a:r>
              <a:rPr sz="1250" b="1" i="0" dirty="0">
                <a:solidFill>
                  <a:srgbClr val="044F49"/>
                </a:solidFill>
                <a:latin typeface="Aptos"/>
              </a:rPr>
              <a:t>The </a:t>
            </a:r>
            <a:r>
              <a:rPr sz="1250" b="1" i="0" dirty="0" err="1">
                <a:solidFill>
                  <a:srgbClr val="044F49"/>
                </a:solidFill>
                <a:latin typeface="Aptos"/>
              </a:rPr>
              <a:t>guiding principle </a:t>
            </a:r>
            <a:r>
              <a:rPr sz="1250" b="1" i="0" dirty="0">
                <a:solidFill>
                  <a:srgbClr val="044F49"/>
                </a:solidFill>
                <a:latin typeface="Aptos"/>
              </a:rPr>
              <a:t>behind 1Çatı. </a:t>
            </a:r>
            <a:r>
              <a:rPr sz="1150" b="0" i="0" dirty="0">
                <a:solidFill>
                  <a:srgbClr val="33413D"/>
                </a:solidFill>
                <a:latin typeface="Aptos"/>
              </a:rPr>
              <a:t> Sensitive </a:t>
            </a:r>
            <a:r>
              <a:rPr sz="1150" b="0" i="0" dirty="0" err="1">
                <a:solidFill>
                  <a:srgbClr val="33413D"/>
                </a:solidFill>
                <a:latin typeface="Aptos"/>
              </a:rPr>
              <a:t>processes </a:t>
            </a:r>
            <a:r>
              <a:rPr lang="de-DE" sz="1150" b="0" i="0" dirty="0">
                <a:solidFill>
                  <a:srgbClr val="33413D"/>
                </a:solidFill>
                <a:latin typeface="Aptos"/>
              </a:rPr>
              <a:t>– </a:t>
            </a:r>
            <a:r>
              <a:rPr sz="1150" b="0" i="0" dirty="0" err="1">
                <a:solidFill>
                  <a:srgbClr val="33413D"/>
                </a:solidFill>
                <a:latin typeface="Aptos"/>
              </a:rPr>
              <a:t>payments</a:t>
            </a:r>
            <a:r>
              <a:rPr sz="1150" b="0" i="0" dirty="0">
                <a:solidFill>
                  <a:srgbClr val="33413D"/>
                </a:solidFill>
                <a:latin typeface="Aptos"/>
              </a:rPr>
              <a:t>, </a:t>
            </a:r>
            <a:r>
              <a:rPr sz="1150" b="0" i="0" dirty="0" err="1">
                <a:solidFill>
                  <a:srgbClr val="33413D"/>
                </a:solidFill>
                <a:latin typeface="Aptos"/>
              </a:rPr>
              <a:t>access restrictions</a:t>
            </a:r>
            <a:r>
              <a:rPr sz="1150" b="0" i="0" dirty="0">
                <a:solidFill>
                  <a:srgbClr val="33413D"/>
                </a:solidFill>
                <a:latin typeface="Aptos"/>
              </a:rPr>
              <a:t>, </a:t>
            </a:r>
            <a:r>
              <a:rPr sz="1150" b="0" i="0" dirty="0" err="1">
                <a:solidFill>
                  <a:srgbClr val="33413D"/>
                </a:solidFill>
                <a:latin typeface="Aptos"/>
              </a:rPr>
              <a:t>refunds </a:t>
            </a:r>
            <a:r>
              <a:rPr lang="de-DE" sz="1150" b="0" i="0" dirty="0">
                <a:solidFill>
                  <a:srgbClr val="33413D"/>
                </a:solidFill>
                <a:latin typeface="Aptos"/>
              </a:rPr>
              <a:t>– </a:t>
            </a:r>
            <a:r>
              <a:rPr sz="1150" b="0" i="0" dirty="0" err="1">
                <a:solidFill>
                  <a:srgbClr val="33413D"/>
                </a:solidFill>
                <a:latin typeface="Aptos"/>
              </a:rPr>
              <a:t>are never carried out by </a:t>
            </a:r>
            <a:r>
              <a:rPr sz="1150" b="0" i="0" dirty="0">
                <a:solidFill>
                  <a:srgbClr val="33413D"/>
                </a:solidFill>
                <a:latin typeface="Aptos"/>
              </a:rPr>
              <a:t>the system </a:t>
            </a:r>
            <a:r>
              <a:rPr sz="1150" b="0" i="0" dirty="0" err="1">
                <a:solidFill>
                  <a:srgbClr val="33413D"/>
                </a:solidFill>
                <a:latin typeface="Aptos"/>
              </a:rPr>
              <a:t>on its own initiative</a:t>
            </a:r>
            <a:r>
              <a:rPr sz="1150" b="0" i="0" dirty="0">
                <a:solidFill>
                  <a:srgbClr val="33413D"/>
                </a:solidFill>
                <a:latin typeface="Aptos"/>
              </a:rPr>
              <a:t>. They </a:t>
            </a:r>
            <a:r>
              <a:rPr sz="1150" b="0" i="0" dirty="0" err="1">
                <a:solidFill>
                  <a:srgbClr val="33413D"/>
                </a:solidFill>
                <a:latin typeface="Aptos"/>
              </a:rPr>
              <a:t>are prepared</a:t>
            </a:r>
            <a:r>
              <a:rPr sz="1150" b="0" i="0" dirty="0">
                <a:solidFill>
                  <a:srgbClr val="33413D"/>
                </a:solidFill>
                <a:latin typeface="Aptos"/>
              </a:rPr>
              <a:t>, </a:t>
            </a:r>
            <a:r>
              <a:rPr sz="1150" b="0" i="0" dirty="0" err="1">
                <a:solidFill>
                  <a:srgbClr val="33413D"/>
                </a:solidFill>
                <a:latin typeface="Aptos"/>
              </a:rPr>
              <a:t>documented </a:t>
            </a:r>
            <a:r>
              <a:rPr sz="1150" b="0" i="0" dirty="0">
                <a:solidFill>
                  <a:srgbClr val="33413D"/>
                </a:solidFill>
                <a:latin typeface="Aptos"/>
              </a:rPr>
              <a:t>and </a:t>
            </a:r>
            <a:r>
              <a:rPr sz="1150" b="0" i="0" dirty="0" err="1">
                <a:solidFill>
                  <a:srgbClr val="33413D"/>
                </a:solidFill>
                <a:latin typeface="Aptos"/>
              </a:rPr>
              <a:t>submitted to an authorised </a:t>
            </a:r>
            <a:r>
              <a:rPr sz="1150" b="0" i="0" dirty="0">
                <a:solidFill>
                  <a:srgbClr val="33413D"/>
                </a:solidFill>
                <a:latin typeface="Aptos"/>
              </a:rPr>
              <a:t>person </a:t>
            </a:r>
            <a:r>
              <a:rPr sz="1150" b="0" i="0" dirty="0" err="1">
                <a:solidFill>
                  <a:srgbClr val="33413D"/>
                </a:solidFill>
                <a:latin typeface="Aptos"/>
              </a:rPr>
              <a:t>for approval</a:t>
            </a:r>
            <a:r>
              <a:rPr sz="1150" b="0" i="0" dirty="0">
                <a:solidFill>
                  <a:srgbClr val="33413D"/>
                </a:solidFill>
                <a:latin typeface="Aptos"/>
              </a:rPr>
              <a:t>. In this way</a:t>
            </a:r>
            <a:r>
              <a:rPr lang="de-DE" sz="1150" b="0" i="0" dirty="0">
                <a:solidFill>
                  <a:srgbClr val="33413D"/>
                </a:solidFill>
                <a:latin typeface="Aptos"/>
              </a:rPr>
              <a:t>, </a:t>
            </a:r>
            <a:r>
              <a:rPr sz="1150" b="0" i="0" dirty="0" err="1">
                <a:solidFill>
                  <a:srgbClr val="33413D"/>
                </a:solidFill>
                <a:latin typeface="Aptos"/>
              </a:rPr>
              <a:t>every financial </a:t>
            </a:r>
            <a:r>
              <a:rPr sz="1150" b="0" i="0" dirty="0">
                <a:solidFill>
                  <a:srgbClr val="33413D"/>
                </a:solidFill>
                <a:latin typeface="Aptos"/>
              </a:rPr>
              <a:t>and </a:t>
            </a:r>
            <a:r>
              <a:rPr sz="1150" b="0" i="0" dirty="0" err="1">
                <a:solidFill>
                  <a:srgbClr val="33413D"/>
                </a:solidFill>
                <a:latin typeface="Aptos"/>
              </a:rPr>
              <a:t>security-related decision remains traceable </a:t>
            </a:r>
            <a:r>
              <a:rPr sz="1150" b="0" i="0" dirty="0">
                <a:solidFill>
                  <a:srgbClr val="33413D"/>
                </a:solidFill>
                <a:latin typeface="Aptos"/>
              </a:rPr>
              <a:t>and in </a:t>
            </a:r>
            <a:r>
              <a:rPr sz="1150" b="0" i="0" dirty="0" err="1">
                <a:solidFill>
                  <a:srgbClr val="33413D"/>
                </a:solidFill>
                <a:latin typeface="Aptos"/>
              </a:rPr>
              <a:t>human </a:t>
            </a:r>
            <a:r>
              <a:rPr sz="1150" b="0" i="0" dirty="0">
                <a:solidFill>
                  <a:srgbClr val="33413D"/>
                </a:solidFill>
                <a:latin typeface="Aptos"/>
              </a:rPr>
              <a:t>hands </a:t>
            </a:r>
            <a:r>
              <a:rPr lang="de-DE" sz="1150" b="0" i="0" dirty="0">
                <a:solidFill>
                  <a:srgbClr val="33413D"/>
                </a:solidFill>
                <a:latin typeface="Aptos"/>
              </a:rPr>
              <a:t>– </a:t>
            </a:r>
            <a:r>
              <a:rPr sz="1150" b="0" i="0" dirty="0" err="1">
                <a:solidFill>
                  <a:srgbClr val="33413D"/>
                </a:solidFill>
                <a:latin typeface="Aptos"/>
              </a:rPr>
              <a:t>a key feature </a:t>
            </a:r>
            <a:r>
              <a:rPr sz="1150" b="0" i="0" dirty="0">
                <a:solidFill>
                  <a:srgbClr val="33413D"/>
                </a:solidFill>
                <a:latin typeface="Aptos"/>
              </a:rPr>
              <a:t>of the </a:t>
            </a:r>
            <a:r>
              <a:rPr sz="1150" b="0" i="0" dirty="0" err="1">
                <a:solidFill>
                  <a:srgbClr val="33413D"/>
                </a:solidFill>
                <a:latin typeface="Aptos"/>
              </a:rPr>
              <a:t>platform that inspires trust</a:t>
            </a:r>
            <a:r>
              <a:rPr sz="1150" b="0" i="0" dirty="0">
                <a:solidFill>
                  <a:srgbClr val="33413D"/>
                </a:solidFill>
                <a:latin typeface="Aptos"/>
              </a:rPr>
              <a:t>.</a:t>
            </a:r>
          </a:p>
        </p:txBody>
      </p:sp>
      <p:sp>
        <p:nvSpPr>
          <p:cNvPr id="25" name="TextBox 2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6" name="TextBox 2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a:t>
            </a:r>
          </a:p>
        </p:txBody>
      </p:sp>
      <p:pic>
        <p:nvPicPr>
          <p:cNvPr id="27" name="Picture 2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01 · MANAGEMENT SUMMARY</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What </a:t>
            </a:r>
            <a:r>
              <a:rPr sz="2700" b="1" i="0" dirty="0" err="1">
                <a:solidFill>
                  <a:srgbClr val="044F49"/>
                </a:solidFill>
                <a:latin typeface="Aptos"/>
              </a:rPr>
              <a:t>we have today </a:t>
            </a:r>
            <a:r>
              <a:rPr lang="de-DE" sz="2700" b="1" i="0" dirty="0">
                <a:solidFill>
                  <a:srgbClr val="044F49"/>
                </a:solidFill>
                <a:latin typeface="Aptos"/>
              </a:rPr>
              <a:t>– </a:t>
            </a:r>
            <a:r>
              <a:rPr sz="2700" b="1" i="0" dirty="0">
                <a:solidFill>
                  <a:srgbClr val="044F49"/>
                </a:solidFill>
                <a:latin typeface="Aptos"/>
              </a:rPr>
              <a:t>and what that </a:t>
            </a:r>
            <a:r>
              <a:rPr sz="2700" b="1" i="0" dirty="0" err="1">
                <a:solidFill>
                  <a:srgbClr val="044F49"/>
                </a:solidFill>
                <a:latin typeface="Aptos"/>
              </a:rPr>
              <a:t>means</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91640"/>
            <a:ext cx="5257800" cy="429768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892808"/>
            <a:ext cx="4745736" cy="3931920"/>
          </a:xfrm>
          <a:prstGeom prst="rect">
            <a:avLst/>
          </a:prstGeom>
          <a:noFill/>
        </p:spPr>
        <p:txBody>
          <a:bodyPr wrap="square" lIns="0" tIns="0" rIns="0" bIns="0" anchor="t">
            <a:spAutoFit/>
          </a:bodyPr>
          <a:lstStyle/>
          <a:p>
            <a:r>
              <a:rPr sz="1400" b="1" i="0">
                <a:solidFill>
                  <a:srgbClr val="044F49"/>
                </a:solidFill>
                <a:latin typeface="Aptos"/>
              </a:rPr>
              <a:t>What is available today</a:t>
            </a:r>
          </a:p>
          <a:p>
            <a:pPr>
              <a:spcBef>
                <a:spcPts val="600"/>
              </a:spcBef>
            </a:pPr>
            <a:r>
              <a:rPr sz="1100" b="0" i="0">
                <a:solidFill>
                  <a:srgbClr val="33413D"/>
                </a:solidFill>
                <a:latin typeface="Aptos"/>
              </a:rPr>
              <a:t>The platform has been completed as a fully operational demonstration environment and covers the entire operational framework:</a:t>
            </a:r>
          </a:p>
          <a:p>
            <a:pPr>
              <a:spcAft>
                <a:spcPts val="300"/>
              </a:spcAft>
            </a:pPr>
            <a:r>
              <a:rPr sz="1100" b="0" i="0">
                <a:solidFill>
                  <a:srgbClr val="33413D"/>
                </a:solidFill>
                <a:latin typeface="Aptos"/>
              </a:rPr>
              <a:t>•  Access &amp; roles</a:t>
            </a:r>
          </a:p>
          <a:p>
            <a:pPr>
              <a:spcAft>
                <a:spcPts val="300"/>
              </a:spcAft>
            </a:pPr>
            <a:r>
              <a:rPr sz="1100" b="0" i="0">
                <a:solidFill>
                  <a:srgbClr val="33413D"/>
                </a:solidFill>
                <a:latin typeface="Aptos"/>
              </a:rPr>
              <a:t>•  Portfolio and property management</a:t>
            </a:r>
          </a:p>
          <a:p>
            <a:pPr>
              <a:spcAft>
                <a:spcPts val="300"/>
              </a:spcAft>
            </a:pPr>
            <a:r>
              <a:rPr sz="1100" b="0" i="0">
                <a:solidFill>
                  <a:srgbClr val="33413D"/>
                </a:solidFill>
                <a:latin typeface="Aptos"/>
              </a:rPr>
              <a:t>•  Finance &amp; contributions</a:t>
            </a:r>
          </a:p>
          <a:p>
            <a:pPr>
              <a:spcAft>
                <a:spcPts val="300"/>
              </a:spcAft>
            </a:pPr>
            <a:r>
              <a:rPr sz="1100" b="0" i="0">
                <a:solidFill>
                  <a:srgbClr val="33413D"/>
                </a:solidFill>
                <a:latin typeface="Aptos"/>
              </a:rPr>
              <a:t>•  Services &amp; tasks</a:t>
            </a:r>
          </a:p>
          <a:p>
            <a:pPr>
              <a:spcAft>
                <a:spcPts val="300"/>
              </a:spcAft>
            </a:pPr>
            <a:r>
              <a:rPr sz="1100" b="0" i="0">
                <a:solidFill>
                  <a:srgbClr val="33413D"/>
                </a:solidFill>
                <a:latin typeface="Aptos"/>
              </a:rPr>
              <a:t>•  Bookings, documents, communication</a:t>
            </a:r>
          </a:p>
          <a:p>
            <a:pPr>
              <a:spcAft>
                <a:spcPts val="300"/>
              </a:spcAft>
            </a:pPr>
            <a:r>
              <a:rPr sz="1100" b="0" i="0">
                <a:solidFill>
                  <a:srgbClr val="33413D"/>
                </a:solidFill>
                <a:latin typeface="Aptos"/>
              </a:rPr>
              <a:t>•  Reports and live dashboard</a:t>
            </a:r>
          </a:p>
          <a:p>
            <a:pPr>
              <a:spcAft>
                <a:spcPts val="300"/>
              </a:spcAft>
            </a:pPr>
            <a:r>
              <a:rPr sz="1100" b="0" i="0">
                <a:solidFill>
                  <a:srgbClr val="33413D"/>
                </a:solidFill>
                <a:latin typeface="Aptos"/>
              </a:rPr>
              <a:t>•  Public New Level Premium Area (registration, reporting channel, QR posters, AI concierge)</a:t>
            </a:r>
          </a:p>
        </p:txBody>
      </p:sp>
      <p:sp>
        <p:nvSpPr>
          <p:cNvPr id="11" name="Rounded Rectangle 10"/>
          <p:cNvSpPr/>
          <p:nvPr/>
        </p:nvSpPr>
        <p:spPr>
          <a:xfrm>
            <a:off x="6263640" y="1691640"/>
            <a:ext cx="5257800" cy="4297680"/>
          </a:xfrm>
          <a:prstGeom prst="roundRect">
            <a:avLst>
              <a:gd name="adj" fmla="val 5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892808"/>
            <a:ext cx="4745736" cy="1633781"/>
          </a:xfrm>
          <a:prstGeom prst="rect">
            <a:avLst/>
          </a:prstGeom>
          <a:noFill/>
        </p:spPr>
        <p:txBody>
          <a:bodyPr wrap="square" lIns="0" tIns="0" rIns="0" bIns="0" anchor="t">
            <a:spAutoFit/>
          </a:bodyPr>
          <a:lstStyle/>
          <a:p>
            <a:r>
              <a:rPr sz="1400" b="1" i="0" dirty="0">
                <a:solidFill>
                  <a:srgbClr val="044F49"/>
                </a:solidFill>
                <a:latin typeface="Aptos"/>
              </a:rPr>
              <a:t>What this </a:t>
            </a:r>
            <a:r>
              <a:rPr sz="1400" b="1" i="0" dirty="0" err="1">
                <a:solidFill>
                  <a:srgbClr val="044F49"/>
                </a:solidFill>
                <a:latin typeface="Aptos"/>
              </a:rPr>
              <a:t>means </a:t>
            </a:r>
            <a:r>
              <a:rPr sz="1400" b="1" i="0" dirty="0">
                <a:solidFill>
                  <a:srgbClr val="044F49"/>
                </a:solidFill>
                <a:latin typeface="Aptos"/>
              </a:rPr>
              <a:t>for </a:t>
            </a:r>
            <a:r>
              <a:rPr sz="1400" b="1" i="0" dirty="0" err="1">
                <a:solidFill>
                  <a:srgbClr val="044F49"/>
                </a:solidFill>
                <a:latin typeface="Aptos"/>
              </a:rPr>
              <a:t>Ataberk </a:t>
            </a:r>
            <a:r>
              <a:rPr sz="1400" b="1" i="0" dirty="0">
                <a:solidFill>
                  <a:srgbClr val="044F49"/>
                </a:solidFill>
                <a:latin typeface="Aptos"/>
              </a:rPr>
              <a:t>Estate</a:t>
            </a:r>
          </a:p>
          <a:p>
            <a:pPr>
              <a:spcBef>
                <a:spcPts val="600"/>
              </a:spcBef>
            </a:pPr>
            <a:r>
              <a:rPr sz="1150" b="0" i="0" dirty="0">
                <a:solidFill>
                  <a:srgbClr val="33413D"/>
                </a:solidFill>
                <a:latin typeface="Aptos"/>
              </a:rPr>
              <a:t>You </a:t>
            </a:r>
            <a:r>
              <a:rPr sz="1150" b="0" i="0" dirty="0" err="1">
                <a:solidFill>
                  <a:srgbClr val="33413D"/>
                </a:solidFill>
                <a:latin typeface="Aptos"/>
              </a:rPr>
              <a:t>can experience </a:t>
            </a:r>
            <a:r>
              <a:rPr sz="1150" b="0" i="0" dirty="0">
                <a:solidFill>
                  <a:srgbClr val="33413D"/>
                </a:solidFill>
                <a:latin typeface="Aptos"/>
              </a:rPr>
              <a:t>the </a:t>
            </a:r>
            <a:r>
              <a:rPr sz="1150" b="0" i="0" dirty="0" err="1">
                <a:solidFill>
                  <a:srgbClr val="33413D"/>
                </a:solidFill>
                <a:latin typeface="Aptos"/>
              </a:rPr>
              <a:t>full range of features today</a:t>
            </a:r>
            <a:r>
              <a:rPr sz="1150" b="0" i="0" dirty="0">
                <a:solidFill>
                  <a:srgbClr val="33413D"/>
                </a:solidFill>
                <a:latin typeface="Aptos"/>
              </a:rPr>
              <a:t>, </a:t>
            </a:r>
            <a:r>
              <a:rPr sz="1150" b="0" i="0" dirty="0" err="1">
                <a:solidFill>
                  <a:srgbClr val="33413D"/>
                </a:solidFill>
                <a:latin typeface="Aptos"/>
              </a:rPr>
              <a:t>explore them </a:t>
            </a:r>
            <a:r>
              <a:rPr sz="1150" b="0" i="0" dirty="0">
                <a:solidFill>
                  <a:srgbClr val="33413D"/>
                </a:solidFill>
                <a:latin typeface="Aptos"/>
              </a:rPr>
              <a:t>and </a:t>
            </a:r>
            <a:r>
              <a:rPr sz="1150" b="0" i="0" dirty="0" err="1">
                <a:solidFill>
                  <a:srgbClr val="33413D"/>
                </a:solidFill>
                <a:latin typeface="Aptos"/>
              </a:rPr>
              <a:t>evaluate them </a:t>
            </a:r>
            <a:r>
              <a:rPr lang="de-DE" sz="1150" b="0" i="0" dirty="0">
                <a:solidFill>
                  <a:srgbClr val="33413D"/>
                </a:solidFill>
                <a:latin typeface="Aptos"/>
              </a:rPr>
              <a:t>– </a:t>
            </a:r>
            <a:r>
              <a:rPr sz="1150" b="0" i="0" dirty="0">
                <a:solidFill>
                  <a:srgbClr val="33413D"/>
                </a:solidFill>
                <a:latin typeface="Aptos"/>
              </a:rPr>
              <a:t>across </a:t>
            </a:r>
            <a:r>
              <a:rPr sz="1150" b="0" i="0" dirty="0" err="1">
                <a:solidFill>
                  <a:srgbClr val="33413D"/>
                </a:solidFill>
                <a:latin typeface="Aptos"/>
              </a:rPr>
              <a:t>all </a:t>
            </a:r>
            <a:r>
              <a:rPr sz="1150" b="0" i="0" dirty="0">
                <a:solidFill>
                  <a:srgbClr val="33413D"/>
                </a:solidFill>
                <a:latin typeface="Aptos"/>
              </a:rPr>
              <a:t>roles and in </a:t>
            </a:r>
            <a:r>
              <a:rPr sz="1150" b="0" i="0" dirty="0" err="1">
                <a:solidFill>
                  <a:srgbClr val="33413D"/>
                </a:solidFill>
                <a:latin typeface="Aptos"/>
              </a:rPr>
              <a:t>all </a:t>
            </a:r>
            <a:r>
              <a:rPr sz="1150" b="0" i="0" dirty="0">
                <a:solidFill>
                  <a:srgbClr val="33413D"/>
                </a:solidFill>
                <a:latin typeface="Aptos"/>
              </a:rPr>
              <a:t>four languages.</a:t>
            </a:r>
          </a:p>
          <a:p>
            <a:pPr>
              <a:spcBef>
                <a:spcPts val="800"/>
              </a:spcBef>
            </a:pPr>
            <a:r>
              <a:rPr sz="1150" b="0" i="0" dirty="0">
                <a:solidFill>
                  <a:srgbClr val="33413D"/>
                </a:solidFill>
                <a:latin typeface="Aptos"/>
              </a:rPr>
              <a:t>The transition </a:t>
            </a:r>
            <a:r>
              <a:rPr sz="1150" b="0" i="0" dirty="0" err="1">
                <a:solidFill>
                  <a:srgbClr val="33413D"/>
                </a:solidFill>
                <a:latin typeface="Aptos"/>
              </a:rPr>
              <a:t>to productive live operation requires a number of clearly defined approvals </a:t>
            </a:r>
            <a:r>
              <a:rPr lang="de-DE" sz="1150" b="0" i="0" dirty="0">
                <a:solidFill>
                  <a:srgbClr val="33413D"/>
                </a:solidFill>
                <a:latin typeface="Aptos"/>
              </a:rPr>
              <a:t>– </a:t>
            </a:r>
            <a:r>
              <a:rPr sz="1150" b="0" i="0" dirty="0" err="1">
                <a:solidFill>
                  <a:srgbClr val="33413D"/>
                </a:solidFill>
                <a:latin typeface="Aptos"/>
              </a:rPr>
              <a:t>real customer data</a:t>
            </a:r>
            <a:r>
              <a:rPr sz="1150" b="0" i="0" dirty="0">
                <a:solidFill>
                  <a:srgbClr val="33413D"/>
                </a:solidFill>
                <a:latin typeface="Aptos"/>
              </a:rPr>
              <a:t>, </a:t>
            </a:r>
            <a:r>
              <a:rPr sz="1150" b="0" i="0" dirty="0" err="1">
                <a:solidFill>
                  <a:srgbClr val="33413D"/>
                </a:solidFill>
                <a:latin typeface="Aptos"/>
              </a:rPr>
              <a:t>payment/bank integration</a:t>
            </a:r>
            <a:r>
              <a:rPr sz="1150" b="0" i="0" dirty="0">
                <a:solidFill>
                  <a:srgbClr val="33413D"/>
                </a:solidFill>
                <a:latin typeface="Aptos"/>
              </a:rPr>
              <a:t>, </a:t>
            </a:r>
            <a:r>
              <a:rPr sz="1150" b="0" i="0" dirty="0" err="1">
                <a:solidFill>
                  <a:srgbClr val="33413D"/>
                </a:solidFill>
                <a:latin typeface="Aptos"/>
              </a:rPr>
              <a:t>legal confirmations </a:t>
            </a:r>
            <a:r>
              <a:rPr sz="1150" b="0" i="0" dirty="0">
                <a:solidFill>
                  <a:srgbClr val="33413D"/>
                </a:solidFill>
                <a:latin typeface="Aptos"/>
              </a:rPr>
              <a:t>and </a:t>
            </a:r>
            <a:r>
              <a:rPr sz="1150" b="0" i="0" dirty="0" err="1">
                <a:solidFill>
                  <a:srgbClr val="33413D"/>
                </a:solidFill>
                <a:latin typeface="Aptos"/>
              </a:rPr>
              <a:t>an acceptance test</a:t>
            </a:r>
            <a:r>
              <a:rPr sz="1150" b="0" i="0" dirty="0">
                <a:solidFill>
                  <a:srgbClr val="33413D"/>
                </a:solidFill>
                <a:latin typeface="Aptos"/>
              </a:rPr>
              <a:t>. </a:t>
            </a:r>
            <a:r>
              <a:rPr sz="1150" b="0" i="0" dirty="0" err="1">
                <a:solidFill>
                  <a:srgbClr val="33413D"/>
                </a:solidFill>
                <a:latin typeface="Aptos"/>
              </a:rPr>
              <a:t>These are set out</a:t>
            </a:r>
            <a:r>
              <a:rPr sz="1150" b="0" i="0" dirty="0">
                <a:solidFill>
                  <a:srgbClr val="33413D"/>
                </a:solidFill>
                <a:latin typeface="Aptos"/>
              </a:rPr>
              <a:t> clearly in </a:t>
            </a:r>
            <a:r>
              <a:rPr sz="1150" b="0" i="0" dirty="0" err="1">
                <a:solidFill>
                  <a:srgbClr val="33413D"/>
                </a:solidFill>
                <a:latin typeface="Aptos"/>
              </a:rPr>
              <a:t>Chapters</a:t>
            </a:r>
            <a:r>
              <a:rPr sz="1150" b="0" i="0" dirty="0">
                <a:solidFill>
                  <a:srgbClr val="33413D"/>
                </a:solidFill>
                <a:latin typeface="Aptos"/>
              </a:rPr>
              <a:t> 9 and 11 and </a:t>
            </a:r>
            <a:r>
              <a:rPr sz="1150" b="0" i="0" dirty="0" err="1">
                <a:solidFill>
                  <a:srgbClr val="33413D"/>
                </a:solidFill>
                <a:latin typeface="Aptos"/>
              </a:rPr>
              <a:t>are the responsibility of </a:t>
            </a:r>
            <a:r>
              <a:rPr sz="1150" b="0" i="0" dirty="0">
                <a:solidFill>
                  <a:srgbClr val="33413D"/>
                </a:solidFill>
                <a:latin typeface="Aptos"/>
              </a:rPr>
              <a:t>you or the </a:t>
            </a:r>
            <a:r>
              <a:rPr sz="1150" b="0" i="0" dirty="0" err="1">
                <a:solidFill>
                  <a:srgbClr val="33413D"/>
                </a:solidFill>
                <a:latin typeface="Aptos"/>
              </a:rPr>
              <a:t>relevant specialist partners</a:t>
            </a:r>
            <a:r>
              <a:rPr sz="1150" b="0" i="0" dirty="0">
                <a:solidFill>
                  <a:srgbClr val="33413D"/>
                </a:solidFill>
                <a:latin typeface="Aptos"/>
              </a:rPr>
              <a:t>.</a:t>
            </a:r>
          </a:p>
        </p:txBody>
      </p:sp>
      <p:sp>
        <p:nvSpPr>
          <p:cNvPr id="13" name="TextBox 12"/>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4" name="TextBox 13"/>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4</a:t>
            </a:r>
          </a:p>
        </p:txBody>
      </p:sp>
      <p:pic>
        <p:nvPicPr>
          <p:cNvPr id="15" name="Picture 14"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02</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Market Environment &amp; Timing</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54480"/>
            <a:ext cx="10881360" cy="1110560"/>
          </a:xfrm>
          <a:prstGeom prst="rect">
            <a:avLst/>
          </a:prstGeom>
          <a:noFill/>
        </p:spPr>
        <p:txBody>
          <a:bodyPr wrap="square" lIns="0" tIns="0" rIns="0" bIns="0" anchor="t">
            <a:spAutoFit/>
          </a:bodyPr>
          <a:lstStyle/>
          <a:p>
            <a:pPr>
              <a:spcAft>
                <a:spcPts val="600"/>
              </a:spcAft>
            </a:pPr>
            <a:r>
              <a:rPr sz="1200" i="0" dirty="0">
                <a:solidFill>
                  <a:srgbClr val="33413D"/>
                </a:solidFill>
                <a:latin typeface="Aptos"/>
              </a:rPr>
              <a:t>Two </a:t>
            </a:r>
            <a:r>
              <a:rPr sz="1200" i="0" dirty="0" err="1">
                <a:solidFill>
                  <a:srgbClr val="33413D"/>
                </a:solidFill>
                <a:latin typeface="Aptos"/>
              </a:rPr>
              <a:t>opposing market trends explain why </a:t>
            </a:r>
            <a:r>
              <a:rPr sz="1200" i="0" dirty="0">
                <a:solidFill>
                  <a:srgbClr val="33413D"/>
                </a:solidFill>
                <a:latin typeface="Aptos"/>
              </a:rPr>
              <a:t>the </a:t>
            </a:r>
            <a:r>
              <a:rPr sz="1200" i="0" dirty="0" err="1">
                <a:solidFill>
                  <a:srgbClr val="33413D"/>
                </a:solidFill>
                <a:latin typeface="Aptos"/>
              </a:rPr>
              <a:t>further development </a:t>
            </a:r>
            <a:r>
              <a:rPr sz="1200" i="0" dirty="0">
                <a:solidFill>
                  <a:srgbClr val="33413D"/>
                </a:solidFill>
                <a:latin typeface="Aptos"/>
              </a:rPr>
              <a:t>of 1Çatı </a:t>
            </a:r>
            <a:r>
              <a:rPr sz="1200" i="0" dirty="0" err="1">
                <a:solidFill>
                  <a:srgbClr val="33413D"/>
                </a:solidFill>
                <a:latin typeface="Aptos"/>
              </a:rPr>
              <a:t>makes strategic sense right now</a:t>
            </a:r>
            <a:r>
              <a:rPr sz="1200" i="0" dirty="0">
                <a:solidFill>
                  <a:srgbClr val="33413D"/>
                </a:solidFill>
                <a:latin typeface="Aptos"/>
              </a:rPr>
              <a:t>.</a:t>
            </a:r>
          </a:p>
          <a:p>
            <a:pPr>
              <a:spcBef>
                <a:spcPts val="800"/>
              </a:spcBef>
              <a:spcAft>
                <a:spcPts val="300"/>
              </a:spcAft>
            </a:pPr>
            <a:r>
              <a:rPr sz="1300" b="1" i="0" dirty="0">
                <a:solidFill>
                  <a:srgbClr val="066B63"/>
                </a:solidFill>
                <a:latin typeface="Aptos"/>
              </a:rPr>
              <a:t>The </a:t>
            </a:r>
            <a:r>
              <a:rPr sz="1300" b="1" i="0" dirty="0" err="1">
                <a:solidFill>
                  <a:srgbClr val="066B63"/>
                </a:solidFill>
                <a:latin typeface="Aptos"/>
              </a:rPr>
              <a:t>overseas property market is shrinking </a:t>
            </a:r>
            <a:r>
              <a:rPr lang="de-DE" sz="1300" b="1" i="0" dirty="0">
                <a:solidFill>
                  <a:srgbClr val="066B63"/>
                </a:solidFill>
                <a:latin typeface="Aptos"/>
              </a:rPr>
              <a:t>– </a:t>
            </a:r>
            <a:r>
              <a:rPr sz="1300" b="1" i="0" dirty="0" err="1">
                <a:solidFill>
                  <a:srgbClr val="066B63"/>
                </a:solidFill>
                <a:latin typeface="Aptos"/>
              </a:rPr>
              <a:t>but </a:t>
            </a:r>
            <a:r>
              <a:rPr sz="1300" b="1" i="0" dirty="0">
                <a:solidFill>
                  <a:srgbClr val="066B63"/>
                </a:solidFill>
                <a:latin typeface="Aptos"/>
              </a:rPr>
              <a:t>Alanya </a:t>
            </a:r>
            <a:r>
              <a:rPr sz="1300" b="1" i="0" dirty="0" err="1">
                <a:solidFill>
                  <a:srgbClr val="066B63"/>
                </a:solidFill>
                <a:latin typeface="Aptos"/>
              </a:rPr>
              <a:t>remains a leader</a:t>
            </a:r>
            <a:endParaRPr sz="1300" b="1" i="0" dirty="0">
              <a:solidFill>
                <a:srgbClr val="066B63"/>
              </a:solidFill>
              <a:latin typeface="Aptos"/>
            </a:endParaRPr>
          </a:p>
          <a:p>
            <a:pPr>
              <a:spcAft>
                <a:spcPts val="600"/>
              </a:spcAft>
            </a:pPr>
            <a:r>
              <a:rPr sz="1100" i="0" dirty="0" err="1">
                <a:solidFill>
                  <a:srgbClr val="33413D"/>
                </a:solidFill>
                <a:latin typeface="Aptos"/>
              </a:rPr>
              <a:t>Nationwide, only around</a:t>
            </a:r>
            <a:r>
              <a:rPr sz="1100" i="0" dirty="0">
                <a:solidFill>
                  <a:srgbClr val="33413D"/>
                </a:solidFill>
                <a:latin typeface="Aptos"/>
              </a:rPr>
              <a:t> 21,500 </a:t>
            </a:r>
            <a:r>
              <a:rPr sz="1100" i="0" dirty="0" err="1">
                <a:solidFill>
                  <a:srgbClr val="33413D"/>
                </a:solidFill>
                <a:latin typeface="Aptos"/>
              </a:rPr>
              <a:t>flats were sold</a:t>
            </a:r>
            <a:r>
              <a:rPr sz="1100" i="0" dirty="0">
                <a:solidFill>
                  <a:srgbClr val="33413D"/>
                </a:solidFill>
                <a:latin typeface="Aptos"/>
              </a:rPr>
              <a:t> to foreign buyers in 2025 </a:t>
            </a:r>
            <a:r>
              <a:rPr lang="de-DE" sz="1100" i="0" dirty="0">
                <a:solidFill>
                  <a:srgbClr val="33413D"/>
                </a:solidFill>
                <a:latin typeface="Aptos"/>
              </a:rPr>
              <a:t>– </a:t>
            </a:r>
            <a:r>
              <a:rPr sz="1100" i="0" dirty="0">
                <a:solidFill>
                  <a:srgbClr val="33413D"/>
                </a:solidFill>
                <a:latin typeface="Aptos"/>
              </a:rPr>
              <a:t>the </a:t>
            </a:r>
            <a:r>
              <a:rPr sz="1100" i="0" dirty="0" err="1">
                <a:solidFill>
                  <a:srgbClr val="33413D"/>
                </a:solidFill>
                <a:latin typeface="Aptos"/>
              </a:rPr>
              <a:t>lowest </a:t>
            </a:r>
            <a:r>
              <a:rPr sz="1100" i="0" dirty="0">
                <a:solidFill>
                  <a:srgbClr val="33413D"/>
                </a:solidFill>
                <a:latin typeface="Aptos"/>
              </a:rPr>
              <a:t>figure </a:t>
            </a:r>
            <a:r>
              <a:rPr sz="1100" i="0" dirty="0" err="1">
                <a:solidFill>
                  <a:srgbClr val="33413D"/>
                </a:solidFill>
                <a:latin typeface="Aptos"/>
              </a:rPr>
              <a:t>in nine </a:t>
            </a:r>
            <a:r>
              <a:rPr sz="1100" i="0" dirty="0">
                <a:solidFill>
                  <a:srgbClr val="33413D"/>
                </a:solidFill>
                <a:latin typeface="Aptos"/>
              </a:rPr>
              <a:t>years. Among </a:t>
            </a:r>
            <a:r>
              <a:rPr sz="1100" i="0" dirty="0" err="1">
                <a:solidFill>
                  <a:srgbClr val="33413D"/>
                </a:solidFill>
                <a:latin typeface="Aptos"/>
              </a:rPr>
              <a:t>Russian buyers, </a:t>
            </a:r>
            <a:r>
              <a:rPr sz="1100" i="0" dirty="0">
                <a:solidFill>
                  <a:srgbClr val="33413D"/>
                </a:solidFill>
                <a:latin typeface="Aptos"/>
              </a:rPr>
              <a:t>the figure in Alanya </a:t>
            </a:r>
            <a:r>
              <a:rPr sz="1100" i="0" dirty="0" err="1">
                <a:solidFill>
                  <a:srgbClr val="33413D"/>
                </a:solidFill>
                <a:latin typeface="Aptos"/>
              </a:rPr>
              <a:t>fell </a:t>
            </a:r>
            <a:r>
              <a:rPr sz="1100" i="0" dirty="0">
                <a:solidFill>
                  <a:srgbClr val="33413D"/>
                </a:solidFill>
                <a:latin typeface="Aptos"/>
              </a:rPr>
              <a:t>from 6,640 (2022) to 1,662 </a:t>
            </a:r>
            <a:r>
              <a:rPr sz="1100" i="0" dirty="0" err="1">
                <a:solidFill>
                  <a:srgbClr val="33413D"/>
                </a:solidFill>
                <a:latin typeface="Aptos"/>
              </a:rPr>
              <a:t>properties </a:t>
            </a:r>
            <a:r>
              <a:rPr sz="1100" i="0" dirty="0">
                <a:solidFill>
                  <a:srgbClr val="33413D"/>
                </a:solidFill>
                <a:latin typeface="Aptos"/>
              </a:rPr>
              <a:t>(2025). </a:t>
            </a:r>
            <a:r>
              <a:rPr sz="1100" i="0" dirty="0" err="1">
                <a:solidFill>
                  <a:srgbClr val="33413D"/>
                </a:solidFill>
                <a:latin typeface="Aptos"/>
              </a:rPr>
              <a:t>At the same time</a:t>
            </a:r>
            <a:r>
              <a:rPr sz="1100" i="0" dirty="0">
                <a:solidFill>
                  <a:srgbClr val="33413D"/>
                </a:solidFill>
                <a:latin typeface="Aptos"/>
              </a:rPr>
              <a:t>, Alanya </a:t>
            </a:r>
            <a:r>
              <a:rPr sz="1100" i="0" dirty="0" err="1">
                <a:solidFill>
                  <a:srgbClr val="33413D"/>
                </a:solidFill>
                <a:latin typeface="Aptos"/>
              </a:rPr>
              <a:t>has remained </a:t>
            </a:r>
            <a:r>
              <a:rPr sz="1100" i="0" dirty="0">
                <a:solidFill>
                  <a:srgbClr val="33413D"/>
                </a:solidFill>
                <a:latin typeface="Aptos"/>
              </a:rPr>
              <a:t>the </a:t>
            </a:r>
            <a:r>
              <a:rPr sz="1100" i="0" dirty="0" err="1">
                <a:solidFill>
                  <a:srgbClr val="33413D"/>
                </a:solidFill>
                <a:latin typeface="Aptos"/>
              </a:rPr>
              <a:t>most popular </a:t>
            </a:r>
            <a:r>
              <a:rPr sz="1100" i="0" dirty="0">
                <a:solidFill>
                  <a:srgbClr val="33413D"/>
                </a:solidFill>
                <a:latin typeface="Aptos"/>
              </a:rPr>
              <a:t>district in </a:t>
            </a:r>
            <a:r>
              <a:rPr sz="1100" i="0" dirty="0" err="1">
                <a:solidFill>
                  <a:srgbClr val="33413D"/>
                </a:solidFill>
                <a:latin typeface="Aptos"/>
              </a:rPr>
              <a:t>the whole of Turkey </a:t>
            </a:r>
            <a:r>
              <a:rPr sz="1100" i="0" dirty="0">
                <a:solidFill>
                  <a:srgbClr val="33413D"/>
                </a:solidFill>
                <a:latin typeface="Aptos"/>
              </a:rPr>
              <a:t>among </a:t>
            </a:r>
            <a:r>
              <a:rPr sz="1100" i="0" dirty="0" err="1">
                <a:solidFill>
                  <a:srgbClr val="33413D"/>
                </a:solidFill>
                <a:latin typeface="Aptos"/>
              </a:rPr>
              <a:t>Russian buyers for </a:t>
            </a:r>
            <a:r>
              <a:rPr sz="1100" i="0" dirty="0">
                <a:solidFill>
                  <a:srgbClr val="33413D"/>
                </a:solidFill>
                <a:latin typeface="Aptos"/>
              </a:rPr>
              <a:t>four years </a:t>
            </a:r>
            <a:r>
              <a:rPr sz="1100" i="0" dirty="0" err="1">
                <a:solidFill>
                  <a:srgbClr val="33413D"/>
                </a:solidFill>
                <a:latin typeface="Aptos"/>
              </a:rPr>
              <a:t>running</a:t>
            </a:r>
            <a:r>
              <a:rPr sz="1100" i="0" dirty="0">
                <a:solidFill>
                  <a:srgbClr val="33413D"/>
                </a:solidFill>
                <a:latin typeface="Aptos"/>
              </a:rPr>
              <a:t>. In </a:t>
            </a:r>
            <a:r>
              <a:rPr sz="1100" i="0" dirty="0" err="1">
                <a:solidFill>
                  <a:srgbClr val="33413D"/>
                </a:solidFill>
                <a:latin typeface="Aptos"/>
              </a:rPr>
              <a:t>a shrinking </a:t>
            </a:r>
            <a:r>
              <a:rPr sz="1100" i="0" dirty="0">
                <a:solidFill>
                  <a:srgbClr val="33413D"/>
                </a:solidFill>
                <a:latin typeface="Aptos"/>
              </a:rPr>
              <a:t>market, operational </a:t>
            </a:r>
            <a:r>
              <a:rPr sz="1100" i="0" dirty="0" err="1">
                <a:solidFill>
                  <a:srgbClr val="33413D"/>
                </a:solidFill>
                <a:latin typeface="Aptos"/>
              </a:rPr>
              <a:t>excellence </a:t>
            </a:r>
            <a:r>
              <a:rPr sz="1100" i="0" dirty="0">
                <a:solidFill>
                  <a:srgbClr val="33413D"/>
                </a:solidFill>
                <a:latin typeface="Aptos"/>
              </a:rPr>
              <a:t>and </a:t>
            </a:r>
            <a:r>
              <a:rPr sz="1100" i="0" dirty="0" err="1">
                <a:solidFill>
                  <a:srgbClr val="33413D"/>
                </a:solidFill>
                <a:latin typeface="Aptos"/>
              </a:rPr>
              <a:t>digital trust play a greater role in customer loyalty than </a:t>
            </a:r>
            <a:r>
              <a:rPr sz="1100" i="0" dirty="0">
                <a:solidFill>
                  <a:srgbClr val="33413D"/>
                </a:solidFill>
                <a:latin typeface="Aptos"/>
              </a:rPr>
              <a:t>in </a:t>
            </a:r>
            <a:r>
              <a:rPr sz="1100" i="0" dirty="0" err="1">
                <a:solidFill>
                  <a:srgbClr val="33413D"/>
                </a:solidFill>
                <a:latin typeface="Aptos"/>
              </a:rPr>
              <a:t>a growing </a:t>
            </a:r>
            <a:r>
              <a:rPr sz="1100" i="0" dirty="0">
                <a:solidFill>
                  <a:srgbClr val="33413D"/>
                </a:solidFill>
                <a:latin typeface="Aptos"/>
              </a:rPr>
              <a:t>market.</a:t>
            </a:r>
          </a:p>
        </p:txBody>
      </p:sp>
      <p:sp>
        <p:nvSpPr>
          <p:cNvPr id="10" name="Rounded Rectangle 9"/>
          <p:cNvSpPr/>
          <p:nvPr/>
        </p:nvSpPr>
        <p:spPr>
          <a:xfrm>
            <a:off x="64008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941064"/>
            <a:ext cx="2183130" cy="492443"/>
          </a:xfrm>
          <a:prstGeom prst="rect">
            <a:avLst/>
          </a:prstGeom>
          <a:noFill/>
        </p:spPr>
        <p:txBody>
          <a:bodyPr wrap="square" lIns="0" tIns="0" rIns="0" bIns="0" anchor="t">
            <a:spAutoFit/>
          </a:bodyPr>
          <a:lstStyle/>
          <a:p>
            <a:r>
              <a:rPr sz="3200" b="1" i="0" dirty="0">
                <a:solidFill>
                  <a:srgbClr val="066B63"/>
                </a:solidFill>
                <a:latin typeface="Aptos"/>
              </a:rPr>
              <a:t>-9.</a:t>
            </a:r>
            <a:r>
              <a:rPr sz="3200" b="1" i="0" dirty="0">
                <a:solidFill>
                  <a:srgbClr val="B9822B"/>
                </a:solidFill>
                <a:latin typeface="Aptos"/>
              </a:rPr>
              <a:t>4%</a:t>
            </a:r>
          </a:p>
        </p:txBody>
      </p:sp>
      <p:sp>
        <p:nvSpPr>
          <p:cNvPr id="12" name="TextBox 11"/>
          <p:cNvSpPr txBox="1"/>
          <p:nvPr/>
        </p:nvSpPr>
        <p:spPr>
          <a:xfrm>
            <a:off x="822960" y="4544568"/>
            <a:ext cx="2183130" cy="411480"/>
          </a:xfrm>
          <a:prstGeom prst="rect">
            <a:avLst/>
          </a:prstGeom>
          <a:noFill/>
        </p:spPr>
        <p:txBody>
          <a:bodyPr wrap="square" lIns="0" tIns="0" rIns="0" bIns="0" anchor="t">
            <a:spAutoFit/>
          </a:bodyPr>
          <a:lstStyle/>
          <a:p>
            <a:r>
              <a:rPr sz="1050" b="0" i="0">
                <a:solidFill>
                  <a:srgbClr val="64716D"/>
                </a:solidFill>
                <a:latin typeface="Aptos"/>
              </a:rPr>
              <a:t>Sales to foreigners in Turkey in 2025 compared with the previous year</a:t>
            </a:r>
          </a:p>
        </p:txBody>
      </p:sp>
      <p:sp>
        <p:nvSpPr>
          <p:cNvPr id="13" name="Rounded Rectangle 12"/>
          <p:cNvSpPr/>
          <p:nvPr/>
        </p:nvSpPr>
        <p:spPr>
          <a:xfrm>
            <a:off x="341757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00450" y="3941064"/>
            <a:ext cx="2183130" cy="640080"/>
          </a:xfrm>
          <a:prstGeom prst="rect">
            <a:avLst/>
          </a:prstGeom>
          <a:noFill/>
        </p:spPr>
        <p:txBody>
          <a:bodyPr wrap="square" lIns="0" tIns="0" rIns="0" bIns="0" anchor="t">
            <a:spAutoFit/>
          </a:bodyPr>
          <a:lstStyle/>
          <a:p>
            <a:r>
              <a:rPr sz="3200" b="1" i="0">
                <a:solidFill>
                  <a:srgbClr val="066B63"/>
                </a:solidFill>
                <a:latin typeface="Aptos"/>
              </a:rPr>
              <a:t>4</a:t>
            </a:r>
          </a:p>
        </p:txBody>
      </p:sp>
      <p:sp>
        <p:nvSpPr>
          <p:cNvPr id="15" name="TextBox 14"/>
          <p:cNvSpPr txBox="1"/>
          <p:nvPr/>
        </p:nvSpPr>
        <p:spPr>
          <a:xfrm>
            <a:off x="3600450" y="4544568"/>
            <a:ext cx="2183130" cy="411480"/>
          </a:xfrm>
          <a:prstGeom prst="rect">
            <a:avLst/>
          </a:prstGeom>
          <a:noFill/>
        </p:spPr>
        <p:txBody>
          <a:bodyPr wrap="square" lIns="0" tIns="0" rIns="0" bIns="0" anchor="t">
            <a:spAutoFit/>
          </a:bodyPr>
          <a:lstStyle/>
          <a:p>
            <a:r>
              <a:rPr sz="1050" b="0" i="0">
                <a:solidFill>
                  <a:srgbClr val="64716D"/>
                </a:solidFill>
                <a:latin typeface="Aptos"/>
              </a:rPr>
              <a:t>Years in a row: Alanya No. 1 (Russian buyers)</a:t>
            </a:r>
          </a:p>
        </p:txBody>
      </p:sp>
      <p:sp>
        <p:nvSpPr>
          <p:cNvPr id="16" name="Rounded Rectangle 15"/>
          <p:cNvSpPr/>
          <p:nvPr/>
        </p:nvSpPr>
        <p:spPr>
          <a:xfrm>
            <a:off x="619506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7940" y="3941064"/>
            <a:ext cx="2183130" cy="492443"/>
          </a:xfrm>
          <a:prstGeom prst="rect">
            <a:avLst/>
          </a:prstGeom>
          <a:noFill/>
        </p:spPr>
        <p:txBody>
          <a:bodyPr wrap="square" lIns="0" tIns="0" rIns="0" bIns="0" anchor="t">
            <a:spAutoFit/>
          </a:bodyPr>
          <a:lstStyle/>
          <a:p>
            <a:r>
              <a:rPr sz="3200" b="1" i="0" dirty="0">
                <a:solidFill>
                  <a:srgbClr val="066B63"/>
                </a:solidFill>
                <a:latin typeface="Aptos"/>
              </a:rPr>
              <a:t>8</a:t>
            </a:r>
            <a:r>
              <a:rPr sz="3200" b="1" i="0" dirty="0">
                <a:solidFill>
                  <a:srgbClr val="B9822B"/>
                </a:solidFill>
                <a:latin typeface="Aptos"/>
              </a:rPr>
              <a:t>8</a:t>
            </a:r>
            <a:r>
              <a:rPr sz="3200" b="1" i="0" dirty="0">
                <a:solidFill>
                  <a:srgbClr val="066B63"/>
                </a:solidFill>
                <a:latin typeface="Aptos"/>
              </a:rPr>
              <a:t>.6</a:t>
            </a:r>
          </a:p>
        </p:txBody>
      </p:sp>
      <p:sp>
        <p:nvSpPr>
          <p:cNvPr id="18" name="TextBox 17"/>
          <p:cNvSpPr txBox="1"/>
          <p:nvPr/>
        </p:nvSpPr>
        <p:spPr>
          <a:xfrm>
            <a:off x="6377940" y="4544568"/>
            <a:ext cx="2183130" cy="411480"/>
          </a:xfrm>
          <a:prstGeom prst="rect">
            <a:avLst/>
          </a:prstGeom>
          <a:noFill/>
        </p:spPr>
        <p:txBody>
          <a:bodyPr wrap="square" lIns="0" tIns="0" rIns="0" bIns="0" anchor="t">
            <a:spAutoFit/>
          </a:bodyPr>
          <a:lstStyle/>
          <a:p>
            <a:r>
              <a:rPr sz="1050" b="0" i="0">
                <a:solidFill>
                  <a:srgbClr val="64716D"/>
                </a:solidFill>
                <a:latin typeface="Aptos"/>
              </a:rPr>
              <a:t>WhatsApp usage in Turkey</a:t>
            </a:r>
          </a:p>
        </p:txBody>
      </p:sp>
      <p:sp>
        <p:nvSpPr>
          <p:cNvPr id="19" name="Rounded Rectangle 18"/>
          <p:cNvSpPr/>
          <p:nvPr/>
        </p:nvSpPr>
        <p:spPr>
          <a:xfrm>
            <a:off x="897255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55430" y="3941064"/>
            <a:ext cx="2183130" cy="492443"/>
          </a:xfrm>
          <a:prstGeom prst="rect">
            <a:avLst/>
          </a:prstGeom>
          <a:noFill/>
        </p:spPr>
        <p:txBody>
          <a:bodyPr wrap="square" lIns="0" tIns="0" rIns="0" bIns="0" anchor="t">
            <a:spAutoFit/>
          </a:bodyPr>
          <a:lstStyle/>
          <a:p>
            <a:r>
              <a:rPr sz="3200" b="1" i="0" dirty="0">
                <a:solidFill>
                  <a:srgbClr val="B9822B"/>
                </a:solidFill>
                <a:latin typeface="Aptos"/>
              </a:rPr>
              <a:t>3</a:t>
            </a:r>
            <a:r>
              <a:rPr sz="3200" b="1" i="0" dirty="0">
                <a:solidFill>
                  <a:srgbClr val="066B63"/>
                </a:solidFill>
                <a:latin typeface="Aptos"/>
              </a:rPr>
              <a:t>4</a:t>
            </a:r>
          </a:p>
        </p:txBody>
      </p:sp>
      <p:sp>
        <p:nvSpPr>
          <p:cNvPr id="21" name="TextBox 20"/>
          <p:cNvSpPr txBox="1"/>
          <p:nvPr/>
        </p:nvSpPr>
        <p:spPr>
          <a:xfrm>
            <a:off x="9155430" y="4544568"/>
            <a:ext cx="2183130" cy="411480"/>
          </a:xfrm>
          <a:prstGeom prst="rect">
            <a:avLst/>
          </a:prstGeom>
          <a:noFill/>
        </p:spPr>
        <p:txBody>
          <a:bodyPr wrap="square" lIns="0" tIns="0" rIns="0" bIns="0" anchor="t">
            <a:spAutoFit/>
          </a:bodyPr>
          <a:lstStyle/>
          <a:p>
            <a:r>
              <a:rPr sz="1050" b="0" i="0">
                <a:solidFill>
                  <a:srgbClr val="64716D"/>
                </a:solidFill>
                <a:latin typeface="Aptos"/>
              </a:rPr>
              <a:t>AI usage among property managers (out of 21%)</a:t>
            </a:r>
          </a:p>
        </p:txBody>
      </p:sp>
      <p:sp>
        <p:nvSpPr>
          <p:cNvPr id="22" name="Rounded Rectangle 21"/>
          <p:cNvSpPr/>
          <p:nvPr/>
        </p:nvSpPr>
        <p:spPr>
          <a:xfrm>
            <a:off x="640080" y="5349240"/>
            <a:ext cx="10881360" cy="86868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5349240"/>
            <a:ext cx="54864" cy="86868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477256"/>
            <a:ext cx="10469880" cy="612648"/>
          </a:xfrm>
          <a:prstGeom prst="rect">
            <a:avLst/>
          </a:prstGeom>
          <a:noFill/>
        </p:spPr>
        <p:txBody>
          <a:bodyPr wrap="square" lIns="0" tIns="0" rIns="0" bIns="0" anchor="ctr">
            <a:spAutoFit/>
          </a:bodyPr>
          <a:lstStyle/>
          <a:p>
            <a:r>
              <a:rPr sz="1250" b="1" i="0">
                <a:solidFill>
                  <a:srgbClr val="044F49"/>
                </a:solidFill>
                <a:latin typeface="Aptos"/>
              </a:rPr>
              <a:t>Strategic implication. </a:t>
            </a:r>
            <a:r>
              <a:rPr sz="1150" b="0" i="0">
                <a:solidFill>
                  <a:srgbClr val="33413D"/>
                </a:solidFill>
                <a:latin typeface="Aptos"/>
              </a:rPr>
              <a:t> Those who retain existing owners and tenants by offering noticeably better management, transparency and self-service will gain relative ground in a tighter market.</a:t>
            </a:r>
          </a:p>
        </p:txBody>
      </p:sp>
      <p:sp>
        <p:nvSpPr>
          <p:cNvPr id="25" name="TextBox 2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6" name="TextBox 2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5</a:t>
            </a:r>
          </a:p>
        </p:txBody>
      </p:sp>
      <p:pic>
        <p:nvPicPr>
          <p:cNvPr id="27" name="Picture 2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02 · MARKET ENVIRONMENT</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AI as a competitive standard &amp; digital accessibility</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91640"/>
            <a:ext cx="5326380" cy="19202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37944"/>
            <a:ext cx="4869180" cy="897682"/>
          </a:xfrm>
          <a:prstGeom prst="rect">
            <a:avLst/>
          </a:prstGeom>
          <a:noFill/>
        </p:spPr>
        <p:txBody>
          <a:bodyPr wrap="square" lIns="0" tIns="0" rIns="0" bIns="0" anchor="t">
            <a:spAutoFit/>
          </a:bodyPr>
          <a:lstStyle/>
          <a:p>
            <a:r>
              <a:rPr sz="1300" b="1" i="0" dirty="0">
                <a:solidFill>
                  <a:srgbClr val="044F49"/>
                </a:solidFill>
                <a:latin typeface="Aptos"/>
              </a:rPr>
              <a:t>AI </a:t>
            </a:r>
            <a:r>
              <a:rPr sz="1300" b="1" i="0" dirty="0" err="1">
                <a:solidFill>
                  <a:srgbClr val="044F49"/>
                </a:solidFill>
                <a:latin typeface="Aptos"/>
              </a:rPr>
              <a:t>is becoming the </a:t>
            </a:r>
            <a:r>
              <a:rPr sz="1300" b="1" i="0" dirty="0">
                <a:solidFill>
                  <a:srgbClr val="044F49"/>
                </a:solidFill>
                <a:latin typeface="Aptos"/>
              </a:rPr>
              <a:t>norm</a:t>
            </a:r>
          </a:p>
          <a:p>
            <a:pPr>
              <a:spcBef>
                <a:spcPts val="400"/>
              </a:spcBef>
            </a:pPr>
            <a:r>
              <a:rPr sz="1050" b="0" i="0" dirty="0">
                <a:solidFill>
                  <a:srgbClr val="64716D"/>
                </a:solidFill>
                <a:latin typeface="Aptos"/>
              </a:rPr>
              <a:t>The </a:t>
            </a:r>
            <a:r>
              <a:rPr sz="1050" b="0" i="0" dirty="0" err="1">
                <a:solidFill>
                  <a:srgbClr val="64716D"/>
                </a:solidFill>
                <a:latin typeface="Aptos"/>
              </a:rPr>
              <a:t>active use</a:t>
            </a:r>
            <a:r>
              <a:rPr sz="1050" b="0" i="0" dirty="0">
                <a:solidFill>
                  <a:srgbClr val="64716D"/>
                </a:solidFill>
                <a:latin typeface="Aptos"/>
              </a:rPr>
              <a:t> of AI </a:t>
            </a:r>
            <a:r>
              <a:rPr sz="1050" b="0" i="0" dirty="0" err="1">
                <a:solidFill>
                  <a:srgbClr val="64716D"/>
                </a:solidFill>
                <a:latin typeface="Aptos"/>
              </a:rPr>
              <a:t>amongst </a:t>
            </a:r>
            <a:r>
              <a:rPr sz="1050" b="0" i="0" dirty="0">
                <a:solidFill>
                  <a:srgbClr val="64716D"/>
                </a:solidFill>
                <a:latin typeface="Aptos"/>
              </a:rPr>
              <a:t>property </a:t>
            </a:r>
            <a:r>
              <a:rPr sz="1050" b="0" i="0" dirty="0" err="1">
                <a:solidFill>
                  <a:srgbClr val="64716D"/>
                </a:solidFill>
                <a:latin typeface="Aptos"/>
              </a:rPr>
              <a:t>managers rose </a:t>
            </a:r>
            <a:r>
              <a:rPr sz="1050" b="0" i="0" dirty="0">
                <a:solidFill>
                  <a:srgbClr val="64716D"/>
                </a:solidFill>
                <a:latin typeface="Aptos"/>
              </a:rPr>
              <a:t>from 21% to 34% in </a:t>
            </a:r>
            <a:r>
              <a:rPr sz="1050" b="0" i="0" dirty="0" err="1">
                <a:solidFill>
                  <a:srgbClr val="64716D"/>
                </a:solidFill>
                <a:latin typeface="Aptos"/>
              </a:rPr>
              <a:t>the space of a </a:t>
            </a:r>
            <a:r>
              <a:rPr sz="1050" b="0" i="0" dirty="0">
                <a:solidFill>
                  <a:srgbClr val="64716D"/>
                </a:solidFill>
                <a:latin typeface="Aptos"/>
              </a:rPr>
              <a:t>year. </a:t>
            </a:r>
            <a:r>
              <a:rPr sz="1050" b="0" i="0" dirty="0" err="1">
                <a:solidFill>
                  <a:srgbClr val="64716D"/>
                </a:solidFill>
                <a:latin typeface="Aptos"/>
              </a:rPr>
              <a:t>Leading international providers have retrofitted </a:t>
            </a:r>
            <a:r>
              <a:rPr sz="1050" b="0" i="0" dirty="0">
                <a:solidFill>
                  <a:srgbClr val="64716D"/>
                </a:solidFill>
                <a:latin typeface="Aptos"/>
              </a:rPr>
              <a:t>their AI </a:t>
            </a:r>
            <a:r>
              <a:rPr sz="1050" b="0" i="0" dirty="0" err="1">
                <a:solidFill>
                  <a:srgbClr val="64716D"/>
                </a:solidFill>
                <a:latin typeface="Aptos"/>
              </a:rPr>
              <a:t>assistants </a:t>
            </a:r>
            <a:r>
              <a:rPr lang="de-DE" sz="1050" b="0" i="0" dirty="0">
                <a:solidFill>
                  <a:srgbClr val="64716D"/>
                </a:solidFill>
                <a:latin typeface="Aptos"/>
              </a:rPr>
              <a:t>– </a:t>
            </a:r>
            <a:r>
              <a:rPr sz="1050" b="0" i="0" dirty="0" err="1">
                <a:solidFill>
                  <a:srgbClr val="64716D"/>
                </a:solidFill>
                <a:latin typeface="Aptos"/>
              </a:rPr>
              <a:t>consistently adhering to </a:t>
            </a:r>
            <a:r>
              <a:rPr sz="1050" b="0" i="0" dirty="0">
                <a:solidFill>
                  <a:srgbClr val="64716D"/>
                </a:solidFill>
                <a:latin typeface="Aptos"/>
              </a:rPr>
              <a:t>the </a:t>
            </a:r>
            <a:r>
              <a:rPr sz="1050" b="0" i="0" dirty="0" err="1">
                <a:solidFill>
                  <a:srgbClr val="64716D"/>
                </a:solidFill>
                <a:latin typeface="Aptos"/>
              </a:rPr>
              <a:t>principle that </a:t>
            </a:r>
            <a:r>
              <a:rPr sz="1050" b="0" i="0" dirty="0">
                <a:solidFill>
                  <a:srgbClr val="64716D"/>
                </a:solidFill>
                <a:latin typeface="Aptos"/>
              </a:rPr>
              <a:t>sensitive </a:t>
            </a:r>
            <a:r>
              <a:rPr sz="1050" b="0" i="0" dirty="0" err="1">
                <a:solidFill>
                  <a:srgbClr val="64716D"/>
                </a:solidFill>
                <a:latin typeface="Aptos"/>
              </a:rPr>
              <a:t>decisions require human review</a:t>
            </a:r>
            <a:r>
              <a:rPr sz="1050" b="0" i="0" dirty="0">
                <a:solidFill>
                  <a:srgbClr val="64716D"/>
                </a:solidFill>
                <a:latin typeface="Aptos"/>
              </a:rPr>
              <a:t>. </a:t>
            </a:r>
            <a:r>
              <a:rPr sz="1050" b="0" i="0" dirty="0" err="1">
                <a:solidFill>
                  <a:srgbClr val="64716D"/>
                </a:solidFill>
                <a:latin typeface="Aptos"/>
              </a:rPr>
              <a:t>It is precisely </a:t>
            </a:r>
            <a:r>
              <a:rPr sz="1050" b="0" i="0" dirty="0">
                <a:solidFill>
                  <a:srgbClr val="64716D"/>
                </a:solidFill>
                <a:latin typeface="Aptos"/>
              </a:rPr>
              <a:t>this </a:t>
            </a:r>
            <a:r>
              <a:rPr sz="1050" b="0" i="0" dirty="0" err="1">
                <a:solidFill>
                  <a:srgbClr val="64716D"/>
                </a:solidFill>
                <a:latin typeface="Aptos"/>
              </a:rPr>
              <a:t>principle that is embedded</a:t>
            </a:r>
            <a:r>
              <a:rPr sz="1050" b="0" i="0" dirty="0">
                <a:solidFill>
                  <a:srgbClr val="64716D"/>
                </a:solidFill>
                <a:latin typeface="Aptos"/>
              </a:rPr>
              <a:t> in 1Çatı from the ground up.</a:t>
            </a:r>
          </a:p>
        </p:txBody>
      </p:sp>
      <p:sp>
        <p:nvSpPr>
          <p:cNvPr id="11" name="Rounded Rectangle 10"/>
          <p:cNvSpPr/>
          <p:nvPr/>
        </p:nvSpPr>
        <p:spPr>
          <a:xfrm>
            <a:off x="6195060" y="1691640"/>
            <a:ext cx="5326380" cy="19202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837944"/>
            <a:ext cx="4869180" cy="1645920"/>
          </a:xfrm>
          <a:prstGeom prst="rect">
            <a:avLst/>
          </a:prstGeom>
          <a:noFill/>
        </p:spPr>
        <p:txBody>
          <a:bodyPr wrap="square" lIns="0" tIns="0" rIns="0" bIns="0" anchor="t">
            <a:spAutoFit/>
          </a:bodyPr>
          <a:lstStyle/>
          <a:p>
            <a:r>
              <a:rPr sz="1300" b="1" i="0">
                <a:solidFill>
                  <a:srgbClr val="044F49"/>
                </a:solidFill>
                <a:latin typeface="Aptos"/>
              </a:rPr>
              <a:t>Digital accessibility</a:t>
            </a:r>
          </a:p>
          <a:p>
            <a:pPr>
              <a:spcBef>
                <a:spcPts val="400"/>
              </a:spcBef>
            </a:pPr>
            <a:r>
              <a:rPr sz="1050" b="0" i="0">
                <a:solidFill>
                  <a:srgbClr val="64716D"/>
                </a:solidFill>
                <a:latin typeface="Aptos"/>
              </a:rPr>
              <a:t>International property owners and tenants are highly accessible digitally: 88.6 per cent use WhatsApp, and over 90 per cent use the internet in Turkey. This supports the approach of an installable, multilingual web app that runs on any device without the need to navigate app store barriers.</a:t>
            </a:r>
          </a:p>
        </p:txBody>
      </p:sp>
      <p:sp>
        <p:nvSpPr>
          <p:cNvPr id="13" name="Rounded Rectangle 12"/>
          <p:cNvSpPr/>
          <p:nvPr/>
        </p:nvSpPr>
        <p:spPr>
          <a:xfrm>
            <a:off x="640080" y="5669280"/>
            <a:ext cx="10881360" cy="5486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5669280"/>
            <a:ext cx="54864" cy="5486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5797296"/>
            <a:ext cx="10469880" cy="292608"/>
          </a:xfrm>
          <a:prstGeom prst="rect">
            <a:avLst/>
          </a:prstGeom>
          <a:noFill/>
        </p:spPr>
        <p:txBody>
          <a:bodyPr wrap="square" lIns="0" tIns="0" rIns="0" bIns="0" anchor="ctr">
            <a:spAutoFit/>
          </a:bodyPr>
          <a:lstStyle/>
          <a:p>
            <a:r>
              <a:rPr sz="1250" b="1" i="0">
                <a:solidFill>
                  <a:srgbClr val="044F49"/>
                </a:solidFill>
                <a:latin typeface="Aptos"/>
              </a:rPr>
              <a:t>Conclusion. </a:t>
            </a:r>
            <a:r>
              <a:rPr sz="1150" b="0" i="0">
                <a:solidFill>
                  <a:srgbClr val="33413D"/>
                </a:solidFill>
                <a:latin typeface="Aptos"/>
              </a:rPr>
              <a:t> A shrinking market + rising acceptance of AI = the ideal time for trust-building, AI-supported operational excellence.</a:t>
            </a:r>
          </a:p>
        </p:txBody>
      </p:sp>
      <p:sp>
        <p:nvSpPr>
          <p:cNvPr id="16" name="TextBox 15"/>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7" name="TextBox 16"/>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6</a:t>
            </a:r>
          </a:p>
        </p:txBody>
      </p:sp>
      <p:pic>
        <p:nvPicPr>
          <p:cNvPr id="18" name="Picture 17"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03</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Competition &amp; Positioning</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08760"/>
            <a:ext cx="10881360" cy="176972"/>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The </a:t>
            </a:r>
            <a:r>
              <a:rPr sz="1150" i="0" dirty="0" err="1">
                <a:solidFill>
                  <a:srgbClr val="33413D"/>
                </a:solidFill>
                <a:latin typeface="Aptos"/>
              </a:rPr>
              <a:t>Turkish </a:t>
            </a:r>
            <a:r>
              <a:rPr sz="1150" i="0" dirty="0">
                <a:solidFill>
                  <a:srgbClr val="33413D"/>
                </a:solidFill>
                <a:latin typeface="Aptos"/>
              </a:rPr>
              <a:t>market </a:t>
            </a:r>
            <a:r>
              <a:rPr sz="1150" i="0" dirty="0" err="1">
                <a:solidFill>
                  <a:srgbClr val="33413D"/>
                </a:solidFill>
                <a:latin typeface="Aptos"/>
              </a:rPr>
              <a:t>offers established solutions </a:t>
            </a:r>
            <a:r>
              <a:rPr lang="de-DE" sz="1150" i="0" dirty="0">
                <a:solidFill>
                  <a:srgbClr val="33413D"/>
                </a:solidFill>
                <a:latin typeface="Aptos"/>
              </a:rPr>
              <a:t>– </a:t>
            </a:r>
            <a:r>
              <a:rPr sz="1150" i="0" dirty="0" err="1">
                <a:solidFill>
                  <a:srgbClr val="33413D"/>
                </a:solidFill>
                <a:latin typeface="Aptos"/>
              </a:rPr>
              <a:t>but none of them combine </a:t>
            </a:r>
            <a:r>
              <a:rPr sz="1150" i="0" dirty="0">
                <a:solidFill>
                  <a:srgbClr val="33413D"/>
                </a:solidFill>
                <a:latin typeface="Aptos"/>
              </a:rPr>
              <a:t>the four </a:t>
            </a:r>
            <a:r>
              <a:rPr sz="1150" i="0" dirty="0" err="1">
                <a:solidFill>
                  <a:srgbClr val="33413D"/>
                </a:solidFill>
                <a:latin typeface="Aptos"/>
              </a:rPr>
              <a:t>strengths </a:t>
            </a:r>
            <a:r>
              <a:rPr sz="1150" i="0" dirty="0">
                <a:solidFill>
                  <a:srgbClr val="33413D"/>
                </a:solidFill>
                <a:latin typeface="Aptos"/>
              </a:rPr>
              <a:t>that 1Çatı </a:t>
            </a:r>
            <a:r>
              <a:rPr sz="1150" i="0" dirty="0" err="1">
                <a:solidFill>
                  <a:srgbClr val="33413D"/>
                </a:solidFill>
                <a:latin typeface="Aptos"/>
              </a:rPr>
              <a:t>brings</a:t>
            </a:r>
            <a:r>
              <a:rPr sz="1150" i="0" dirty="0">
                <a:solidFill>
                  <a:srgbClr val="33413D"/>
                </a:solidFill>
                <a:latin typeface="Aptos"/>
              </a:rPr>
              <a:t> to the table.</a:t>
            </a:r>
          </a:p>
        </p:txBody>
      </p:sp>
      <p:graphicFrame>
        <p:nvGraphicFramePr>
          <p:cNvPr id="10" name="Table 9"/>
          <p:cNvGraphicFramePr>
            <a:graphicFrameLocks noGrp="1"/>
          </p:cNvGraphicFramePr>
          <p:nvPr/>
        </p:nvGraphicFramePr>
        <p:xfrm>
          <a:off x="640080" y="2057400"/>
          <a:ext cx="10881359" cy="1911096"/>
        </p:xfrm>
        <a:graphic>
          <a:graphicData uri="http://schemas.openxmlformats.org/drawingml/2006/table">
            <a:tbl>
              <a:tblPr>
                <a:tableStyleId>{5C22544A-7EE6-4342-B048-85BDC9FD1C3A}</a:tableStyleId>
              </a:tblPr>
              <a:tblGrid>
                <a:gridCol w="2393899">
                  <a:extLst>
                    <a:ext uri="{9D8B030D-6E8A-4147-A177-3AD203B41FA5}">
                      <a16:colId xmlns:a16="http://schemas.microsoft.com/office/drawing/2014/main" val="20000"/>
                    </a:ext>
                  </a:extLst>
                </a:gridCol>
                <a:gridCol w="4352544">
                  <a:extLst>
                    <a:ext uri="{9D8B030D-6E8A-4147-A177-3AD203B41FA5}">
                      <a16:colId xmlns:a16="http://schemas.microsoft.com/office/drawing/2014/main" val="20001"/>
                    </a:ext>
                  </a:extLst>
                </a:gridCol>
                <a:gridCol w="4134916">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Suppliers</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Profile</a:t>
                      </a:r>
                    </a:p>
                  </a:txBody>
                  <a:tcPr marL="73152" marR="73152" marT="36576" marB="36576" anchor="ctr">
                    <a:solidFill>
                      <a:srgbClr val="066B63"/>
                    </a:solidFill>
                  </a:tcPr>
                </a:tc>
                <a:tc>
                  <a:txBody>
                    <a:bodyPr/>
                    <a:lstStyle/>
                    <a:p>
                      <a:r>
                        <a:rPr sz="1050" b="1" i="0">
                          <a:solidFill>
                            <a:srgbClr val="FFFFFF"/>
                          </a:solidFill>
                          <a:latin typeface="Aptos"/>
                        </a:rPr>
                        <a:t>Opportunity for 1Çatı</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Apsiyon</a:t>
                      </a:r>
                    </a:p>
                  </a:txBody>
                  <a:tcPr marL="73152" marR="73152" marT="36576" marB="36576" anchor="ctr">
                    <a:solidFill>
                      <a:srgbClr val="FFFFFF"/>
                    </a:solidFill>
                  </a:tcPr>
                </a:tc>
                <a:tc>
                  <a:txBody>
                    <a:bodyPr/>
                    <a:lstStyle/>
                    <a:p>
                      <a:r>
                        <a:rPr sz="1050" b="0" i="0">
                          <a:solidFill>
                            <a:srgbClr val="33413D"/>
                          </a:solidFill>
                          <a:latin typeface="Aptos"/>
                        </a:rPr>
                        <a:t>Strongest local track record, comprehensive suite, two WhatsApp AI assistants since 2024.</a:t>
                      </a:r>
                    </a:p>
                  </a:txBody>
                  <a:tcPr marL="73152" marR="73152" marT="36576" marB="36576" anchor="ctr">
                    <a:solidFill>
                      <a:srgbClr val="FFFFFF"/>
                    </a:solidFill>
                  </a:tcPr>
                </a:tc>
                <a:tc>
                  <a:txBody>
                    <a:bodyPr/>
                    <a:lstStyle/>
                    <a:p>
                      <a:r>
                        <a:rPr sz="1050" b="0" i="0">
                          <a:solidFill>
                            <a:srgbClr val="33413D"/>
                          </a:solidFill>
                          <a:latin typeface="Aptos"/>
                        </a:rPr>
                        <a:t>Lacks robust financial depth from an accounting perspective; 1Çatı requires strict human approval for all sensitive AI actions.</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Senyonet / Yönetimcell</a:t>
                      </a:r>
                    </a:p>
                  </a:txBody>
                  <a:tcPr marL="73152" marR="73152" marT="36576" marB="36576" anchor="ctr">
                    <a:solidFill>
                      <a:srgbClr val="F1F5F4"/>
                    </a:solidFill>
                  </a:tcPr>
                </a:tc>
                <a:tc>
                  <a:txBody>
                    <a:bodyPr/>
                    <a:lstStyle/>
                    <a:p>
                      <a:r>
                        <a:rPr sz="1050" b="0" i="0">
                          <a:solidFill>
                            <a:srgbClr val="33413D"/>
                          </a:solidFill>
                          <a:latin typeface="Aptos"/>
                        </a:rPr>
                        <a:t>Solid management modules, focus on facilities and simplicity.</a:t>
                      </a:r>
                    </a:p>
                  </a:txBody>
                  <a:tcPr marL="73152" marR="73152" marT="36576" marB="36576" anchor="ctr">
                    <a:solidFill>
                      <a:srgbClr val="F1F5F4"/>
                    </a:solidFill>
                  </a:tcPr>
                </a:tc>
                <a:tc>
                  <a:txBody>
                    <a:bodyPr/>
                    <a:lstStyle/>
                    <a:p>
                      <a:r>
                        <a:rPr sz="1050" b="0" i="0" dirty="0">
                          <a:solidFill>
                            <a:srgbClr val="33413D"/>
                          </a:solidFill>
                          <a:latin typeface="Aptos"/>
                        </a:rPr>
                        <a:t>No </a:t>
                      </a:r>
                      <a:r>
                        <a:rPr sz="1050" b="0" i="0" dirty="0" err="1">
                          <a:solidFill>
                            <a:srgbClr val="33413D"/>
                          </a:solidFill>
                          <a:latin typeface="Aptos"/>
                        </a:rPr>
                        <a:t>documented AI functions </a:t>
                      </a:r>
                      <a:r>
                        <a:rPr lang="de-DE" sz="1050" b="0" i="0" dirty="0">
                          <a:solidFill>
                            <a:srgbClr val="33413D"/>
                          </a:solidFill>
                          <a:latin typeface="Aptos"/>
                        </a:rPr>
                        <a:t>– </a:t>
                      </a:r>
                      <a:r>
                        <a:rPr sz="1050" b="0" i="0" dirty="0">
                          <a:solidFill>
                            <a:srgbClr val="33413D"/>
                          </a:solidFill>
                          <a:latin typeface="Aptos"/>
                        </a:rPr>
                        <a:t>scope for </a:t>
                      </a:r>
                      <a:r>
                        <a:rPr sz="1050" b="0" i="0" dirty="0" err="1">
                          <a:solidFill>
                            <a:srgbClr val="33413D"/>
                          </a:solidFill>
                          <a:latin typeface="Aptos"/>
                        </a:rPr>
                        <a:t>a more detailed rights structure </a:t>
                      </a:r>
                      <a:r>
                        <a:rPr sz="1050" b="0" i="0" dirty="0">
                          <a:solidFill>
                            <a:srgbClr val="33413D"/>
                          </a:solidFill>
                          <a:latin typeface="Aptos"/>
                        </a:rPr>
                        <a:t>and </a:t>
                      </a:r>
                      <a:r>
                        <a:rPr sz="1050" b="0" i="0" dirty="0" err="1">
                          <a:solidFill>
                            <a:srgbClr val="33413D"/>
                          </a:solidFill>
                          <a:latin typeface="Aptos"/>
                        </a:rPr>
                        <a:t>traceability</a:t>
                      </a:r>
                      <a:r>
                        <a:rPr sz="1050" b="0" i="0" dirty="0">
                          <a:solidFill>
                            <a:srgbClr val="33413D"/>
                          </a:solidFill>
                          <a:latin typeface="Aptos"/>
                        </a:rPr>
                        <a:t>.</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Aidatım / Siteplus</a:t>
                      </a:r>
                    </a:p>
                  </a:txBody>
                  <a:tcPr marL="73152" marR="73152" marT="36576" marB="36576" anchor="ctr">
                    <a:solidFill>
                      <a:srgbClr val="FFFFFF"/>
                    </a:solidFill>
                  </a:tcPr>
                </a:tc>
                <a:tc>
                  <a:txBody>
                    <a:bodyPr/>
                    <a:lstStyle/>
                    <a:p>
                      <a:r>
                        <a:rPr sz="1050" b="0" i="0">
                          <a:solidFill>
                            <a:srgbClr val="33413D"/>
                          </a:solidFill>
                          <a:latin typeface="Aptos"/>
                        </a:rPr>
                        <a:t>Software-plus-service hybrid and facility service provider.</a:t>
                      </a:r>
                    </a:p>
                  </a:txBody>
                  <a:tcPr marL="73152" marR="73152" marT="36576" marB="36576" anchor="ctr">
                    <a:solidFill>
                      <a:srgbClr val="FFFFFF"/>
                    </a:solidFill>
                  </a:tcPr>
                </a:tc>
                <a:tc>
                  <a:txBody>
                    <a:bodyPr/>
                    <a:lstStyle/>
                    <a:p>
                      <a:r>
                        <a:rPr sz="1050" b="0" i="0">
                          <a:solidFill>
                            <a:srgbClr val="33413D"/>
                          </a:solidFill>
                          <a:latin typeface="Aptos"/>
                        </a:rPr>
                        <a:t>No end-to-end self-service portal in the 1Çatı sense.</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New AI-native players (Çardak, Odyosi)</a:t>
                      </a:r>
                    </a:p>
                  </a:txBody>
                  <a:tcPr marL="73152" marR="73152" marT="36576" marB="36576" anchor="ctr">
                    <a:solidFill>
                      <a:srgbClr val="F1F5F4"/>
                    </a:solidFill>
                  </a:tcPr>
                </a:tc>
                <a:tc>
                  <a:txBody>
                    <a:bodyPr/>
                    <a:lstStyle/>
                    <a:p>
                      <a:r>
                        <a:rPr sz="1050" b="0" i="0">
                          <a:solidFill>
                            <a:srgbClr val="33413D"/>
                          </a:solidFill>
                          <a:latin typeface="Aptos"/>
                        </a:rPr>
                        <a:t>Young Turkish competitors with an AI focus on pre-accounting and risk analysis.</a:t>
                      </a:r>
                    </a:p>
                  </a:txBody>
                  <a:tcPr marL="73152" marR="73152" marT="36576" marB="36576" anchor="ctr">
                    <a:solidFill>
                      <a:srgbClr val="F1F5F4"/>
                    </a:solidFill>
                  </a:tcPr>
                </a:tc>
                <a:tc>
                  <a:txBody>
                    <a:bodyPr/>
                    <a:lstStyle/>
                    <a:p>
                      <a:r>
                        <a:rPr sz="1050" b="0" i="0" dirty="0" err="1">
                          <a:solidFill>
                            <a:srgbClr val="33413D"/>
                          </a:solidFill>
                          <a:latin typeface="Aptos"/>
                        </a:rPr>
                        <a:t>Early warning sign </a:t>
                      </a:r>
                      <a:r>
                        <a:rPr lang="de-DE" sz="1050" b="0" i="0" dirty="0">
                          <a:solidFill>
                            <a:srgbClr val="33413D"/>
                          </a:solidFill>
                          <a:latin typeface="Aptos"/>
                        </a:rPr>
                        <a:t>– </a:t>
                      </a:r>
                      <a:r>
                        <a:rPr sz="1050" b="0" i="0" dirty="0" err="1">
                          <a:solidFill>
                            <a:srgbClr val="33413D"/>
                          </a:solidFill>
                          <a:latin typeface="Aptos"/>
                        </a:rPr>
                        <a:t>confirms demand for precisely </a:t>
                      </a:r>
                      <a:r>
                        <a:rPr sz="1050" b="0" i="0" dirty="0">
                          <a:solidFill>
                            <a:srgbClr val="33413D"/>
                          </a:solidFill>
                          <a:latin typeface="Aptos"/>
                        </a:rPr>
                        <a:t>the </a:t>
                      </a:r>
                      <a:r>
                        <a:rPr sz="1050" b="0" i="0" dirty="0" err="1">
                          <a:solidFill>
                            <a:srgbClr val="33413D"/>
                          </a:solidFill>
                          <a:latin typeface="Aptos"/>
                        </a:rPr>
                        <a:t>features outlined </a:t>
                      </a:r>
                      <a:r>
                        <a:rPr sz="1050" b="0" i="0" dirty="0">
                          <a:solidFill>
                            <a:srgbClr val="33413D"/>
                          </a:solidFill>
                          <a:latin typeface="Aptos"/>
                        </a:rPr>
                        <a:t>in the 1Çatı roadmap.</a:t>
                      </a:r>
                    </a:p>
                  </a:txBody>
                  <a:tcPr marL="73152" marR="73152" marT="36576" marB="36576" anchor="ctr">
                    <a:solidFill>
                      <a:srgbClr val="F1F5F4"/>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2" name="TextBox 11"/>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7</a:t>
            </a:r>
          </a:p>
        </p:txBody>
      </p:sp>
      <p:pic>
        <p:nvPicPr>
          <p:cNvPr id="13" name="Picture 12"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356"/>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03 · COMPETITION</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The market niche occupied by 1Çatı</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73736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83664"/>
            <a:ext cx="4869180" cy="1188720"/>
          </a:xfrm>
          <a:prstGeom prst="rect">
            <a:avLst/>
          </a:prstGeom>
          <a:noFill/>
        </p:spPr>
        <p:txBody>
          <a:bodyPr wrap="square" lIns="0" tIns="0" rIns="0" bIns="0" anchor="t">
            <a:spAutoFit/>
          </a:bodyPr>
          <a:lstStyle/>
          <a:p>
            <a:r>
              <a:rPr sz="1300" b="1" i="0">
                <a:solidFill>
                  <a:srgbClr val="044F49"/>
                </a:solidFill>
                <a:latin typeface="Aptos"/>
              </a:rPr>
              <a:t>(a)  Robust financial management</a:t>
            </a:r>
          </a:p>
          <a:p>
            <a:pPr>
              <a:spcBef>
                <a:spcPts val="400"/>
              </a:spcBef>
            </a:pPr>
            <a:r>
              <a:rPr sz="1050" b="0" i="0">
                <a:solidFill>
                  <a:srgbClr val="64716D"/>
                </a:solidFill>
                <a:latin typeface="Aptos"/>
              </a:rPr>
              <a:t>Accounting-compliant account and contribution management with unalterable entries.</a:t>
            </a:r>
          </a:p>
        </p:txBody>
      </p:sp>
      <p:sp>
        <p:nvSpPr>
          <p:cNvPr id="11" name="Rounded Rectangle 10"/>
          <p:cNvSpPr/>
          <p:nvPr/>
        </p:nvSpPr>
        <p:spPr>
          <a:xfrm>
            <a:off x="6195060" y="173736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883664"/>
            <a:ext cx="4869180" cy="1188720"/>
          </a:xfrm>
          <a:prstGeom prst="rect">
            <a:avLst/>
          </a:prstGeom>
          <a:noFill/>
        </p:spPr>
        <p:txBody>
          <a:bodyPr wrap="square" lIns="0" tIns="0" rIns="0" bIns="0" anchor="t">
            <a:spAutoFit/>
          </a:bodyPr>
          <a:lstStyle/>
          <a:p>
            <a:r>
              <a:rPr sz="1300" b="1" i="0">
                <a:solidFill>
                  <a:srgbClr val="044F49"/>
                </a:solidFill>
                <a:latin typeface="Aptos"/>
              </a:rPr>
              <a:t>(b)  Structured service desk</a:t>
            </a:r>
          </a:p>
          <a:p>
            <a:pPr>
              <a:spcBef>
                <a:spcPts val="400"/>
              </a:spcBef>
            </a:pPr>
            <a:r>
              <a:rPr sz="1050" b="0" i="0">
                <a:solidFill>
                  <a:srgbClr val="64716D"/>
                </a:solidFill>
                <a:latin typeface="Aptos"/>
              </a:rPr>
              <a:t>Ticket system with clear processing times (SLA) and escalation procedures.</a:t>
            </a:r>
          </a:p>
        </p:txBody>
      </p:sp>
      <p:sp>
        <p:nvSpPr>
          <p:cNvPr id="13" name="Rounded Rectangle 12"/>
          <p:cNvSpPr/>
          <p:nvPr/>
        </p:nvSpPr>
        <p:spPr>
          <a:xfrm>
            <a:off x="640080" y="342900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1188720"/>
          </a:xfrm>
          <a:prstGeom prst="rect">
            <a:avLst/>
          </a:prstGeom>
          <a:noFill/>
        </p:spPr>
        <p:txBody>
          <a:bodyPr wrap="square" lIns="0" tIns="0" rIns="0" bIns="0" anchor="t">
            <a:spAutoFit/>
          </a:bodyPr>
          <a:lstStyle/>
          <a:p>
            <a:r>
              <a:rPr sz="1300" b="1" i="0">
                <a:solidFill>
                  <a:srgbClr val="044F49"/>
                </a:solidFill>
                <a:latin typeface="Aptos"/>
              </a:rPr>
              <a:t>(c)  Public access channel</a:t>
            </a:r>
          </a:p>
          <a:p>
            <a:pPr>
              <a:spcBef>
                <a:spcPts val="400"/>
              </a:spcBef>
            </a:pPr>
            <a:r>
              <a:rPr sz="1050" b="0" i="0">
                <a:solidFill>
                  <a:srgbClr val="64716D"/>
                </a:solidFill>
                <a:latin typeface="Aptos"/>
              </a:rPr>
              <a:t>An account-free registration and reporting channel for a specific new-build project.</a:t>
            </a:r>
          </a:p>
        </p:txBody>
      </p:sp>
      <p:sp>
        <p:nvSpPr>
          <p:cNvPr id="15" name="Rounded Rectangle 14"/>
          <p:cNvSpPr/>
          <p:nvPr/>
        </p:nvSpPr>
        <p:spPr>
          <a:xfrm>
            <a:off x="6195060" y="342900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1188720"/>
          </a:xfrm>
          <a:prstGeom prst="rect">
            <a:avLst/>
          </a:prstGeom>
          <a:noFill/>
        </p:spPr>
        <p:txBody>
          <a:bodyPr wrap="square" lIns="0" tIns="0" rIns="0" bIns="0" anchor="t">
            <a:spAutoFit/>
          </a:bodyPr>
          <a:lstStyle/>
          <a:p>
            <a:r>
              <a:rPr sz="1300" b="1" i="0" dirty="0">
                <a:solidFill>
                  <a:srgbClr val="044F49"/>
                </a:solidFill>
                <a:latin typeface="Aptos"/>
              </a:rPr>
              <a:t>(d) </a:t>
            </a:r>
            <a:r>
              <a:rPr sz="1300" b="1" i="0" dirty="0" err="1">
                <a:solidFill>
                  <a:srgbClr val="044F49"/>
                </a:solidFill>
                <a:latin typeface="Aptos"/>
              </a:rPr>
              <a:t> Controlled </a:t>
            </a:r>
            <a:r>
              <a:rPr sz="1300" b="1" i="0" dirty="0">
                <a:solidFill>
                  <a:srgbClr val="044F49"/>
                </a:solidFill>
                <a:latin typeface="Aptos"/>
              </a:rPr>
              <a:t>AI</a:t>
            </a:r>
          </a:p>
          <a:p>
            <a:pPr>
              <a:spcBef>
                <a:spcPts val="400"/>
              </a:spcBef>
            </a:pPr>
            <a:r>
              <a:rPr sz="1050" b="0" i="0" dirty="0">
                <a:solidFill>
                  <a:srgbClr val="64716D"/>
                </a:solidFill>
                <a:latin typeface="Aptos"/>
              </a:rPr>
              <a:t>An AI that, </a:t>
            </a:r>
            <a:r>
              <a:rPr sz="1050" b="0" i="0" dirty="0" err="1">
                <a:solidFill>
                  <a:srgbClr val="64716D"/>
                </a:solidFill>
                <a:latin typeface="Aptos"/>
              </a:rPr>
              <a:t>as a matter of principle, only recommends </a:t>
            </a:r>
            <a:r>
              <a:rPr sz="1050" b="0" i="0" dirty="0">
                <a:solidFill>
                  <a:srgbClr val="64716D"/>
                </a:solidFill>
                <a:latin typeface="Aptos"/>
              </a:rPr>
              <a:t>sensitive </a:t>
            </a:r>
            <a:r>
              <a:rPr sz="1050" b="0" i="0" dirty="0" err="1">
                <a:solidFill>
                  <a:srgbClr val="64716D"/>
                </a:solidFill>
                <a:latin typeface="Aptos"/>
              </a:rPr>
              <a:t>actions rather than carrying them out itself</a:t>
            </a:r>
            <a:r>
              <a:rPr sz="1050" b="0" i="0" dirty="0">
                <a:solidFill>
                  <a:srgbClr val="64716D"/>
                </a:solidFill>
                <a:latin typeface="Aptos"/>
              </a:rPr>
              <a:t>.</a:t>
            </a:r>
          </a:p>
        </p:txBody>
      </p:sp>
      <p:sp>
        <p:nvSpPr>
          <p:cNvPr id="17" name="Rounded Rectangle 16"/>
          <p:cNvSpPr/>
          <p:nvPr/>
        </p:nvSpPr>
        <p:spPr>
          <a:xfrm>
            <a:off x="640080" y="5074920"/>
            <a:ext cx="10881360" cy="11430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074920"/>
            <a:ext cx="54864" cy="11430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461754"/>
            <a:ext cx="10469880" cy="369332"/>
          </a:xfrm>
          <a:prstGeom prst="rect">
            <a:avLst/>
          </a:prstGeom>
          <a:noFill/>
        </p:spPr>
        <p:txBody>
          <a:bodyPr wrap="square" lIns="0" tIns="0" rIns="0" bIns="0" anchor="ctr">
            <a:spAutoFit/>
          </a:bodyPr>
          <a:lstStyle/>
          <a:p>
            <a:r>
              <a:rPr sz="1250" b="1" i="0" dirty="0">
                <a:solidFill>
                  <a:srgbClr val="044F49"/>
                </a:solidFill>
                <a:latin typeface="Aptos"/>
              </a:rPr>
              <a:t>The </a:t>
            </a:r>
            <a:r>
              <a:rPr sz="1250" b="1" i="0" dirty="0" err="1">
                <a:solidFill>
                  <a:srgbClr val="044F49"/>
                </a:solidFill>
                <a:latin typeface="Aptos"/>
              </a:rPr>
              <a:t>positioning</a:t>
            </a:r>
            <a:r>
              <a:rPr sz="1250" b="1" i="0" dirty="0">
                <a:solidFill>
                  <a:srgbClr val="044F49"/>
                </a:solidFill>
                <a:latin typeface="Aptos"/>
              </a:rPr>
              <a:t>. </a:t>
            </a:r>
            <a:r>
              <a:rPr sz="1150" b="0" i="0" dirty="0">
                <a:solidFill>
                  <a:srgbClr val="33413D"/>
                </a:solidFill>
                <a:latin typeface="Aptos"/>
              </a:rPr>
              <a:t> No </a:t>
            </a:r>
            <a:r>
              <a:rPr sz="1150" b="0" i="0" dirty="0" err="1">
                <a:solidFill>
                  <a:srgbClr val="33413D"/>
                </a:solidFill>
                <a:latin typeface="Aptos"/>
              </a:rPr>
              <a:t>Turkish or international provider we have researched combines these </a:t>
            </a:r>
            <a:r>
              <a:rPr sz="1150" b="0" i="0" dirty="0">
                <a:solidFill>
                  <a:srgbClr val="33413D"/>
                </a:solidFill>
                <a:latin typeface="Aptos"/>
              </a:rPr>
              <a:t>four </a:t>
            </a:r>
            <a:r>
              <a:rPr sz="1150" b="0" i="0" dirty="0" err="1">
                <a:solidFill>
                  <a:srgbClr val="33413D"/>
                </a:solidFill>
                <a:latin typeface="Aptos"/>
              </a:rPr>
              <a:t>elements </a:t>
            </a:r>
            <a:r>
              <a:rPr sz="1150" b="0" i="0" dirty="0">
                <a:solidFill>
                  <a:srgbClr val="33413D"/>
                </a:solidFill>
                <a:latin typeface="Aptos"/>
              </a:rPr>
              <a:t>in </a:t>
            </a:r>
            <a:r>
              <a:rPr sz="1150" b="0" i="0" dirty="0" err="1">
                <a:solidFill>
                  <a:srgbClr val="33413D"/>
                </a:solidFill>
                <a:latin typeface="Aptos"/>
              </a:rPr>
              <a:t>a single product</a:t>
            </a:r>
            <a:r>
              <a:rPr sz="1150" b="0" i="0" dirty="0">
                <a:solidFill>
                  <a:srgbClr val="33413D"/>
                </a:solidFill>
                <a:latin typeface="Aptos"/>
              </a:rPr>
              <a:t>. </a:t>
            </a:r>
            <a:r>
              <a:rPr sz="1150" b="0" i="0" dirty="0" err="1">
                <a:solidFill>
                  <a:srgbClr val="33413D"/>
                </a:solidFill>
                <a:latin typeface="Aptos"/>
              </a:rPr>
              <a:t>Apsiyon comes closest</a:t>
            </a:r>
            <a:r>
              <a:rPr sz="1150" b="0" i="0" dirty="0">
                <a:solidFill>
                  <a:srgbClr val="33413D"/>
                </a:solidFill>
                <a:latin typeface="Aptos"/>
              </a:rPr>
              <a:t>, </a:t>
            </a:r>
            <a:r>
              <a:rPr sz="1150" b="0" i="0" dirty="0" err="1">
                <a:solidFill>
                  <a:srgbClr val="33413D"/>
                </a:solidFill>
                <a:latin typeface="Aptos"/>
              </a:rPr>
              <a:t>but </a:t>
            </a:r>
            <a:r>
              <a:rPr sz="1150" b="0" i="0" dirty="0">
                <a:solidFill>
                  <a:srgbClr val="33413D"/>
                </a:solidFill>
                <a:latin typeface="Aptos"/>
              </a:rPr>
              <a:t>covers </a:t>
            </a:r>
            <a:r>
              <a:rPr sz="1150" b="0" i="0" dirty="0" err="1">
                <a:solidFill>
                  <a:srgbClr val="33413D"/>
                </a:solidFill>
                <a:latin typeface="Aptos"/>
              </a:rPr>
              <a:t>neither </a:t>
            </a:r>
            <a:r>
              <a:rPr sz="1150" b="0" i="0" dirty="0">
                <a:solidFill>
                  <a:srgbClr val="33413D"/>
                </a:solidFill>
                <a:latin typeface="Aptos"/>
              </a:rPr>
              <a:t>the </a:t>
            </a:r>
            <a:r>
              <a:rPr sz="1150" b="0" i="0" dirty="0" err="1">
                <a:solidFill>
                  <a:srgbClr val="33413D"/>
                </a:solidFill>
                <a:latin typeface="Aptos"/>
              </a:rPr>
              <a:t>financial depth nor </a:t>
            </a:r>
            <a:r>
              <a:rPr sz="1150" b="0" i="0" dirty="0">
                <a:solidFill>
                  <a:srgbClr val="33413D"/>
                </a:solidFill>
                <a:latin typeface="Aptos"/>
              </a:rPr>
              <a:t>the </a:t>
            </a:r>
            <a:r>
              <a:rPr sz="1150" b="0" i="0" dirty="0" err="1">
                <a:solidFill>
                  <a:srgbClr val="33413D"/>
                </a:solidFill>
                <a:latin typeface="Aptos"/>
              </a:rPr>
              <a:t>public registration channel</a:t>
            </a:r>
            <a:r>
              <a:rPr sz="1150" b="0" i="0" dirty="0">
                <a:solidFill>
                  <a:srgbClr val="33413D"/>
                </a:solidFill>
                <a:latin typeface="Aptos"/>
              </a:rPr>
              <a:t>. </a:t>
            </a:r>
            <a:r>
              <a:rPr sz="1150" b="0" i="0" dirty="0" err="1">
                <a:solidFill>
                  <a:srgbClr val="33413D"/>
                </a:solidFill>
                <a:latin typeface="Aptos"/>
              </a:rPr>
              <a:t>It is precisely this combination </a:t>
            </a:r>
            <a:r>
              <a:rPr lang="de-DE" sz="1150" b="0" i="0" dirty="0">
                <a:solidFill>
                  <a:srgbClr val="33413D"/>
                </a:solidFill>
                <a:latin typeface="Aptos"/>
              </a:rPr>
              <a:t>– </a:t>
            </a:r>
            <a:r>
              <a:rPr sz="1150" b="0" i="0" dirty="0">
                <a:solidFill>
                  <a:srgbClr val="33413D"/>
                </a:solidFill>
                <a:latin typeface="Aptos"/>
              </a:rPr>
              <a:t>not </a:t>
            </a:r>
            <a:r>
              <a:rPr sz="1150" b="0" i="0" dirty="0" err="1">
                <a:solidFill>
                  <a:srgbClr val="33413D"/>
                </a:solidFill>
                <a:latin typeface="Aptos"/>
              </a:rPr>
              <a:t>a single </a:t>
            </a:r>
            <a:r>
              <a:rPr sz="1150" b="0" i="0" dirty="0">
                <a:solidFill>
                  <a:srgbClr val="33413D"/>
                </a:solidFill>
                <a:latin typeface="Aptos"/>
              </a:rPr>
              <a:t>feature </a:t>
            </a:r>
            <a:r>
              <a:rPr lang="de-DE" sz="1150" b="0" i="0" dirty="0">
                <a:solidFill>
                  <a:srgbClr val="33413D"/>
                </a:solidFill>
                <a:latin typeface="Aptos"/>
              </a:rPr>
              <a:t>– </a:t>
            </a:r>
            <a:r>
              <a:rPr sz="1150" b="0" i="0" dirty="0">
                <a:solidFill>
                  <a:srgbClr val="33413D"/>
                </a:solidFill>
                <a:latin typeface="Aptos"/>
              </a:rPr>
              <a:t>that defines 1Çatı’s </a:t>
            </a:r>
            <a:r>
              <a:rPr sz="1150" b="0" i="0" dirty="0" err="1">
                <a:solidFill>
                  <a:srgbClr val="33413D"/>
                </a:solidFill>
                <a:latin typeface="Aptos"/>
              </a:rPr>
              <a:t>positioning</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8</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04</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Target audience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417320"/>
          </a:xfrm>
          <a:prstGeom prst="rect">
            <a:avLst/>
          </a:prstGeom>
          <a:noFill/>
        </p:spPr>
        <p:txBody>
          <a:bodyPr wrap="square" lIns="0" tIns="0" rIns="0" bIns="0" anchor="t">
            <a:spAutoFit/>
          </a:bodyPr>
          <a:lstStyle/>
          <a:p>
            <a:r>
              <a:rPr sz="1300" b="1" i="0">
                <a:solidFill>
                  <a:srgbClr val="044F49"/>
                </a:solidFill>
                <a:latin typeface="Aptos"/>
              </a:rPr>
              <a:t>🌍  International property owners and buyers</a:t>
            </a:r>
          </a:p>
          <a:p>
            <a:pPr>
              <a:spcBef>
                <a:spcPts val="400"/>
              </a:spcBef>
            </a:pPr>
            <a:r>
              <a:rPr sz="1050" b="0" i="0">
                <a:solidFill>
                  <a:srgbClr val="64716D"/>
                </a:solidFill>
                <a:latin typeface="Aptos"/>
              </a:rPr>
              <a:t>Primarily from Germany, Russia, Ukraine and Iran, who own or are buying a flat but do not reside there permanently and require digital, multilingual access to payment status, services and documents.</a:t>
            </a:r>
          </a:p>
        </p:txBody>
      </p:sp>
      <p:sp>
        <p:nvSpPr>
          <p:cNvPr id="11" name="Rounded Rectangle 10"/>
          <p:cNvSpPr/>
          <p:nvPr/>
        </p:nvSpPr>
        <p:spPr>
          <a:xfrm>
            <a:off x="6195060" y="164592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574516"/>
          </a:xfrm>
          <a:prstGeom prst="rect">
            <a:avLst/>
          </a:prstGeom>
          <a:noFill/>
        </p:spPr>
        <p:txBody>
          <a:bodyPr wrap="square" lIns="0" tIns="0" rIns="0" bIns="0" anchor="t">
            <a:spAutoFit/>
          </a:bodyPr>
          <a:lstStyle/>
          <a:p>
            <a:r>
              <a:rPr sz="1300" b="1" i="0" dirty="0">
                <a:solidFill>
                  <a:srgbClr val="044F49"/>
                </a:solidFill>
                <a:latin typeface="Aptos"/>
              </a:rPr>
              <a:t>🔑 </a:t>
            </a:r>
            <a:r>
              <a:rPr sz="1300" b="1" i="0" dirty="0" err="1">
                <a:solidFill>
                  <a:srgbClr val="044F49"/>
                </a:solidFill>
                <a:latin typeface="Aptos"/>
              </a:rPr>
              <a:t> Tenants</a:t>
            </a:r>
            <a:endParaRPr sz="1300" b="1" i="0" dirty="0">
              <a:solidFill>
                <a:srgbClr val="044F49"/>
              </a:solidFill>
              <a:latin typeface="Aptos"/>
            </a:endParaRPr>
          </a:p>
          <a:p>
            <a:pPr>
              <a:spcBef>
                <a:spcPts val="400"/>
              </a:spcBef>
            </a:pPr>
            <a:r>
              <a:rPr sz="1050" b="0" i="0" dirty="0" err="1">
                <a:solidFill>
                  <a:srgbClr val="64716D"/>
                </a:solidFill>
                <a:latin typeface="Aptos"/>
              </a:rPr>
              <a:t>Receive authorised</a:t>
            </a:r>
            <a:r>
              <a:rPr sz="1050" b="0" i="0" dirty="0">
                <a:solidFill>
                  <a:srgbClr val="64716D"/>
                </a:solidFill>
                <a:latin typeface="Aptos"/>
              </a:rPr>
              <a:t>, </a:t>
            </a:r>
            <a:r>
              <a:rPr sz="1050" b="0" i="0" dirty="0" err="1">
                <a:solidFill>
                  <a:srgbClr val="64716D"/>
                </a:solidFill>
                <a:latin typeface="Aptos"/>
              </a:rPr>
              <a:t>time-limited access </a:t>
            </a:r>
            <a:r>
              <a:rPr sz="1050" b="0" i="0" dirty="0">
                <a:solidFill>
                  <a:srgbClr val="64716D"/>
                </a:solidFill>
                <a:latin typeface="Aptos"/>
              </a:rPr>
              <a:t>to </a:t>
            </a:r>
            <a:r>
              <a:rPr sz="1050" b="0" i="0" dirty="0" err="1">
                <a:solidFill>
                  <a:srgbClr val="64716D"/>
                </a:solidFill>
                <a:latin typeface="Aptos"/>
              </a:rPr>
              <a:t>their </a:t>
            </a:r>
            <a:r>
              <a:rPr sz="1050" b="0" i="0" dirty="0">
                <a:solidFill>
                  <a:srgbClr val="64716D"/>
                </a:solidFill>
                <a:latin typeface="Aptos"/>
              </a:rPr>
              <a:t>unit </a:t>
            </a:r>
            <a:r>
              <a:rPr sz="1050" b="0" i="0" dirty="0" err="1">
                <a:solidFill>
                  <a:srgbClr val="64716D"/>
                </a:solidFill>
                <a:latin typeface="Aptos"/>
              </a:rPr>
              <a:t>via an owner-sponsored time-based access model </a:t>
            </a:r>
            <a:r>
              <a:rPr lang="de-DE" sz="1050" b="0" i="0" dirty="0">
                <a:solidFill>
                  <a:srgbClr val="64716D"/>
                </a:solidFill>
                <a:latin typeface="Aptos"/>
              </a:rPr>
              <a:t>– </a:t>
            </a:r>
            <a:r>
              <a:rPr sz="1050" b="0" i="0" dirty="0" err="1">
                <a:solidFill>
                  <a:srgbClr val="64716D"/>
                </a:solidFill>
                <a:latin typeface="Aptos"/>
              </a:rPr>
              <a:t>with clearly defined rights</a:t>
            </a:r>
            <a:r>
              <a:rPr sz="1050" b="0" i="0" dirty="0">
                <a:solidFill>
                  <a:srgbClr val="64716D"/>
                </a:solidFill>
                <a:latin typeface="Aptos"/>
              </a:rPr>
              <a:t>.</a:t>
            </a:r>
          </a:p>
        </p:txBody>
      </p:sp>
      <p:sp>
        <p:nvSpPr>
          <p:cNvPr id="13" name="Rounded Rectangle 12"/>
          <p:cNvSpPr/>
          <p:nvPr/>
        </p:nvSpPr>
        <p:spPr>
          <a:xfrm>
            <a:off x="640080" y="356616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712464"/>
            <a:ext cx="4869180" cy="736099"/>
          </a:xfrm>
          <a:prstGeom prst="rect">
            <a:avLst/>
          </a:prstGeom>
          <a:noFill/>
        </p:spPr>
        <p:txBody>
          <a:bodyPr wrap="square" lIns="0" tIns="0" rIns="0" bIns="0" anchor="t">
            <a:spAutoFit/>
          </a:bodyPr>
          <a:lstStyle/>
          <a:p>
            <a:r>
              <a:rPr sz="1300" b="1" i="0" dirty="0">
                <a:solidFill>
                  <a:srgbClr val="044F49"/>
                </a:solidFill>
                <a:latin typeface="Aptos"/>
              </a:rPr>
              <a:t>🏢  In-house </a:t>
            </a:r>
            <a:r>
              <a:rPr sz="1300" b="1" i="0" dirty="0" err="1">
                <a:solidFill>
                  <a:srgbClr val="044F49"/>
                </a:solidFill>
                <a:latin typeface="Aptos"/>
              </a:rPr>
              <a:t>operations team</a:t>
            </a:r>
            <a:endParaRPr sz="1300" b="1" i="0" dirty="0">
              <a:solidFill>
                <a:srgbClr val="044F49"/>
              </a:solidFill>
              <a:latin typeface="Aptos"/>
            </a:endParaRPr>
          </a:p>
          <a:p>
            <a:pPr>
              <a:spcBef>
                <a:spcPts val="400"/>
              </a:spcBef>
            </a:pPr>
            <a:r>
              <a:rPr sz="1050" b="0" i="0" dirty="0">
                <a:solidFill>
                  <a:srgbClr val="64716D"/>
                </a:solidFill>
                <a:latin typeface="Aptos"/>
              </a:rPr>
              <a:t>Six roles </a:t>
            </a:r>
            <a:r>
              <a:rPr sz="1050" b="0" i="0" dirty="0" err="1">
                <a:solidFill>
                  <a:srgbClr val="64716D"/>
                </a:solidFill>
                <a:latin typeface="Aptos"/>
              </a:rPr>
              <a:t>at Ataberk </a:t>
            </a:r>
            <a:r>
              <a:rPr sz="1050" b="0" i="0" dirty="0">
                <a:solidFill>
                  <a:srgbClr val="64716D"/>
                </a:solidFill>
                <a:latin typeface="Aptos"/>
              </a:rPr>
              <a:t>Estate: administration, </a:t>
            </a:r>
            <a:r>
              <a:rPr sz="1050" b="0" i="0" dirty="0" err="1">
                <a:solidFill>
                  <a:srgbClr val="64716D"/>
                </a:solidFill>
                <a:latin typeface="Aptos"/>
              </a:rPr>
              <a:t>site managers</a:t>
            </a:r>
            <a:r>
              <a:rPr sz="1050" b="0" i="0" dirty="0">
                <a:solidFill>
                  <a:srgbClr val="64716D"/>
                </a:solidFill>
                <a:latin typeface="Aptos"/>
              </a:rPr>
              <a:t>, </a:t>
            </a:r>
            <a:r>
              <a:rPr sz="1050" b="0" i="0" dirty="0" err="1">
                <a:solidFill>
                  <a:srgbClr val="64716D"/>
                </a:solidFill>
                <a:latin typeface="Aptos"/>
              </a:rPr>
              <a:t>accounts</a:t>
            </a:r>
            <a:r>
              <a:rPr sz="1050" b="0" i="0" dirty="0">
                <a:solidFill>
                  <a:srgbClr val="64716D"/>
                </a:solidFill>
                <a:latin typeface="Aptos"/>
              </a:rPr>
              <a:t>, field service/technical, security </a:t>
            </a:r>
            <a:r>
              <a:rPr sz="1050" b="0" i="0" dirty="0" err="1">
                <a:solidFill>
                  <a:srgbClr val="64716D"/>
                </a:solidFill>
                <a:latin typeface="Aptos"/>
              </a:rPr>
              <a:t>and support/onboarding </a:t>
            </a:r>
            <a:r>
              <a:rPr lang="de-DE" sz="1050" b="0" i="0" dirty="0">
                <a:solidFill>
                  <a:srgbClr val="64716D"/>
                </a:solidFill>
                <a:latin typeface="Aptos"/>
              </a:rPr>
              <a:t>– </a:t>
            </a:r>
            <a:r>
              <a:rPr sz="1050" b="0" i="0" dirty="0" err="1">
                <a:solidFill>
                  <a:srgbClr val="64716D"/>
                </a:solidFill>
                <a:latin typeface="Aptos"/>
              </a:rPr>
              <a:t>each with exactly </a:t>
            </a:r>
            <a:r>
              <a:rPr sz="1050" b="0" i="0" dirty="0">
                <a:solidFill>
                  <a:srgbClr val="64716D"/>
                </a:solidFill>
                <a:latin typeface="Aptos"/>
              </a:rPr>
              <a:t>the </a:t>
            </a:r>
            <a:r>
              <a:rPr sz="1050" b="0" i="0" dirty="0" err="1">
                <a:solidFill>
                  <a:srgbClr val="64716D"/>
                </a:solidFill>
                <a:latin typeface="Aptos"/>
              </a:rPr>
              <a:t>rights they need</a:t>
            </a:r>
            <a:r>
              <a:rPr sz="1050" b="0" i="0" dirty="0">
                <a:solidFill>
                  <a:srgbClr val="64716D"/>
                </a:solidFill>
                <a:latin typeface="Aptos"/>
              </a:rPr>
              <a:t>.</a:t>
            </a:r>
          </a:p>
        </p:txBody>
      </p:sp>
      <p:sp>
        <p:nvSpPr>
          <p:cNvPr id="15" name="Rounded Rectangle 14"/>
          <p:cNvSpPr/>
          <p:nvPr/>
        </p:nvSpPr>
        <p:spPr>
          <a:xfrm>
            <a:off x="6195060" y="356616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712464"/>
            <a:ext cx="4869180" cy="1417320"/>
          </a:xfrm>
          <a:prstGeom prst="rect">
            <a:avLst/>
          </a:prstGeom>
          <a:noFill/>
        </p:spPr>
        <p:txBody>
          <a:bodyPr wrap="square" lIns="0" tIns="0" rIns="0" bIns="0" anchor="t">
            <a:spAutoFit/>
          </a:bodyPr>
          <a:lstStyle/>
          <a:p>
            <a:r>
              <a:rPr sz="1300" b="1" i="0">
                <a:solidFill>
                  <a:srgbClr val="044F49"/>
                </a:solidFill>
                <a:latin typeface="Aptos"/>
              </a:rPr>
              <a:t>🤝  Service providers &amp; prospective buyers</a:t>
            </a:r>
          </a:p>
          <a:p>
            <a:pPr>
              <a:spcBef>
                <a:spcPts val="400"/>
              </a:spcBef>
            </a:pPr>
            <a:r>
              <a:rPr sz="1050" b="0" i="0">
                <a:solidFill>
                  <a:srgbClr val="64716D"/>
                </a:solidFill>
                <a:latin typeface="Aptos"/>
              </a:rPr>
              <a:t>Service providers are integrated via the service desk; prospective buyers and guests use the public area without an account (registration, sign-in).</a:t>
            </a:r>
          </a:p>
        </p:txBody>
      </p:sp>
      <p:sp>
        <p:nvSpPr>
          <p:cNvPr id="17" name="Rounded Rectangle 16"/>
          <p:cNvSpPr/>
          <p:nvPr/>
        </p:nvSpPr>
        <p:spPr>
          <a:xfrm>
            <a:off x="640080" y="5440680"/>
            <a:ext cx="10881360" cy="7772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440680"/>
            <a:ext cx="54864" cy="77724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568696"/>
            <a:ext cx="10469880" cy="521208"/>
          </a:xfrm>
          <a:prstGeom prst="rect">
            <a:avLst/>
          </a:prstGeom>
          <a:noFill/>
        </p:spPr>
        <p:txBody>
          <a:bodyPr wrap="square" lIns="0" tIns="0" rIns="0" bIns="0" anchor="ctr">
            <a:spAutoFit/>
          </a:bodyPr>
          <a:lstStyle/>
          <a:p>
            <a:r>
              <a:rPr sz="1250" b="1" i="0">
                <a:solidFill>
                  <a:srgbClr val="044F49"/>
                </a:solidFill>
                <a:latin typeface="Aptos"/>
              </a:rPr>
              <a:t>Deliberately not covered: </a:t>
            </a:r>
            <a:r>
              <a:rPr sz="1150" b="0" i="0">
                <a:solidFill>
                  <a:srgbClr val="33413D"/>
                </a:solidFill>
                <a:latin typeface="Aptos"/>
              </a:rPr>
              <a:t> the anonymous mass property market outside of specific reference properties, as well as any fully automated payment or access systems without human authorisation.</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9</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05</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Benefits for Ataberk Estate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280160"/>
          </a:xfrm>
          <a:prstGeom prst="rect">
            <a:avLst/>
          </a:prstGeom>
          <a:noFill/>
        </p:spPr>
        <p:txBody>
          <a:bodyPr wrap="square" lIns="0" tIns="0" rIns="0" bIns="0" anchor="t">
            <a:spAutoFit/>
          </a:bodyPr>
          <a:lstStyle/>
          <a:p>
            <a:r>
              <a:rPr sz="1300" b="1" i="0">
                <a:solidFill>
                  <a:srgbClr val="044F49"/>
                </a:solidFill>
                <a:latin typeface="Aptos"/>
              </a:rPr>
              <a:t>A Single Source of Truth</a:t>
            </a:r>
          </a:p>
          <a:p>
            <a:pPr>
              <a:spcBef>
                <a:spcPts val="400"/>
              </a:spcBef>
            </a:pPr>
            <a:r>
              <a:rPr sz="1050" b="0" i="0">
                <a:solidFill>
                  <a:srgbClr val="64716D"/>
                </a:solidFill>
                <a:latin typeface="Aptos"/>
              </a:rPr>
              <a:t>A centralised, role-based data platform for up to 769 units replaces scattered Excel spreadsheets and WhatsApp chat histories. Sales, portfolio, finance and service all on the same data set.</a:t>
            </a:r>
          </a:p>
        </p:txBody>
      </p:sp>
      <p:sp>
        <p:nvSpPr>
          <p:cNvPr id="11" name="Rounded Rectangle 10"/>
          <p:cNvSpPr/>
          <p:nvPr/>
        </p:nvSpPr>
        <p:spPr>
          <a:xfrm>
            <a:off x="619506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574516"/>
          </a:xfrm>
          <a:prstGeom prst="rect">
            <a:avLst/>
          </a:prstGeom>
          <a:noFill/>
        </p:spPr>
        <p:txBody>
          <a:bodyPr wrap="square" lIns="0" tIns="0" rIns="0" bIns="0" anchor="t">
            <a:spAutoFit/>
          </a:bodyPr>
          <a:lstStyle/>
          <a:p>
            <a:r>
              <a:rPr sz="1300" b="1" i="0" dirty="0" err="1">
                <a:solidFill>
                  <a:srgbClr val="044F49"/>
                </a:solidFill>
                <a:latin typeface="Aptos"/>
              </a:rPr>
              <a:t>Traceability</a:t>
            </a:r>
            <a:endParaRPr sz="1300" b="1" i="0" dirty="0">
              <a:solidFill>
                <a:srgbClr val="044F49"/>
              </a:solidFill>
              <a:latin typeface="Aptos"/>
            </a:endParaRPr>
          </a:p>
          <a:p>
            <a:pPr>
              <a:spcBef>
                <a:spcPts val="400"/>
              </a:spcBef>
            </a:pPr>
            <a:r>
              <a:rPr sz="1050" b="0" i="0" dirty="0" err="1">
                <a:solidFill>
                  <a:srgbClr val="64716D"/>
                </a:solidFill>
                <a:latin typeface="Aptos"/>
              </a:rPr>
              <a:t>Every </a:t>
            </a:r>
            <a:r>
              <a:rPr sz="1050" b="0" i="0" dirty="0">
                <a:solidFill>
                  <a:srgbClr val="64716D"/>
                </a:solidFill>
                <a:latin typeface="Aptos"/>
              </a:rPr>
              <a:t>sensitive </a:t>
            </a:r>
            <a:r>
              <a:rPr sz="1050" b="0" i="0" dirty="0" err="1">
                <a:solidFill>
                  <a:srgbClr val="64716D"/>
                </a:solidFill>
                <a:latin typeface="Aptos"/>
              </a:rPr>
              <a:t>transaction is logged with the user</a:t>
            </a:r>
            <a:r>
              <a:rPr sz="1050" b="0" i="0" dirty="0">
                <a:solidFill>
                  <a:srgbClr val="64716D"/>
                </a:solidFill>
                <a:latin typeface="Aptos"/>
              </a:rPr>
              <a:t>, role, </a:t>
            </a:r>
            <a:r>
              <a:rPr sz="1050" b="0" i="0" dirty="0" err="1">
                <a:solidFill>
                  <a:srgbClr val="64716D"/>
                </a:solidFill>
                <a:latin typeface="Aptos"/>
              </a:rPr>
              <a:t>time </a:t>
            </a:r>
            <a:r>
              <a:rPr sz="1050" b="0" i="0" dirty="0">
                <a:solidFill>
                  <a:srgbClr val="64716D"/>
                </a:solidFill>
                <a:latin typeface="Aptos"/>
              </a:rPr>
              <a:t>and reason </a:t>
            </a:r>
            <a:r>
              <a:rPr lang="de-DE" sz="1050" b="0" i="0" dirty="0">
                <a:solidFill>
                  <a:srgbClr val="64716D"/>
                </a:solidFill>
                <a:latin typeface="Aptos"/>
              </a:rPr>
              <a:t>– </a:t>
            </a:r>
            <a:r>
              <a:rPr sz="1050" b="0" i="0" dirty="0">
                <a:solidFill>
                  <a:srgbClr val="64716D"/>
                </a:solidFill>
                <a:latin typeface="Aptos"/>
              </a:rPr>
              <a:t>this </a:t>
            </a:r>
            <a:r>
              <a:rPr sz="1050" b="0" i="0" dirty="0" err="1">
                <a:solidFill>
                  <a:srgbClr val="64716D"/>
                </a:solidFill>
                <a:latin typeface="Aptos"/>
              </a:rPr>
              <a:t>builds trust with owners </a:t>
            </a:r>
            <a:r>
              <a:rPr sz="1050" b="0" i="0" dirty="0">
                <a:solidFill>
                  <a:srgbClr val="64716D"/>
                </a:solidFill>
                <a:latin typeface="Aptos"/>
              </a:rPr>
              <a:t>and </a:t>
            </a:r>
            <a:r>
              <a:rPr sz="1050" b="0" i="0" dirty="0" err="1">
                <a:solidFill>
                  <a:srgbClr val="64716D"/>
                </a:solidFill>
                <a:latin typeface="Aptos"/>
              </a:rPr>
              <a:t>auditors</a:t>
            </a:r>
            <a:r>
              <a:rPr sz="1050" b="0" i="0" dirty="0">
                <a:solidFill>
                  <a:srgbClr val="64716D"/>
                </a:solidFill>
                <a:latin typeface="Aptos"/>
              </a:rPr>
              <a:t>.</a:t>
            </a:r>
          </a:p>
        </p:txBody>
      </p:sp>
      <p:sp>
        <p:nvSpPr>
          <p:cNvPr id="13" name="Rounded Rectangle 12"/>
          <p:cNvSpPr/>
          <p:nvPr/>
        </p:nvSpPr>
        <p:spPr>
          <a:xfrm>
            <a:off x="64008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736099"/>
          </a:xfrm>
          <a:prstGeom prst="rect">
            <a:avLst/>
          </a:prstGeom>
          <a:noFill/>
        </p:spPr>
        <p:txBody>
          <a:bodyPr wrap="square" lIns="0" tIns="0" rIns="0" bIns="0" anchor="t">
            <a:spAutoFit/>
          </a:bodyPr>
          <a:lstStyle/>
          <a:p>
            <a:r>
              <a:rPr sz="1300" b="1" i="0" dirty="0" err="1">
                <a:solidFill>
                  <a:srgbClr val="044F49"/>
                </a:solidFill>
                <a:latin typeface="Aptos"/>
              </a:rPr>
              <a:t>Lower barrier to entry</a:t>
            </a:r>
            <a:endParaRPr sz="1300" b="1" i="0" dirty="0">
              <a:solidFill>
                <a:srgbClr val="044F49"/>
              </a:solidFill>
              <a:latin typeface="Aptos"/>
            </a:endParaRPr>
          </a:p>
          <a:p>
            <a:pPr>
              <a:spcBef>
                <a:spcPts val="400"/>
              </a:spcBef>
            </a:pPr>
            <a:r>
              <a:rPr sz="1050" b="0" i="0" dirty="0">
                <a:solidFill>
                  <a:srgbClr val="64716D"/>
                </a:solidFill>
                <a:latin typeface="Aptos"/>
              </a:rPr>
              <a:t>The </a:t>
            </a:r>
            <a:r>
              <a:rPr sz="1050" b="0" i="0" dirty="0" err="1">
                <a:solidFill>
                  <a:srgbClr val="64716D"/>
                </a:solidFill>
                <a:latin typeface="Aptos"/>
              </a:rPr>
              <a:t>public portal lowers </a:t>
            </a:r>
            <a:r>
              <a:rPr sz="1050" b="0" i="0" dirty="0">
                <a:solidFill>
                  <a:srgbClr val="64716D"/>
                </a:solidFill>
                <a:latin typeface="Aptos"/>
              </a:rPr>
              <a:t>the </a:t>
            </a:r>
            <a:r>
              <a:rPr sz="1050" b="0" i="0" dirty="0" err="1">
                <a:solidFill>
                  <a:srgbClr val="64716D"/>
                </a:solidFill>
                <a:latin typeface="Aptos"/>
              </a:rPr>
              <a:t>barrier </a:t>
            </a:r>
            <a:r>
              <a:rPr sz="1050" b="0" i="0" dirty="0">
                <a:solidFill>
                  <a:srgbClr val="64716D"/>
                </a:solidFill>
                <a:latin typeface="Aptos"/>
              </a:rPr>
              <a:t>to entry for </a:t>
            </a:r>
            <a:r>
              <a:rPr sz="1050" b="0" i="0" dirty="0" err="1">
                <a:solidFill>
                  <a:srgbClr val="64716D"/>
                </a:solidFill>
                <a:latin typeface="Aptos"/>
              </a:rPr>
              <a:t>international owners </a:t>
            </a:r>
            <a:r>
              <a:rPr sz="1050" b="0" i="0" dirty="0">
                <a:solidFill>
                  <a:srgbClr val="64716D"/>
                </a:solidFill>
                <a:latin typeface="Aptos"/>
              </a:rPr>
              <a:t>and </a:t>
            </a:r>
            <a:r>
              <a:rPr sz="1050" b="0" i="0" dirty="0" err="1">
                <a:solidFill>
                  <a:srgbClr val="64716D"/>
                </a:solidFill>
                <a:latin typeface="Aptos"/>
              </a:rPr>
              <a:t>tenants by offering verified</a:t>
            </a:r>
            <a:r>
              <a:rPr sz="1050" b="0" i="0" dirty="0">
                <a:solidFill>
                  <a:srgbClr val="64716D"/>
                </a:solidFill>
                <a:latin typeface="Aptos"/>
              </a:rPr>
              <a:t>, </a:t>
            </a:r>
            <a:r>
              <a:rPr sz="1050" b="0" i="0" dirty="0" err="1">
                <a:solidFill>
                  <a:srgbClr val="64716D"/>
                </a:solidFill>
                <a:latin typeface="Aptos"/>
              </a:rPr>
              <a:t>multilingual registration access </a:t>
            </a:r>
            <a:r>
              <a:rPr lang="de-DE" sz="1050" b="0" i="0" dirty="0">
                <a:solidFill>
                  <a:srgbClr val="64716D"/>
                </a:solidFill>
                <a:latin typeface="Aptos"/>
              </a:rPr>
              <a:t>– </a:t>
            </a:r>
            <a:r>
              <a:rPr sz="1050" b="0" i="0" dirty="0" err="1">
                <a:solidFill>
                  <a:srgbClr val="64716D"/>
                </a:solidFill>
                <a:latin typeface="Aptos"/>
              </a:rPr>
              <a:t>without the need for a system account</a:t>
            </a:r>
            <a:r>
              <a:rPr sz="1050" b="0" i="0" dirty="0">
                <a:solidFill>
                  <a:srgbClr val="64716D"/>
                </a:solidFill>
                <a:latin typeface="Aptos"/>
              </a:rPr>
              <a:t>.</a:t>
            </a:r>
          </a:p>
        </p:txBody>
      </p:sp>
      <p:sp>
        <p:nvSpPr>
          <p:cNvPr id="15" name="Rounded Rectangle 14"/>
          <p:cNvSpPr/>
          <p:nvPr/>
        </p:nvSpPr>
        <p:spPr>
          <a:xfrm>
            <a:off x="619506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736099"/>
          </a:xfrm>
          <a:prstGeom prst="rect">
            <a:avLst/>
          </a:prstGeom>
          <a:noFill/>
        </p:spPr>
        <p:txBody>
          <a:bodyPr wrap="square" lIns="0" tIns="0" rIns="0" bIns="0" anchor="t">
            <a:spAutoFit/>
          </a:bodyPr>
          <a:lstStyle/>
          <a:p>
            <a:r>
              <a:rPr sz="1300" b="1" i="0" dirty="0">
                <a:solidFill>
                  <a:srgbClr val="044F49"/>
                </a:solidFill>
                <a:latin typeface="Aptos"/>
              </a:rPr>
              <a:t>AI</a:t>
            </a:r>
            <a:r>
              <a:rPr sz="1300" b="1" i="0" dirty="0" err="1">
                <a:solidFill>
                  <a:srgbClr val="044F49"/>
                </a:solidFill>
                <a:latin typeface="Aptos"/>
              </a:rPr>
              <a:t>-driven streamlining</a:t>
            </a:r>
          </a:p>
          <a:p>
            <a:pPr>
              <a:spcBef>
                <a:spcPts val="400"/>
              </a:spcBef>
            </a:pPr>
            <a:r>
              <a:rPr sz="1050" b="0" i="0" dirty="0">
                <a:solidFill>
                  <a:srgbClr val="64716D"/>
                </a:solidFill>
                <a:latin typeface="Aptos"/>
              </a:rPr>
              <a:t>The AI </a:t>
            </a:r>
            <a:r>
              <a:rPr sz="1050" b="0" i="0" dirty="0" err="1">
                <a:solidFill>
                  <a:srgbClr val="64716D"/>
                </a:solidFill>
                <a:latin typeface="Aptos"/>
              </a:rPr>
              <a:t>layer relieves </a:t>
            </a:r>
            <a:r>
              <a:rPr sz="1050" b="0" i="0" dirty="0">
                <a:solidFill>
                  <a:srgbClr val="64716D"/>
                </a:solidFill>
                <a:latin typeface="Aptos"/>
              </a:rPr>
              <a:t>management and </a:t>
            </a:r>
            <a:r>
              <a:rPr sz="1050" b="0" i="0" dirty="0" err="1">
                <a:solidFill>
                  <a:srgbClr val="64716D"/>
                </a:solidFill>
                <a:latin typeface="Aptos"/>
              </a:rPr>
              <a:t>the accounts department of routine enquiries </a:t>
            </a:r>
            <a:r>
              <a:rPr sz="1050" b="0" i="0" dirty="0">
                <a:solidFill>
                  <a:srgbClr val="64716D"/>
                </a:solidFill>
                <a:latin typeface="Aptos"/>
              </a:rPr>
              <a:t>and </a:t>
            </a:r>
            <a:r>
              <a:rPr sz="1050" b="0" i="0" dirty="0" err="1">
                <a:solidFill>
                  <a:srgbClr val="64716D"/>
                </a:solidFill>
                <a:latin typeface="Aptos"/>
              </a:rPr>
              <a:t>prioritisation tasks </a:t>
            </a:r>
            <a:r>
              <a:rPr lang="de-DE" sz="1050" b="0" i="0" dirty="0">
                <a:solidFill>
                  <a:srgbClr val="64716D"/>
                </a:solidFill>
                <a:latin typeface="Aptos"/>
              </a:rPr>
              <a:t>– </a:t>
            </a:r>
            <a:r>
              <a:rPr sz="1050" b="0" i="0" dirty="0" err="1">
                <a:solidFill>
                  <a:srgbClr val="64716D"/>
                </a:solidFill>
                <a:latin typeface="Aptos"/>
              </a:rPr>
              <a:t>without relinquishing</a:t>
            </a:r>
            <a:r>
              <a:rPr sz="1050" b="0" i="0" dirty="0">
                <a:solidFill>
                  <a:srgbClr val="64716D"/>
                </a:solidFill>
                <a:latin typeface="Aptos"/>
              </a:rPr>
              <a:t> control over financial </a:t>
            </a:r>
            <a:r>
              <a:rPr sz="1050" b="0" i="0" dirty="0" err="1">
                <a:solidFill>
                  <a:srgbClr val="64716D"/>
                </a:solidFill>
                <a:latin typeface="Aptos"/>
              </a:rPr>
              <a:t>or access decisions</a:t>
            </a:r>
            <a:r>
              <a:rPr sz="1050" b="0" i="0" dirty="0">
                <a:solidFill>
                  <a:srgbClr val="64716D"/>
                </a:solidFill>
                <a:latin typeface="Aptos"/>
              </a:rPr>
              <a:t>.</a:t>
            </a:r>
          </a:p>
        </p:txBody>
      </p:sp>
      <p:sp>
        <p:nvSpPr>
          <p:cNvPr id="17" name="Rounded Rectangle 16"/>
          <p:cNvSpPr/>
          <p:nvPr/>
        </p:nvSpPr>
        <p:spPr>
          <a:xfrm>
            <a:off x="640080" y="5212080"/>
            <a:ext cx="10881360" cy="10058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212080"/>
            <a:ext cx="54864" cy="10058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530334"/>
            <a:ext cx="10469880" cy="369332"/>
          </a:xfrm>
          <a:prstGeom prst="rect">
            <a:avLst/>
          </a:prstGeom>
          <a:noFill/>
        </p:spPr>
        <p:txBody>
          <a:bodyPr wrap="square" lIns="0" tIns="0" rIns="0" bIns="0" anchor="ctr">
            <a:spAutoFit/>
          </a:bodyPr>
          <a:lstStyle/>
          <a:p>
            <a:r>
              <a:rPr sz="1250" b="1" i="0" dirty="0" err="1">
                <a:solidFill>
                  <a:srgbClr val="044F49"/>
                </a:solidFill>
                <a:latin typeface="Aptos"/>
              </a:rPr>
              <a:t>Strategic added value</a:t>
            </a:r>
            <a:r>
              <a:rPr sz="1250" b="1" i="0" dirty="0">
                <a:solidFill>
                  <a:srgbClr val="044F49"/>
                </a:solidFill>
                <a:latin typeface="Aptos"/>
              </a:rPr>
              <a:t>. </a:t>
            </a:r>
            <a:r>
              <a:rPr sz="1150" b="0" i="0" dirty="0">
                <a:solidFill>
                  <a:srgbClr val="33413D"/>
                </a:solidFill>
                <a:latin typeface="Aptos"/>
              </a:rPr>
              <a:t> The </a:t>
            </a:r>
            <a:r>
              <a:rPr sz="1150" b="0" i="0" dirty="0" err="1">
                <a:solidFill>
                  <a:srgbClr val="33413D"/>
                </a:solidFill>
                <a:latin typeface="Aptos"/>
              </a:rPr>
              <a:t>platform is designed</a:t>
            </a:r>
            <a:r>
              <a:rPr sz="1150" b="0" i="0" dirty="0">
                <a:solidFill>
                  <a:srgbClr val="33413D"/>
                </a:solidFill>
                <a:latin typeface="Aptos"/>
              </a:rPr>
              <a:t> </a:t>
            </a:r>
            <a:r>
              <a:rPr sz="1150" b="0" i="0" dirty="0" err="1">
                <a:solidFill>
                  <a:srgbClr val="33413D"/>
                </a:solidFill>
                <a:latin typeface="Aptos"/>
              </a:rPr>
              <a:t>to be scalable </a:t>
            </a:r>
            <a:r>
              <a:rPr sz="1150" b="0" i="0" dirty="0">
                <a:solidFill>
                  <a:srgbClr val="33413D"/>
                </a:solidFill>
                <a:latin typeface="Aptos"/>
              </a:rPr>
              <a:t>to </a:t>
            </a:r>
            <a:r>
              <a:rPr sz="1150" b="0" i="0" dirty="0" err="1">
                <a:solidFill>
                  <a:srgbClr val="33413D"/>
                </a:solidFill>
                <a:latin typeface="Aptos"/>
              </a:rPr>
              <a:t>additional sites </a:t>
            </a:r>
            <a:r>
              <a:rPr sz="1150" b="0" i="0" dirty="0">
                <a:solidFill>
                  <a:srgbClr val="33413D"/>
                </a:solidFill>
                <a:latin typeface="Aptos"/>
              </a:rPr>
              <a:t>and </a:t>
            </a:r>
            <a:r>
              <a:rPr sz="1150" b="0" i="0" dirty="0" err="1">
                <a:solidFill>
                  <a:srgbClr val="33413D"/>
                </a:solidFill>
                <a:latin typeface="Aptos"/>
              </a:rPr>
              <a:t>properties </a:t>
            </a:r>
            <a:r>
              <a:rPr lang="de-DE" sz="1150" b="0" i="0" dirty="0">
                <a:solidFill>
                  <a:srgbClr val="33413D"/>
                </a:solidFill>
                <a:latin typeface="Aptos"/>
              </a:rPr>
              <a:t>– </a:t>
            </a:r>
            <a:r>
              <a:rPr sz="1150" b="0" i="0" dirty="0" err="1">
                <a:solidFill>
                  <a:srgbClr val="33413D"/>
                </a:solidFill>
                <a:latin typeface="Aptos"/>
              </a:rPr>
              <a:t>a solid foundation should Ataberk </a:t>
            </a:r>
            <a:r>
              <a:rPr sz="1150" b="0" i="0" dirty="0">
                <a:solidFill>
                  <a:srgbClr val="33413D"/>
                </a:solidFill>
                <a:latin typeface="Aptos"/>
              </a:rPr>
              <a:t>Estate </a:t>
            </a:r>
            <a:r>
              <a:rPr sz="1150" b="0" i="0" dirty="0" err="1">
                <a:solidFill>
                  <a:srgbClr val="33413D"/>
                </a:solidFill>
                <a:latin typeface="Aptos"/>
              </a:rPr>
              <a:t>wish to expand </a:t>
            </a:r>
            <a:r>
              <a:rPr sz="1150" b="0" i="0" dirty="0">
                <a:solidFill>
                  <a:srgbClr val="33413D"/>
                </a:solidFill>
                <a:latin typeface="Aptos"/>
              </a:rPr>
              <a:t>its </a:t>
            </a:r>
            <a:r>
              <a:rPr sz="1150" b="0" i="0" dirty="0" err="1">
                <a:solidFill>
                  <a:srgbClr val="33413D"/>
                </a:solidFill>
                <a:latin typeface="Aptos"/>
              </a:rPr>
              <a:t>digital operations beyond</a:t>
            </a:r>
            <a:r>
              <a:rPr sz="1150" b="0" i="0" dirty="0">
                <a:solidFill>
                  <a:srgbClr val="33413D"/>
                </a:solidFill>
                <a:latin typeface="Aptos"/>
              </a:rPr>
              <a:t> New Level Premium.</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10</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viderbg.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sp>
        <p:nvSpPr>
          <p:cNvPr id="6" name="TextBox 5"/>
          <p:cNvSpPr txBox="1"/>
          <p:nvPr/>
        </p:nvSpPr>
        <p:spPr>
          <a:xfrm>
            <a:off x="822960" y="2286000"/>
            <a:ext cx="10058400" cy="457200"/>
          </a:xfrm>
          <a:prstGeom prst="rect">
            <a:avLst/>
          </a:prstGeom>
          <a:noFill/>
        </p:spPr>
        <p:txBody>
          <a:bodyPr wrap="square" lIns="0" tIns="0" rIns="0" bIns="0" anchor="t">
            <a:spAutoFit/>
          </a:bodyPr>
          <a:lstStyle/>
          <a:p>
            <a:r>
              <a:rPr sz="1300" b="1" i="0">
                <a:solidFill>
                  <a:srgbClr val="E2B75D"/>
                </a:solidFill>
                <a:latin typeface="Aptos"/>
              </a:rPr>
              <a:t>CHAPTER 06</a:t>
            </a:r>
          </a:p>
        </p:txBody>
      </p:sp>
      <p:sp>
        <p:nvSpPr>
          <p:cNvPr id="7" name="TextBox 6"/>
          <p:cNvSpPr txBox="1"/>
          <p:nvPr/>
        </p:nvSpPr>
        <p:spPr>
          <a:xfrm>
            <a:off x="822960" y="2697480"/>
            <a:ext cx="10515600" cy="523220"/>
          </a:xfrm>
          <a:prstGeom prst="rect">
            <a:avLst/>
          </a:prstGeom>
          <a:noFill/>
        </p:spPr>
        <p:txBody>
          <a:bodyPr wrap="square" lIns="0" tIns="0" rIns="0" bIns="0" anchor="t">
            <a:spAutoFit/>
          </a:bodyPr>
          <a:lstStyle/>
          <a:p>
            <a:r>
              <a:rPr sz="3400" b="1" i="0" dirty="0" err="1">
                <a:solidFill>
                  <a:srgbClr val="FFFFFF"/>
                </a:solidFill>
                <a:latin typeface="Aptos"/>
              </a:rPr>
              <a:t>Scope of functions </a:t>
            </a:r>
            <a:r>
              <a:rPr lang="de-DE" sz="3400" b="1" i="0" dirty="0">
                <a:solidFill>
                  <a:srgbClr val="FFFFFF"/>
                </a:solidFill>
                <a:latin typeface="Aptos"/>
              </a:rPr>
              <a:t>– </a:t>
            </a:r>
            <a:r>
              <a:rPr sz="3400" b="1" i="0" dirty="0">
                <a:solidFill>
                  <a:srgbClr val="FFFFFF"/>
                </a:solidFill>
                <a:latin typeface="Aptos"/>
              </a:rPr>
              <a:t>what 1Çatı </a:t>
            </a:r>
            <a:r>
              <a:rPr sz="3400" b="1" i="0" dirty="0" err="1">
                <a:solidFill>
                  <a:srgbClr val="FFFFFF"/>
                </a:solidFill>
                <a:latin typeface="Aptos"/>
              </a:rPr>
              <a:t>delivers</a:t>
            </a:r>
            <a:endParaRPr sz="3400" b="1" i="0" dirty="0">
              <a:solidFill>
                <a:srgbClr val="FFFFFF"/>
              </a:solidFill>
              <a:latin typeface="Aptos"/>
            </a:endParaRPr>
          </a:p>
        </p:txBody>
      </p:sp>
      <p:sp>
        <p:nvSpPr>
          <p:cNvPr id="8" name="TextBox 7"/>
          <p:cNvSpPr txBox="1"/>
          <p:nvPr/>
        </p:nvSpPr>
        <p:spPr>
          <a:xfrm>
            <a:off x="822960" y="3840480"/>
            <a:ext cx="9601200" cy="1097280"/>
          </a:xfrm>
          <a:prstGeom prst="rect">
            <a:avLst/>
          </a:prstGeom>
          <a:noFill/>
        </p:spPr>
        <p:txBody>
          <a:bodyPr wrap="square" lIns="0" tIns="0" rIns="0" bIns="0" anchor="t">
            <a:spAutoFit/>
          </a:bodyPr>
          <a:lstStyle/>
          <a:p>
            <a:r>
              <a:rPr sz="1300" b="0" i="0">
                <a:solidFill>
                  <a:srgbClr val="CDE7E1"/>
                </a:solidFill>
                <a:latin typeface="Aptos"/>
              </a:rPr>
              <a:t>All developed functional areas with their current status. ‘Available’ = fully operational in the demo; ‘Partially’ = view is ready, active data entry/processing to follow in the production version.</a:t>
            </a:r>
          </a:p>
        </p:txBody>
      </p:sp>
      <p:sp>
        <p:nvSpPr>
          <p:cNvPr id="9" name="TextBox 8"/>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0" name="TextBox 9"/>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11</a:t>
            </a:r>
          </a:p>
        </p:txBody>
      </p:sp>
      <p:pic>
        <p:nvPicPr>
          <p:cNvPr id="11" name="Picture 10" descr="logo.png"/>
          <p:cNvPicPr>
            <a:picLocks noChangeAspect="1"/>
          </p:cNvPicPr>
          <p:nvPr/>
        </p:nvPicPr>
        <p:blipFill>
          <a:blip r:embed="rId4"/>
          <a:stretch>
            <a:fillRect/>
          </a:stretch>
        </p:blipFill>
        <p:spPr>
          <a:xfrm>
            <a:off x="10744200" y="6382512"/>
            <a:ext cx="310896"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Access, Roles &amp; Security</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Function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Role-based access</a:t>
                      </a:r>
                    </a:p>
                  </a:txBody>
                  <a:tcPr marL="73152" marR="73152" marT="36576" marB="36576" anchor="ctr">
                    <a:solidFill>
                      <a:srgbClr val="FFFFFF"/>
                    </a:solidFill>
                  </a:tcPr>
                </a:tc>
                <a:tc>
                  <a:txBody>
                    <a:bodyPr/>
                    <a:lstStyle/>
                    <a:p>
                      <a:r>
                        <a:rPr sz="1050" b="0" i="0">
                          <a:solidFill>
                            <a:srgbClr val="33413D"/>
                          </a:solidFill>
                          <a:latin typeface="Aptos"/>
                        </a:rPr>
                        <a:t>Six roles with finely graded permissions; each role can only view the areas designated for their work.</a:t>
                      </a:r>
                    </a:p>
                  </a:txBody>
                  <a:tcPr marL="73152" marR="73152" marT="36576" marB="36576" anchor="ctr">
                    <a:solidFill>
                      <a:srgbClr val="FFFFFF"/>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Two-factor access control</a:t>
                      </a:r>
                    </a:p>
                  </a:txBody>
                  <a:tcPr marL="73152" marR="73152" marT="36576" marB="36576" anchor="ctr">
                    <a:solidFill>
                      <a:srgbClr val="F1F5F4"/>
                    </a:solidFill>
                  </a:tcPr>
                </a:tc>
                <a:tc>
                  <a:txBody>
                    <a:bodyPr/>
                    <a:lstStyle/>
                    <a:p>
                      <a:r>
                        <a:rPr sz="1050" b="0" i="0" dirty="0">
                          <a:solidFill>
                            <a:srgbClr val="33413D"/>
                          </a:solidFill>
                          <a:latin typeface="Aptos"/>
                        </a:rPr>
                        <a:t>Permissions </a:t>
                      </a:r>
                      <a:r>
                        <a:rPr sz="1050" b="0" i="0" dirty="0" err="1">
                          <a:solidFill>
                            <a:srgbClr val="33413D"/>
                          </a:solidFill>
                          <a:latin typeface="Aptos"/>
                        </a:rPr>
                        <a:t>are enforced </a:t>
                      </a:r>
                      <a:r>
                        <a:rPr sz="1050" b="0" i="0" dirty="0">
                          <a:solidFill>
                            <a:srgbClr val="33413D"/>
                          </a:solidFill>
                          <a:latin typeface="Aptos"/>
                        </a:rPr>
                        <a:t>both within the </a:t>
                      </a:r>
                      <a:r>
                        <a:rPr sz="1050" b="0" i="0" dirty="0" err="1">
                          <a:solidFill>
                            <a:srgbClr val="33413D"/>
                          </a:solidFill>
                          <a:latin typeface="Aptos"/>
                        </a:rPr>
                        <a:t>application </a:t>
                      </a:r>
                      <a:r>
                        <a:rPr sz="1050" b="0" i="0" dirty="0">
                          <a:solidFill>
                            <a:srgbClr val="33413D"/>
                          </a:solidFill>
                          <a:latin typeface="Aptos"/>
                        </a:rPr>
                        <a:t>and in the </a:t>
                      </a:r>
                      <a:r>
                        <a:rPr sz="1050" b="0" i="0" dirty="0" err="1">
                          <a:solidFill>
                            <a:srgbClr val="33413D"/>
                          </a:solidFill>
                          <a:latin typeface="Aptos"/>
                        </a:rPr>
                        <a:t>database </a:t>
                      </a:r>
                      <a:r>
                        <a:rPr lang="de-DE" sz="1050" b="0" i="0" dirty="0">
                          <a:solidFill>
                            <a:srgbClr val="33413D"/>
                          </a:solidFill>
                          <a:latin typeface="Aptos"/>
                        </a:rPr>
                        <a:t>– </a:t>
                      </a:r>
                      <a:r>
                        <a:rPr sz="1050" b="0" i="0" dirty="0">
                          <a:solidFill>
                            <a:srgbClr val="33413D"/>
                          </a:solidFill>
                          <a:latin typeface="Aptos"/>
                        </a:rPr>
                        <a:t>not </a:t>
                      </a:r>
                      <a:r>
                        <a:rPr sz="1050" b="0" i="0" dirty="0" err="1">
                          <a:solidFill>
                            <a:srgbClr val="33413D"/>
                          </a:solidFill>
                          <a:latin typeface="Aptos"/>
                        </a:rPr>
                        <a:t>merely hidden from view</a:t>
                      </a:r>
                      <a:r>
                        <a:rPr sz="1050" b="0" i="0" dirty="0">
                          <a:solidFill>
                            <a:srgbClr val="33413D"/>
                          </a:solidFill>
                          <a:latin typeface="Aptos"/>
                        </a:rPr>
                        <a:t>.</a:t>
                      </a:r>
                    </a:p>
                  </a:txBody>
                  <a:tcPr marL="73152" marR="73152" marT="36576" marB="36576" anchor="ctr">
                    <a:solidFill>
                      <a:srgbClr val="F1F5F4"/>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Comprehensive logging</a:t>
                      </a:r>
                    </a:p>
                  </a:txBody>
                  <a:tcPr marL="73152" marR="73152" marT="36576" marB="36576" anchor="ctr">
                    <a:solidFill>
                      <a:srgbClr val="FFFFFF"/>
                    </a:solidFill>
                  </a:tcPr>
                </a:tc>
                <a:tc>
                  <a:txBody>
                    <a:bodyPr/>
                    <a:lstStyle/>
                    <a:p>
                      <a:r>
                        <a:rPr sz="1050" b="0" i="0">
                          <a:solidFill>
                            <a:srgbClr val="33413D"/>
                          </a:solidFill>
                          <a:latin typeface="Aptos"/>
                        </a:rPr>
                        <a:t>Sensitive actions are recorded in an audit-proof manner, including the user, role, time, reason and status.</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One-click demo access</a:t>
                      </a:r>
                    </a:p>
                  </a:txBody>
                  <a:tcPr marL="73152" marR="73152" marT="36576" marB="36576" anchor="ctr">
                    <a:solidFill>
                      <a:srgbClr val="F1F5F4"/>
                    </a:solidFill>
                  </a:tcPr>
                </a:tc>
                <a:tc>
                  <a:txBody>
                    <a:bodyPr/>
                    <a:lstStyle/>
                    <a:p>
                      <a:r>
                        <a:rPr sz="1050" b="0" i="0">
                          <a:solidFill>
                            <a:srgbClr val="33413D"/>
                          </a:solidFill>
                          <a:latin typeface="Aptos"/>
                        </a:rPr>
                        <a:t>Password-free presentation access; disabled by default in the production environment.</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12</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Portfolio &amp; Property Management</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Function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Flat Matrix (Daire Matrix)</a:t>
                      </a:r>
                    </a:p>
                  </a:txBody>
                  <a:tcPr marL="73152" marR="73152" marT="36576" marB="36576" anchor="ctr">
                    <a:solidFill>
                      <a:srgbClr val="FFFFFF"/>
                    </a:solidFill>
                  </a:tcPr>
                </a:tc>
                <a:tc>
                  <a:txBody>
                    <a:bodyPr/>
                    <a:lstStyle/>
                    <a:p>
                      <a:r>
                        <a:rPr sz="1050" b="0" i="0" dirty="0" err="1">
                          <a:solidFill>
                            <a:srgbClr val="33413D"/>
                          </a:solidFill>
                          <a:latin typeface="Aptos"/>
                        </a:rPr>
                        <a:t>Centralised overview of all units, including </a:t>
                      </a:r>
                      <a:r>
                        <a:rPr sz="1050" b="0" i="0" dirty="0">
                          <a:solidFill>
                            <a:srgbClr val="33413D"/>
                          </a:solidFill>
                          <a:latin typeface="Aptos"/>
                        </a:rPr>
                        <a:t>block, number, </a:t>
                      </a:r>
                      <a:r>
                        <a:rPr sz="1050" b="0" i="0" dirty="0" err="1">
                          <a:solidFill>
                            <a:srgbClr val="33413D"/>
                          </a:solidFill>
                          <a:latin typeface="Aptos"/>
                        </a:rPr>
                        <a:t>owner</a:t>
                      </a:r>
                      <a:r>
                        <a:rPr sz="1050" b="0" i="0" dirty="0">
                          <a:solidFill>
                            <a:srgbClr val="33413D"/>
                          </a:solidFill>
                          <a:latin typeface="Aptos"/>
                        </a:rPr>
                        <a:t>, </a:t>
                      </a:r>
                      <a:r>
                        <a:rPr sz="1050" b="0" i="0" dirty="0" err="1">
                          <a:solidFill>
                            <a:srgbClr val="33413D"/>
                          </a:solidFill>
                          <a:latin typeface="Aptos"/>
                        </a:rPr>
                        <a:t>occupant</a:t>
                      </a:r>
                      <a:r>
                        <a:rPr sz="1050" b="0" i="0" dirty="0">
                          <a:solidFill>
                            <a:srgbClr val="33413D"/>
                          </a:solidFill>
                          <a:latin typeface="Aptos"/>
                        </a:rPr>
                        <a:t>, price, </a:t>
                      </a:r>
                      <a:r>
                        <a:rPr sz="1050" b="0" i="0" dirty="0" err="1">
                          <a:solidFill>
                            <a:srgbClr val="33413D"/>
                          </a:solidFill>
                          <a:latin typeface="Aptos"/>
                        </a:rPr>
                        <a:t>debt status</a:t>
                      </a:r>
                      <a:r>
                        <a:rPr sz="1050" b="0" i="0" dirty="0">
                          <a:solidFill>
                            <a:srgbClr val="33413D"/>
                          </a:solidFill>
                          <a:latin typeface="Aptos"/>
                        </a:rPr>
                        <a:t>, </a:t>
                      </a:r>
                      <a:r>
                        <a:rPr sz="1050" b="0" i="0" dirty="0" err="1">
                          <a:solidFill>
                            <a:srgbClr val="33413D"/>
                          </a:solidFill>
                          <a:latin typeface="Aptos"/>
                        </a:rPr>
                        <a:t>documents</a:t>
                      </a:r>
                      <a:r>
                        <a:rPr sz="1050" b="0" i="0" dirty="0">
                          <a:solidFill>
                            <a:srgbClr val="33413D"/>
                          </a:solidFill>
                          <a:latin typeface="Aptos"/>
                        </a:rPr>
                        <a:t>, service and </a:t>
                      </a:r>
                      <a:r>
                        <a:rPr sz="1050" b="0" i="0" dirty="0" err="1">
                          <a:solidFill>
                            <a:srgbClr val="33413D"/>
                          </a:solidFill>
                          <a:latin typeface="Aptos"/>
                        </a:rPr>
                        <a:t>access status </a:t>
                      </a:r>
                      <a:r>
                        <a:rPr lang="de-DE" sz="1050" b="0" i="0" dirty="0">
                          <a:solidFill>
                            <a:srgbClr val="33413D"/>
                          </a:solidFill>
                          <a:latin typeface="Aptos"/>
                        </a:rPr>
                        <a:t>– </a:t>
                      </a:r>
                      <a:r>
                        <a:rPr sz="1050" b="0" i="0" dirty="0" err="1">
                          <a:solidFill>
                            <a:srgbClr val="33413D"/>
                          </a:solidFill>
                          <a:latin typeface="Aptos"/>
                        </a:rPr>
                        <a:t>searchable </a:t>
                      </a:r>
                      <a:r>
                        <a:rPr sz="1050" b="0" i="0" dirty="0">
                          <a:solidFill>
                            <a:srgbClr val="33413D"/>
                          </a:solidFill>
                          <a:latin typeface="Aptos"/>
                        </a:rPr>
                        <a:t>and </a:t>
                      </a:r>
                      <a:r>
                        <a:rPr sz="1050" b="0" i="0" dirty="0" err="1">
                          <a:solidFill>
                            <a:srgbClr val="33413D"/>
                          </a:solidFill>
                          <a:latin typeface="Aptos"/>
                        </a:rPr>
                        <a:t>filterable</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Portfolio structure</a:t>
                      </a:r>
                    </a:p>
                  </a:txBody>
                  <a:tcPr marL="73152" marR="73152" marT="36576" marB="36576" anchor="ctr">
                    <a:solidFill>
                      <a:srgbClr val="F1F5F4"/>
                    </a:solidFill>
                  </a:tcPr>
                </a:tc>
                <a:tc>
                  <a:txBody>
                    <a:bodyPr/>
                    <a:lstStyle/>
                    <a:p>
                      <a:r>
                        <a:rPr sz="1050" b="0" i="0">
                          <a:solidFill>
                            <a:srgbClr val="33413D"/>
                          </a:solidFill>
                          <a:latin typeface="Aptos"/>
                        </a:rPr>
                        <a:t>Complete model: Location → Block → Floor → Flat, using the actual dataset of 769 units.</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Sales &amp; price status</a:t>
                      </a:r>
                    </a:p>
                  </a:txBody>
                  <a:tcPr marL="73152" marR="73152" marT="36576" marB="36576" anchor="ctr">
                    <a:solidFill>
                      <a:srgbClr val="FFFFFF"/>
                    </a:solidFill>
                  </a:tcPr>
                </a:tc>
                <a:tc>
                  <a:txBody>
                    <a:bodyPr/>
                    <a:lstStyle/>
                    <a:p>
                      <a:r>
                        <a:rPr sz="1050" b="0" i="0" dirty="0" err="1">
                          <a:solidFill>
                            <a:srgbClr val="33413D"/>
                          </a:solidFill>
                          <a:latin typeface="Aptos"/>
                        </a:rPr>
                        <a:t>Sales status</a:t>
                      </a:r>
                      <a:r>
                        <a:rPr sz="1050" b="0" i="0" dirty="0">
                          <a:solidFill>
                            <a:srgbClr val="33413D"/>
                          </a:solidFill>
                          <a:latin typeface="Aptos"/>
                        </a:rPr>
                        <a:t>, </a:t>
                      </a:r>
                      <a:r>
                        <a:rPr sz="1050" b="0" i="0" dirty="0" err="1">
                          <a:solidFill>
                            <a:srgbClr val="33413D"/>
                          </a:solidFill>
                          <a:latin typeface="Aptos"/>
                        </a:rPr>
                        <a:t>list price </a:t>
                      </a:r>
                      <a:r>
                        <a:rPr sz="1050" b="0" i="0" dirty="0">
                          <a:solidFill>
                            <a:srgbClr val="33413D"/>
                          </a:solidFill>
                          <a:latin typeface="Aptos"/>
                        </a:rPr>
                        <a:t>and </a:t>
                      </a:r>
                      <a:r>
                        <a:rPr sz="1050" b="0" i="0" dirty="0" err="1">
                          <a:solidFill>
                            <a:srgbClr val="33413D"/>
                          </a:solidFill>
                          <a:latin typeface="Aptos"/>
                        </a:rPr>
                        <a:t>price source </a:t>
                      </a:r>
                      <a:r>
                        <a:rPr sz="1050" b="0" i="0" dirty="0">
                          <a:solidFill>
                            <a:srgbClr val="33413D"/>
                          </a:solidFill>
                          <a:latin typeface="Aptos"/>
                        </a:rPr>
                        <a:t>per unit </a:t>
                      </a:r>
                      <a:r>
                        <a:rPr lang="de-DE" sz="1050" b="0" i="0" dirty="0">
                          <a:solidFill>
                            <a:srgbClr val="33413D"/>
                          </a:solidFill>
                          <a:latin typeface="Aptos"/>
                        </a:rPr>
                        <a:t>– </a:t>
                      </a:r>
                      <a:r>
                        <a:rPr sz="1050" b="0" i="0" dirty="0">
                          <a:solidFill>
                            <a:srgbClr val="33413D"/>
                          </a:solidFill>
                          <a:latin typeface="Aptos"/>
                        </a:rPr>
                        <a:t>based on the </a:t>
                      </a:r>
                      <a:r>
                        <a:rPr sz="1050" b="0" i="0" dirty="0" err="1">
                          <a:solidFill>
                            <a:srgbClr val="33413D"/>
                          </a:solidFill>
                          <a:latin typeface="Aptos"/>
                        </a:rPr>
                        <a:t>actual price list</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Data import &amp; validation</a:t>
                      </a:r>
                    </a:p>
                  </a:txBody>
                  <a:tcPr marL="73152" marR="73152" marT="36576" marB="36576" anchor="ctr">
                    <a:solidFill>
                      <a:srgbClr val="F1F5F4"/>
                    </a:solidFill>
                  </a:tcPr>
                </a:tc>
                <a:tc>
                  <a:txBody>
                    <a:bodyPr/>
                    <a:lstStyle/>
                    <a:p>
                      <a:r>
                        <a:rPr sz="1050" b="0" i="0">
                          <a:solidFill>
                            <a:srgbClr val="33413D"/>
                          </a:solidFill>
                          <a:latin typeface="Aptos"/>
                        </a:rPr>
                        <a:t>Validation and quality indicators during data import (rows, warnings, approval).</a:t>
                      </a:r>
                    </a:p>
                  </a:txBody>
                  <a:tcPr marL="73152" marR="73152" marT="36576" marB="36576" anchor="ctr">
                    <a:solidFill>
                      <a:srgbClr val="F1F5F4"/>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13</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Finances &amp; Contributions</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224942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Function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Accounts &amp; Balance Overview</a:t>
                      </a:r>
                    </a:p>
                  </a:txBody>
                  <a:tcPr marL="73152" marR="73152" marT="36576" marB="36576" anchor="ctr">
                    <a:solidFill>
                      <a:srgbClr val="FFFFFF"/>
                    </a:solidFill>
                  </a:tcPr>
                </a:tc>
                <a:tc>
                  <a:txBody>
                    <a:bodyPr/>
                    <a:lstStyle/>
                    <a:p>
                      <a:r>
                        <a:rPr sz="1050" b="0" i="0">
                          <a:solidFill>
                            <a:srgbClr val="33413D"/>
                          </a:solidFill>
                          <a:latin typeface="Aptos"/>
                        </a:rPr>
                        <a:t>Outstanding balances, overdue amounts, contribution and payment status by unit and individual, with ageing of debts.</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Unchangeable entries</a:t>
                      </a:r>
                    </a:p>
                  </a:txBody>
                  <a:tcPr marL="73152" marR="73152" marT="36576" marB="36576" anchor="ctr">
                    <a:solidFill>
                      <a:srgbClr val="F1F5F4"/>
                    </a:solidFill>
                  </a:tcPr>
                </a:tc>
                <a:tc>
                  <a:txBody>
                    <a:bodyPr/>
                    <a:lstStyle/>
                    <a:p>
                      <a:r>
                        <a:rPr sz="1050" b="0" i="0" dirty="0" err="1">
                          <a:solidFill>
                            <a:srgbClr val="33413D"/>
                          </a:solidFill>
                          <a:latin typeface="Aptos"/>
                        </a:rPr>
                        <a:t>Once posted, financial entries cannot be altered </a:t>
                      </a:r>
                      <a:r>
                        <a:rPr lang="de-DE" sz="1050" b="0" i="0" dirty="0">
                          <a:solidFill>
                            <a:srgbClr val="33413D"/>
                          </a:solidFill>
                          <a:latin typeface="Aptos"/>
                        </a:rPr>
                        <a:t>– </a:t>
                      </a:r>
                      <a:r>
                        <a:rPr sz="1050" b="0" i="0" dirty="0" err="1">
                          <a:solidFill>
                            <a:srgbClr val="33413D"/>
                          </a:solidFill>
                          <a:latin typeface="Aptos"/>
                        </a:rPr>
                        <a:t>a key feature of accounting </a:t>
                      </a:r>
                      <a:r>
                        <a:rPr sz="1050" b="0" i="0" dirty="0">
                          <a:solidFill>
                            <a:srgbClr val="33413D"/>
                          </a:solidFill>
                          <a:latin typeface="Aptos"/>
                        </a:rPr>
                        <a:t>security.</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Payment &amp; Deposit Control</a:t>
                      </a:r>
                    </a:p>
                  </a:txBody>
                  <a:tcPr marL="73152" marR="73152" marT="36576" marB="36576" anchor="ctr">
                    <a:solidFill>
                      <a:srgbClr val="FFFFFF"/>
                    </a:solidFill>
                  </a:tcPr>
                </a:tc>
                <a:tc>
                  <a:txBody>
                    <a:bodyPr/>
                    <a:lstStyle/>
                    <a:p>
                      <a:r>
                        <a:rPr sz="1050" b="0" i="0">
                          <a:solidFill>
                            <a:srgbClr val="33413D"/>
                          </a:solidFill>
                          <a:latin typeface="Aptos"/>
                        </a:rPr>
                        <a:t>Control centre for payment schedules, deposit decisions and bank reconciliation.</a:t>
                      </a:r>
                    </a:p>
                  </a:txBody>
                  <a:tcPr marL="73152" marR="73152" marT="36576" marB="36576" anchor="ctr">
                    <a:solidFill>
                      <a:srgbClr val="FFFFFF"/>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Debtor restrictions</a:t>
                      </a:r>
                    </a:p>
                  </a:txBody>
                  <a:tcPr marL="73152" marR="73152" marT="36576" marB="36576" anchor="ctr">
                    <a:solidFill>
                      <a:srgbClr val="F1F5F4"/>
                    </a:solidFill>
                  </a:tcPr>
                </a:tc>
                <a:tc>
                  <a:txBody>
                    <a:bodyPr/>
                    <a:lstStyle/>
                    <a:p>
                      <a:r>
                        <a:rPr sz="1050" b="0" i="0" dirty="0" err="1">
                          <a:solidFill>
                            <a:srgbClr val="33413D"/>
                          </a:solidFill>
                          <a:latin typeface="Aptos"/>
                        </a:rPr>
                        <a:t>Identification </a:t>
                      </a:r>
                      <a:r>
                        <a:rPr sz="1050" b="0" i="0" dirty="0">
                          <a:solidFill>
                            <a:srgbClr val="33413D"/>
                          </a:solidFill>
                          <a:latin typeface="Aptos"/>
                        </a:rPr>
                        <a:t>and </a:t>
                      </a:r>
                      <a:r>
                        <a:rPr sz="1050" b="0" i="0" dirty="0" err="1">
                          <a:solidFill>
                            <a:srgbClr val="33413D"/>
                          </a:solidFill>
                          <a:latin typeface="Aptos"/>
                        </a:rPr>
                        <a:t>recommendation </a:t>
                      </a:r>
                      <a:r>
                        <a:rPr sz="1050" b="0" i="0" dirty="0">
                          <a:solidFill>
                            <a:srgbClr val="33413D"/>
                          </a:solidFill>
                          <a:latin typeface="Aptos"/>
                        </a:rPr>
                        <a:t>of </a:t>
                      </a:r>
                      <a:r>
                        <a:rPr sz="1050" b="0" i="0" dirty="0" err="1">
                          <a:solidFill>
                            <a:srgbClr val="33413D"/>
                          </a:solidFill>
                          <a:latin typeface="Aptos"/>
                        </a:rPr>
                        <a:t>restrictions on outstanding debts </a:t>
                      </a:r>
                      <a:r>
                        <a:rPr lang="de-DE" sz="1050" b="0" i="0" dirty="0">
                          <a:solidFill>
                            <a:srgbClr val="33413D"/>
                          </a:solidFill>
                          <a:latin typeface="Aptos"/>
                        </a:rPr>
                        <a:t>– </a:t>
                      </a:r>
                      <a:r>
                        <a:rPr sz="1050" b="0" i="0" dirty="0" err="1">
                          <a:solidFill>
                            <a:srgbClr val="33413D"/>
                          </a:solidFill>
                          <a:latin typeface="Aptos"/>
                        </a:rPr>
                        <a:t>with mandatory human approval</a:t>
                      </a:r>
                      <a:r>
                        <a:rPr sz="1050" b="0" i="0" dirty="0">
                          <a:solidFill>
                            <a:srgbClr val="33413D"/>
                          </a:solidFill>
                          <a:latin typeface="Aptos"/>
                        </a:rPr>
                        <a:t>.</a:t>
                      </a:r>
                    </a:p>
                  </a:txBody>
                  <a:tcPr marL="73152" marR="73152" marT="36576" marB="36576" anchor="ctr">
                    <a:solidFill>
                      <a:srgbClr val="F1F5F4"/>
                    </a:solidFill>
                  </a:tcPr>
                </a:tc>
                <a:tc>
                  <a:txBody>
                    <a:bodyPr/>
                    <a:lstStyle/>
                    <a:p>
                      <a:pPr algn="ctr"/>
                      <a:r>
                        <a:rPr sz="1000" b="1" i="0">
                          <a:solidFill>
                            <a:srgbClr val="7A5410"/>
                          </a:solidFill>
                          <a:latin typeface="Aptos"/>
                        </a:rPr>
                        <a:t>Partial</a:t>
                      </a:r>
                    </a:p>
                  </a:txBody>
                  <a:tcPr marL="73152" marR="73152" marT="36576" marB="36576" anchor="ctr">
                    <a:solidFill>
                      <a:srgbClr val="F4EBDD"/>
                    </a:solidFill>
                  </a:tcPr>
                </a:tc>
                <a:extLst>
                  <a:ext uri="{0D108BD9-81ED-4DB2-BD59-A6C34878D82A}">
                    <a16:rowId xmlns:a16="http://schemas.microsoft.com/office/drawing/2014/main" val="10004"/>
                  </a:ext>
                </a:extLst>
              </a:tr>
              <a:tr h="365760">
                <a:tc>
                  <a:txBody>
                    <a:bodyPr/>
                    <a:lstStyle/>
                    <a:p>
                      <a:r>
                        <a:rPr sz="1050" b="1" i="0">
                          <a:solidFill>
                            <a:srgbClr val="101820"/>
                          </a:solidFill>
                          <a:latin typeface="Aptos"/>
                        </a:rPr>
                        <a:t>Enter new transaction</a:t>
                      </a:r>
                    </a:p>
                  </a:txBody>
                  <a:tcPr marL="73152" marR="73152" marT="36576" marB="36576" anchor="ctr">
                    <a:solidFill>
                      <a:srgbClr val="FFFFFF"/>
                    </a:solidFill>
                  </a:tcPr>
                </a:tc>
                <a:tc>
                  <a:txBody>
                    <a:bodyPr/>
                    <a:lstStyle/>
                    <a:p>
                      <a:r>
                        <a:rPr sz="1050" b="0" i="0">
                          <a:solidFill>
                            <a:srgbClr val="33413D"/>
                          </a:solidFill>
                          <a:latin typeface="Aptos"/>
                        </a:rPr>
                        <a:t>Active creation of new payments/entries in the system.</a:t>
                      </a:r>
                    </a:p>
                  </a:txBody>
                  <a:tcPr marL="73152" marR="73152" marT="36576" marB="36576" anchor="ctr">
                    <a:solidFill>
                      <a:srgbClr val="FFFFFF"/>
                    </a:solidFill>
                  </a:tcPr>
                </a:tc>
                <a:tc>
                  <a:txBody>
                    <a:bodyPr/>
                    <a:lstStyle/>
                    <a:p>
                      <a:pPr algn="ctr"/>
                      <a:r>
                        <a:rPr sz="1000" b="1" i="0">
                          <a:solidFill>
                            <a:srgbClr val="4B5652"/>
                          </a:solidFill>
                          <a:latin typeface="Aptos"/>
                        </a:rPr>
                        <a:t>In preparation</a:t>
                      </a:r>
                    </a:p>
                  </a:txBody>
                  <a:tcPr marL="73152" marR="73152" marT="36576" marB="36576" anchor="ctr">
                    <a:solidFill>
                      <a:srgbClr val="EAECEB"/>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14</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Service, Tasks &amp; Field Service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Function</a:t>
                      </a: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Service Catalogue</a:t>
                      </a:r>
                    </a:p>
                  </a:txBody>
                  <a:tcPr marL="73152" marR="73152" marT="36576" marB="36576" anchor="ctr">
                    <a:solidFill>
                      <a:srgbClr val="FFFFFF"/>
                    </a:solidFill>
                  </a:tcPr>
                </a:tc>
                <a:tc>
                  <a:txBody>
                    <a:bodyPr/>
                    <a:lstStyle/>
                    <a:p>
                      <a:r>
                        <a:rPr sz="1050" b="0" i="0">
                          <a:solidFill>
                            <a:srgbClr val="33413D"/>
                          </a:solidFill>
                          <a:latin typeface="Aptos"/>
                        </a:rPr>
                        <a:t>Services with prices, turnaround times (SLA), payment terms and the team responsible.</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Service Tickets &amp; SLA</a:t>
                      </a:r>
                    </a:p>
                  </a:txBody>
                  <a:tcPr marL="73152" marR="73152" marT="36576" marB="36576" anchor="ctr">
                    <a:solidFill>
                      <a:srgbClr val="F1F5F4"/>
                    </a:solidFill>
                  </a:tcPr>
                </a:tc>
                <a:tc>
                  <a:txBody>
                    <a:bodyPr/>
                    <a:lstStyle/>
                    <a:p>
                      <a:r>
                        <a:rPr sz="1050" b="0" i="0">
                          <a:solidFill>
                            <a:srgbClr val="33413D"/>
                          </a:solidFill>
                          <a:latin typeface="Aptos"/>
                        </a:rPr>
                        <a:t>Ticket overview by priority, status, SLA and person responsible; new tickets created via the approval queue.</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Field/Task Board</a:t>
                      </a:r>
                    </a:p>
                  </a:txBody>
                  <a:tcPr marL="73152" marR="73152" marT="36576" marB="36576" anchor="ctr">
                    <a:solidFill>
                      <a:srgbClr val="FFFFFF"/>
                    </a:solidFill>
                  </a:tcPr>
                </a:tc>
                <a:tc>
                  <a:txBody>
                    <a:bodyPr/>
                    <a:lstStyle/>
                    <a:p>
                      <a:r>
                        <a:rPr sz="1050" b="0" i="0">
                          <a:solidFill>
                            <a:srgbClr val="33413D"/>
                          </a:solidFill>
                          <a:latin typeface="Aptos"/>
                        </a:rPr>
                        <a:t>Field service tasks with time slots, checklists and completion status.</a:t>
                      </a:r>
                    </a:p>
                  </a:txBody>
                  <a:tcPr marL="73152" marR="73152" marT="36576" marB="36576" anchor="ctr">
                    <a:solidFill>
                      <a:srgbClr val="FFFFFF"/>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Photo/video evidence</a:t>
                      </a:r>
                    </a:p>
                  </a:txBody>
                  <a:tcPr marL="73152" marR="73152" marT="36576" marB="36576" anchor="ctr">
                    <a:solidFill>
                      <a:srgbClr val="F1F5F4"/>
                    </a:solidFill>
                  </a:tcPr>
                </a:tc>
                <a:tc>
                  <a:txBody>
                    <a:bodyPr/>
                    <a:lstStyle/>
                    <a:p>
                      <a:r>
                        <a:rPr sz="1050" b="0" i="0">
                          <a:solidFill>
                            <a:srgbClr val="33413D"/>
                          </a:solidFill>
                          <a:latin typeface="Aptos"/>
                        </a:rPr>
                        <a:t>Uploading photo/video evidence for service orders by field staff.</a:t>
                      </a:r>
                    </a:p>
                  </a:txBody>
                  <a:tcPr marL="73152" marR="73152" marT="36576" marB="36576" anchor="ctr">
                    <a:solidFill>
                      <a:srgbClr val="F1F5F4"/>
                    </a:solidFill>
                  </a:tcPr>
                </a:tc>
                <a:tc>
                  <a:txBody>
                    <a:bodyPr/>
                    <a:lstStyle/>
                    <a:p>
                      <a:pPr algn="ctr"/>
                      <a:r>
                        <a:rPr sz="1000" b="1" i="0">
                          <a:solidFill>
                            <a:srgbClr val="4B5652"/>
                          </a:solidFill>
                          <a:latin typeface="Aptos"/>
                        </a:rPr>
                        <a:t>In preparation</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15</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Booking &amp; Rental</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463040"/>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Function</a:t>
                      </a: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Occupancy &amp; Booking Overview</a:t>
                      </a:r>
                    </a:p>
                  </a:txBody>
                  <a:tcPr marL="73152" marR="73152" marT="36576" marB="36576" anchor="ctr">
                    <a:solidFill>
                      <a:srgbClr val="FFFFFF"/>
                    </a:solidFill>
                  </a:tcPr>
                </a:tc>
                <a:tc>
                  <a:txBody>
                    <a:bodyPr/>
                    <a:lstStyle/>
                    <a:p>
                      <a:r>
                        <a:rPr sz="1050" b="0" i="0">
                          <a:solidFill>
                            <a:srgbClr val="33413D"/>
                          </a:solidFill>
                          <a:latin typeface="Aptos"/>
                        </a:rPr>
                        <a:t>Bookings showing check-in/check-out, deposit, access and cleaning status in a single overview.</a:t>
                      </a:r>
                    </a:p>
                  </a:txBody>
                  <a:tcPr marL="73152" marR="73152" marT="36576" marB="36576" anchor="ctr">
                    <a:solidFill>
                      <a:srgbClr val="FFFFFF"/>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Move-in Preparation &amp; Handover</a:t>
                      </a:r>
                    </a:p>
                  </a:txBody>
                  <a:tcPr marL="73152" marR="73152" marT="36576" marB="36576" anchor="ctr">
                    <a:solidFill>
                      <a:srgbClr val="F1F5F4"/>
                    </a:solidFill>
                  </a:tcPr>
                </a:tc>
                <a:tc>
                  <a:txBody>
                    <a:bodyPr/>
                    <a:lstStyle/>
                    <a:p>
                      <a:r>
                        <a:rPr sz="1050" b="0" i="0">
                          <a:solidFill>
                            <a:srgbClr val="33413D"/>
                          </a:solidFill>
                          <a:latin typeface="Aptos"/>
                        </a:rPr>
                        <a:t>Readiness dashboard (identity, payment, cleaning, access, welcome) and check-out/handover tasks.</a:t>
                      </a:r>
                    </a:p>
                  </a:txBody>
                  <a:tcPr marL="73152" marR="73152" marT="36576" marB="36576" anchor="ctr">
                    <a:solidFill>
                      <a:srgbClr val="F1F5F4"/>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Create a new booking</a:t>
                      </a:r>
                    </a:p>
                  </a:txBody>
                  <a:tcPr marL="73152" marR="73152" marT="36576" marB="36576" anchor="ctr">
                    <a:solidFill>
                      <a:srgbClr val="FFFFFF"/>
                    </a:solidFill>
                  </a:tcPr>
                </a:tc>
                <a:tc>
                  <a:txBody>
                    <a:bodyPr/>
                    <a:lstStyle/>
                    <a:p>
                      <a:r>
                        <a:rPr sz="1050" b="0" i="0">
                          <a:solidFill>
                            <a:srgbClr val="33413D"/>
                          </a:solidFill>
                          <a:latin typeface="Aptos"/>
                        </a:rPr>
                        <a:t>Creating a new booking in the system.</a:t>
                      </a:r>
                    </a:p>
                  </a:txBody>
                  <a:tcPr marL="73152" marR="73152" marT="36576" marB="36576" anchor="ctr">
                    <a:solidFill>
                      <a:srgbClr val="FFFFFF"/>
                    </a:solidFill>
                  </a:tcPr>
                </a:tc>
                <a:tc>
                  <a:txBody>
                    <a:bodyPr/>
                    <a:lstStyle/>
                    <a:p>
                      <a:pPr algn="ctr"/>
                      <a:r>
                        <a:rPr sz="1000" b="1" i="0">
                          <a:solidFill>
                            <a:srgbClr val="4B5652"/>
                          </a:solidFill>
                          <a:latin typeface="Aptos"/>
                        </a:rPr>
                        <a:t>In preparation</a:t>
                      </a:r>
                    </a:p>
                  </a:txBody>
                  <a:tcPr marL="73152" marR="73152" marT="36576" marB="36576" anchor="ctr">
                    <a:solidFill>
                      <a:srgbClr val="EAECEB"/>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16</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Communication &amp; Documents</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Function</a:t>
                      </a: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Message Inbox</a:t>
                      </a:r>
                    </a:p>
                  </a:txBody>
                  <a:tcPr marL="73152" marR="73152" marT="36576" marB="36576" anchor="ctr">
                    <a:solidFill>
                      <a:srgbClr val="FFFFFF"/>
                    </a:solidFill>
                  </a:tcPr>
                </a:tc>
                <a:tc>
                  <a:txBody>
                    <a:bodyPr/>
                    <a:lstStyle/>
                    <a:p>
                      <a:r>
                        <a:rPr sz="1050" b="0" i="0">
                          <a:solidFill>
                            <a:srgbClr val="33413D"/>
                          </a:solidFill>
                          <a:latin typeface="Aptos"/>
                        </a:rPr>
                        <a:t>Role-based overview of conversations across all channels (WhatsApp, portal, email, SMS), with a template library in four languages.</a:t>
                      </a:r>
                    </a:p>
                  </a:txBody>
                  <a:tcPr marL="73152" marR="73152" marT="36576" marB="36576" anchor="ctr">
                    <a:solidFill>
                      <a:srgbClr val="FFFFFF"/>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Document vault</a:t>
                      </a:r>
                    </a:p>
                  </a:txBody>
                  <a:tcPr marL="73152" marR="73152" marT="36576" marB="36576" anchor="ctr">
                    <a:solidFill>
                      <a:srgbClr val="F1F5F4"/>
                    </a:solidFill>
                  </a:tcPr>
                </a:tc>
                <a:tc>
                  <a:txBody>
                    <a:bodyPr/>
                    <a:lstStyle/>
                    <a:p>
                      <a:r>
                        <a:rPr sz="1050" b="0" i="0">
                          <a:solidFill>
                            <a:srgbClr val="33413D"/>
                          </a:solidFill>
                          <a:latin typeface="Aptos"/>
                        </a:rPr>
                        <a:t>Documents organised by unit/person/category, with status, retention policy and access control (including TAPU, KYC, contracts).</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Secure document upload</a:t>
                      </a:r>
                    </a:p>
                  </a:txBody>
                  <a:tcPr marL="73152" marR="73152" marT="36576" marB="36576" anchor="ctr">
                    <a:solidFill>
                      <a:srgbClr val="FFFFFF"/>
                    </a:solidFill>
                  </a:tcPr>
                </a:tc>
                <a:tc>
                  <a:txBody>
                    <a:bodyPr/>
                    <a:lstStyle/>
                    <a:p>
                      <a:r>
                        <a:rPr sz="1050" b="0" i="0">
                          <a:solidFill>
                            <a:srgbClr val="33413D"/>
                          </a:solidFill>
                          <a:latin typeface="Aptos"/>
                        </a:rPr>
                        <a:t>Upload with type/size validation and checksum; production storage can be activated upon approval.</a:t>
                      </a:r>
                    </a:p>
                  </a:txBody>
                  <a:tcPr marL="73152" marR="73152" marT="36576" marB="36576" anchor="ctr">
                    <a:solidFill>
                      <a:srgbClr val="FFFFFF"/>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Live dispatch (SMS/email/push)</a:t>
                      </a:r>
                    </a:p>
                  </a:txBody>
                  <a:tcPr marL="73152" marR="73152" marT="36576" marB="36576" anchor="ctr">
                    <a:solidFill>
                      <a:srgbClr val="F1F5F4"/>
                    </a:solidFill>
                  </a:tcPr>
                </a:tc>
                <a:tc>
                  <a:txBody>
                    <a:bodyPr/>
                    <a:lstStyle/>
                    <a:p>
                      <a:r>
                        <a:rPr sz="1050" b="0" i="0">
                          <a:solidFill>
                            <a:srgbClr val="33413D"/>
                          </a:solidFill>
                          <a:latin typeface="Aptos"/>
                        </a:rPr>
                        <a:t>Actual message delivery via external providers.</a:t>
                      </a:r>
                    </a:p>
                  </a:txBody>
                  <a:tcPr marL="73152" marR="73152" marT="36576" marB="36576" anchor="ctr">
                    <a:solidFill>
                      <a:srgbClr val="F1F5F4"/>
                    </a:solidFill>
                  </a:tcPr>
                </a:tc>
                <a:tc>
                  <a:txBody>
                    <a:bodyPr/>
                    <a:lstStyle/>
                    <a:p>
                      <a:pPr algn="ctr"/>
                      <a:r>
                        <a:rPr sz="1000" b="1" i="0">
                          <a:solidFill>
                            <a:srgbClr val="4B5652"/>
                          </a:solidFill>
                          <a:latin typeface="Aptos"/>
                        </a:rPr>
                        <a:t>In preparation</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17</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Reports, Dashboard &amp; Compliance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49047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Function</a:t>
                      </a: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Live Dashboard</a:t>
                      </a:r>
                    </a:p>
                  </a:txBody>
                  <a:tcPr marL="73152" marR="73152" marT="36576" marB="36576" anchor="ctr">
                    <a:solidFill>
                      <a:srgbClr val="FFFFFF"/>
                    </a:solidFill>
                  </a:tcPr>
                </a:tc>
                <a:tc>
                  <a:txBody>
                    <a:bodyPr/>
                    <a:lstStyle/>
                    <a:p>
                      <a:r>
                        <a:rPr sz="1050" b="0" i="0">
                          <a:solidFill>
                            <a:srgbClr val="33413D"/>
                          </a:solidFill>
                          <a:latin typeface="Aptos"/>
                        </a:rPr>
                        <a:t>Key figures on units, outstanding debts, tickets and bookings, updated automatically (for management/administrators).</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Report Centre</a:t>
                      </a:r>
                    </a:p>
                  </a:txBody>
                  <a:tcPr marL="73152" marR="73152" marT="36576" marB="36576" anchor="ctr">
                    <a:solidFill>
                      <a:srgbClr val="F1F5F4"/>
                    </a:solidFill>
                  </a:tcPr>
                </a:tc>
                <a:tc>
                  <a:txBody>
                    <a:bodyPr/>
                    <a:lstStyle/>
                    <a:p>
                      <a:r>
                        <a:rPr sz="1050" b="0" i="0">
                          <a:solidFill>
                            <a:srgbClr val="33413D"/>
                          </a:solidFill>
                          <a:latin typeface="Aptos"/>
                        </a:rPr>
                        <a:t>Management, financial, service and access reports with charts and export options.</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Access &amp; Compliance</a:t>
                      </a:r>
                    </a:p>
                  </a:txBody>
                  <a:tcPr marL="73152" marR="73152" marT="36576" marB="36576" anchor="ctr">
                    <a:solidFill>
                      <a:srgbClr val="FFFFFF"/>
                    </a:solidFill>
                  </a:tcPr>
                </a:tc>
                <a:tc>
                  <a:txBody>
                    <a:bodyPr/>
                    <a:lstStyle/>
                    <a:p>
                      <a:r>
                        <a:rPr sz="1050" b="0" i="0">
                          <a:solidFill>
                            <a:srgbClr val="33413D"/>
                          </a:solidFill>
                          <a:latin typeface="Aptos"/>
                        </a:rPr>
                        <a:t>Overview of restricted units, access zones and preliminary buyer eligibility checks for sales.</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18</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New Level Premium </a:t>
            </a:r>
            <a:r>
              <a:rPr lang="de-DE" sz="2700" b="1" i="0" dirty="0">
                <a:solidFill>
                  <a:srgbClr val="044F49"/>
                </a:solidFill>
                <a:latin typeface="Aptos"/>
              </a:rPr>
              <a:t>– </a:t>
            </a:r>
            <a:r>
              <a:rPr sz="2700" b="1" i="0" dirty="0" err="1">
                <a:solidFill>
                  <a:srgbClr val="044F49"/>
                </a:solidFill>
                <a:latin typeface="Aptos"/>
              </a:rPr>
              <a:t>public area</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222199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Function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Public landing page</a:t>
                      </a:r>
                    </a:p>
                  </a:txBody>
                  <a:tcPr marL="73152" marR="73152" marT="36576" marB="36576" anchor="ctr">
                    <a:solidFill>
                      <a:srgbClr val="FFFFFF"/>
                    </a:solidFill>
                  </a:tcPr>
                </a:tc>
                <a:tc>
                  <a:txBody>
                    <a:bodyPr/>
                    <a:lstStyle/>
                    <a:p>
                      <a:r>
                        <a:rPr sz="1050" b="0" i="0">
                          <a:solidFill>
                            <a:srgbClr val="33413D"/>
                          </a:solidFill>
                          <a:latin typeface="Aptos"/>
                        </a:rPr>
                        <a:t>Multilingual project site, built using tried-and-tested marketing methods, which guides prospective customers through the registration process.</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Account-free registration</a:t>
                      </a:r>
                    </a:p>
                  </a:txBody>
                  <a:tcPr marL="73152" marR="73152" marT="36576" marB="36576" anchor="ctr">
                    <a:solidFill>
                      <a:srgbClr val="F1F5F4"/>
                    </a:solidFill>
                  </a:tcPr>
                </a:tc>
                <a:tc>
                  <a:txBody>
                    <a:bodyPr/>
                    <a:lstStyle/>
                    <a:p>
                      <a:r>
                        <a:rPr sz="1050" b="0" i="0">
                          <a:solidFill>
                            <a:srgbClr val="33413D"/>
                          </a:solidFill>
                          <a:latin typeface="Aptos"/>
                        </a:rPr>
                        <a:t>Apply as an owner, tenant or employee without an account; internal roles are securely excluded.</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Public reporting channel</a:t>
                      </a:r>
                    </a:p>
                  </a:txBody>
                  <a:tcPr marL="73152" marR="73152" marT="36576" marB="36576" anchor="ctr">
                    <a:solidFill>
                      <a:srgbClr val="FFFFFF"/>
                    </a:solidFill>
                  </a:tcPr>
                </a:tc>
                <a:tc>
                  <a:txBody>
                    <a:bodyPr/>
                    <a:lstStyle/>
                    <a:p>
                      <a:r>
                        <a:rPr sz="1050" b="0" i="0" dirty="0">
                          <a:solidFill>
                            <a:srgbClr val="33413D"/>
                          </a:solidFill>
                          <a:latin typeface="Aptos"/>
                        </a:rPr>
                        <a:t>Anyone </a:t>
                      </a:r>
                      <a:r>
                        <a:rPr sz="1050" b="0" i="0" dirty="0" err="1">
                          <a:solidFill>
                            <a:srgbClr val="33413D"/>
                          </a:solidFill>
                          <a:latin typeface="Aptos"/>
                        </a:rPr>
                        <a:t>can report an issue without an account </a:t>
                      </a:r>
                      <a:r>
                        <a:rPr lang="de-DE" sz="1050" b="0" i="0" dirty="0">
                          <a:solidFill>
                            <a:srgbClr val="33413D"/>
                          </a:solidFill>
                          <a:latin typeface="Aptos"/>
                        </a:rPr>
                        <a:t>– </a:t>
                      </a:r>
                      <a:r>
                        <a:rPr sz="1050" b="0" i="0" dirty="0" err="1">
                          <a:solidFill>
                            <a:srgbClr val="33413D"/>
                          </a:solidFill>
                          <a:latin typeface="Aptos"/>
                        </a:rPr>
                        <a:t>for submission only</a:t>
                      </a:r>
                      <a:r>
                        <a:rPr sz="1050" b="0" i="0" dirty="0">
                          <a:solidFill>
                            <a:srgbClr val="33413D"/>
                          </a:solidFill>
                          <a:latin typeface="Aptos"/>
                        </a:rPr>
                        <a:t>; </a:t>
                      </a:r>
                      <a:r>
                        <a:rPr sz="1050" b="0" i="0" dirty="0" err="1">
                          <a:solidFill>
                            <a:srgbClr val="33413D"/>
                          </a:solidFill>
                          <a:latin typeface="Aptos"/>
                        </a:rPr>
                        <a:t>no internal data is returned</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On-site QR poster</a:t>
                      </a:r>
                    </a:p>
                  </a:txBody>
                  <a:tcPr marL="73152" marR="73152" marT="36576" marB="36576" anchor="ctr">
                    <a:solidFill>
                      <a:srgbClr val="F1F5F4"/>
                    </a:solidFill>
                  </a:tcPr>
                </a:tc>
                <a:tc>
                  <a:txBody>
                    <a:bodyPr/>
                    <a:lstStyle/>
                    <a:p>
                      <a:r>
                        <a:rPr sz="1050" b="0" i="0">
                          <a:solidFill>
                            <a:srgbClr val="33413D"/>
                          </a:solidFill>
                          <a:latin typeface="Aptos"/>
                        </a:rPr>
                        <a:t>Print-ready poster with a QR code that links directly to the reporting form.</a:t>
                      </a:r>
                    </a:p>
                  </a:txBody>
                  <a:tcPr marL="73152" marR="73152" marT="36576" marB="36576" anchor="ctr">
                    <a:solidFill>
                      <a:srgbClr val="F1F5F4"/>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4"/>
                  </a:ext>
                </a:extLst>
              </a:tr>
              <a:tr h="365760">
                <a:tc>
                  <a:txBody>
                    <a:bodyPr/>
                    <a:lstStyle/>
                    <a:p>
                      <a:r>
                        <a:rPr sz="1050" b="1" i="0">
                          <a:solidFill>
                            <a:srgbClr val="101820"/>
                          </a:solidFill>
                          <a:latin typeface="Aptos"/>
                        </a:rPr>
                        <a:t>Tenant time-limited access</a:t>
                      </a:r>
                    </a:p>
                  </a:txBody>
                  <a:tcPr marL="73152" marR="73152" marT="36576" marB="36576" anchor="ctr">
                    <a:solidFill>
                      <a:srgbClr val="FFFFFF"/>
                    </a:solidFill>
                  </a:tcPr>
                </a:tc>
                <a:tc>
                  <a:txBody>
                    <a:bodyPr/>
                    <a:lstStyle/>
                    <a:p>
                      <a:r>
                        <a:rPr sz="1050" b="0" i="0">
                          <a:solidFill>
                            <a:srgbClr val="33413D"/>
                          </a:solidFill>
                          <a:latin typeface="Aptos"/>
                        </a:rPr>
                        <a:t>Landlord-sponsored, time-limited access invitations for tenants with defined access rights.</a:t>
                      </a:r>
                    </a:p>
                  </a:txBody>
                  <a:tcPr marL="73152" marR="73152" marT="36576" marB="36576" anchor="ctr">
                    <a:solidFill>
                      <a:srgbClr val="FFFFFF"/>
                    </a:solidFill>
                  </a:tcPr>
                </a:tc>
                <a:tc>
                  <a:txBody>
                    <a:bodyPr/>
                    <a:lstStyle/>
                    <a:p>
                      <a:pPr algn="ctr"/>
                      <a:r>
                        <a:rPr sz="1000" b="1" i="0">
                          <a:solidFill>
                            <a:srgbClr val="7A5410"/>
                          </a:solidFill>
                          <a:latin typeface="Aptos"/>
                        </a:rPr>
                        <a:t>Partially</a:t>
                      </a:r>
                    </a:p>
                  </a:txBody>
                  <a:tcPr marL="73152" marR="73152" marT="36576" marB="36576" anchor="ctr">
                    <a:solidFill>
                      <a:srgbClr val="F4EBDD"/>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19</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SCOPE OF FUNCTIONS</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AI Assistants</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54533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Function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Internal Operational Assistant</a:t>
                      </a:r>
                    </a:p>
                  </a:txBody>
                  <a:tcPr marL="73152" marR="73152" marT="36576" marB="36576" anchor="ctr">
                    <a:solidFill>
                      <a:srgbClr val="FFFFFF"/>
                    </a:solidFill>
                  </a:tcPr>
                </a:tc>
                <a:tc>
                  <a:txBody>
                    <a:bodyPr/>
                    <a:lstStyle/>
                    <a:p>
                      <a:r>
                        <a:rPr sz="1050" b="0" i="0" dirty="0" err="1">
                          <a:solidFill>
                            <a:srgbClr val="33413D"/>
                          </a:solidFill>
                          <a:latin typeface="Aptos"/>
                        </a:rPr>
                        <a:t>Role-based assistant in </a:t>
                      </a:r>
                      <a:r>
                        <a:rPr sz="1050" b="0" i="0" dirty="0">
                          <a:solidFill>
                            <a:srgbClr val="33413D"/>
                          </a:solidFill>
                          <a:latin typeface="Aptos"/>
                        </a:rPr>
                        <a:t>the portal for </a:t>
                      </a:r>
                      <a:r>
                        <a:rPr sz="1050" b="0" i="0" dirty="0" err="1">
                          <a:solidFill>
                            <a:srgbClr val="33413D"/>
                          </a:solidFill>
                          <a:latin typeface="Aptos"/>
                        </a:rPr>
                        <a:t>summaries</a:t>
                      </a:r>
                      <a:r>
                        <a:rPr sz="1050" b="0" i="0" dirty="0">
                          <a:solidFill>
                            <a:srgbClr val="33413D"/>
                          </a:solidFill>
                          <a:latin typeface="Aptos"/>
                        </a:rPr>
                        <a:t>, </a:t>
                      </a:r>
                      <a:r>
                        <a:rPr sz="1050" b="0" i="0" dirty="0" err="1">
                          <a:solidFill>
                            <a:srgbClr val="33413D"/>
                          </a:solidFill>
                          <a:latin typeface="Aptos"/>
                        </a:rPr>
                        <a:t>priorities </a:t>
                      </a:r>
                      <a:r>
                        <a:rPr sz="1050" b="0" i="0" dirty="0">
                          <a:solidFill>
                            <a:srgbClr val="33413D"/>
                          </a:solidFill>
                          <a:latin typeface="Aptos"/>
                        </a:rPr>
                        <a:t>and </a:t>
                      </a:r>
                      <a:r>
                        <a:rPr sz="1050" b="0" i="0" dirty="0" err="1">
                          <a:solidFill>
                            <a:srgbClr val="33413D"/>
                          </a:solidFill>
                          <a:latin typeface="Aptos"/>
                        </a:rPr>
                        <a:t>draft texts </a:t>
                      </a:r>
                      <a:r>
                        <a:rPr lang="de-DE" sz="1050" b="0" i="0" dirty="0">
                          <a:solidFill>
                            <a:srgbClr val="33413D"/>
                          </a:solidFill>
                          <a:latin typeface="Aptos"/>
                        </a:rPr>
                        <a:t>– </a:t>
                      </a:r>
                      <a:r>
                        <a:rPr sz="1050" b="0" i="0" dirty="0" err="1">
                          <a:solidFill>
                            <a:srgbClr val="33413D"/>
                          </a:solidFill>
                          <a:latin typeface="Aptos"/>
                        </a:rPr>
                        <a:t>never carries out </a:t>
                      </a:r>
                      <a:r>
                        <a:rPr sz="1050" b="0" i="0" dirty="0">
                          <a:solidFill>
                            <a:srgbClr val="33413D"/>
                          </a:solidFill>
                          <a:latin typeface="Aptos"/>
                        </a:rPr>
                        <a:t>sensitive </a:t>
                      </a:r>
                      <a:r>
                        <a:rPr sz="1050" b="0" i="0" dirty="0" err="1">
                          <a:solidFill>
                            <a:srgbClr val="33413D"/>
                          </a:solidFill>
                          <a:latin typeface="Aptos"/>
                        </a:rPr>
                        <a:t>actions on its own initiative.</a:t>
                      </a:r>
                      <a:endParaRPr sz="1050" b="0" i="0" dirty="0">
                        <a:solidFill>
                          <a:srgbClr val="33413D"/>
                        </a:solidFill>
                        <a:latin typeface="Aptos"/>
                      </a:endParaRP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Public Concierge</a:t>
                      </a:r>
                    </a:p>
                  </a:txBody>
                  <a:tcPr marL="73152" marR="73152" marT="36576" marB="36576" anchor="ctr">
                    <a:solidFill>
                      <a:srgbClr val="F1F5F4"/>
                    </a:solidFill>
                  </a:tcPr>
                </a:tc>
                <a:tc>
                  <a:txBody>
                    <a:bodyPr/>
                    <a:lstStyle/>
                    <a:p>
                      <a:r>
                        <a:rPr sz="1050" b="0" i="0">
                          <a:solidFill>
                            <a:srgbClr val="33413D"/>
                          </a:solidFill>
                          <a:latin typeface="Aptos"/>
                        </a:rPr>
                        <a:t>Assistant on the landing page who guides prospective users and directs them to registration; deliberately has no access to internal data.</a:t>
                      </a:r>
                    </a:p>
                  </a:txBody>
                  <a:tcPr marL="73152" marR="73152" marT="36576" marB="36576" anchor="ctr">
                    <a:solidFill>
                      <a:srgbClr val="F1F5F4"/>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Link between both assistants</a:t>
                      </a:r>
                    </a:p>
                  </a:txBody>
                  <a:tcPr marL="73152" marR="73152" marT="36576" marB="36576" anchor="ctr">
                    <a:solidFill>
                      <a:srgbClr val="FFFFFF"/>
                    </a:solidFill>
                  </a:tcPr>
                </a:tc>
                <a:tc>
                  <a:txBody>
                    <a:bodyPr/>
                    <a:lstStyle/>
                    <a:p>
                      <a:r>
                        <a:rPr sz="1050" b="0" i="0">
                          <a:solidFill>
                            <a:srgbClr val="33413D"/>
                          </a:solidFill>
                          <a:latin typeface="Aptos"/>
                        </a:rPr>
                        <a:t>The public concierge feeds anonymised topics from prospective customers’ enquiries back into the internal system.</a:t>
                      </a:r>
                    </a:p>
                  </a:txBody>
                  <a:tcPr marL="73152" marR="73152" marT="36576" marB="36576" anchor="ctr">
                    <a:solidFill>
                      <a:srgbClr val="FFFFFF"/>
                    </a:solidFill>
                  </a:tcPr>
                </a:tc>
                <a:tc>
                  <a:txBody>
                    <a:bodyPr/>
                    <a:lstStyle/>
                    <a:p>
                      <a:pPr algn="ctr"/>
                      <a:r>
                        <a:rPr sz="1000" b="1" i="0">
                          <a:solidFill>
                            <a:srgbClr val="044F49"/>
                          </a:solidFill>
                          <a:latin typeface="Aptos"/>
                        </a:rPr>
                        <a:t>Available</a:t>
                      </a:r>
                    </a:p>
                  </a:txBody>
                  <a:tcPr marL="73152" marR="73152" marT="36576" marB="36576" anchor="ctr">
                    <a:solidFill>
                      <a:srgbClr val="DAE9E8"/>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20</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06 · FUNCTIONALITY</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Platform Basics</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Function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Description</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Multilingual support</a:t>
                      </a:r>
                    </a:p>
                  </a:txBody>
                  <a:tcPr marL="73152" marR="73152" marT="36576" marB="36576" anchor="ctr">
                    <a:solidFill>
                      <a:srgbClr val="FFFFFF"/>
                    </a:solidFill>
                  </a:tcPr>
                </a:tc>
                <a:tc>
                  <a:txBody>
                    <a:bodyPr/>
                    <a:lstStyle/>
                    <a:p>
                      <a:r>
                        <a:rPr sz="1050" b="0" i="0" dirty="0" err="1">
                          <a:solidFill>
                            <a:srgbClr val="33413D"/>
                          </a:solidFill>
                          <a:latin typeface="Aptos"/>
                        </a:rPr>
                        <a:t>Fully </a:t>
                      </a:r>
                      <a:r>
                        <a:rPr sz="1050" b="0" i="0" dirty="0">
                          <a:solidFill>
                            <a:srgbClr val="33413D"/>
                          </a:solidFill>
                          <a:latin typeface="Aptos"/>
                        </a:rPr>
                        <a:t>available in </a:t>
                      </a:r>
                      <a:r>
                        <a:rPr sz="1050" b="0" i="0" dirty="0" err="1">
                          <a:solidFill>
                            <a:srgbClr val="33413D"/>
                          </a:solidFill>
                          <a:latin typeface="Aptos"/>
                        </a:rPr>
                        <a:t>Turkish</a:t>
                      </a:r>
                      <a:r>
                        <a:rPr sz="1050" b="0" i="0" dirty="0">
                          <a:solidFill>
                            <a:srgbClr val="33413D"/>
                          </a:solidFill>
                          <a:latin typeface="Aptos"/>
                        </a:rPr>
                        <a:t>, English, German and </a:t>
                      </a:r>
                      <a:r>
                        <a:rPr sz="1050" b="0" i="0" dirty="0" err="1">
                          <a:solidFill>
                            <a:srgbClr val="33413D"/>
                          </a:solidFill>
                          <a:latin typeface="Aptos"/>
                        </a:rPr>
                        <a:t>Russian </a:t>
                      </a:r>
                      <a:r>
                        <a:rPr lang="de-DE" sz="1050" b="0" i="0" dirty="0">
                          <a:solidFill>
                            <a:srgbClr val="33413D"/>
                          </a:solidFill>
                          <a:latin typeface="Aptos"/>
                        </a:rPr>
                        <a:t>– </a:t>
                      </a:r>
                      <a:r>
                        <a:rPr sz="1050" b="0" i="0" dirty="0" err="1">
                          <a:solidFill>
                            <a:srgbClr val="33413D"/>
                          </a:solidFill>
                          <a:latin typeface="Aptos"/>
                        </a:rPr>
                        <a:t>both </a:t>
                      </a:r>
                      <a:r>
                        <a:rPr sz="1050" b="0" i="0" dirty="0">
                          <a:solidFill>
                            <a:srgbClr val="33413D"/>
                          </a:solidFill>
                          <a:latin typeface="Aptos"/>
                        </a:rPr>
                        <a:t>in terms of</a:t>
                      </a:r>
                      <a:r>
                        <a:rPr sz="1050" b="0" i="0" dirty="0" err="1">
                          <a:solidFill>
                            <a:srgbClr val="33413D"/>
                          </a:solidFill>
                          <a:latin typeface="Aptos"/>
                        </a:rPr>
                        <a:t> content and </a:t>
                      </a:r>
                      <a:r>
                        <a:rPr sz="1050" b="0" i="0" dirty="0">
                          <a:solidFill>
                            <a:srgbClr val="33413D"/>
                          </a:solidFill>
                          <a:latin typeface="Aptos"/>
                        </a:rPr>
                        <a:t>the </a:t>
                      </a:r>
                      <a:r>
                        <a:rPr sz="1050" b="0" i="0" dirty="0" err="1">
                          <a:solidFill>
                            <a:srgbClr val="33413D"/>
                          </a:solidFill>
                          <a:latin typeface="Aptos"/>
                        </a:rPr>
                        <a:t>user interface</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Installable web app (PWA)</a:t>
                      </a:r>
                    </a:p>
                  </a:txBody>
                  <a:tcPr marL="73152" marR="73152" marT="36576" marB="36576" anchor="ctr">
                    <a:solidFill>
                      <a:srgbClr val="F1F5F4"/>
                    </a:solidFill>
                  </a:tcPr>
                </a:tc>
                <a:tc>
                  <a:txBody>
                    <a:bodyPr/>
                    <a:lstStyle/>
                    <a:p>
                      <a:r>
                        <a:rPr sz="1050" b="0" i="0">
                          <a:solidFill>
                            <a:srgbClr val="33413D"/>
                          </a:solidFill>
                          <a:latin typeface="Aptos"/>
                        </a:rPr>
                        <a:t>Can be installed on any device without an app store; the core functionality works even with a weak connection.</a:t>
                      </a:r>
                    </a:p>
                  </a:txBody>
                  <a:tcPr marL="73152" marR="73152" marT="36576" marB="36576" anchor="ctr">
                    <a:solidFill>
                      <a:srgbClr val="F1F5F4"/>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Light/dark mode &amp; CI design</a:t>
                      </a:r>
                    </a:p>
                  </a:txBody>
                  <a:tcPr marL="73152" marR="73152" marT="36576" marB="36576" anchor="ctr">
                    <a:solidFill>
                      <a:srgbClr val="FFFFFF"/>
                    </a:solidFill>
                  </a:tcPr>
                </a:tc>
                <a:tc>
                  <a:txBody>
                    <a:bodyPr/>
                    <a:lstStyle/>
                    <a:p>
                      <a:r>
                        <a:rPr sz="1050" b="0" i="0">
                          <a:solidFill>
                            <a:srgbClr val="33413D"/>
                          </a:solidFill>
                          <a:latin typeface="Aptos"/>
                        </a:rPr>
                        <a:t>Consistent brand design in your colours, with light/dark mode switching within the portal.</a:t>
                      </a:r>
                    </a:p>
                  </a:txBody>
                  <a:tcPr marL="73152" marR="73152" marT="36576" marB="36576" anchor="ctr">
                    <a:solidFill>
                      <a:srgbClr val="FFFFFF"/>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Offline workspace &amp; push</a:t>
                      </a:r>
                    </a:p>
                  </a:txBody>
                  <a:tcPr marL="73152" marR="73152" marT="36576" marB="36576" anchor="ctr">
                    <a:solidFill>
                      <a:srgbClr val="F1F5F4"/>
                    </a:solidFill>
                  </a:tcPr>
                </a:tc>
                <a:tc>
                  <a:txBody>
                    <a:bodyPr/>
                    <a:lstStyle/>
                    <a:p>
                      <a:r>
                        <a:rPr sz="1050" b="0" i="0">
                          <a:solidFill>
                            <a:srgbClr val="33413D"/>
                          </a:solidFill>
                          <a:latin typeface="Aptos"/>
                        </a:rPr>
                        <a:t>Offline queue for field staff; productive offline synchronisation and push notifications.</a:t>
                      </a:r>
                    </a:p>
                  </a:txBody>
                  <a:tcPr marL="73152" marR="73152" marT="36576" marB="36576" anchor="ctr">
                    <a:solidFill>
                      <a:srgbClr val="F1F5F4"/>
                    </a:solidFill>
                  </a:tcPr>
                </a:tc>
                <a:tc>
                  <a:txBody>
                    <a:bodyPr/>
                    <a:lstStyle/>
                    <a:p>
                      <a:pPr algn="ctr"/>
                      <a:r>
                        <a:rPr sz="1000" b="1" i="0">
                          <a:solidFill>
                            <a:srgbClr val="4B5652"/>
                          </a:solidFill>
                          <a:latin typeface="Aptos"/>
                        </a:rPr>
                        <a:t>In preparation</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21</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07</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Matching your requirements (1/2)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463040"/>
          <a:ext cx="10881360" cy="4023360"/>
        </p:xfrm>
        <a:graphic>
          <a:graphicData uri="http://schemas.openxmlformats.org/drawingml/2006/table">
            <a:tbl>
              <a:tblPr>
                <a:tableStyleId>{5C22544A-7EE6-4342-B048-85BDC9FD1C3A}</a:tableStyleId>
              </a:tblPr>
              <a:tblGrid>
                <a:gridCol w="4352544">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4896612">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Your requirement</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tc>
                  <a:txBody>
                    <a:bodyPr/>
                    <a:lstStyle/>
                    <a:p>
                      <a:r>
                        <a:rPr sz="1050" b="1" i="0">
                          <a:solidFill>
                            <a:srgbClr val="FFFFFF"/>
                          </a:solidFill>
                          <a:latin typeface="Aptos"/>
                        </a:rPr>
                        <a:t>Comment</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950" b="1" i="0">
                          <a:solidFill>
                            <a:srgbClr val="101820"/>
                          </a:solidFill>
                          <a:latin typeface="Aptos"/>
                        </a:rPr>
                        <a:t>Central platform for 769 flats</a:t>
                      </a:r>
                    </a:p>
                  </a:txBody>
                  <a:tcPr marL="73152" marR="73152" marT="36576" marB="36576" anchor="ctr">
                    <a:solidFill>
                      <a:srgbClr val="FFFFFF"/>
                    </a:solidFill>
                  </a:tcPr>
                </a:tc>
                <a:tc>
                  <a:txBody>
                    <a:bodyPr/>
                    <a:lstStyle/>
                    <a:p>
                      <a:pPr algn="ctr"/>
                      <a:r>
                        <a:rPr sz="900" b="1" i="0">
                          <a:solidFill>
                            <a:srgbClr val="044F49"/>
                          </a:solidFill>
                          <a:latin typeface="Aptos"/>
                        </a:rPr>
                        <a:t>Complete</a:t>
                      </a:r>
                    </a:p>
                  </a:txBody>
                  <a:tcPr marL="73152" marR="73152" marT="36576" marB="36576" anchor="ctr">
                    <a:solidFill>
                      <a:srgbClr val="DAE9E8"/>
                    </a:solidFill>
                  </a:tcPr>
                </a:tc>
                <a:tc>
                  <a:txBody>
                    <a:bodyPr/>
                    <a:lstStyle/>
                    <a:p>
                      <a:r>
                        <a:rPr sz="950" b="0" i="0">
                          <a:solidFill>
                            <a:srgbClr val="33413D"/>
                          </a:solidFill>
                          <a:latin typeface="Aptos"/>
                        </a:rPr>
                        <a:t>Implemented using a real-world reference dataset.</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950" b="1" i="0">
                          <a:solidFill>
                            <a:srgbClr val="101820"/>
                          </a:solidFill>
                          <a:latin typeface="Aptos"/>
                        </a:rPr>
                        <a:t>Core: Location → Block → Flat, relationships</a:t>
                      </a:r>
                    </a:p>
                  </a:txBody>
                  <a:tcPr marL="73152" marR="73152" marT="36576" marB="36576" anchor="ctr">
                    <a:solidFill>
                      <a:srgbClr val="F1F5F4"/>
                    </a:solidFill>
                  </a:tcPr>
                </a:tc>
                <a:tc>
                  <a:txBody>
                    <a:bodyPr/>
                    <a:lstStyle/>
                    <a:p>
                      <a:pPr algn="ctr"/>
                      <a:r>
                        <a:rPr sz="900" b="1" i="0">
                          <a:solidFill>
                            <a:srgbClr val="044F49"/>
                          </a:solidFill>
                          <a:latin typeface="Aptos"/>
                        </a:rPr>
                        <a:t>Complete</a:t>
                      </a:r>
                    </a:p>
                  </a:txBody>
                  <a:tcPr marL="73152" marR="73152" marT="36576" marB="36576" anchor="ctr">
                    <a:solidFill>
                      <a:srgbClr val="DAE9E8"/>
                    </a:solidFill>
                  </a:tcPr>
                </a:tc>
                <a:tc>
                  <a:txBody>
                    <a:bodyPr/>
                    <a:lstStyle/>
                    <a:p>
                      <a:r>
                        <a:rPr sz="950" b="0" i="0">
                          <a:solidFill>
                            <a:srgbClr val="33413D"/>
                          </a:solidFill>
                          <a:latin typeface="Aptos"/>
                        </a:rPr>
                        <a:t>Complete data model with access rights and data security.</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950" b="1" i="0">
                          <a:solidFill>
                            <a:srgbClr val="101820"/>
                          </a:solidFill>
                          <a:latin typeface="Aptos"/>
                        </a:rPr>
                        <a:t>Finance module (accounts, balances, billing, debt collection, deposit)</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Accounts &amp; balances complete; active data entry/automatic reconciliation in preparation.</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950" b="1" i="0">
                          <a:solidFill>
                            <a:srgbClr val="101820"/>
                          </a:solidFill>
                          <a:latin typeface="Aptos"/>
                        </a:rPr>
                        <a:t>Operations (tasks, services, staff)</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Tasks &amp; services available; stock management was optional following the MVP.</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950" b="1" i="0">
                          <a:solidFill>
                            <a:srgbClr val="101820"/>
                          </a:solidFill>
                          <a:latin typeface="Aptos"/>
                        </a:rPr>
                        <a:t>User interfaces: Web panel &amp; mobile app</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Web panel fully available; mobile version as an installable web app (PWA) rather than a native app.</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950" b="1" i="0">
                          <a:solidFill>
                            <a:srgbClr val="101820"/>
                          </a:solidFill>
                          <a:latin typeface="Aptos"/>
                        </a:rPr>
                        <a:t>Six user roles with specific permissions</a:t>
                      </a:r>
                    </a:p>
                  </a:txBody>
                  <a:tcPr marL="73152" marR="73152" marT="36576" marB="36576" anchor="ctr">
                    <a:solidFill>
                      <a:srgbClr val="F1F5F4"/>
                    </a:solidFill>
                  </a:tcPr>
                </a:tc>
                <a:tc>
                  <a:txBody>
                    <a:bodyPr/>
                    <a:lstStyle/>
                    <a:p>
                      <a:pPr algn="ctr"/>
                      <a:r>
                        <a:rPr sz="900" b="1" i="0">
                          <a:solidFill>
                            <a:srgbClr val="044F49"/>
                          </a:solidFill>
                          <a:latin typeface="Aptos"/>
                        </a:rPr>
                        <a:t>Fully</a:t>
                      </a:r>
                    </a:p>
                  </a:txBody>
                  <a:tcPr marL="73152" marR="73152" marT="36576" marB="36576" anchor="ctr">
                    <a:solidFill>
                      <a:srgbClr val="DAE9E8"/>
                    </a:solidFill>
                  </a:tcPr>
                </a:tc>
                <a:tc>
                  <a:txBody>
                    <a:bodyPr/>
                    <a:lstStyle/>
                    <a:p>
                      <a:r>
                        <a:rPr sz="950" b="0" i="0">
                          <a:solidFill>
                            <a:srgbClr val="33413D"/>
                          </a:solidFill>
                          <a:latin typeface="Aptos"/>
                        </a:rPr>
                        <a:t>Implemented and with a finer gradation than required.</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950" b="1" i="0">
                          <a:solidFill>
                            <a:srgbClr val="101820"/>
                          </a:solidFill>
                          <a:latin typeface="Aptos"/>
                        </a:rPr>
                        <a:t>Master data: flat, user, account, transaction, service, task, booking, deposit</a:t>
                      </a:r>
                    </a:p>
                  </a:txBody>
                  <a:tcPr marL="73152" marR="73152" marT="36576" marB="36576" anchor="ctr">
                    <a:solidFill>
                      <a:srgbClr val="FFFFFF"/>
                    </a:solidFill>
                  </a:tcPr>
                </a:tc>
                <a:tc>
                  <a:txBody>
                    <a:bodyPr/>
                    <a:lstStyle/>
                    <a:p>
                      <a:pPr algn="ctr"/>
                      <a:r>
                        <a:rPr sz="900" b="1" i="0">
                          <a:solidFill>
                            <a:srgbClr val="044F49"/>
                          </a:solidFill>
                          <a:latin typeface="Aptos"/>
                        </a:rPr>
                        <a:t>Complete</a:t>
                      </a:r>
                    </a:p>
                  </a:txBody>
                  <a:tcPr marL="73152" marR="73152" marT="36576" marB="36576" anchor="ctr">
                    <a:solidFill>
                      <a:srgbClr val="DAE9E8"/>
                    </a:solidFill>
                  </a:tcPr>
                </a:tc>
                <a:tc>
                  <a:txBody>
                    <a:bodyPr/>
                    <a:lstStyle/>
                    <a:p>
                      <a:r>
                        <a:rPr sz="950" b="0" i="0">
                          <a:solidFill>
                            <a:srgbClr val="33413D"/>
                          </a:solidFill>
                          <a:latin typeface="Aptos"/>
                        </a:rPr>
                        <a:t>All data models are in place and visible in the interface.</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r>
                        <a:rPr sz="950" b="1" i="0">
                          <a:solidFill>
                            <a:srgbClr val="101820"/>
                          </a:solidFill>
                          <a:latin typeface="Aptos"/>
                        </a:rPr>
                        <a:t>Financial rules (reject service if in arrears, offset rent, block/refund deposit)</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Detection &amp; recommendation with approval in place; automatic execution in preparation.</a:t>
                      </a:r>
                    </a:p>
                  </a:txBody>
                  <a:tcPr marL="73152" marR="73152" marT="36576" marB="36576" anchor="ctr">
                    <a:solidFill>
                      <a:srgbClr val="F1F5F4"/>
                    </a:solidFill>
                  </a:tcPr>
                </a:tc>
                <a:extLst>
                  <a:ext uri="{0D108BD9-81ED-4DB2-BD59-A6C34878D82A}">
                    <a16:rowId xmlns:a16="http://schemas.microsoft.com/office/drawing/2014/main" val="10008"/>
                  </a:ext>
                </a:extLst>
              </a:tr>
              <a:tr h="365760">
                <a:tc>
                  <a:txBody>
                    <a:bodyPr/>
                    <a:lstStyle/>
                    <a:p>
                      <a:r>
                        <a:rPr sz="950" b="1" i="0">
                          <a:solidFill>
                            <a:srgbClr val="101820"/>
                          </a:solidFill>
                          <a:latin typeface="Aptos"/>
                        </a:rPr>
                        <a:t>Restrictions on debts (blocking transactions/cards/services)</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Recommendation available; actual execution subject to legal approval.</a:t>
                      </a:r>
                    </a:p>
                  </a:txBody>
                  <a:tcPr marL="73152" marR="73152" marT="36576" marB="36576" anchor="ctr">
                    <a:solidFill>
                      <a:srgbClr val="FFFFFF"/>
                    </a:solidFill>
                  </a:tcPr>
                </a:tc>
                <a:extLst>
                  <a:ext uri="{0D108BD9-81ED-4DB2-BD59-A6C34878D82A}">
                    <a16:rowId xmlns:a16="http://schemas.microsoft.com/office/drawing/2014/main" val="10009"/>
                  </a:ext>
                </a:extLst>
              </a:tr>
              <a:tr h="365760">
                <a:tc>
                  <a:txBody>
                    <a:bodyPr/>
                    <a:lstStyle/>
                    <a:p>
                      <a:r>
                        <a:rPr sz="950" b="1" i="0">
                          <a:solidFill>
                            <a:srgbClr val="101820"/>
                          </a:solidFill>
                          <a:latin typeface="Aptos"/>
                        </a:rPr>
                        <a:t>Service management: catalogue &amp; workflow</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Catalogue complete; end-to-end ordering process in preparation.</a:t>
                      </a:r>
                    </a:p>
                  </a:txBody>
                  <a:tcPr marL="73152" marR="73152" marT="36576" marB="36576" anchor="ctr">
                    <a:solidFill>
                      <a:srgbClr val="F1F5F4"/>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22</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07</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Matching your requirements (2/2)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463040"/>
          <a:ext cx="10881360" cy="4023360"/>
        </p:xfrm>
        <a:graphic>
          <a:graphicData uri="http://schemas.openxmlformats.org/drawingml/2006/table">
            <a:tbl>
              <a:tblPr>
                <a:tableStyleId>{5C22544A-7EE6-4342-B048-85BDC9FD1C3A}</a:tableStyleId>
              </a:tblPr>
              <a:tblGrid>
                <a:gridCol w="4352544">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4896612">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Your requirement</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tc>
                  <a:txBody>
                    <a:bodyPr/>
                    <a:lstStyle/>
                    <a:p>
                      <a:r>
                        <a:rPr sz="1050" b="1" i="0">
                          <a:solidFill>
                            <a:srgbClr val="FFFFFF"/>
                          </a:solidFill>
                          <a:latin typeface="Aptos"/>
                        </a:rPr>
                        <a:t>Note</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950" b="1" i="0">
                          <a:solidFill>
                            <a:srgbClr val="101820"/>
                          </a:solidFill>
                          <a:latin typeface="Aptos"/>
                        </a:rPr>
                        <a:t>Task management (creation, assignment, SLA, photo/video report)</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Creation &amp; SLA available; photo/video report in preparation.</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950" b="1" i="0">
                          <a:solidFill>
                            <a:srgbClr val="101820"/>
                          </a:solidFill>
                          <a:latin typeface="Aptos"/>
                        </a:rPr>
                        <a:t>Rental &amp; Booking (Calendar, Create Booking, Payment Monitoring)</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Overview &amp; boards available; create booking in development.</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950" b="1" i="0">
                          <a:solidFill>
                            <a:srgbClr val="101820"/>
                          </a:solidFill>
                          <a:latin typeface="Aptos"/>
                        </a:rPr>
                        <a:t>Communication (chat, team chat, push notifications/email/SMS)</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Full interface &amp; templates; live messaging following provider approval.</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950" b="1" i="0">
                          <a:solidFill>
                            <a:srgbClr val="101820"/>
                          </a:solidFill>
                          <a:latin typeface="Aptos"/>
                        </a:rPr>
                        <a:t>Mobile app (login, credit balance, payment, chat, documents)</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Covered as an installable web app via the browser; push notifications in development.</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950" b="1" i="0">
                          <a:solidFill>
                            <a:srgbClr val="101820"/>
                          </a:solidFill>
                          <a:latin typeface="Aptos"/>
                        </a:rPr>
                        <a:t>Integrations (payment/banking, identity, access, cameras)</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Full provider overview prepared; live connection following provider selection.</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950" b="1" i="0">
                          <a:solidFill>
                            <a:srgbClr val="101820"/>
                          </a:solidFill>
                          <a:latin typeface="Aptos"/>
                        </a:rPr>
                        <a:t>Mandatory scenarios (service order, moving in, moving out, late payment)</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Recognition, authorisation and logging logic in place; implementation in preparation.</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950" b="1" i="0">
                          <a:solidFill>
                            <a:srgbClr val="101820"/>
                          </a:solidFill>
                          <a:latin typeface="Aptos"/>
                        </a:rPr>
                        <a:t>Reporting (finance, debts, services, personnel, cash flow)</a:t>
                      </a:r>
                    </a:p>
                  </a:txBody>
                  <a:tcPr marL="73152" marR="73152" marT="36576" marB="36576" anchor="ctr">
                    <a:solidFill>
                      <a:srgbClr val="FFFFFF"/>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Financial, debt and service reports available; HR report and daily cash flow to be added.</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r>
                        <a:rPr sz="950" b="1" i="0">
                          <a:solidFill>
                            <a:srgbClr val="101820"/>
                          </a:solidFill>
                          <a:latin typeface="Aptos"/>
                        </a:rPr>
                        <a:t>Dashboard (revenue, expenditure, debt, tasks, KPIs)</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Debt, tasks and KPIs are live-ready; revenue and expenditure metrics are under development.</a:t>
                      </a:r>
                    </a:p>
                  </a:txBody>
                  <a:tcPr marL="73152" marR="73152" marT="36576" marB="36576" anchor="ctr">
                    <a:solidFill>
                      <a:srgbClr val="F1F5F4"/>
                    </a:solidFill>
                  </a:tcPr>
                </a:tc>
                <a:extLst>
                  <a:ext uri="{0D108BD9-81ED-4DB2-BD59-A6C34878D82A}">
                    <a16:rowId xmlns:a16="http://schemas.microsoft.com/office/drawing/2014/main" val="10008"/>
                  </a:ext>
                </a:extLst>
              </a:tr>
              <a:tr h="365760">
                <a:tc>
                  <a:txBody>
                    <a:bodyPr/>
                    <a:lstStyle/>
                    <a:p>
                      <a:r>
                        <a:rPr sz="950" b="1" i="0">
                          <a:solidFill>
                            <a:srgbClr val="101820"/>
                          </a:solidFill>
                          <a:latin typeface="Aptos"/>
                        </a:rPr>
                        <a:t>System requirements (API-first, roles, logging, scalability)</a:t>
                      </a:r>
                    </a:p>
                  </a:txBody>
                  <a:tcPr marL="73152" marR="73152" marT="36576" marB="36576" anchor="ctr">
                    <a:solidFill>
                      <a:srgbClr val="FFFFFF"/>
                    </a:solidFill>
                  </a:tcPr>
                </a:tc>
                <a:tc>
                  <a:txBody>
                    <a:bodyPr/>
                    <a:lstStyle/>
                    <a:p>
                      <a:pPr algn="ctr"/>
                      <a:r>
                        <a:rPr sz="900" b="1" i="0">
                          <a:solidFill>
                            <a:srgbClr val="044F49"/>
                          </a:solidFill>
                          <a:latin typeface="Aptos"/>
                        </a:rPr>
                        <a:t>Complete</a:t>
                      </a:r>
                    </a:p>
                  </a:txBody>
                  <a:tcPr marL="73152" marR="73152" marT="36576" marB="36576" anchor="ctr">
                    <a:solidFill>
                      <a:srgbClr val="DAE9E8"/>
                    </a:solidFill>
                  </a:tcPr>
                </a:tc>
                <a:tc>
                  <a:txBody>
                    <a:bodyPr/>
                    <a:lstStyle/>
                    <a:p>
                      <a:r>
                        <a:rPr sz="950" b="0" i="0">
                          <a:solidFill>
                            <a:srgbClr val="33413D"/>
                          </a:solidFill>
                          <a:latin typeface="Aptos"/>
                        </a:rPr>
                        <a:t>Roles, data security and logging implemented to near-production standards.</a:t>
                      </a:r>
                    </a:p>
                  </a:txBody>
                  <a:tcPr marL="73152" marR="73152" marT="36576" marB="36576" anchor="ctr">
                    <a:solidFill>
                      <a:srgbClr val="FFFFFF"/>
                    </a:solidFill>
                  </a:tcPr>
                </a:tc>
                <a:extLst>
                  <a:ext uri="{0D108BD9-81ED-4DB2-BD59-A6C34878D82A}">
                    <a16:rowId xmlns:a16="http://schemas.microsoft.com/office/drawing/2014/main" val="10009"/>
                  </a:ext>
                </a:extLst>
              </a:tr>
              <a:tr h="365760">
                <a:tc>
                  <a:txBody>
                    <a:bodyPr/>
                    <a:lstStyle/>
                    <a:p>
                      <a:r>
                        <a:rPr sz="950" b="1" i="0">
                          <a:solidFill>
                            <a:srgbClr val="101820"/>
                          </a:solidFill>
                          <a:latin typeface="Aptos"/>
                        </a:rPr>
                        <a:t>MVP (core, finance, services + tasks, simple mobile app)</a:t>
                      </a:r>
                    </a:p>
                  </a:txBody>
                  <a:tcPr marL="73152" marR="73152" marT="36576" marB="36576" anchor="ctr">
                    <a:solidFill>
                      <a:srgbClr val="F1F5F4"/>
                    </a:solidFill>
                  </a:tcPr>
                </a:tc>
                <a:tc>
                  <a:txBody>
                    <a:bodyPr/>
                    <a:lstStyle/>
                    <a:p>
                      <a:pPr algn="ctr"/>
                      <a:r>
                        <a:rPr sz="900" b="1" i="0">
                          <a:solidFill>
                            <a:srgbClr val="7A5410"/>
                          </a:solidFill>
                          <a:latin typeface="Aptos"/>
                        </a:rPr>
                        <a:t>Partially</a:t>
                      </a:r>
                    </a:p>
                  </a:txBody>
                  <a:tcPr marL="73152" marR="73152" marT="36576" marB="36576" anchor="ctr">
                    <a:solidFill>
                      <a:srgbClr val="F4EBDD"/>
                    </a:solidFill>
                  </a:tcPr>
                </a:tc>
                <a:tc>
                  <a:txBody>
                    <a:bodyPr/>
                    <a:lstStyle/>
                    <a:p>
                      <a:r>
                        <a:rPr sz="950" b="0" i="0">
                          <a:solidFill>
                            <a:srgbClr val="33413D"/>
                          </a:solidFill>
                          <a:latin typeface="Aptos"/>
                        </a:rPr>
                        <a:t>All MVP components in place; individual data entry functions currently being developed.</a:t>
                      </a:r>
                    </a:p>
                  </a:txBody>
                  <a:tcPr marL="73152" marR="73152" marT="36576" marB="36576" anchor="ctr">
                    <a:solidFill>
                      <a:srgbClr val="F1F5F4"/>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23</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07 · CALIBRATION</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The </a:t>
            </a:r>
            <a:r>
              <a:rPr sz="2700" b="1" i="0" dirty="0" err="1">
                <a:solidFill>
                  <a:srgbClr val="044F49"/>
                </a:solidFill>
                <a:latin typeface="Aptos"/>
              </a:rPr>
              <a:t>recurring </a:t>
            </a:r>
            <a:r>
              <a:rPr sz="2700" b="1" i="0" dirty="0">
                <a:solidFill>
                  <a:srgbClr val="044F49"/>
                </a:solidFill>
                <a:latin typeface="Aptos"/>
              </a:rPr>
              <a:t>pattern </a:t>
            </a:r>
            <a:r>
              <a:rPr lang="de-DE" sz="2700" b="1" i="0" dirty="0">
                <a:solidFill>
                  <a:srgbClr val="044F49"/>
                </a:solidFill>
                <a:latin typeface="Aptos"/>
              </a:rPr>
              <a:t>– </a:t>
            </a:r>
            <a:r>
              <a:rPr sz="2700" b="1" i="0" dirty="0">
                <a:solidFill>
                  <a:srgbClr val="044F49"/>
                </a:solidFill>
                <a:latin typeface="Aptos"/>
              </a:rPr>
              <a:t>and </a:t>
            </a:r>
            <a:r>
              <a:rPr sz="2700" b="1" i="0" dirty="0" err="1">
                <a:solidFill>
                  <a:srgbClr val="044F49"/>
                </a:solidFill>
                <a:latin typeface="Aptos"/>
              </a:rPr>
              <a:t>why </a:t>
            </a:r>
            <a:r>
              <a:rPr sz="2700" b="1" i="0" dirty="0">
                <a:solidFill>
                  <a:srgbClr val="044F49"/>
                </a:solidFill>
                <a:latin typeface="Aptos"/>
              </a:rPr>
              <a:t>it </a:t>
            </a:r>
            <a:r>
              <a:rPr sz="2700" b="1" i="0" dirty="0" err="1">
                <a:solidFill>
                  <a:srgbClr val="044F49"/>
                </a:solidFill>
                <a:latin typeface="Aptos"/>
              </a:rPr>
              <a:t>is not </a:t>
            </a:r>
            <a:r>
              <a:rPr sz="2700" b="1" i="0" dirty="0">
                <a:solidFill>
                  <a:srgbClr val="044F49"/>
                </a:solidFill>
                <a:latin typeface="Aptos"/>
              </a:rPr>
              <a:t>a flaw</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920240"/>
            <a:ext cx="10881360" cy="23774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920240"/>
            <a:ext cx="54864" cy="23774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47322"/>
            <a:ext cx="10469880" cy="723275"/>
          </a:xfrm>
          <a:prstGeom prst="rect">
            <a:avLst/>
          </a:prstGeom>
          <a:noFill/>
        </p:spPr>
        <p:txBody>
          <a:bodyPr wrap="square" lIns="0" tIns="0" rIns="0" bIns="0" anchor="ctr">
            <a:spAutoFit/>
          </a:bodyPr>
          <a:lstStyle/>
          <a:p>
            <a:r>
              <a:rPr sz="1250" b="1" i="0" dirty="0" err="1">
                <a:solidFill>
                  <a:srgbClr val="044F49"/>
                </a:solidFill>
                <a:latin typeface="Aptos"/>
              </a:rPr>
              <a:t>Display </a:t>
            </a:r>
            <a:r>
              <a:rPr sz="1250" b="1" i="0" dirty="0">
                <a:solidFill>
                  <a:srgbClr val="044F49"/>
                </a:solidFill>
                <a:latin typeface="Aptos"/>
              </a:rPr>
              <a:t>&amp; </a:t>
            </a:r>
            <a:r>
              <a:rPr sz="1250" b="1" i="0" dirty="0" err="1">
                <a:solidFill>
                  <a:srgbClr val="044F49"/>
                </a:solidFill>
                <a:latin typeface="Aptos"/>
              </a:rPr>
              <a:t>recommendation</a:t>
            </a:r>
            <a:r>
              <a:rPr lang="de-DE" sz="1250" b="1" i="0" dirty="0">
                <a:solidFill>
                  <a:srgbClr val="044F49"/>
                </a:solidFill>
                <a:latin typeface="Aptos"/>
              </a:rPr>
              <a:t>:</a:t>
            </a:r>
            <a:r>
              <a:rPr sz="1250" b="1" i="0" dirty="0">
                <a:solidFill>
                  <a:srgbClr val="044F49"/>
                </a:solidFill>
                <a:latin typeface="Aptos"/>
              </a:rPr>
              <a:t> yes </a:t>
            </a:r>
            <a:r>
              <a:rPr lang="de-DE" sz="1250" b="1" i="0" dirty="0">
                <a:solidFill>
                  <a:srgbClr val="044F49"/>
                </a:solidFill>
                <a:latin typeface="Aptos"/>
              </a:rPr>
              <a:t>– </a:t>
            </a:r>
            <a:r>
              <a:rPr sz="1250" b="1" i="0" dirty="0" err="1">
                <a:solidFill>
                  <a:srgbClr val="044F49"/>
                </a:solidFill>
                <a:latin typeface="Aptos"/>
              </a:rPr>
              <a:t>automatic execution deliberately follows approval</a:t>
            </a:r>
            <a:r>
              <a:rPr sz="1250" b="1" i="0" dirty="0">
                <a:solidFill>
                  <a:srgbClr val="044F49"/>
                </a:solidFill>
                <a:latin typeface="Aptos"/>
              </a:rPr>
              <a:t>. </a:t>
            </a:r>
            <a:r>
              <a:rPr sz="1150" b="0" i="0" dirty="0">
                <a:solidFill>
                  <a:srgbClr val="33413D"/>
                </a:solidFill>
                <a:latin typeface="Aptos"/>
              </a:rPr>
              <a:t> For </a:t>
            </a:r>
            <a:r>
              <a:rPr sz="1150" b="0" i="0" dirty="0" err="1">
                <a:solidFill>
                  <a:srgbClr val="33413D"/>
                </a:solidFill>
                <a:latin typeface="Aptos"/>
              </a:rPr>
              <a:t>items marked as </a:t>
            </a:r>
            <a:r>
              <a:rPr sz="1150" b="0" i="0" dirty="0">
                <a:solidFill>
                  <a:srgbClr val="33413D"/>
                </a:solidFill>
                <a:latin typeface="Aptos"/>
              </a:rPr>
              <a:t>‘Partial’, </a:t>
            </a:r>
            <a:r>
              <a:rPr sz="1150" b="0" i="0" dirty="0" err="1">
                <a:solidFill>
                  <a:srgbClr val="33413D"/>
                </a:solidFill>
                <a:latin typeface="Aptos"/>
              </a:rPr>
              <a:t>the same principle </a:t>
            </a:r>
            <a:r>
              <a:rPr sz="1150" b="0" i="0" dirty="0">
                <a:solidFill>
                  <a:srgbClr val="33413D"/>
                </a:solidFill>
                <a:latin typeface="Aptos"/>
              </a:rPr>
              <a:t>applies </a:t>
            </a:r>
            <a:r>
              <a:rPr sz="1150" b="0" i="0" dirty="0" err="1">
                <a:solidFill>
                  <a:srgbClr val="33413D"/>
                </a:solidFill>
                <a:latin typeface="Aptos"/>
              </a:rPr>
              <a:t>across the board</a:t>
            </a:r>
            <a:r>
              <a:rPr sz="1150" b="0" i="0" dirty="0">
                <a:solidFill>
                  <a:srgbClr val="33413D"/>
                </a:solidFill>
                <a:latin typeface="Aptos"/>
              </a:rPr>
              <a:t>: the</a:t>
            </a:r>
            <a:r>
              <a:rPr sz="1150" b="0" i="0" dirty="0" err="1">
                <a:solidFill>
                  <a:srgbClr val="33413D"/>
                </a:solidFill>
                <a:latin typeface="Aptos"/>
              </a:rPr>
              <a:t> display </a:t>
            </a:r>
            <a:r>
              <a:rPr sz="1150" b="0" i="0" dirty="0">
                <a:solidFill>
                  <a:srgbClr val="33413D"/>
                </a:solidFill>
                <a:latin typeface="Aptos"/>
              </a:rPr>
              <a:t>and </a:t>
            </a:r>
            <a:r>
              <a:rPr sz="1150" b="0" i="0" dirty="0" err="1">
                <a:solidFill>
                  <a:srgbClr val="33413D"/>
                </a:solidFill>
                <a:latin typeface="Aptos"/>
              </a:rPr>
              <a:t>recommendation are present</a:t>
            </a:r>
            <a:r>
              <a:rPr sz="1150" b="0" i="0" dirty="0">
                <a:solidFill>
                  <a:srgbClr val="33413D"/>
                </a:solidFill>
                <a:latin typeface="Aptos"/>
              </a:rPr>
              <a:t>, but </a:t>
            </a:r>
            <a:r>
              <a:rPr sz="1150" b="0" i="0" dirty="0" err="1">
                <a:solidFill>
                  <a:srgbClr val="33413D"/>
                </a:solidFill>
                <a:latin typeface="Aptos"/>
              </a:rPr>
              <a:t>automatic</a:t>
            </a:r>
            <a:r>
              <a:rPr sz="1150" b="0" i="0" dirty="0">
                <a:solidFill>
                  <a:srgbClr val="33413D"/>
                </a:solidFill>
                <a:latin typeface="Aptos"/>
              </a:rPr>
              <a:t> </a:t>
            </a:r>
            <a:r>
              <a:rPr sz="1150" b="0" i="0" dirty="0" err="1">
                <a:solidFill>
                  <a:srgbClr val="33413D"/>
                </a:solidFill>
                <a:latin typeface="Aptos"/>
              </a:rPr>
              <a:t>execution </a:t>
            </a:r>
            <a:r>
              <a:rPr sz="1150" b="0" i="0" dirty="0">
                <a:solidFill>
                  <a:srgbClr val="33413D"/>
                </a:solidFill>
                <a:latin typeface="Aptos"/>
              </a:rPr>
              <a:t>(</a:t>
            </a:r>
            <a:r>
              <a:rPr sz="1150" b="0" i="0" dirty="0" err="1">
                <a:solidFill>
                  <a:srgbClr val="33413D"/>
                </a:solidFill>
                <a:latin typeface="Aptos"/>
              </a:rPr>
              <a:t>posting</a:t>
            </a:r>
            <a:r>
              <a:rPr sz="1150" b="0" i="0" dirty="0">
                <a:solidFill>
                  <a:srgbClr val="33413D"/>
                </a:solidFill>
                <a:latin typeface="Aptos"/>
              </a:rPr>
              <a:t>, </a:t>
            </a:r>
            <a:r>
              <a:rPr sz="1150" b="0" i="0" dirty="0" err="1">
                <a:solidFill>
                  <a:srgbClr val="33413D"/>
                </a:solidFill>
                <a:latin typeface="Aptos"/>
              </a:rPr>
              <a:t>blocking</a:t>
            </a:r>
            <a:r>
              <a:rPr sz="1150" b="0" i="0" dirty="0">
                <a:solidFill>
                  <a:srgbClr val="33413D"/>
                </a:solidFill>
                <a:latin typeface="Aptos"/>
              </a:rPr>
              <a:t>, </a:t>
            </a:r>
            <a:r>
              <a:rPr sz="1150" b="0" i="0" dirty="0" err="1">
                <a:solidFill>
                  <a:srgbClr val="33413D"/>
                </a:solidFill>
                <a:latin typeface="Aptos"/>
              </a:rPr>
              <a:t>dispatch</a:t>
            </a:r>
            <a:r>
              <a:rPr sz="1150" b="0" i="0" dirty="0">
                <a:solidFill>
                  <a:srgbClr val="33413D"/>
                </a:solidFill>
                <a:latin typeface="Aptos"/>
              </a:rPr>
              <a:t>, </a:t>
            </a:r>
            <a:r>
              <a:rPr sz="1150" b="0" i="0" dirty="0" err="1">
                <a:solidFill>
                  <a:srgbClr val="33413D"/>
                </a:solidFill>
                <a:latin typeface="Aptos"/>
              </a:rPr>
              <a:t>settlement</a:t>
            </a:r>
            <a:r>
              <a:rPr sz="1150" b="0" i="0" dirty="0">
                <a:solidFill>
                  <a:srgbClr val="33413D"/>
                </a:solidFill>
                <a:latin typeface="Aptos"/>
              </a:rPr>
              <a:t>) </a:t>
            </a:r>
            <a:r>
              <a:rPr sz="1150" b="0" i="0" dirty="0" err="1">
                <a:solidFill>
                  <a:srgbClr val="33413D"/>
                </a:solidFill>
                <a:latin typeface="Aptos"/>
              </a:rPr>
              <a:t>deliberately </a:t>
            </a:r>
            <a:r>
              <a:rPr sz="1150" b="0" i="0" dirty="0">
                <a:solidFill>
                  <a:srgbClr val="33413D"/>
                </a:solidFill>
                <a:latin typeface="Aptos"/>
              </a:rPr>
              <a:t>only </a:t>
            </a:r>
            <a:r>
              <a:rPr sz="1150" b="0" i="0" dirty="0" err="1">
                <a:solidFill>
                  <a:srgbClr val="33413D"/>
                </a:solidFill>
                <a:latin typeface="Aptos"/>
              </a:rPr>
              <a:t>takes place after approval</a:t>
            </a:r>
            <a:r>
              <a:rPr sz="1150" b="0" i="0" dirty="0">
                <a:solidFill>
                  <a:srgbClr val="33413D"/>
                </a:solidFill>
                <a:latin typeface="Aptos"/>
              </a:rPr>
              <a:t>. This </a:t>
            </a:r>
            <a:r>
              <a:rPr sz="1150" b="0" i="0" dirty="0" err="1">
                <a:solidFill>
                  <a:srgbClr val="33413D"/>
                </a:solidFill>
                <a:latin typeface="Aptos"/>
              </a:rPr>
              <a:t>is not a random omission</a:t>
            </a:r>
            <a:r>
              <a:rPr sz="1150" b="0" i="0" dirty="0">
                <a:solidFill>
                  <a:srgbClr val="33413D"/>
                </a:solidFill>
                <a:latin typeface="Aptos"/>
              </a:rPr>
              <a:t>, </a:t>
            </a:r>
            <a:r>
              <a:rPr sz="1150" b="0" i="0" dirty="0" err="1">
                <a:solidFill>
                  <a:srgbClr val="33413D"/>
                </a:solidFill>
                <a:latin typeface="Aptos"/>
              </a:rPr>
              <a:t>but </a:t>
            </a:r>
            <a:r>
              <a:rPr sz="1150" b="0" i="0" dirty="0">
                <a:solidFill>
                  <a:srgbClr val="33413D"/>
                </a:solidFill>
                <a:latin typeface="Aptos"/>
              </a:rPr>
              <a:t>the </a:t>
            </a:r>
            <a:r>
              <a:rPr sz="1150" b="0" i="0" dirty="0" err="1">
                <a:solidFill>
                  <a:srgbClr val="33413D"/>
                </a:solidFill>
                <a:latin typeface="Aptos"/>
              </a:rPr>
              <a:t>consistent application </a:t>
            </a:r>
            <a:r>
              <a:rPr sz="1150" b="0" i="0" dirty="0">
                <a:solidFill>
                  <a:srgbClr val="33413D"/>
                </a:solidFill>
                <a:latin typeface="Aptos"/>
              </a:rPr>
              <a:t>of </a:t>
            </a:r>
            <a:r>
              <a:rPr sz="1150" b="0" i="0" dirty="0" err="1">
                <a:solidFill>
                  <a:srgbClr val="33413D"/>
                </a:solidFill>
                <a:latin typeface="Aptos"/>
              </a:rPr>
              <a:t>the fundamental principle </a:t>
            </a:r>
            <a:r>
              <a:rPr sz="1150" b="0" i="0" dirty="0">
                <a:solidFill>
                  <a:srgbClr val="33413D"/>
                </a:solidFill>
                <a:latin typeface="Aptos"/>
              </a:rPr>
              <a:t>‘the system </a:t>
            </a:r>
            <a:r>
              <a:rPr sz="1150" b="0" i="0" dirty="0" err="1">
                <a:solidFill>
                  <a:srgbClr val="33413D"/>
                </a:solidFill>
                <a:latin typeface="Aptos"/>
              </a:rPr>
              <a:t>prepares</a:t>
            </a:r>
            <a:r>
              <a:rPr sz="1150" b="0" i="0" dirty="0">
                <a:solidFill>
                  <a:srgbClr val="33413D"/>
                </a:solidFill>
                <a:latin typeface="Aptos"/>
              </a:rPr>
              <a:t>, </a:t>
            </a:r>
            <a:r>
              <a:rPr sz="1150" b="0" i="0" dirty="0" err="1">
                <a:solidFill>
                  <a:srgbClr val="33413D"/>
                </a:solidFill>
                <a:latin typeface="Aptos"/>
              </a:rPr>
              <a:t>a </a:t>
            </a:r>
            <a:r>
              <a:rPr sz="1150" b="0" i="0" dirty="0">
                <a:solidFill>
                  <a:srgbClr val="33413D"/>
                </a:solidFill>
                <a:latin typeface="Aptos"/>
              </a:rPr>
              <a:t>person </a:t>
            </a:r>
            <a:r>
              <a:rPr sz="1150" b="0" i="0" dirty="0" err="1">
                <a:solidFill>
                  <a:srgbClr val="33413D"/>
                </a:solidFill>
                <a:latin typeface="Aptos"/>
              </a:rPr>
              <a:t>decides</a:t>
            </a:r>
            <a:r>
              <a:rPr sz="1150" b="0" i="0" dirty="0">
                <a:solidFill>
                  <a:srgbClr val="33413D"/>
                </a:solidFill>
                <a:latin typeface="Aptos"/>
              </a:rPr>
              <a:t>’. For </a:t>
            </a:r>
            <a:r>
              <a:rPr sz="1150" b="0" i="0" dirty="0" err="1">
                <a:solidFill>
                  <a:srgbClr val="33413D"/>
                </a:solidFill>
                <a:latin typeface="Aptos"/>
              </a:rPr>
              <a:t>live operation, these execution steps are activated in a targeted </a:t>
            </a:r>
            <a:r>
              <a:rPr sz="1150" b="0" i="0" dirty="0">
                <a:solidFill>
                  <a:srgbClr val="33413D"/>
                </a:solidFill>
                <a:latin typeface="Aptos"/>
              </a:rPr>
              <a:t>and </a:t>
            </a:r>
            <a:r>
              <a:rPr sz="1150" b="0" i="0" dirty="0" err="1">
                <a:solidFill>
                  <a:srgbClr val="33413D"/>
                </a:solidFill>
                <a:latin typeface="Aptos"/>
              </a:rPr>
              <a:t>controlled manner</a:t>
            </a:r>
            <a:r>
              <a:rPr sz="1150" b="0" i="0" dirty="0">
                <a:solidFill>
                  <a:srgbClr val="33413D"/>
                </a:solidFill>
                <a:latin typeface="Aptos"/>
              </a:rPr>
              <a:t>.</a:t>
            </a:r>
          </a:p>
        </p:txBody>
      </p:sp>
      <p:sp>
        <p:nvSpPr>
          <p:cNvPr id="12" name="Rounded Rectangle 11"/>
          <p:cNvSpPr/>
          <p:nvPr/>
        </p:nvSpPr>
        <p:spPr>
          <a:xfrm>
            <a:off x="640080" y="4663440"/>
            <a:ext cx="1417320" cy="292608"/>
          </a:xfrm>
          <a:prstGeom prst="roundRect">
            <a:avLst>
              <a:gd name="adj" fmla="val 50000"/>
            </a:avLst>
          </a:prstGeom>
          <a:solidFill>
            <a:srgbClr val="D3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681728"/>
            <a:ext cx="1417320" cy="256032"/>
          </a:xfrm>
          <a:prstGeom prst="rect">
            <a:avLst/>
          </a:prstGeom>
          <a:noFill/>
        </p:spPr>
        <p:txBody>
          <a:bodyPr wrap="square" lIns="0" tIns="0" rIns="0" bIns="0" anchor="ctr">
            <a:spAutoFit/>
          </a:bodyPr>
          <a:lstStyle/>
          <a:p>
            <a:pPr algn="ctr"/>
            <a:r>
              <a:rPr sz="950" b="1" i="0">
                <a:solidFill>
                  <a:srgbClr val="044F49"/>
                </a:solidFill>
                <a:latin typeface="Aptos"/>
              </a:rPr>
              <a:t>Live</a:t>
            </a:r>
          </a:p>
        </p:txBody>
      </p:sp>
      <p:sp>
        <p:nvSpPr>
          <p:cNvPr id="14" name="TextBox 13"/>
          <p:cNvSpPr txBox="1"/>
          <p:nvPr/>
        </p:nvSpPr>
        <p:spPr>
          <a:xfrm>
            <a:off x="2112264" y="4681728"/>
            <a:ext cx="1280160" cy="256032"/>
          </a:xfrm>
          <a:prstGeom prst="rect">
            <a:avLst/>
          </a:prstGeom>
          <a:noFill/>
        </p:spPr>
        <p:txBody>
          <a:bodyPr wrap="square" lIns="0" tIns="0" rIns="0" bIns="0" anchor="ctr">
            <a:spAutoFit/>
          </a:bodyPr>
          <a:lstStyle/>
          <a:p>
            <a:r>
              <a:rPr sz="850" b="0" i="0">
                <a:solidFill>
                  <a:srgbClr val="64716D"/>
                </a:solidFill>
                <a:latin typeface="Aptos"/>
              </a:rPr>
              <a:t>suitable for long-term use</a:t>
            </a:r>
          </a:p>
        </p:txBody>
      </p:sp>
      <p:sp>
        <p:nvSpPr>
          <p:cNvPr id="15" name="Rounded Rectangle 14"/>
          <p:cNvSpPr/>
          <p:nvPr/>
        </p:nvSpPr>
        <p:spPr>
          <a:xfrm>
            <a:off x="3429000" y="4663440"/>
            <a:ext cx="1417320" cy="292608"/>
          </a:xfrm>
          <a:prstGeom prst="roundRect">
            <a:avLst>
              <a:gd name="adj" fmla="val 50000"/>
            </a:avLst>
          </a:prstGeom>
          <a:solidFill>
            <a:srgbClr val="DAE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29000" y="4681728"/>
            <a:ext cx="1417320" cy="256032"/>
          </a:xfrm>
          <a:prstGeom prst="rect">
            <a:avLst/>
          </a:prstGeom>
          <a:noFill/>
        </p:spPr>
        <p:txBody>
          <a:bodyPr wrap="square" lIns="0" tIns="0" rIns="0" bIns="0" anchor="ctr">
            <a:spAutoFit/>
          </a:bodyPr>
          <a:lstStyle/>
          <a:p>
            <a:pPr algn="ctr"/>
            <a:r>
              <a:rPr sz="950" b="1" i="0">
                <a:solidFill>
                  <a:srgbClr val="044F49"/>
                </a:solidFill>
                <a:latin typeface="Aptos"/>
              </a:rPr>
              <a:t>Available</a:t>
            </a:r>
          </a:p>
        </p:txBody>
      </p:sp>
      <p:sp>
        <p:nvSpPr>
          <p:cNvPr id="17" name="TextBox 16"/>
          <p:cNvSpPr txBox="1"/>
          <p:nvPr/>
        </p:nvSpPr>
        <p:spPr>
          <a:xfrm>
            <a:off x="4901184" y="4681728"/>
            <a:ext cx="1280160" cy="256032"/>
          </a:xfrm>
          <a:prstGeom prst="rect">
            <a:avLst/>
          </a:prstGeom>
          <a:noFill/>
        </p:spPr>
        <p:txBody>
          <a:bodyPr wrap="square" lIns="0" tIns="0" rIns="0" bIns="0" anchor="ctr">
            <a:spAutoFit/>
          </a:bodyPr>
          <a:lstStyle/>
          <a:p>
            <a:r>
              <a:rPr sz="850" b="0" i="0">
                <a:solidFill>
                  <a:srgbClr val="64716D"/>
                </a:solidFill>
                <a:latin typeface="Aptos"/>
              </a:rPr>
              <a:t>Fully operational</a:t>
            </a:r>
          </a:p>
        </p:txBody>
      </p:sp>
      <p:sp>
        <p:nvSpPr>
          <p:cNvPr id="18" name="Rounded Rectangle 17"/>
          <p:cNvSpPr/>
          <p:nvPr/>
        </p:nvSpPr>
        <p:spPr>
          <a:xfrm>
            <a:off x="6217920" y="4663440"/>
            <a:ext cx="1417320" cy="292608"/>
          </a:xfrm>
          <a:prstGeom prst="roundRect">
            <a:avLst>
              <a:gd name="adj" fmla="val 50000"/>
            </a:avLst>
          </a:prstGeom>
          <a:solidFill>
            <a:srgbClr val="F4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4681728"/>
            <a:ext cx="1417320" cy="256032"/>
          </a:xfrm>
          <a:prstGeom prst="rect">
            <a:avLst/>
          </a:prstGeom>
          <a:noFill/>
        </p:spPr>
        <p:txBody>
          <a:bodyPr wrap="square" lIns="0" tIns="0" rIns="0" bIns="0" anchor="ctr">
            <a:spAutoFit/>
          </a:bodyPr>
          <a:lstStyle/>
          <a:p>
            <a:pPr algn="ctr"/>
            <a:r>
              <a:rPr sz="950" b="1" i="0">
                <a:solidFill>
                  <a:srgbClr val="7A5410"/>
                </a:solidFill>
                <a:latin typeface="Aptos"/>
              </a:rPr>
              <a:t>Partially</a:t>
            </a:r>
          </a:p>
        </p:txBody>
      </p:sp>
      <p:sp>
        <p:nvSpPr>
          <p:cNvPr id="20" name="TextBox 19"/>
          <p:cNvSpPr txBox="1"/>
          <p:nvPr/>
        </p:nvSpPr>
        <p:spPr>
          <a:xfrm>
            <a:off x="7690104" y="4681728"/>
            <a:ext cx="1280160" cy="256032"/>
          </a:xfrm>
          <a:prstGeom prst="rect">
            <a:avLst/>
          </a:prstGeom>
          <a:noFill/>
        </p:spPr>
        <p:txBody>
          <a:bodyPr wrap="square" lIns="0" tIns="0" rIns="0" bIns="0" anchor="ctr">
            <a:spAutoFit/>
          </a:bodyPr>
          <a:lstStyle/>
          <a:p>
            <a:r>
              <a:rPr sz="850" b="0" i="0">
                <a:solidFill>
                  <a:srgbClr val="64716D"/>
                </a:solidFill>
                <a:latin typeface="Aptos"/>
              </a:rPr>
              <a:t>Preview available, full version to follow</a:t>
            </a:r>
          </a:p>
        </p:txBody>
      </p:sp>
      <p:sp>
        <p:nvSpPr>
          <p:cNvPr id="21" name="Rounded Rectangle 20"/>
          <p:cNvSpPr/>
          <p:nvPr/>
        </p:nvSpPr>
        <p:spPr>
          <a:xfrm>
            <a:off x="9006840" y="4663440"/>
            <a:ext cx="1417320" cy="292608"/>
          </a:xfrm>
          <a:prstGeom prst="roundRect">
            <a:avLst>
              <a:gd name="adj" fmla="val 50000"/>
            </a:avLst>
          </a:prstGeom>
          <a:solidFill>
            <a:srgbClr val="EA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06840" y="4681728"/>
            <a:ext cx="1417320" cy="256032"/>
          </a:xfrm>
          <a:prstGeom prst="rect">
            <a:avLst/>
          </a:prstGeom>
          <a:noFill/>
        </p:spPr>
        <p:txBody>
          <a:bodyPr wrap="square" lIns="0" tIns="0" rIns="0" bIns="0" anchor="ctr">
            <a:spAutoFit/>
          </a:bodyPr>
          <a:lstStyle/>
          <a:p>
            <a:pPr algn="ctr"/>
            <a:r>
              <a:rPr sz="950" b="1" i="0">
                <a:solidFill>
                  <a:srgbClr val="4B5652"/>
                </a:solidFill>
                <a:latin typeface="Aptos"/>
              </a:rPr>
              <a:t>In preparation</a:t>
            </a:r>
          </a:p>
        </p:txBody>
      </p:sp>
      <p:sp>
        <p:nvSpPr>
          <p:cNvPr id="23" name="TextBox 22"/>
          <p:cNvSpPr txBox="1"/>
          <p:nvPr/>
        </p:nvSpPr>
        <p:spPr>
          <a:xfrm>
            <a:off x="10479024" y="4681728"/>
            <a:ext cx="1280160" cy="256032"/>
          </a:xfrm>
          <a:prstGeom prst="rect">
            <a:avLst/>
          </a:prstGeom>
          <a:noFill/>
        </p:spPr>
        <p:txBody>
          <a:bodyPr wrap="square" lIns="0" tIns="0" rIns="0" bIns="0" anchor="ctr">
            <a:spAutoFit/>
          </a:bodyPr>
          <a:lstStyle/>
          <a:p>
            <a:r>
              <a:rPr sz="850" b="0" i="0">
                <a:solidFill>
                  <a:srgbClr val="64716D"/>
                </a:solidFill>
                <a:latin typeface="Aptos"/>
              </a:rPr>
              <a:t>Next phase of development</a:t>
            </a:r>
          </a:p>
        </p:txBody>
      </p:sp>
      <p:sp>
        <p:nvSpPr>
          <p:cNvPr id="24" name="TextBox 2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5" name="TextBox 2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24</a:t>
            </a:r>
          </a:p>
        </p:txBody>
      </p:sp>
      <p:pic>
        <p:nvPicPr>
          <p:cNvPr id="26" name="Picture 2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08</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The Demonstration </a:t>
            </a:r>
            <a:r>
              <a:rPr lang="de-DE" sz="2700" b="1" i="0" dirty="0">
                <a:solidFill>
                  <a:srgbClr val="044F49"/>
                </a:solidFill>
                <a:latin typeface="Aptos"/>
              </a:rPr>
              <a:t>– </a:t>
            </a:r>
            <a:r>
              <a:rPr sz="2700" b="1" i="0" dirty="0">
                <a:solidFill>
                  <a:srgbClr val="044F49"/>
                </a:solidFill>
                <a:latin typeface="Aptos"/>
              </a:rPr>
              <a:t>Purpose &amp; </a:t>
            </a:r>
            <a:r>
              <a:rPr sz="2700" b="1" i="0" dirty="0" err="1">
                <a:solidFill>
                  <a:srgbClr val="044F49"/>
                </a:solidFill>
                <a:latin typeface="Aptos"/>
              </a:rPr>
              <a:t>Scope</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08760"/>
            <a:ext cx="10881360" cy="369332"/>
          </a:xfrm>
          <a:prstGeom prst="rect">
            <a:avLst/>
          </a:prstGeom>
          <a:noFill/>
        </p:spPr>
        <p:txBody>
          <a:bodyPr wrap="square" lIns="0" tIns="0" rIns="0" bIns="0" anchor="t">
            <a:spAutoFit/>
          </a:bodyPr>
          <a:lstStyle/>
          <a:p>
            <a:pPr>
              <a:spcAft>
                <a:spcPts val="600"/>
              </a:spcAft>
            </a:pPr>
            <a:r>
              <a:rPr sz="1200" i="0" dirty="0">
                <a:solidFill>
                  <a:srgbClr val="33413D"/>
                </a:solidFill>
                <a:latin typeface="Aptos"/>
              </a:rPr>
              <a:t>The </a:t>
            </a:r>
            <a:r>
              <a:rPr sz="1200" i="0" dirty="0" err="1">
                <a:solidFill>
                  <a:srgbClr val="33413D"/>
                </a:solidFill>
                <a:latin typeface="Aptos"/>
              </a:rPr>
              <a:t>current </a:t>
            </a:r>
            <a:r>
              <a:rPr sz="1200" i="0" dirty="0">
                <a:solidFill>
                  <a:srgbClr val="33413D"/>
                </a:solidFill>
                <a:latin typeface="Aptos"/>
              </a:rPr>
              <a:t>status </a:t>
            </a:r>
            <a:r>
              <a:rPr sz="1200" i="0" dirty="0" err="1">
                <a:solidFill>
                  <a:srgbClr val="33413D"/>
                </a:solidFill>
                <a:latin typeface="Aptos"/>
              </a:rPr>
              <a:t>is a fully functional demonstration environment </a:t>
            </a:r>
            <a:r>
              <a:rPr lang="de-DE" sz="1200" i="0" dirty="0">
                <a:solidFill>
                  <a:srgbClr val="33413D"/>
                </a:solidFill>
                <a:latin typeface="Aptos"/>
              </a:rPr>
              <a:t>– </a:t>
            </a:r>
            <a:r>
              <a:rPr sz="1200" i="0" dirty="0">
                <a:solidFill>
                  <a:srgbClr val="33413D"/>
                </a:solidFill>
                <a:latin typeface="Aptos"/>
              </a:rPr>
              <a:t>for </a:t>
            </a:r>
            <a:r>
              <a:rPr sz="1200" i="0" dirty="0" err="1">
                <a:solidFill>
                  <a:srgbClr val="33413D"/>
                </a:solidFill>
                <a:latin typeface="Aptos"/>
              </a:rPr>
              <a:t>your evaluation</a:t>
            </a:r>
            <a:r>
              <a:rPr sz="1200" i="0" dirty="0">
                <a:solidFill>
                  <a:srgbClr val="33413D"/>
                </a:solidFill>
                <a:latin typeface="Aptos"/>
              </a:rPr>
              <a:t>, for </a:t>
            </a:r>
            <a:r>
              <a:rPr sz="1200" i="0" dirty="0" err="1">
                <a:solidFill>
                  <a:srgbClr val="33413D"/>
                </a:solidFill>
                <a:latin typeface="Aptos"/>
              </a:rPr>
              <a:t>stakeholder presentations </a:t>
            </a:r>
            <a:r>
              <a:rPr sz="1200" i="0" dirty="0">
                <a:solidFill>
                  <a:srgbClr val="33413D"/>
                </a:solidFill>
                <a:latin typeface="Aptos"/>
              </a:rPr>
              <a:t>and for </a:t>
            </a:r>
            <a:r>
              <a:rPr sz="1200" i="0" dirty="0" err="1">
                <a:solidFill>
                  <a:srgbClr val="33413D"/>
                </a:solidFill>
                <a:latin typeface="Aptos"/>
              </a:rPr>
              <a:t>initial feedback from your </a:t>
            </a:r>
            <a:r>
              <a:rPr sz="1200" i="0" dirty="0">
                <a:solidFill>
                  <a:srgbClr val="33413D"/>
                </a:solidFill>
                <a:latin typeface="Aptos"/>
              </a:rPr>
              <a:t>team.</a:t>
            </a:r>
          </a:p>
        </p:txBody>
      </p:sp>
      <p:sp>
        <p:nvSpPr>
          <p:cNvPr id="10" name="Rounded Rectangle 9"/>
          <p:cNvSpPr/>
          <p:nvPr/>
        </p:nvSpPr>
        <p:spPr>
          <a:xfrm>
            <a:off x="640080" y="2148840"/>
            <a:ext cx="5257800" cy="320040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331720"/>
            <a:ext cx="4745736" cy="1946687"/>
          </a:xfrm>
          <a:prstGeom prst="rect">
            <a:avLst/>
          </a:prstGeom>
          <a:noFill/>
        </p:spPr>
        <p:txBody>
          <a:bodyPr wrap="square" lIns="0" tIns="0" rIns="0" bIns="0" anchor="t">
            <a:spAutoFit/>
          </a:bodyPr>
          <a:lstStyle/>
          <a:p>
            <a:r>
              <a:rPr sz="1350" b="1" i="0" dirty="0">
                <a:solidFill>
                  <a:srgbClr val="044F49"/>
                </a:solidFill>
                <a:latin typeface="Aptos"/>
              </a:rPr>
              <a:t>What the demonstration </a:t>
            </a:r>
            <a:r>
              <a:rPr sz="1350" b="1" i="0" dirty="0" err="1">
                <a:solidFill>
                  <a:srgbClr val="044F49"/>
                </a:solidFill>
                <a:latin typeface="Aptos"/>
              </a:rPr>
              <a:t>shows</a:t>
            </a:r>
            <a:endParaRPr sz="1350" b="1" i="0" dirty="0">
              <a:solidFill>
                <a:srgbClr val="044F49"/>
              </a:solidFill>
              <a:latin typeface="Aptos"/>
            </a:endParaRPr>
          </a:p>
          <a:p>
            <a:pPr>
              <a:spcBef>
                <a:spcPts val="600"/>
              </a:spcBef>
            </a:pPr>
            <a:r>
              <a:rPr sz="1100" b="0" i="0" dirty="0">
                <a:solidFill>
                  <a:srgbClr val="33413D"/>
                </a:solidFill>
                <a:latin typeface="Aptos"/>
              </a:rPr>
              <a:t>•  The </a:t>
            </a:r>
            <a:r>
              <a:rPr sz="1100" b="0" i="0" dirty="0" err="1">
                <a:solidFill>
                  <a:srgbClr val="33413D"/>
                </a:solidFill>
                <a:latin typeface="Aptos"/>
              </a:rPr>
              <a:t>full range of functions </a:t>
            </a:r>
            <a:r>
              <a:rPr lang="de-DE" sz="1100" b="0" i="0" dirty="0">
                <a:solidFill>
                  <a:srgbClr val="33413D"/>
                </a:solidFill>
                <a:latin typeface="Aptos"/>
              </a:rPr>
              <a:t>– </a:t>
            </a:r>
            <a:r>
              <a:rPr sz="1100" b="0" i="0" dirty="0" err="1">
                <a:solidFill>
                  <a:srgbClr val="33413D"/>
                </a:solidFill>
                <a:latin typeface="Aptos"/>
              </a:rPr>
              <a:t>navigable </a:t>
            </a:r>
            <a:r>
              <a:rPr sz="1100" b="0" i="0" dirty="0">
                <a:solidFill>
                  <a:srgbClr val="33413D"/>
                </a:solidFill>
                <a:latin typeface="Aptos"/>
              </a:rPr>
              <a:t>through </a:t>
            </a:r>
            <a:r>
              <a:rPr sz="1100" b="0" i="0" dirty="0" err="1">
                <a:solidFill>
                  <a:srgbClr val="33413D"/>
                </a:solidFill>
                <a:latin typeface="Aptos"/>
              </a:rPr>
              <a:t>all six </a:t>
            </a:r>
            <a:r>
              <a:rPr sz="1100" b="0" i="0" dirty="0">
                <a:solidFill>
                  <a:srgbClr val="33413D"/>
                </a:solidFill>
                <a:latin typeface="Aptos"/>
              </a:rPr>
              <a:t>roles and in </a:t>
            </a:r>
            <a:r>
              <a:rPr sz="1100" b="0" i="0" dirty="0" err="1">
                <a:solidFill>
                  <a:srgbClr val="33413D"/>
                </a:solidFill>
                <a:latin typeface="Aptos"/>
              </a:rPr>
              <a:t>all </a:t>
            </a:r>
            <a:r>
              <a:rPr sz="1100" b="0" i="0" dirty="0">
                <a:solidFill>
                  <a:srgbClr val="33413D"/>
                </a:solidFill>
                <a:latin typeface="Aptos"/>
              </a:rPr>
              <a:t>four languages.</a:t>
            </a:r>
          </a:p>
          <a:p>
            <a:pPr>
              <a:spcBef>
                <a:spcPts val="600"/>
              </a:spcBef>
            </a:pPr>
            <a:r>
              <a:rPr sz="1100" b="0" i="0" dirty="0">
                <a:solidFill>
                  <a:srgbClr val="33413D"/>
                </a:solidFill>
                <a:latin typeface="Aptos"/>
              </a:rPr>
              <a:t>• </a:t>
            </a:r>
            <a:r>
              <a:rPr sz="1100" b="0" i="0" dirty="0" err="1">
                <a:solidFill>
                  <a:srgbClr val="33413D"/>
                </a:solidFill>
                <a:latin typeface="Aptos"/>
              </a:rPr>
              <a:t> Realistic sample data </a:t>
            </a:r>
            <a:r>
              <a:rPr sz="1100" b="0" i="0" dirty="0">
                <a:solidFill>
                  <a:srgbClr val="33413D"/>
                </a:solidFill>
                <a:latin typeface="Aptos"/>
              </a:rPr>
              <a:t>based on the </a:t>
            </a:r>
            <a:r>
              <a:rPr sz="1100" b="0" i="0" dirty="0" err="1">
                <a:solidFill>
                  <a:srgbClr val="33413D"/>
                </a:solidFill>
                <a:latin typeface="Aptos"/>
              </a:rPr>
              <a:t>actual </a:t>
            </a:r>
            <a:r>
              <a:rPr sz="1100" b="0" i="0" dirty="0">
                <a:solidFill>
                  <a:srgbClr val="33413D"/>
                </a:solidFill>
                <a:latin typeface="Aptos"/>
              </a:rPr>
              <a:t>portfolio of 769 units (</a:t>
            </a:r>
            <a:r>
              <a:rPr sz="1100" b="0" i="0" dirty="0" err="1">
                <a:solidFill>
                  <a:srgbClr val="33413D"/>
                </a:solidFill>
                <a:latin typeface="Aptos"/>
              </a:rPr>
              <a:t>price list</a:t>
            </a:r>
            <a:r>
              <a:rPr sz="1100" b="0" i="0" dirty="0">
                <a:solidFill>
                  <a:srgbClr val="33413D"/>
                </a:solidFill>
                <a:latin typeface="Aptos"/>
              </a:rPr>
              <a:t>, </a:t>
            </a:r>
            <a:r>
              <a:rPr sz="1100" b="0" i="0" dirty="0" err="1">
                <a:solidFill>
                  <a:srgbClr val="33413D"/>
                </a:solidFill>
                <a:latin typeface="Aptos"/>
              </a:rPr>
              <a:t>block structure</a:t>
            </a:r>
            <a:r>
              <a:rPr sz="1100" b="0" i="0" dirty="0">
                <a:solidFill>
                  <a:srgbClr val="33413D"/>
                </a:solidFill>
                <a:latin typeface="Aptos"/>
              </a:rPr>
              <a:t>).</a:t>
            </a:r>
          </a:p>
          <a:p>
            <a:pPr>
              <a:spcBef>
                <a:spcPts val="600"/>
              </a:spcBef>
            </a:pPr>
            <a:r>
              <a:rPr sz="1100" b="0" i="0" dirty="0">
                <a:solidFill>
                  <a:srgbClr val="33413D"/>
                </a:solidFill>
                <a:latin typeface="Aptos"/>
              </a:rPr>
              <a:t>•  The </a:t>
            </a:r>
            <a:r>
              <a:rPr sz="1100" b="0" i="0" dirty="0" err="1">
                <a:solidFill>
                  <a:srgbClr val="33413D"/>
                </a:solidFill>
                <a:latin typeface="Aptos"/>
              </a:rPr>
              <a:t>public area with registration</a:t>
            </a:r>
            <a:r>
              <a:rPr sz="1100" b="0" i="0" dirty="0">
                <a:solidFill>
                  <a:srgbClr val="33413D"/>
                </a:solidFill>
                <a:latin typeface="Aptos"/>
              </a:rPr>
              <a:t>, </a:t>
            </a:r>
            <a:r>
              <a:rPr sz="1100" b="0" i="0" dirty="0" err="1">
                <a:solidFill>
                  <a:srgbClr val="33413D"/>
                </a:solidFill>
                <a:latin typeface="Aptos"/>
              </a:rPr>
              <a:t>feedback channel </a:t>
            </a:r>
            <a:r>
              <a:rPr sz="1100" b="0" i="0" dirty="0">
                <a:solidFill>
                  <a:srgbClr val="33413D"/>
                </a:solidFill>
                <a:latin typeface="Aptos"/>
              </a:rPr>
              <a:t>and QR poster </a:t>
            </a:r>
            <a:r>
              <a:rPr lang="de-DE" sz="1100" b="0" i="0" dirty="0">
                <a:solidFill>
                  <a:srgbClr val="33413D"/>
                </a:solidFill>
                <a:latin typeface="Aptos"/>
              </a:rPr>
              <a:t>– </a:t>
            </a:r>
            <a:r>
              <a:rPr sz="1100" b="0" i="0" dirty="0" err="1">
                <a:solidFill>
                  <a:srgbClr val="33413D"/>
                </a:solidFill>
                <a:latin typeface="Aptos"/>
              </a:rPr>
              <a:t>no </a:t>
            </a:r>
            <a:r>
              <a:rPr sz="1100" b="0" i="0" dirty="0">
                <a:solidFill>
                  <a:srgbClr val="33413D"/>
                </a:solidFill>
                <a:latin typeface="Aptos"/>
              </a:rPr>
              <a:t>login required.</a:t>
            </a:r>
          </a:p>
          <a:p>
            <a:pPr>
              <a:spcBef>
                <a:spcPts val="600"/>
              </a:spcBef>
            </a:pPr>
            <a:r>
              <a:rPr sz="1100" b="0" i="0" dirty="0">
                <a:solidFill>
                  <a:srgbClr val="33413D"/>
                </a:solidFill>
                <a:latin typeface="Aptos"/>
              </a:rPr>
              <a:t>• </a:t>
            </a:r>
            <a:r>
              <a:rPr sz="1100" b="0" i="0" dirty="0" err="1">
                <a:solidFill>
                  <a:srgbClr val="33413D"/>
                </a:solidFill>
                <a:latin typeface="Aptos"/>
              </a:rPr>
              <a:t> Both </a:t>
            </a:r>
            <a:r>
              <a:rPr sz="1100" b="0" i="0" dirty="0">
                <a:solidFill>
                  <a:srgbClr val="33413D"/>
                </a:solidFill>
                <a:latin typeface="Aptos"/>
              </a:rPr>
              <a:t>AI </a:t>
            </a:r>
            <a:r>
              <a:rPr sz="1100" b="0" i="0" dirty="0" err="1">
                <a:solidFill>
                  <a:srgbClr val="33413D"/>
                </a:solidFill>
                <a:latin typeface="Aptos"/>
              </a:rPr>
              <a:t>assistants </a:t>
            </a:r>
            <a:r>
              <a:rPr sz="1100" b="0" i="0" dirty="0">
                <a:solidFill>
                  <a:srgbClr val="33413D"/>
                </a:solidFill>
                <a:latin typeface="Aptos"/>
              </a:rPr>
              <a:t>in action.</a:t>
            </a:r>
          </a:p>
          <a:p>
            <a:pPr>
              <a:spcBef>
                <a:spcPts val="600"/>
              </a:spcBef>
            </a:pPr>
            <a:r>
              <a:rPr sz="1100" b="0" i="0" dirty="0">
                <a:solidFill>
                  <a:srgbClr val="33413D"/>
                </a:solidFill>
                <a:latin typeface="Aptos"/>
              </a:rPr>
              <a:t>• </a:t>
            </a:r>
            <a:r>
              <a:rPr sz="1100" b="0" i="0" dirty="0" err="1">
                <a:solidFill>
                  <a:srgbClr val="33413D"/>
                </a:solidFill>
                <a:latin typeface="Aptos"/>
              </a:rPr>
              <a:t> Password-free, one-click access </a:t>
            </a:r>
            <a:r>
              <a:rPr sz="1100" b="0" i="0" dirty="0">
                <a:solidFill>
                  <a:srgbClr val="33413D"/>
                </a:solidFill>
                <a:latin typeface="Aptos"/>
              </a:rPr>
              <a:t>for </a:t>
            </a:r>
            <a:r>
              <a:rPr sz="1100" b="0" i="0" dirty="0" err="1">
                <a:solidFill>
                  <a:srgbClr val="33413D"/>
                </a:solidFill>
                <a:latin typeface="Aptos"/>
              </a:rPr>
              <a:t>quick demonstrations</a:t>
            </a:r>
            <a:r>
              <a:rPr sz="1100" b="0" i="0" dirty="0">
                <a:solidFill>
                  <a:srgbClr val="33413D"/>
                </a:solidFill>
                <a:latin typeface="Aptos"/>
              </a:rPr>
              <a:t>.</a:t>
            </a:r>
          </a:p>
        </p:txBody>
      </p:sp>
      <p:sp>
        <p:nvSpPr>
          <p:cNvPr id="12" name="Rounded Rectangle 11"/>
          <p:cNvSpPr/>
          <p:nvPr/>
        </p:nvSpPr>
        <p:spPr>
          <a:xfrm>
            <a:off x="6263640" y="2148840"/>
            <a:ext cx="5257800" cy="3200400"/>
          </a:xfrm>
          <a:prstGeom prst="roundRect">
            <a:avLst>
              <a:gd name="adj" fmla="val 5000"/>
            </a:avLst>
          </a:prstGeom>
          <a:solidFill>
            <a:srgbClr val="FBF4EA"/>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9672" y="2331720"/>
            <a:ext cx="4745736" cy="1608133"/>
          </a:xfrm>
          <a:prstGeom prst="rect">
            <a:avLst/>
          </a:prstGeom>
          <a:noFill/>
        </p:spPr>
        <p:txBody>
          <a:bodyPr wrap="square" lIns="0" tIns="0" rIns="0" bIns="0" anchor="t">
            <a:spAutoFit/>
          </a:bodyPr>
          <a:lstStyle/>
          <a:p>
            <a:r>
              <a:rPr sz="1350" b="1" i="0" dirty="0">
                <a:solidFill>
                  <a:srgbClr val="7A5410"/>
                </a:solidFill>
                <a:latin typeface="Aptos"/>
              </a:rPr>
              <a:t>What the demonstration </a:t>
            </a:r>
            <a:r>
              <a:rPr sz="1350" b="1" i="0" dirty="0" err="1">
                <a:solidFill>
                  <a:srgbClr val="7A5410"/>
                </a:solidFill>
                <a:latin typeface="Aptos"/>
              </a:rPr>
              <a:t>deliberately </a:t>
            </a:r>
            <a:r>
              <a:rPr sz="1350" b="1" i="0" dirty="0">
                <a:solidFill>
                  <a:srgbClr val="7A5410"/>
                </a:solidFill>
                <a:latin typeface="Aptos"/>
              </a:rPr>
              <a:t>does not </a:t>
            </a:r>
            <a:r>
              <a:rPr sz="1350" b="1" i="0" dirty="0" err="1">
                <a:solidFill>
                  <a:srgbClr val="7A5410"/>
                </a:solidFill>
                <a:latin typeface="Aptos"/>
              </a:rPr>
              <a:t>yet </a:t>
            </a:r>
            <a:r>
              <a:rPr sz="1350" b="1" i="0" dirty="0">
                <a:solidFill>
                  <a:srgbClr val="7A5410"/>
                </a:solidFill>
                <a:latin typeface="Aptos"/>
              </a:rPr>
              <a:t>do</a:t>
            </a:r>
          </a:p>
          <a:p>
            <a:pPr>
              <a:spcBef>
                <a:spcPts val="600"/>
              </a:spcBef>
            </a:pPr>
            <a:r>
              <a:rPr sz="1100" b="0" i="0" dirty="0">
                <a:solidFill>
                  <a:srgbClr val="33413D"/>
                </a:solidFill>
                <a:latin typeface="Aptos"/>
              </a:rPr>
              <a:t>• </a:t>
            </a:r>
            <a:r>
              <a:rPr sz="1100" b="0" i="0" dirty="0" err="1">
                <a:solidFill>
                  <a:srgbClr val="33413D"/>
                </a:solidFill>
                <a:latin typeface="Aptos"/>
              </a:rPr>
              <a:t> No actual payments are processed </a:t>
            </a:r>
            <a:r>
              <a:rPr sz="1100" b="0" i="0" dirty="0">
                <a:solidFill>
                  <a:srgbClr val="33413D"/>
                </a:solidFill>
                <a:latin typeface="Aptos"/>
              </a:rPr>
              <a:t>and </a:t>
            </a:r>
            <a:r>
              <a:rPr sz="1100" b="0" i="0" dirty="0" err="1">
                <a:solidFill>
                  <a:srgbClr val="33413D"/>
                </a:solidFill>
                <a:latin typeface="Aptos"/>
              </a:rPr>
              <a:t>no accounts are debited</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No access is </a:t>
            </a:r>
            <a:r>
              <a:rPr sz="1100" b="0" i="0" dirty="0">
                <a:solidFill>
                  <a:srgbClr val="33413D"/>
                </a:solidFill>
                <a:latin typeface="Aptos"/>
              </a:rPr>
              <a:t>actually </a:t>
            </a:r>
            <a:r>
              <a:rPr sz="1100" b="0" i="0" dirty="0" err="1">
                <a:solidFill>
                  <a:srgbClr val="33413D"/>
                </a:solidFill>
                <a:latin typeface="Aptos"/>
              </a:rPr>
              <a:t>blocked or granted</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No messages are actually sent</a:t>
            </a:r>
            <a:r>
              <a:rPr sz="1100" b="0" i="0" dirty="0">
                <a:solidFill>
                  <a:srgbClr val="33413D"/>
                </a:solidFill>
                <a:latin typeface="Aptos"/>
              </a:rPr>
              <a:t> to customers.</a:t>
            </a:r>
          </a:p>
          <a:p>
            <a:pPr>
              <a:spcBef>
                <a:spcPts val="600"/>
              </a:spcBef>
            </a:pPr>
            <a:r>
              <a:rPr sz="1100" b="0" i="0" dirty="0">
                <a:solidFill>
                  <a:srgbClr val="33413D"/>
                </a:solidFill>
                <a:latin typeface="Aptos"/>
              </a:rPr>
              <a:t>• </a:t>
            </a:r>
            <a:r>
              <a:rPr sz="1100" b="0" i="0" dirty="0" err="1">
                <a:solidFill>
                  <a:srgbClr val="33413D"/>
                </a:solidFill>
                <a:latin typeface="Aptos"/>
              </a:rPr>
              <a:t> No reports are sent </a:t>
            </a:r>
            <a:r>
              <a:rPr sz="1100" b="0" i="0" dirty="0">
                <a:solidFill>
                  <a:srgbClr val="33413D"/>
                </a:solidFill>
                <a:latin typeface="Aptos"/>
              </a:rPr>
              <a:t>to </a:t>
            </a:r>
            <a:r>
              <a:rPr sz="1100" b="0" i="0" dirty="0" err="1">
                <a:solidFill>
                  <a:srgbClr val="33413D"/>
                </a:solidFill>
                <a:latin typeface="Aptos"/>
              </a:rPr>
              <a:t>the authorities</a:t>
            </a:r>
            <a:r>
              <a:rPr sz="1100" b="0" i="0" dirty="0">
                <a:solidFill>
                  <a:srgbClr val="33413D"/>
                </a:solidFill>
                <a:latin typeface="Aptos"/>
              </a:rPr>
              <a:t>.</a:t>
            </a:r>
          </a:p>
          <a:p>
            <a:pPr>
              <a:spcBef>
                <a:spcPts val="600"/>
              </a:spcBef>
            </a:pPr>
            <a:r>
              <a:rPr sz="1100" b="0" i="0" dirty="0">
                <a:solidFill>
                  <a:srgbClr val="33413D"/>
                </a:solidFill>
                <a:latin typeface="Aptos"/>
              </a:rPr>
              <a:t>•  The AI </a:t>
            </a:r>
            <a:r>
              <a:rPr sz="1100" b="0" i="0" dirty="0" err="1">
                <a:solidFill>
                  <a:srgbClr val="33413D"/>
                </a:solidFill>
                <a:latin typeface="Aptos"/>
              </a:rPr>
              <a:t>does not make autonomous decisions </a:t>
            </a:r>
            <a:r>
              <a:rPr lang="de-DE" sz="1100" b="0" i="0" dirty="0">
                <a:solidFill>
                  <a:srgbClr val="33413D"/>
                </a:solidFill>
                <a:latin typeface="Aptos"/>
              </a:rPr>
              <a:t>– </a:t>
            </a:r>
            <a:r>
              <a:rPr sz="1100" b="0" i="0" dirty="0" err="1">
                <a:solidFill>
                  <a:srgbClr val="33413D"/>
                </a:solidFill>
                <a:latin typeface="Aptos"/>
              </a:rPr>
              <a:t>it makes recommendations </a:t>
            </a:r>
            <a:r>
              <a:rPr sz="1100" b="0" i="0" dirty="0">
                <a:solidFill>
                  <a:srgbClr val="33413D"/>
                </a:solidFill>
                <a:latin typeface="Aptos"/>
              </a:rPr>
              <a:t>and </a:t>
            </a:r>
            <a:r>
              <a:rPr sz="1100" b="0" i="0" dirty="0" err="1">
                <a:solidFill>
                  <a:srgbClr val="33413D"/>
                </a:solidFill>
                <a:latin typeface="Aptos"/>
              </a:rPr>
              <a:t>submits them for approval</a:t>
            </a:r>
            <a:r>
              <a:rPr sz="1100" b="0" i="0" dirty="0">
                <a:solidFill>
                  <a:srgbClr val="33413D"/>
                </a:solidFill>
                <a:latin typeface="Aptos"/>
              </a:rPr>
              <a:t>.</a:t>
            </a:r>
          </a:p>
        </p:txBody>
      </p:sp>
      <p:sp>
        <p:nvSpPr>
          <p:cNvPr id="14" name="TextBox 1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5" name="TextBox 1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25</a:t>
            </a:r>
          </a:p>
        </p:txBody>
      </p:sp>
      <p:pic>
        <p:nvPicPr>
          <p:cNvPr id="16" name="Picture 1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08 · THE DEMONSTRATION</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Important for any presentation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2011680"/>
            <a:ext cx="10881360" cy="219456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11680"/>
            <a:ext cx="54864" cy="219456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47322"/>
            <a:ext cx="10469880" cy="723275"/>
          </a:xfrm>
          <a:prstGeom prst="rect">
            <a:avLst/>
          </a:prstGeom>
          <a:noFill/>
        </p:spPr>
        <p:txBody>
          <a:bodyPr wrap="square" lIns="0" tIns="0" rIns="0" bIns="0" anchor="ctr">
            <a:spAutoFit/>
          </a:bodyPr>
          <a:lstStyle/>
          <a:p>
            <a:r>
              <a:rPr sz="1250" b="1" i="0" dirty="0">
                <a:solidFill>
                  <a:srgbClr val="044F49"/>
                </a:solidFill>
                <a:latin typeface="Aptos"/>
              </a:rPr>
              <a:t>The </a:t>
            </a:r>
            <a:r>
              <a:rPr sz="1250" b="1" i="0" dirty="0" err="1">
                <a:solidFill>
                  <a:srgbClr val="044F49"/>
                </a:solidFill>
                <a:latin typeface="Aptos"/>
              </a:rPr>
              <a:t>visual </a:t>
            </a:r>
            <a:r>
              <a:rPr sz="1250" b="1" i="0" dirty="0">
                <a:solidFill>
                  <a:srgbClr val="044F49"/>
                </a:solidFill>
                <a:latin typeface="Aptos"/>
              </a:rPr>
              <a:t>impact </a:t>
            </a:r>
            <a:r>
              <a:rPr sz="1250" b="1" i="0" dirty="0" err="1">
                <a:solidFill>
                  <a:srgbClr val="044F49"/>
                </a:solidFill>
                <a:latin typeface="Aptos"/>
              </a:rPr>
              <a:t>is equally </a:t>
            </a:r>
            <a:r>
              <a:rPr sz="1250" b="1" i="0" dirty="0">
                <a:solidFill>
                  <a:srgbClr val="044F49"/>
                </a:solidFill>
                <a:latin typeface="Aptos"/>
              </a:rPr>
              <a:t>strong </a:t>
            </a:r>
            <a:r>
              <a:rPr sz="1250" b="1" i="0" dirty="0" err="1">
                <a:solidFill>
                  <a:srgbClr val="044F49"/>
                </a:solidFill>
                <a:latin typeface="Aptos"/>
              </a:rPr>
              <a:t>across the board </a:t>
            </a:r>
            <a:r>
              <a:rPr lang="de-DE" sz="1250" b="1" i="0" dirty="0">
                <a:solidFill>
                  <a:srgbClr val="044F49"/>
                </a:solidFill>
                <a:latin typeface="Aptos"/>
              </a:rPr>
              <a:t>– it is </a:t>
            </a:r>
            <a:r>
              <a:rPr sz="1250" b="1" i="0" dirty="0">
                <a:solidFill>
                  <a:srgbClr val="044F49"/>
                </a:solidFill>
                <a:latin typeface="Aptos"/>
              </a:rPr>
              <a:t>the status that </a:t>
            </a:r>
            <a:r>
              <a:rPr sz="1250" b="1" i="0" dirty="0" err="1">
                <a:solidFill>
                  <a:srgbClr val="044F49"/>
                </a:solidFill>
                <a:latin typeface="Aptos"/>
              </a:rPr>
              <a:t>makes </a:t>
            </a:r>
            <a:r>
              <a:rPr sz="1250" b="1" i="0" dirty="0">
                <a:solidFill>
                  <a:srgbClr val="044F49"/>
                </a:solidFill>
                <a:latin typeface="Aptos"/>
              </a:rPr>
              <a:t>the </a:t>
            </a:r>
            <a:r>
              <a:rPr sz="1250" b="1" i="0" dirty="0" err="1">
                <a:solidFill>
                  <a:srgbClr val="044F49"/>
                </a:solidFill>
                <a:latin typeface="Aptos"/>
              </a:rPr>
              <a:t>difference</a:t>
            </a:r>
            <a:r>
              <a:rPr sz="1250" b="1" i="0" dirty="0">
                <a:solidFill>
                  <a:srgbClr val="044F49"/>
                </a:solidFill>
                <a:latin typeface="Aptos"/>
              </a:rPr>
              <a:t>.  </a:t>
            </a:r>
            <a:r>
              <a:rPr sz="1150" b="0" i="0" dirty="0">
                <a:solidFill>
                  <a:srgbClr val="33413D"/>
                </a:solidFill>
                <a:latin typeface="Aptos"/>
              </a:rPr>
              <a:t>In </a:t>
            </a:r>
            <a:r>
              <a:rPr sz="1150" b="0" i="0" dirty="0" err="1">
                <a:solidFill>
                  <a:srgbClr val="33413D"/>
                </a:solidFill>
                <a:latin typeface="Aptos"/>
              </a:rPr>
              <a:t>a demonstration</a:t>
            </a:r>
            <a:r>
              <a:rPr sz="1150" b="0" i="0" dirty="0">
                <a:solidFill>
                  <a:srgbClr val="33413D"/>
                </a:solidFill>
                <a:latin typeface="Aptos"/>
              </a:rPr>
              <a:t>, </a:t>
            </a:r>
            <a:r>
              <a:rPr sz="1150" b="0" i="0" dirty="0" err="1">
                <a:solidFill>
                  <a:srgbClr val="33413D"/>
                </a:solidFill>
                <a:latin typeface="Aptos"/>
              </a:rPr>
              <a:t>every section appears equally convincing</a:t>
            </a:r>
            <a:r>
              <a:rPr sz="1150" b="0" i="0" dirty="0">
                <a:solidFill>
                  <a:srgbClr val="33413D"/>
                </a:solidFill>
                <a:latin typeface="Aptos"/>
              </a:rPr>
              <a:t>: a </a:t>
            </a:r>
            <a:r>
              <a:rPr sz="1150" b="0" i="0" dirty="0" err="1">
                <a:solidFill>
                  <a:srgbClr val="33413D"/>
                </a:solidFill>
                <a:latin typeface="Aptos"/>
              </a:rPr>
              <a:t>fully designed page looks identical</a:t>
            </a:r>
            <a:r>
              <a:rPr sz="1150" b="0" i="0" dirty="0">
                <a:solidFill>
                  <a:srgbClr val="33413D"/>
                </a:solidFill>
                <a:latin typeface="Aptos"/>
              </a:rPr>
              <a:t>, </a:t>
            </a:r>
            <a:r>
              <a:rPr sz="1150" b="0" i="0" dirty="0" err="1">
                <a:solidFill>
                  <a:srgbClr val="33413D"/>
                </a:solidFill>
                <a:latin typeface="Aptos"/>
              </a:rPr>
              <a:t>regardless of whether it is backed by real live data or sample data</a:t>
            </a:r>
            <a:r>
              <a:rPr sz="1150" b="0" i="0" dirty="0">
                <a:solidFill>
                  <a:srgbClr val="33413D"/>
                </a:solidFill>
                <a:latin typeface="Aptos"/>
              </a:rPr>
              <a:t>. </a:t>
            </a:r>
            <a:r>
              <a:rPr sz="1150" b="0" i="0" dirty="0" err="1">
                <a:solidFill>
                  <a:srgbClr val="33413D"/>
                </a:solidFill>
                <a:latin typeface="Aptos"/>
              </a:rPr>
              <a:t>That is why </a:t>
            </a:r>
            <a:r>
              <a:rPr sz="1150" b="0" i="0" dirty="0">
                <a:solidFill>
                  <a:srgbClr val="33413D"/>
                </a:solidFill>
                <a:latin typeface="Aptos"/>
              </a:rPr>
              <a:t>the </a:t>
            </a:r>
            <a:r>
              <a:rPr sz="1150" b="0" i="0" dirty="0" err="1">
                <a:solidFill>
                  <a:srgbClr val="33413D"/>
                </a:solidFill>
                <a:latin typeface="Aptos"/>
              </a:rPr>
              <a:t>status report </a:t>
            </a:r>
            <a:r>
              <a:rPr sz="1150" b="0" i="0" dirty="0">
                <a:solidFill>
                  <a:srgbClr val="33413D"/>
                </a:solidFill>
                <a:latin typeface="Aptos"/>
              </a:rPr>
              <a:t>in </a:t>
            </a:r>
            <a:r>
              <a:rPr sz="1150" b="0" i="0" dirty="0" err="1">
                <a:solidFill>
                  <a:srgbClr val="33413D"/>
                </a:solidFill>
                <a:latin typeface="Aptos"/>
              </a:rPr>
              <a:t>Chapters</a:t>
            </a:r>
            <a:r>
              <a:rPr sz="1150" b="0" i="0" dirty="0">
                <a:solidFill>
                  <a:srgbClr val="33413D"/>
                </a:solidFill>
                <a:latin typeface="Aptos"/>
              </a:rPr>
              <a:t> 6 and 7 </a:t>
            </a:r>
            <a:r>
              <a:rPr sz="1150" b="0" i="0" dirty="0" err="1">
                <a:solidFill>
                  <a:srgbClr val="33413D"/>
                </a:solidFill>
                <a:latin typeface="Aptos"/>
              </a:rPr>
              <a:t>is </a:t>
            </a:r>
            <a:r>
              <a:rPr sz="1150" b="0" i="0" dirty="0">
                <a:solidFill>
                  <a:srgbClr val="33413D"/>
                </a:solidFill>
                <a:latin typeface="Aptos"/>
              </a:rPr>
              <a:t>so </a:t>
            </a:r>
            <a:r>
              <a:rPr sz="1150" b="0" i="0" dirty="0" err="1">
                <a:solidFill>
                  <a:srgbClr val="33413D"/>
                </a:solidFill>
                <a:latin typeface="Aptos"/>
              </a:rPr>
              <a:t>important </a:t>
            </a:r>
            <a:r>
              <a:rPr lang="de-DE" sz="1150" b="0" i="0" dirty="0">
                <a:solidFill>
                  <a:srgbClr val="33413D"/>
                </a:solidFill>
                <a:latin typeface="Aptos"/>
              </a:rPr>
              <a:t>– </a:t>
            </a:r>
            <a:r>
              <a:rPr sz="1150" b="0" i="0" dirty="0">
                <a:solidFill>
                  <a:srgbClr val="33413D"/>
                </a:solidFill>
                <a:latin typeface="Aptos"/>
              </a:rPr>
              <a:t>it </a:t>
            </a:r>
            <a:r>
              <a:rPr sz="1150" b="0" i="0" dirty="0" err="1">
                <a:solidFill>
                  <a:srgbClr val="33413D"/>
                </a:solidFill>
                <a:latin typeface="Aptos"/>
              </a:rPr>
              <a:t>ensures that expectations are based </a:t>
            </a:r>
            <a:r>
              <a:rPr sz="1150" b="0" i="0" dirty="0">
                <a:solidFill>
                  <a:srgbClr val="33413D"/>
                </a:solidFill>
                <a:latin typeface="Aptos"/>
              </a:rPr>
              <a:t>on the </a:t>
            </a:r>
            <a:r>
              <a:rPr sz="1150" b="0" i="0" dirty="0" err="1">
                <a:solidFill>
                  <a:srgbClr val="33413D"/>
                </a:solidFill>
                <a:latin typeface="Aptos"/>
              </a:rPr>
              <a:t>actual </a:t>
            </a:r>
            <a:r>
              <a:rPr sz="1150" b="0" i="0" dirty="0">
                <a:solidFill>
                  <a:srgbClr val="33413D"/>
                </a:solidFill>
                <a:latin typeface="Aptos"/>
              </a:rPr>
              <a:t>status. The </a:t>
            </a:r>
            <a:r>
              <a:rPr sz="1150" b="0" i="0" dirty="0" err="1">
                <a:solidFill>
                  <a:srgbClr val="33413D"/>
                </a:solidFill>
                <a:latin typeface="Aptos"/>
              </a:rPr>
              <a:t>steps outlined in Chapter</a:t>
            </a:r>
            <a:r>
              <a:rPr sz="1150" b="0" i="0" dirty="0">
                <a:solidFill>
                  <a:srgbClr val="33413D"/>
                </a:solidFill>
                <a:latin typeface="Aptos"/>
              </a:rPr>
              <a:t> 9 </a:t>
            </a:r>
            <a:r>
              <a:rPr sz="1150" b="0" i="0" dirty="0" err="1">
                <a:solidFill>
                  <a:srgbClr val="33413D"/>
                </a:solidFill>
                <a:latin typeface="Aptos"/>
              </a:rPr>
              <a:t>are required </a:t>
            </a:r>
            <a:r>
              <a:rPr sz="1150" b="0" i="0" dirty="0">
                <a:solidFill>
                  <a:srgbClr val="33413D"/>
                </a:solidFill>
                <a:latin typeface="Aptos"/>
              </a:rPr>
              <a:t>for the </a:t>
            </a:r>
            <a:r>
              <a:rPr sz="1150" b="0" i="0" dirty="0" err="1">
                <a:solidFill>
                  <a:srgbClr val="33413D"/>
                </a:solidFill>
                <a:latin typeface="Aptos"/>
              </a:rPr>
              <a:t>transition </a:t>
            </a:r>
            <a:r>
              <a:rPr sz="1150" b="0" i="0" dirty="0">
                <a:solidFill>
                  <a:srgbClr val="33413D"/>
                </a:solidFill>
                <a:latin typeface="Aptos"/>
              </a:rPr>
              <a:t>to </a:t>
            </a:r>
            <a:r>
              <a:rPr sz="1150" b="0" i="0" dirty="0" err="1">
                <a:solidFill>
                  <a:srgbClr val="33413D"/>
                </a:solidFill>
                <a:latin typeface="Aptos"/>
              </a:rPr>
              <a:t>live operation</a:t>
            </a:r>
            <a:r>
              <a:rPr sz="1150" b="0" i="0" dirty="0">
                <a:solidFill>
                  <a:srgbClr val="33413D"/>
                </a:solidFill>
                <a:latin typeface="Aptos"/>
              </a:rPr>
              <a:t>.</a:t>
            </a:r>
          </a:p>
        </p:txBody>
      </p:sp>
      <p:sp>
        <p:nvSpPr>
          <p:cNvPr id="12" name="TextBox 11"/>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3" name="TextBox 12"/>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26</a:t>
            </a:r>
          </a:p>
        </p:txBody>
      </p:sp>
      <p:pic>
        <p:nvPicPr>
          <p:cNvPr id="14" name="Picture 13"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09</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Next Steps (1/2)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554480"/>
            <a:ext cx="10881360" cy="1234440"/>
          </a:xfrm>
          <a:prstGeom prst="roundRect">
            <a:avLst>
              <a:gd name="adj" fmla="val 5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554480"/>
            <a:ext cx="54864" cy="12344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691640"/>
            <a:ext cx="10332720" cy="589905"/>
          </a:xfrm>
          <a:prstGeom prst="rect">
            <a:avLst/>
          </a:prstGeom>
          <a:noFill/>
        </p:spPr>
        <p:txBody>
          <a:bodyPr wrap="square" lIns="0" tIns="0" rIns="0" bIns="0" anchor="t">
            <a:spAutoFit/>
          </a:bodyPr>
          <a:lstStyle/>
          <a:p>
            <a:r>
              <a:rPr sz="1300" b="1" i="0" dirty="0">
                <a:solidFill>
                  <a:srgbClr val="044F49"/>
                </a:solidFill>
                <a:latin typeface="Aptos"/>
              </a:rPr>
              <a:t>Step 1 </a:t>
            </a:r>
            <a:r>
              <a:rPr lang="de-DE" sz="1300" b="1" i="0" dirty="0">
                <a:solidFill>
                  <a:srgbClr val="044F49"/>
                </a:solidFill>
                <a:latin typeface="Aptos"/>
              </a:rPr>
              <a:t>– </a:t>
            </a:r>
            <a:r>
              <a:rPr sz="1300" b="1" i="0" dirty="0">
                <a:solidFill>
                  <a:srgbClr val="044F49"/>
                </a:solidFill>
                <a:latin typeface="Aptos"/>
              </a:rPr>
              <a:t>Rapid, </a:t>
            </a:r>
            <a:r>
              <a:rPr sz="1300" b="1" i="0" dirty="0" err="1">
                <a:solidFill>
                  <a:srgbClr val="044F49"/>
                </a:solidFill>
                <a:latin typeface="Aptos"/>
              </a:rPr>
              <a:t>visible progress </a:t>
            </a:r>
            <a:r>
              <a:rPr sz="1300" b="1" i="0" dirty="0">
                <a:solidFill>
                  <a:srgbClr val="044F49"/>
                </a:solidFill>
                <a:latin typeface="Aptos"/>
              </a:rPr>
              <a:t>(</a:t>
            </a:r>
            <a:r>
              <a:rPr sz="1300" b="1" i="0" dirty="0" err="1">
                <a:solidFill>
                  <a:srgbClr val="044F49"/>
                </a:solidFill>
                <a:latin typeface="Aptos"/>
              </a:rPr>
              <a:t>without </a:t>
            </a:r>
            <a:r>
              <a:rPr sz="1300" b="1" i="0" dirty="0">
                <a:solidFill>
                  <a:srgbClr val="044F49"/>
                </a:solidFill>
                <a:latin typeface="Aptos"/>
              </a:rPr>
              <a:t>external </a:t>
            </a:r>
            <a:r>
              <a:rPr sz="1300" b="1" i="0" dirty="0" err="1">
                <a:solidFill>
                  <a:srgbClr val="044F49"/>
                </a:solidFill>
                <a:latin typeface="Aptos"/>
              </a:rPr>
              <a:t>dependencies</a:t>
            </a:r>
            <a:r>
              <a:rPr sz="1300" b="1" i="0" dirty="0">
                <a:solidFill>
                  <a:srgbClr val="044F49"/>
                </a:solidFill>
                <a:latin typeface="Aptos"/>
              </a:rPr>
              <a:t>)</a:t>
            </a:r>
          </a:p>
          <a:p>
            <a:pPr>
              <a:spcBef>
                <a:spcPts val="400"/>
              </a:spcBef>
            </a:pPr>
            <a:r>
              <a:rPr sz="1100" b="0" i="0" dirty="0" err="1">
                <a:solidFill>
                  <a:srgbClr val="33413D"/>
                </a:solidFill>
                <a:latin typeface="Aptos"/>
              </a:rPr>
              <a:t>Connect several </a:t>
            </a:r>
            <a:r>
              <a:rPr sz="1100" b="0" i="0" dirty="0">
                <a:solidFill>
                  <a:srgbClr val="33413D"/>
                </a:solidFill>
                <a:latin typeface="Aptos"/>
              </a:rPr>
              <a:t>analysis and </a:t>
            </a:r>
            <a:r>
              <a:rPr sz="1100" b="0" i="0" dirty="0" err="1">
                <a:solidFill>
                  <a:srgbClr val="33413D"/>
                </a:solidFill>
                <a:latin typeface="Aptos"/>
              </a:rPr>
              <a:t>overview pages </a:t>
            </a:r>
            <a:r>
              <a:rPr sz="1100" b="0" i="0" dirty="0">
                <a:solidFill>
                  <a:srgbClr val="33413D"/>
                </a:solidFill>
                <a:latin typeface="Aptos"/>
              </a:rPr>
              <a:t>(property matrix, </a:t>
            </a:r>
            <a:r>
              <a:rPr sz="1100" b="0" i="0" dirty="0" err="1">
                <a:solidFill>
                  <a:srgbClr val="33413D"/>
                </a:solidFill>
                <a:latin typeface="Aptos"/>
              </a:rPr>
              <a:t>financial overview</a:t>
            </a:r>
            <a:r>
              <a:rPr sz="1100" b="0" i="0" dirty="0">
                <a:solidFill>
                  <a:srgbClr val="33413D"/>
                </a:solidFill>
                <a:latin typeface="Aptos"/>
              </a:rPr>
              <a:t>, </a:t>
            </a:r>
            <a:r>
              <a:rPr sz="1100" b="0" i="0" dirty="0" err="1">
                <a:solidFill>
                  <a:srgbClr val="33413D"/>
                </a:solidFill>
                <a:latin typeface="Aptos"/>
              </a:rPr>
              <a:t>reports</a:t>
            </a:r>
            <a:r>
              <a:rPr sz="1100" b="0" i="0" dirty="0">
                <a:solidFill>
                  <a:srgbClr val="33413D"/>
                </a:solidFill>
                <a:latin typeface="Aptos"/>
              </a:rPr>
              <a:t>) to the </a:t>
            </a:r>
            <a:r>
              <a:rPr sz="1100" b="0" i="0" dirty="0" err="1">
                <a:solidFill>
                  <a:srgbClr val="33413D"/>
                </a:solidFill>
                <a:latin typeface="Aptos"/>
              </a:rPr>
              <a:t>existing live data connection</a:t>
            </a:r>
            <a:r>
              <a:rPr sz="1100" b="0" i="0" dirty="0">
                <a:solidFill>
                  <a:srgbClr val="33413D"/>
                </a:solidFill>
                <a:latin typeface="Aptos"/>
              </a:rPr>
              <a:t>. The </a:t>
            </a:r>
            <a:r>
              <a:rPr sz="1100" b="0" i="0" dirty="0" err="1">
                <a:solidFill>
                  <a:srgbClr val="33413D"/>
                </a:solidFill>
                <a:latin typeface="Aptos"/>
              </a:rPr>
              <a:t>technical foundation is in place </a:t>
            </a:r>
            <a:r>
              <a:rPr lang="de-DE" sz="1100" b="0" i="0" dirty="0">
                <a:solidFill>
                  <a:srgbClr val="33413D"/>
                </a:solidFill>
                <a:latin typeface="Aptos"/>
              </a:rPr>
              <a:t>– </a:t>
            </a:r>
            <a:r>
              <a:rPr sz="1100" b="0" i="0" dirty="0" err="1">
                <a:solidFill>
                  <a:srgbClr val="33413D"/>
                </a:solidFill>
                <a:latin typeface="Aptos"/>
              </a:rPr>
              <a:t>it’s </a:t>
            </a:r>
            <a:r>
              <a:rPr sz="1100" b="0" i="0" dirty="0">
                <a:solidFill>
                  <a:srgbClr val="33413D"/>
                </a:solidFill>
                <a:latin typeface="Aptos"/>
              </a:rPr>
              <a:t>about the </a:t>
            </a:r>
            <a:r>
              <a:rPr sz="1100" b="0" i="0" dirty="0" err="1">
                <a:solidFill>
                  <a:srgbClr val="33413D"/>
                </a:solidFill>
                <a:latin typeface="Aptos"/>
              </a:rPr>
              <a:t>connection</a:t>
            </a:r>
            <a:r>
              <a:rPr sz="1100" b="0" i="0" dirty="0">
                <a:solidFill>
                  <a:srgbClr val="33413D"/>
                </a:solidFill>
                <a:latin typeface="Aptos"/>
              </a:rPr>
              <a:t>, not about </a:t>
            </a:r>
            <a:r>
              <a:rPr sz="1100" b="0" i="0" dirty="0" err="1">
                <a:solidFill>
                  <a:srgbClr val="33413D"/>
                </a:solidFill>
                <a:latin typeface="Aptos"/>
              </a:rPr>
              <a:t>developing something new</a:t>
            </a:r>
            <a:r>
              <a:rPr sz="1100" b="0" i="0" dirty="0">
                <a:solidFill>
                  <a:srgbClr val="33413D"/>
                </a:solidFill>
                <a:latin typeface="Aptos"/>
              </a:rPr>
              <a:t>. </a:t>
            </a:r>
            <a:r>
              <a:rPr sz="1100" b="0" i="0" dirty="0" err="1">
                <a:solidFill>
                  <a:srgbClr val="33413D"/>
                </a:solidFill>
                <a:latin typeface="Aptos"/>
              </a:rPr>
              <a:t>Result</a:t>
            </a:r>
            <a:r>
              <a:rPr sz="1100" b="0" i="0" dirty="0">
                <a:solidFill>
                  <a:srgbClr val="33413D"/>
                </a:solidFill>
                <a:latin typeface="Aptos"/>
              </a:rPr>
              <a:t>: </a:t>
            </a:r>
            <a:r>
              <a:rPr sz="1100" b="0" i="0" dirty="0" err="1">
                <a:solidFill>
                  <a:srgbClr val="33413D"/>
                </a:solidFill>
                <a:latin typeface="Aptos"/>
              </a:rPr>
              <a:t>a noticeable increase in genuine live data with minimal effort</a:t>
            </a:r>
            <a:r>
              <a:rPr sz="1100" b="0" i="0" dirty="0">
                <a:solidFill>
                  <a:srgbClr val="33413D"/>
                </a:solidFill>
                <a:latin typeface="Aptos"/>
              </a:rPr>
              <a:t>.</a:t>
            </a:r>
          </a:p>
        </p:txBody>
      </p:sp>
      <p:sp>
        <p:nvSpPr>
          <p:cNvPr id="12" name="Rounded Rectangle 11"/>
          <p:cNvSpPr/>
          <p:nvPr/>
        </p:nvSpPr>
        <p:spPr>
          <a:xfrm>
            <a:off x="640080" y="2971800"/>
            <a:ext cx="10881360" cy="233172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2971800"/>
            <a:ext cx="54864" cy="233172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108960"/>
            <a:ext cx="10332720" cy="1133644"/>
          </a:xfrm>
          <a:prstGeom prst="rect">
            <a:avLst/>
          </a:prstGeom>
          <a:noFill/>
        </p:spPr>
        <p:txBody>
          <a:bodyPr wrap="square" lIns="0" tIns="0" rIns="0" bIns="0" anchor="t">
            <a:spAutoFit/>
          </a:bodyPr>
          <a:lstStyle/>
          <a:p>
            <a:r>
              <a:rPr sz="1300" b="1" i="0" dirty="0">
                <a:solidFill>
                  <a:srgbClr val="044F49"/>
                </a:solidFill>
                <a:latin typeface="Aptos"/>
              </a:rPr>
              <a:t>Step 2 </a:t>
            </a:r>
            <a:r>
              <a:rPr lang="de-DE" sz="1300" b="1" i="0" dirty="0">
                <a:solidFill>
                  <a:srgbClr val="044F49"/>
                </a:solidFill>
                <a:latin typeface="Aptos"/>
              </a:rPr>
              <a:t>– </a:t>
            </a:r>
            <a:r>
              <a:rPr sz="1300" b="1" i="0" dirty="0" err="1">
                <a:solidFill>
                  <a:srgbClr val="044F49"/>
                </a:solidFill>
                <a:latin typeface="Aptos"/>
              </a:rPr>
              <a:t>Finalise core functions </a:t>
            </a:r>
            <a:r>
              <a:rPr sz="1300" b="1" i="0" dirty="0">
                <a:solidFill>
                  <a:srgbClr val="044F49"/>
                </a:solidFill>
                <a:latin typeface="Aptos"/>
              </a:rPr>
              <a:t>for </a:t>
            </a:r>
            <a:r>
              <a:rPr sz="1300" b="1" i="0" dirty="0" err="1">
                <a:solidFill>
                  <a:srgbClr val="044F49"/>
                </a:solidFill>
                <a:latin typeface="Aptos"/>
              </a:rPr>
              <a:t>day-to-day operations</a:t>
            </a:r>
            <a:endParaRPr sz="1300" b="1" i="0" dirty="0">
              <a:solidFill>
                <a:srgbClr val="044F49"/>
              </a:solidFill>
              <a:latin typeface="Aptos"/>
            </a:endParaRPr>
          </a:p>
          <a:p>
            <a:pPr>
              <a:spcBef>
                <a:spcPts val="500"/>
              </a:spcBef>
            </a:pPr>
            <a:r>
              <a:rPr sz="1100" b="0" i="0" dirty="0">
                <a:solidFill>
                  <a:srgbClr val="33413D"/>
                </a:solidFill>
                <a:latin typeface="Aptos"/>
              </a:rPr>
              <a:t>• </a:t>
            </a:r>
            <a:r>
              <a:rPr sz="1100" b="0" i="0" dirty="0" err="1">
                <a:solidFill>
                  <a:srgbClr val="33413D"/>
                </a:solidFill>
                <a:latin typeface="Aptos"/>
              </a:rPr>
              <a:t> Create a reservation/booking </a:t>
            </a:r>
            <a:r>
              <a:rPr lang="de-DE" sz="1100" b="0" i="0" dirty="0">
                <a:solidFill>
                  <a:srgbClr val="33413D"/>
                </a:solidFill>
                <a:latin typeface="Aptos"/>
              </a:rPr>
              <a:t>– </a:t>
            </a:r>
            <a:r>
              <a:rPr sz="1100" b="0" i="0" dirty="0">
                <a:solidFill>
                  <a:srgbClr val="33413D"/>
                </a:solidFill>
                <a:latin typeface="Aptos"/>
              </a:rPr>
              <a:t>the </a:t>
            </a:r>
            <a:r>
              <a:rPr sz="1100" b="0" i="0" dirty="0" err="1">
                <a:solidFill>
                  <a:srgbClr val="33413D"/>
                </a:solidFill>
                <a:latin typeface="Aptos"/>
              </a:rPr>
              <a:t>core function </a:t>
            </a:r>
            <a:r>
              <a:rPr sz="1100" b="0" i="0" dirty="0">
                <a:solidFill>
                  <a:srgbClr val="33413D"/>
                </a:solidFill>
                <a:latin typeface="Aptos"/>
              </a:rPr>
              <a:t>you </a:t>
            </a:r>
            <a:r>
              <a:rPr sz="1100" b="0" i="0" dirty="0" err="1">
                <a:solidFill>
                  <a:srgbClr val="33413D"/>
                </a:solidFill>
                <a:latin typeface="Aptos"/>
              </a:rPr>
              <a:t>requested </a:t>
            </a:r>
            <a:r>
              <a:rPr sz="1100" b="0" i="0" dirty="0">
                <a:solidFill>
                  <a:srgbClr val="33413D"/>
                </a:solidFill>
                <a:latin typeface="Aptos"/>
              </a:rPr>
              <a:t>for </a:t>
            </a:r>
            <a:r>
              <a:rPr sz="1100" b="0" i="0" dirty="0" err="1">
                <a:solidFill>
                  <a:srgbClr val="33413D"/>
                </a:solidFill>
                <a:latin typeface="Aptos"/>
              </a:rPr>
              <a:t>letting</a:t>
            </a:r>
            <a:r>
              <a:rPr sz="1100" b="0" i="0" dirty="0">
                <a:solidFill>
                  <a:srgbClr val="33413D"/>
                </a:solidFill>
                <a:latin typeface="Aptos"/>
              </a:rPr>
              <a:t>.</a:t>
            </a:r>
          </a:p>
          <a:p>
            <a:pPr>
              <a:spcBef>
                <a:spcPts val="500"/>
              </a:spcBef>
            </a:pPr>
            <a:r>
              <a:rPr sz="1100" b="0" i="0" dirty="0" err="1">
                <a:solidFill>
                  <a:srgbClr val="33413D"/>
                </a:solidFill>
                <a:latin typeface="Aptos"/>
              </a:rPr>
              <a:t>•  Enter a financial transaction </a:t>
            </a:r>
            <a:r>
              <a:rPr lang="de-DE" sz="1100" b="0" i="0" dirty="0">
                <a:solidFill>
                  <a:srgbClr val="33413D"/>
                </a:solidFill>
                <a:latin typeface="Aptos"/>
              </a:rPr>
              <a:t>– </a:t>
            </a:r>
            <a:r>
              <a:rPr sz="1100" b="0" i="0" dirty="0" err="1">
                <a:solidFill>
                  <a:srgbClr val="33413D"/>
                </a:solidFill>
                <a:latin typeface="Aptos"/>
              </a:rPr>
              <a:t>protected by </a:t>
            </a:r>
            <a:r>
              <a:rPr sz="1100" b="0" i="0" dirty="0">
                <a:solidFill>
                  <a:srgbClr val="33413D"/>
                </a:solidFill>
                <a:latin typeface="Aptos"/>
              </a:rPr>
              <a:t>the </a:t>
            </a:r>
            <a:r>
              <a:rPr sz="1100" b="0" i="0" dirty="0" err="1">
                <a:solidFill>
                  <a:srgbClr val="33413D"/>
                </a:solidFill>
                <a:latin typeface="Aptos"/>
              </a:rPr>
              <a:t>existing immutability safeguard</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 Photo/video evidence </a:t>
            </a:r>
            <a:r>
              <a:rPr sz="1100" b="0" i="0" dirty="0">
                <a:solidFill>
                  <a:srgbClr val="33413D"/>
                </a:solidFill>
                <a:latin typeface="Aptos"/>
              </a:rPr>
              <a:t>for </a:t>
            </a:r>
            <a:r>
              <a:rPr sz="1100" b="0" i="0" dirty="0" err="1">
                <a:solidFill>
                  <a:srgbClr val="33413D"/>
                </a:solidFill>
                <a:latin typeface="Aptos"/>
              </a:rPr>
              <a:t>service orders by field staff</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 Processing overview </a:t>
            </a:r>
            <a:r>
              <a:rPr sz="1100" b="0" i="0" dirty="0">
                <a:solidFill>
                  <a:srgbClr val="33413D"/>
                </a:solidFill>
                <a:latin typeface="Aptos"/>
              </a:rPr>
              <a:t>for </a:t>
            </a:r>
            <a:r>
              <a:rPr sz="1100" b="0" i="0" dirty="0" err="1">
                <a:solidFill>
                  <a:srgbClr val="33413D"/>
                </a:solidFill>
                <a:latin typeface="Aptos"/>
              </a:rPr>
              <a:t>incoming registrations </a:t>
            </a:r>
            <a:r>
              <a:rPr sz="1100" b="0" i="0" dirty="0">
                <a:solidFill>
                  <a:srgbClr val="33413D"/>
                </a:solidFill>
                <a:latin typeface="Aptos"/>
              </a:rPr>
              <a:t>and </a:t>
            </a:r>
            <a:r>
              <a:rPr sz="1100" b="0" i="0" dirty="0" err="1">
                <a:solidFill>
                  <a:srgbClr val="33413D"/>
                </a:solidFill>
                <a:latin typeface="Aptos"/>
              </a:rPr>
              <a:t>reports from </a:t>
            </a:r>
            <a:r>
              <a:rPr sz="1100" b="0" i="0" dirty="0">
                <a:solidFill>
                  <a:srgbClr val="33413D"/>
                </a:solidFill>
                <a:latin typeface="Aptos"/>
              </a:rPr>
              <a:t>the </a:t>
            </a:r>
            <a:r>
              <a:rPr sz="1100" b="0" i="0" dirty="0" err="1">
                <a:solidFill>
                  <a:srgbClr val="33413D"/>
                </a:solidFill>
                <a:latin typeface="Aptos"/>
              </a:rPr>
              <a:t>public domain</a:t>
            </a:r>
            <a:r>
              <a:rPr sz="1100" b="0" i="0" dirty="0">
                <a:solidFill>
                  <a:srgbClr val="33413D"/>
                </a:solidFill>
                <a:latin typeface="Aptos"/>
              </a:rPr>
              <a:t>, </a:t>
            </a:r>
            <a:r>
              <a:rPr sz="1100" b="0" i="0" dirty="0" err="1">
                <a:solidFill>
                  <a:srgbClr val="33413D"/>
                </a:solidFill>
                <a:latin typeface="Aptos"/>
              </a:rPr>
              <a:t>including approval </a:t>
            </a:r>
            <a:r>
              <a:rPr sz="1100" b="0" i="0" dirty="0">
                <a:solidFill>
                  <a:srgbClr val="33413D"/>
                </a:solidFill>
                <a:latin typeface="Aptos"/>
              </a:rPr>
              <a:t>and </a:t>
            </a:r>
            <a:r>
              <a:rPr sz="1100" b="0" i="0" dirty="0" err="1">
                <a:solidFill>
                  <a:srgbClr val="33413D"/>
                </a:solidFill>
                <a:latin typeface="Aptos"/>
              </a:rPr>
              <a:t>conversion </a:t>
            </a:r>
            <a:r>
              <a:rPr sz="1100" b="0" i="0" dirty="0">
                <a:solidFill>
                  <a:srgbClr val="33413D"/>
                </a:solidFill>
                <a:latin typeface="Aptos"/>
              </a:rPr>
              <a:t>into </a:t>
            </a:r>
            <a:r>
              <a:rPr sz="1100" b="0" i="0" dirty="0" err="1">
                <a:solidFill>
                  <a:srgbClr val="33413D"/>
                </a:solidFill>
                <a:latin typeface="Aptos"/>
              </a:rPr>
              <a:t>an account </a:t>
            </a:r>
            <a:r>
              <a:rPr sz="1100" b="0" i="0" dirty="0">
                <a:solidFill>
                  <a:srgbClr val="33413D"/>
                </a:solidFill>
                <a:latin typeface="Aptos"/>
              </a:rPr>
              <a:t>or ticket.</a:t>
            </a:r>
          </a:p>
        </p:txBody>
      </p:sp>
      <p:sp>
        <p:nvSpPr>
          <p:cNvPr id="15" name="TextBox 1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6" name="TextBox 1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27</a:t>
            </a:r>
          </a:p>
        </p:txBody>
      </p:sp>
      <p:pic>
        <p:nvPicPr>
          <p:cNvPr id="17" name="Picture 1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09 · NEXT STEPS</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Step 3 </a:t>
            </a:r>
            <a:r>
              <a:rPr lang="de-DE" sz="2700" b="1" i="0" dirty="0">
                <a:solidFill>
                  <a:srgbClr val="044F49"/>
                </a:solidFill>
                <a:latin typeface="Aptos"/>
              </a:rPr>
              <a:t>– </a:t>
            </a:r>
            <a:r>
              <a:rPr sz="2700" b="1" i="0" dirty="0" err="1">
                <a:solidFill>
                  <a:srgbClr val="044F49"/>
                </a:solidFill>
                <a:latin typeface="Aptos"/>
              </a:rPr>
              <a:t>Approvals </a:t>
            </a:r>
            <a:r>
              <a:rPr sz="2700" b="1" i="0" dirty="0">
                <a:solidFill>
                  <a:srgbClr val="044F49"/>
                </a:solidFill>
                <a:latin typeface="Aptos"/>
              </a:rPr>
              <a:t>&amp; </a:t>
            </a:r>
            <a:r>
              <a:rPr sz="2700" b="1" i="0" dirty="0" err="1">
                <a:solidFill>
                  <a:srgbClr val="044F49"/>
                </a:solidFill>
                <a:latin typeface="Aptos"/>
              </a:rPr>
              <a:t>Decisions on Your Part</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463040"/>
            <a:ext cx="10881360" cy="502920"/>
          </a:xfrm>
          <a:prstGeom prst="rect">
            <a:avLst/>
          </a:prstGeom>
          <a:noFill/>
        </p:spPr>
        <p:txBody>
          <a:bodyPr wrap="square" lIns="0" tIns="0" rIns="0" bIns="0" anchor="t">
            <a:spAutoFit/>
          </a:bodyPr>
          <a:lstStyle/>
          <a:p>
            <a:pPr>
              <a:spcAft>
                <a:spcPts val="600"/>
              </a:spcAft>
            </a:pPr>
            <a:r>
              <a:rPr sz="1100" i="0">
                <a:solidFill>
                  <a:srgbClr val="33413D"/>
                </a:solidFill>
                <a:latin typeface="Aptos"/>
              </a:rPr>
              <a:t>These points cannot be influenced by the pace of development and should be initiated early on in parallel:</a:t>
            </a:r>
          </a:p>
        </p:txBody>
      </p:sp>
      <p:graphicFrame>
        <p:nvGraphicFramePr>
          <p:cNvPr id="10" name="Table 9"/>
          <p:cNvGraphicFramePr>
            <a:graphicFrameLocks noGrp="1"/>
          </p:cNvGraphicFramePr>
          <p:nvPr/>
        </p:nvGraphicFramePr>
        <p:xfrm>
          <a:off x="640080" y="1965960"/>
          <a:ext cx="10881359" cy="2926080"/>
        </p:xfrm>
        <a:graphic>
          <a:graphicData uri="http://schemas.openxmlformats.org/drawingml/2006/table">
            <a:tbl>
              <a:tblPr>
                <a:tableStyleId>{5C22544A-7EE6-4342-B048-85BDC9FD1C3A}</a:tableStyleId>
              </a:tblPr>
              <a:tblGrid>
                <a:gridCol w="3482035">
                  <a:extLst>
                    <a:ext uri="{9D8B030D-6E8A-4147-A177-3AD203B41FA5}">
                      <a16:colId xmlns:a16="http://schemas.microsoft.com/office/drawing/2014/main" val="20000"/>
                    </a:ext>
                  </a:extLst>
                </a:gridCol>
                <a:gridCol w="7399324">
                  <a:extLst>
                    <a:ext uri="{9D8B030D-6E8A-4147-A177-3AD203B41FA5}">
                      <a16:colId xmlns:a16="http://schemas.microsoft.com/office/drawing/2014/main" val="20001"/>
                    </a:ext>
                  </a:extLst>
                </a:gridCol>
              </a:tblGrid>
              <a:tr h="365760">
                <a:tc>
                  <a:txBody>
                    <a:bodyPr/>
                    <a:lstStyle/>
                    <a:p>
                      <a:r>
                        <a:rPr sz="1050" b="1" i="0">
                          <a:solidFill>
                            <a:srgbClr val="FFFFFF"/>
                          </a:solidFill>
                          <a:latin typeface="Aptos"/>
                        </a:rPr>
                        <a:t>Topic</a:t>
                      </a:r>
                    </a:p>
                  </a:txBody>
                  <a:tcPr marL="73152" marR="73152" marT="36576" marB="36576" anchor="ctr">
                    <a:solidFill>
                      <a:srgbClr val="066B63"/>
                    </a:solidFill>
                  </a:tcPr>
                </a:tc>
                <a:tc>
                  <a:txBody>
                    <a:bodyPr/>
                    <a:lstStyle/>
                    <a:p>
                      <a:r>
                        <a:rPr sz="1050" b="1" i="0">
                          <a:solidFill>
                            <a:srgbClr val="FFFFFF"/>
                          </a:solidFill>
                          <a:latin typeface="Aptos"/>
                        </a:rPr>
                        <a:t>Required decision / approval</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00" b="1" i="0">
                          <a:solidFill>
                            <a:srgbClr val="101820"/>
                          </a:solidFill>
                          <a:latin typeface="Aptos"/>
                        </a:rPr>
                        <a:t>Production database &amp; hosting</a:t>
                      </a:r>
                    </a:p>
                  </a:txBody>
                  <a:tcPr marL="73152" marR="73152" marT="36576" marB="36576" anchor="ctr">
                    <a:solidFill>
                      <a:srgbClr val="FFFFFF"/>
                    </a:solidFill>
                  </a:tcPr>
                </a:tc>
                <a:tc>
                  <a:txBody>
                    <a:bodyPr/>
                    <a:lstStyle/>
                    <a:p>
                      <a:r>
                        <a:rPr sz="1000" b="0" i="0">
                          <a:solidFill>
                            <a:srgbClr val="33413D"/>
                          </a:solidFill>
                          <a:latin typeface="Aptos"/>
                        </a:rPr>
                        <a:t>Approval of environment, region, backup policy and budget for production operation.</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000" b="1" i="0">
                          <a:solidFill>
                            <a:srgbClr val="101820"/>
                          </a:solidFill>
                          <a:latin typeface="Aptos"/>
                        </a:rPr>
                        <a:t>Payment &amp; banking integration</a:t>
                      </a:r>
                    </a:p>
                  </a:txBody>
                  <a:tcPr marL="73152" marR="73152" marT="36576" marB="36576" anchor="ctr">
                    <a:solidFill>
                      <a:srgbClr val="F1F5F4"/>
                    </a:solidFill>
                  </a:tcPr>
                </a:tc>
                <a:tc>
                  <a:txBody>
                    <a:bodyPr/>
                    <a:lstStyle/>
                    <a:p>
                      <a:r>
                        <a:rPr sz="1000" b="0" i="0">
                          <a:solidFill>
                            <a:srgbClr val="33413D"/>
                          </a:solidFill>
                          <a:latin typeface="Aptos"/>
                        </a:rPr>
                        <a:t>Selection of provider or confirmation of a bank/bank transfer workflow.</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1000" b="1" i="0">
                          <a:solidFill>
                            <a:srgbClr val="101820"/>
                          </a:solidFill>
                          <a:latin typeface="Aptos"/>
                        </a:rPr>
                        <a:t>Communication channels</a:t>
                      </a:r>
                    </a:p>
                  </a:txBody>
                  <a:tcPr marL="73152" marR="73152" marT="36576" marB="36576" anchor="ctr">
                    <a:solidFill>
                      <a:srgbClr val="FFFFFF"/>
                    </a:solidFill>
                  </a:tcPr>
                </a:tc>
                <a:tc>
                  <a:txBody>
                    <a:bodyPr/>
                    <a:lstStyle/>
                    <a:p>
                      <a:r>
                        <a:rPr sz="1000" b="0" i="0">
                          <a:solidFill>
                            <a:srgbClr val="33413D"/>
                          </a:solidFill>
                          <a:latin typeface="Aptos"/>
                        </a:rPr>
                        <a:t>Selection of providers for SMS, email and push notifications; WhatsApp Business verification (lead time 1–6 weeks).</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000" b="1" i="0">
                          <a:solidFill>
                            <a:srgbClr val="101820"/>
                          </a:solidFill>
                          <a:latin typeface="Aptos"/>
                        </a:rPr>
                        <a:t>Access system</a:t>
                      </a:r>
                    </a:p>
                  </a:txBody>
                  <a:tcPr marL="73152" marR="73152" marT="36576" marB="36576" anchor="ctr">
                    <a:solidFill>
                      <a:srgbClr val="F1F5F4"/>
                    </a:solidFill>
                  </a:tcPr>
                </a:tc>
                <a:tc>
                  <a:txBody>
                    <a:bodyPr/>
                    <a:lstStyle/>
                    <a:p>
                      <a:r>
                        <a:rPr sz="1000" b="0" i="0">
                          <a:solidFill>
                            <a:srgbClr val="33413D"/>
                          </a:solidFill>
                          <a:latin typeface="Aptos"/>
                        </a:rPr>
                        <a:t>On-site assessment of hardware and legal constraints on access procedures.</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1000" b="1" i="0">
                          <a:solidFill>
                            <a:srgbClr val="101820"/>
                          </a:solidFill>
                          <a:latin typeface="Aptos"/>
                        </a:rPr>
                        <a:t>Identity verification</a:t>
                      </a:r>
                    </a:p>
                  </a:txBody>
                  <a:tcPr marL="73152" marR="73152" marT="36576" marB="36576" anchor="ctr">
                    <a:solidFill>
                      <a:srgbClr val="FFFFFF"/>
                    </a:solidFill>
                  </a:tcPr>
                </a:tc>
                <a:tc>
                  <a:txBody>
                    <a:bodyPr/>
                    <a:lstStyle/>
                    <a:p>
                      <a:r>
                        <a:rPr sz="1000" b="0" i="0">
                          <a:solidFill>
                            <a:srgbClr val="33413D"/>
                          </a:solidFill>
                          <a:latin typeface="Aptos"/>
                        </a:rPr>
                        <a:t>Selection of a verification service for owner/tenant registration.</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1000" b="1" i="0">
                          <a:solidFill>
                            <a:srgbClr val="101820"/>
                          </a:solidFill>
                          <a:latin typeface="Aptos"/>
                        </a:rPr>
                        <a:t>Legal confirmations</a:t>
                      </a:r>
                    </a:p>
                  </a:txBody>
                  <a:tcPr marL="73152" marR="73152" marT="36576" marB="36576" anchor="ctr">
                    <a:solidFill>
                      <a:srgbClr val="F1F5F4"/>
                    </a:solidFill>
                  </a:tcPr>
                </a:tc>
                <a:tc>
                  <a:txBody>
                    <a:bodyPr/>
                    <a:lstStyle/>
                    <a:p>
                      <a:r>
                        <a:rPr sz="1000" b="0" i="0">
                          <a:solidFill>
                            <a:srgbClr val="33413D"/>
                          </a:solidFill>
                          <a:latin typeface="Aptos"/>
                        </a:rPr>
                        <a:t>Technical approval regarding debtor restrictions, security deposits and reporting obligations.</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1000" b="1" i="0">
                          <a:solidFill>
                            <a:srgbClr val="101820"/>
                          </a:solidFill>
                          <a:latin typeface="Aptos"/>
                        </a:rPr>
                        <a:t>User Acceptance Test (UAT)</a:t>
                      </a:r>
                    </a:p>
                  </a:txBody>
                  <a:tcPr marL="73152" marR="73152" marT="36576" marB="36576" anchor="ctr">
                    <a:solidFill>
                      <a:srgbClr val="FFFFFF"/>
                    </a:solidFill>
                  </a:tcPr>
                </a:tc>
                <a:tc>
                  <a:txBody>
                    <a:bodyPr/>
                    <a:lstStyle/>
                    <a:p>
                      <a:r>
                        <a:rPr sz="1000" b="0" i="0">
                          <a:solidFill>
                            <a:srgbClr val="33413D"/>
                          </a:solidFill>
                          <a:latin typeface="Aptos"/>
                        </a:rPr>
                        <a:t>Joint testing using live data and formal acceptance prior to going live.</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11" name="Rounded Rectangle 10"/>
          <p:cNvSpPr/>
          <p:nvPr/>
        </p:nvSpPr>
        <p:spPr>
          <a:xfrm>
            <a:off x="640080" y="5806440"/>
            <a:ext cx="10881360" cy="4572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5806440"/>
            <a:ext cx="54864" cy="45720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5934456"/>
            <a:ext cx="10469880" cy="201168"/>
          </a:xfrm>
          <a:prstGeom prst="rect">
            <a:avLst/>
          </a:prstGeom>
          <a:noFill/>
        </p:spPr>
        <p:txBody>
          <a:bodyPr wrap="square" lIns="0" tIns="0" rIns="0" bIns="0" anchor="ctr">
            <a:spAutoFit/>
          </a:bodyPr>
          <a:lstStyle/>
          <a:p>
            <a:r>
              <a:rPr sz="1250" b="1" i="0">
                <a:solidFill>
                  <a:srgbClr val="044F49"/>
                </a:solidFill>
                <a:latin typeface="Aptos"/>
              </a:rPr>
              <a:t>Recommendation: </a:t>
            </a:r>
            <a:r>
              <a:rPr sz="1150" b="0" i="0">
                <a:solidFill>
                  <a:srgbClr val="33413D"/>
                </a:solidFill>
                <a:latin typeface="Aptos"/>
              </a:rPr>
              <a:t> Start with Step 1 (greatest impact, least effort); prioritise booking entry; initiate Step 3 independently in parallel.</a:t>
            </a:r>
          </a:p>
        </p:txBody>
      </p:sp>
      <p:sp>
        <p:nvSpPr>
          <p:cNvPr id="14" name="TextBox 1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5" name="TextBox 1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28</a:t>
            </a:r>
          </a:p>
        </p:txBody>
      </p:sp>
      <p:pic>
        <p:nvPicPr>
          <p:cNvPr id="16" name="Picture 1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10</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Implementation Plan &amp; Timetable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554480"/>
          <a:ext cx="10881359" cy="2962656"/>
        </p:xfrm>
        <a:graphic>
          <a:graphicData uri="http://schemas.openxmlformats.org/drawingml/2006/table">
            <a:tbl>
              <a:tblPr>
                <a:tableStyleId>{5C22544A-7EE6-4342-B048-85BDC9FD1C3A}</a:tableStyleId>
              </a:tblPr>
              <a:tblGrid>
                <a:gridCol w="3046780">
                  <a:extLst>
                    <a:ext uri="{9D8B030D-6E8A-4147-A177-3AD203B41FA5}">
                      <a16:colId xmlns:a16="http://schemas.microsoft.com/office/drawing/2014/main" val="20000"/>
                    </a:ext>
                  </a:extLst>
                </a:gridCol>
                <a:gridCol w="5658307">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Development phase</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Contents</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00" b="1" i="0">
                          <a:solidFill>
                            <a:srgbClr val="101820"/>
                          </a:solidFill>
                          <a:latin typeface="Aptos"/>
                        </a:rPr>
                        <a:t>Foundation (Operations, Finance, Service)</a:t>
                      </a:r>
                    </a:p>
                  </a:txBody>
                  <a:tcPr marL="73152" marR="73152" marT="36576" marB="36576" anchor="ctr">
                    <a:solidFill>
                      <a:srgbClr val="FFFFFF"/>
                    </a:solidFill>
                  </a:tcPr>
                </a:tc>
                <a:tc>
                  <a:txBody>
                    <a:bodyPr/>
                    <a:lstStyle/>
                    <a:p>
                      <a:r>
                        <a:rPr sz="1000" b="0" i="0">
                          <a:solidFill>
                            <a:srgbClr val="33413D"/>
                          </a:solidFill>
                          <a:latin typeface="Aptos"/>
                        </a:rPr>
                        <a:t>Access &amp; Roles, Portfolio, User Management, Finance, Payment/Debtor Controls, Service Catalogue, Tasks/SLA.</a:t>
                      </a:r>
                    </a:p>
                  </a:txBody>
                  <a:tcPr marL="73152" marR="73152" marT="36576" marB="36576" anchor="ctr">
                    <a:solidFill>
                      <a:srgbClr val="FFFFFF"/>
                    </a:solidFill>
                  </a:tcPr>
                </a:tc>
                <a:tc>
                  <a:txBody>
                    <a:bodyPr/>
                    <a:lstStyle/>
                    <a:p>
                      <a:pPr algn="ctr"/>
                      <a:r>
                        <a:rPr sz="950" b="1" i="0">
                          <a:solidFill>
                            <a:srgbClr val="044F49"/>
                          </a:solidFill>
                          <a:latin typeface="Aptos"/>
                        </a:rPr>
                        <a:t>Completed (Demo)</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00" b="1" i="0" dirty="0">
                          <a:solidFill>
                            <a:srgbClr val="101820"/>
                          </a:solidFill>
                          <a:latin typeface="Aptos"/>
                        </a:rPr>
                        <a:t>New Level Premium </a:t>
                      </a:r>
                      <a:r>
                        <a:rPr lang="de-DE" sz="1000" b="1" i="0" dirty="0">
                          <a:solidFill>
                            <a:srgbClr val="101820"/>
                          </a:solidFill>
                          <a:latin typeface="Aptos"/>
                        </a:rPr>
                        <a:t>– </a:t>
                      </a:r>
                      <a:r>
                        <a:rPr sz="1000" b="1" i="0" dirty="0">
                          <a:solidFill>
                            <a:srgbClr val="101820"/>
                          </a:solidFill>
                          <a:latin typeface="Aptos"/>
                        </a:rPr>
                        <a:t>public </a:t>
                      </a:r>
                      <a:r>
                        <a:rPr sz="1000" b="1" i="0" dirty="0" err="1">
                          <a:solidFill>
                            <a:srgbClr val="101820"/>
                          </a:solidFill>
                          <a:latin typeface="Aptos"/>
                        </a:rPr>
                        <a:t>area</a:t>
                      </a:r>
                      <a:endParaRPr sz="1000" b="1" i="0" dirty="0">
                        <a:solidFill>
                          <a:srgbClr val="101820"/>
                        </a:solidFill>
                        <a:latin typeface="Aptos"/>
                      </a:endParaRPr>
                    </a:p>
                  </a:txBody>
                  <a:tcPr marL="73152" marR="73152" marT="36576" marB="36576" anchor="ctr">
                    <a:solidFill>
                      <a:srgbClr val="F1F5F4"/>
                    </a:solidFill>
                  </a:tcPr>
                </a:tc>
                <a:tc>
                  <a:txBody>
                    <a:bodyPr/>
                    <a:lstStyle/>
                    <a:p>
                      <a:r>
                        <a:rPr sz="1000" b="0" i="0">
                          <a:solidFill>
                            <a:srgbClr val="33413D"/>
                          </a:solidFill>
                          <a:latin typeface="Aptos"/>
                        </a:rPr>
                        <a:t>Landing page, registration, reporting channel, identity verification, time-based access, public concierge.</a:t>
                      </a:r>
                    </a:p>
                  </a:txBody>
                  <a:tcPr marL="73152" marR="73152" marT="36576" marB="36576" anchor="ctr">
                    <a:solidFill>
                      <a:srgbClr val="F1F5F4"/>
                    </a:solidFill>
                  </a:tcPr>
                </a:tc>
                <a:tc>
                  <a:txBody>
                    <a:bodyPr/>
                    <a:lstStyle/>
                    <a:p>
                      <a:pPr algn="ctr"/>
                      <a:r>
                        <a:rPr sz="950" b="1" i="0">
                          <a:solidFill>
                            <a:srgbClr val="044F49"/>
                          </a:solidFill>
                          <a:latin typeface="Aptos"/>
                        </a:rPr>
                        <a:t>Completed (Demo)</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00" b="1" i="0">
                          <a:solidFill>
                            <a:srgbClr val="101820"/>
                          </a:solidFill>
                          <a:latin typeface="Aptos"/>
                        </a:rPr>
                        <a:t>Booking, Communication &amp; Documents</a:t>
                      </a:r>
                    </a:p>
                  </a:txBody>
                  <a:tcPr marL="73152" marR="73152" marT="36576" marB="36576" anchor="ctr">
                    <a:solidFill>
                      <a:srgbClr val="FFFFFF"/>
                    </a:solidFill>
                  </a:tcPr>
                </a:tc>
                <a:tc>
                  <a:txBody>
                    <a:bodyPr/>
                    <a:lstStyle/>
                    <a:p>
                      <a:r>
                        <a:rPr sz="1000" b="0" i="0">
                          <a:solidFill>
                            <a:srgbClr val="33413D"/>
                          </a:solidFill>
                          <a:latin typeface="Aptos"/>
                        </a:rPr>
                        <a:t>Booking/Move-in/Check-out, messages &amp; templates, document management.</a:t>
                      </a:r>
                    </a:p>
                  </a:txBody>
                  <a:tcPr marL="73152" marR="73152" marT="36576" marB="36576" anchor="ctr">
                    <a:solidFill>
                      <a:srgbClr val="FFFFFF"/>
                    </a:solidFill>
                  </a:tcPr>
                </a:tc>
                <a:tc>
                  <a:txBody>
                    <a:bodyPr/>
                    <a:lstStyle/>
                    <a:p>
                      <a:pPr algn="ctr"/>
                      <a:r>
                        <a:rPr sz="950" b="1" i="0">
                          <a:solidFill>
                            <a:srgbClr val="7A5410"/>
                          </a:solidFill>
                          <a:latin typeface="Aptos"/>
                        </a:rPr>
                        <a:t>Demo available, under development</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00" b="1" i="0">
                          <a:solidFill>
                            <a:srgbClr val="101820"/>
                          </a:solidFill>
                          <a:latin typeface="Aptos"/>
                        </a:rPr>
                        <a:t>Mobile &amp; installable use</a:t>
                      </a:r>
                    </a:p>
                  </a:txBody>
                  <a:tcPr marL="73152" marR="73152" marT="36576" marB="36576" anchor="ctr">
                    <a:solidFill>
                      <a:srgbClr val="F1F5F4"/>
                    </a:solidFill>
                  </a:tcPr>
                </a:tc>
                <a:tc>
                  <a:txBody>
                    <a:bodyPr/>
                    <a:lstStyle/>
                    <a:p>
                      <a:r>
                        <a:rPr sz="1000" b="0" i="0">
                          <a:solidFill>
                            <a:srgbClr val="33413D"/>
                          </a:solidFill>
                          <a:latin typeface="Aptos"/>
                        </a:rPr>
                        <a:t>Installable web app already available; offline synchronisation and push notifications currently being developed.</a:t>
                      </a:r>
                    </a:p>
                  </a:txBody>
                  <a:tcPr marL="73152" marR="73152" marT="36576" marB="36576" anchor="ctr">
                    <a:solidFill>
                      <a:srgbClr val="F1F5F4"/>
                    </a:solidFill>
                  </a:tcPr>
                </a:tc>
                <a:tc>
                  <a:txBody>
                    <a:bodyPr/>
                    <a:lstStyle/>
                    <a:p>
                      <a:pPr algn="ctr"/>
                      <a:r>
                        <a:rPr sz="950" b="1" i="0">
                          <a:solidFill>
                            <a:srgbClr val="7A5410"/>
                          </a:solidFill>
                          <a:latin typeface="Aptos"/>
                        </a:rPr>
                        <a:t>Partially live</a:t>
                      </a:r>
                    </a:p>
                  </a:txBody>
                  <a:tcPr marL="73152" marR="73152" marT="36576" marB="36576" anchor="ctr">
                    <a:solidFill>
                      <a:srgbClr val="F4EBDD"/>
                    </a:solidFill>
                  </a:tcPr>
                </a:tc>
                <a:extLst>
                  <a:ext uri="{0D108BD9-81ED-4DB2-BD59-A6C34878D82A}">
                    <a16:rowId xmlns:a16="http://schemas.microsoft.com/office/drawing/2014/main" val="10004"/>
                  </a:ext>
                </a:extLst>
              </a:tr>
              <a:tr h="365760">
                <a:tc>
                  <a:txBody>
                    <a:bodyPr/>
                    <a:lstStyle/>
                    <a:p>
                      <a:r>
                        <a:rPr sz="1000" b="1" i="0">
                          <a:solidFill>
                            <a:srgbClr val="101820"/>
                          </a:solidFill>
                          <a:latin typeface="Aptos"/>
                        </a:rPr>
                        <a:t>External integrations</a:t>
                      </a:r>
                    </a:p>
                  </a:txBody>
                  <a:tcPr marL="73152" marR="73152" marT="36576" marB="36576" anchor="ctr">
                    <a:solidFill>
                      <a:srgbClr val="FFFFFF"/>
                    </a:solidFill>
                  </a:tcPr>
                </a:tc>
                <a:tc>
                  <a:txBody>
                    <a:bodyPr/>
                    <a:lstStyle/>
                    <a:p>
                      <a:r>
                        <a:rPr sz="1000" b="0" i="0">
                          <a:solidFill>
                            <a:srgbClr val="33413D"/>
                          </a:solidFill>
                          <a:latin typeface="Aptos"/>
                        </a:rPr>
                        <a:t>Payment, banking, communications and access integration.</a:t>
                      </a:r>
                    </a:p>
                  </a:txBody>
                  <a:tcPr marL="73152" marR="73152" marT="36576" marB="36576" anchor="ctr">
                    <a:solidFill>
                      <a:srgbClr val="FFFFFF"/>
                    </a:solidFill>
                  </a:tcPr>
                </a:tc>
                <a:tc>
                  <a:txBody>
                    <a:bodyPr/>
                    <a:lstStyle/>
                    <a:p>
                      <a:pPr algn="ctr"/>
                      <a:r>
                        <a:rPr sz="950" b="1" i="0">
                          <a:solidFill>
                            <a:srgbClr val="4B5652"/>
                          </a:solidFill>
                          <a:latin typeface="Aptos"/>
                        </a:rPr>
                        <a:t>Prepared, choice of provider open</a:t>
                      </a:r>
                    </a:p>
                  </a:txBody>
                  <a:tcPr marL="73152" marR="73152" marT="36576" marB="36576" anchor="ctr">
                    <a:solidFill>
                      <a:srgbClr val="EAECEB"/>
                    </a:solidFill>
                  </a:tcPr>
                </a:tc>
                <a:extLst>
                  <a:ext uri="{0D108BD9-81ED-4DB2-BD59-A6C34878D82A}">
                    <a16:rowId xmlns:a16="http://schemas.microsoft.com/office/drawing/2014/main" val="10005"/>
                  </a:ext>
                </a:extLst>
              </a:tr>
              <a:tr h="365760">
                <a:tc>
                  <a:txBody>
                    <a:bodyPr/>
                    <a:lstStyle/>
                    <a:p>
                      <a:r>
                        <a:rPr sz="1000" b="1" i="0">
                          <a:solidFill>
                            <a:srgbClr val="101820"/>
                          </a:solidFill>
                          <a:latin typeface="Aptos"/>
                        </a:rPr>
                        <a:t>AI Premium tier</a:t>
                      </a:r>
                    </a:p>
                  </a:txBody>
                  <a:tcPr marL="73152" marR="73152" marT="36576" marB="36576" anchor="ctr">
                    <a:solidFill>
                      <a:srgbClr val="F1F5F4"/>
                    </a:solidFill>
                  </a:tcPr>
                </a:tc>
                <a:tc>
                  <a:txBody>
                    <a:bodyPr/>
                    <a:lstStyle/>
                    <a:p>
                      <a:r>
                        <a:rPr sz="1000" b="0" i="0">
                          <a:solidFill>
                            <a:srgbClr val="33413D"/>
                          </a:solidFill>
                          <a:latin typeface="Aptos"/>
                        </a:rPr>
                        <a:t>Advanced analytics, forecasts and report templates.</a:t>
                      </a:r>
                    </a:p>
                  </a:txBody>
                  <a:tcPr marL="73152" marR="73152" marT="36576" marB="36576" anchor="ctr">
                    <a:solidFill>
                      <a:srgbClr val="F1F5F4"/>
                    </a:solidFill>
                  </a:tcPr>
                </a:tc>
                <a:tc>
                  <a:txBody>
                    <a:bodyPr/>
                    <a:lstStyle/>
                    <a:p>
                      <a:pPr algn="ctr"/>
                      <a:r>
                        <a:rPr sz="950" b="1" i="0">
                          <a:solidFill>
                            <a:srgbClr val="4B5652"/>
                          </a:solidFill>
                          <a:latin typeface="Aptos"/>
                        </a:rPr>
                        <a:t>Preview available</a:t>
                      </a:r>
                    </a:p>
                  </a:txBody>
                  <a:tcPr marL="73152" marR="73152" marT="36576" marB="36576" anchor="ctr">
                    <a:solidFill>
                      <a:srgbClr val="EAECEB"/>
                    </a:solidFill>
                  </a:tcPr>
                </a:tc>
                <a:extLst>
                  <a:ext uri="{0D108BD9-81ED-4DB2-BD59-A6C34878D82A}">
                    <a16:rowId xmlns:a16="http://schemas.microsoft.com/office/drawing/2014/main" val="10006"/>
                  </a:ext>
                </a:extLst>
              </a:tr>
              <a:tr h="365760">
                <a:tc>
                  <a:txBody>
                    <a:bodyPr/>
                    <a:lstStyle/>
                    <a:p>
                      <a:r>
                        <a:rPr sz="1000" b="1" i="0">
                          <a:solidFill>
                            <a:srgbClr val="101820"/>
                          </a:solidFill>
                          <a:latin typeface="Aptos"/>
                        </a:rPr>
                        <a:t>Acceptance &amp; launch</a:t>
                      </a:r>
                    </a:p>
                  </a:txBody>
                  <a:tcPr marL="73152" marR="73152" marT="36576" marB="36576" anchor="ctr">
                    <a:solidFill>
                      <a:srgbClr val="FFFFFF"/>
                    </a:solidFill>
                  </a:tcPr>
                </a:tc>
                <a:tc>
                  <a:txBody>
                    <a:bodyPr/>
                    <a:lstStyle/>
                    <a:p>
                      <a:r>
                        <a:rPr sz="1000" b="0" i="0">
                          <a:solidFill>
                            <a:srgbClr val="33413D"/>
                          </a:solidFill>
                          <a:latin typeface="Aptos"/>
                        </a:rPr>
                        <a:t>Security audit, acceptance testing with live data, training, go-live.</a:t>
                      </a:r>
                    </a:p>
                  </a:txBody>
                  <a:tcPr marL="73152" marR="73152" marT="36576" marB="36576" anchor="ctr">
                    <a:solidFill>
                      <a:srgbClr val="FFFFFF"/>
                    </a:solidFill>
                  </a:tcPr>
                </a:tc>
                <a:tc>
                  <a:txBody>
                    <a:bodyPr/>
                    <a:lstStyle/>
                    <a:p>
                      <a:pPr algn="ctr"/>
                      <a:r>
                        <a:rPr sz="950" b="1" i="0">
                          <a:solidFill>
                            <a:srgbClr val="4B5652"/>
                          </a:solidFill>
                          <a:latin typeface="Aptos"/>
                        </a:rPr>
                        <a:t>Planned</a:t>
                      </a:r>
                    </a:p>
                  </a:txBody>
                  <a:tcPr marL="73152" marR="73152" marT="36576" marB="36576" anchor="ctr">
                    <a:solidFill>
                      <a:srgbClr val="EAECEB"/>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29</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10 · IMPLEMENTATION PLAN</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Realistic classification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2011680"/>
            <a:ext cx="10881360" cy="22860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11680"/>
            <a:ext cx="54864" cy="22860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93042"/>
            <a:ext cx="10469880" cy="723275"/>
          </a:xfrm>
          <a:prstGeom prst="rect">
            <a:avLst/>
          </a:prstGeom>
          <a:noFill/>
        </p:spPr>
        <p:txBody>
          <a:bodyPr wrap="square" lIns="0" tIns="0" rIns="0" bIns="0" anchor="ctr">
            <a:spAutoFit/>
          </a:bodyPr>
          <a:lstStyle/>
          <a:p>
            <a:r>
              <a:rPr sz="1250" b="1" i="0" dirty="0">
                <a:solidFill>
                  <a:srgbClr val="044F49"/>
                </a:solidFill>
                <a:latin typeface="Aptos"/>
              </a:rPr>
              <a:t>A </a:t>
            </a:r>
            <a:r>
              <a:rPr sz="1250" b="1" i="0" dirty="0" err="1">
                <a:solidFill>
                  <a:srgbClr val="044F49"/>
                </a:solidFill>
                <a:latin typeface="Aptos"/>
              </a:rPr>
              <a:t>fully functional end-to-end system </a:t>
            </a:r>
            <a:r>
              <a:rPr lang="de-DE" sz="1250" b="1" i="0" dirty="0">
                <a:solidFill>
                  <a:srgbClr val="044F49"/>
                </a:solidFill>
                <a:latin typeface="Aptos"/>
              </a:rPr>
              <a:t>– </a:t>
            </a:r>
            <a:r>
              <a:rPr sz="1250" b="1" i="0" dirty="0" err="1">
                <a:solidFill>
                  <a:srgbClr val="044F49"/>
                </a:solidFill>
                <a:latin typeface="Aptos"/>
              </a:rPr>
              <a:t>not yet a final product released for production use</a:t>
            </a:r>
            <a:r>
              <a:rPr sz="1250" b="1" i="0" dirty="0">
                <a:solidFill>
                  <a:srgbClr val="044F49"/>
                </a:solidFill>
                <a:latin typeface="Aptos"/>
              </a:rPr>
              <a:t>.  </a:t>
            </a:r>
            <a:r>
              <a:rPr sz="1150" b="0" i="0" dirty="0">
                <a:solidFill>
                  <a:srgbClr val="33413D"/>
                </a:solidFill>
                <a:latin typeface="Aptos"/>
              </a:rPr>
              <a:t>The </a:t>
            </a:r>
            <a:r>
              <a:rPr sz="1150" b="0" i="0" dirty="0" err="1">
                <a:solidFill>
                  <a:srgbClr val="33413D"/>
                </a:solidFill>
                <a:latin typeface="Aptos"/>
              </a:rPr>
              <a:t>current </a:t>
            </a:r>
            <a:r>
              <a:rPr sz="1150" b="0" i="0" dirty="0">
                <a:solidFill>
                  <a:srgbClr val="33413D"/>
                </a:solidFill>
                <a:latin typeface="Aptos"/>
              </a:rPr>
              <a:t>status </a:t>
            </a:r>
            <a:r>
              <a:rPr sz="1150" b="0" i="0" dirty="0" err="1">
                <a:solidFill>
                  <a:srgbClr val="33413D"/>
                </a:solidFill>
                <a:latin typeface="Aptos"/>
              </a:rPr>
              <a:t>is a fully functional system, capable of running on realistic data</a:t>
            </a:r>
            <a:r>
              <a:rPr sz="1150" b="0" i="0" dirty="0">
                <a:solidFill>
                  <a:srgbClr val="33413D"/>
                </a:solidFill>
                <a:latin typeface="Aptos"/>
              </a:rPr>
              <a:t>, for </a:t>
            </a:r>
            <a:r>
              <a:rPr sz="1150" b="0" i="0" dirty="0" err="1">
                <a:solidFill>
                  <a:srgbClr val="33413D"/>
                </a:solidFill>
                <a:latin typeface="Aptos"/>
              </a:rPr>
              <a:t>your evaluation</a:t>
            </a:r>
            <a:r>
              <a:rPr sz="1150" b="0" i="0" dirty="0">
                <a:solidFill>
                  <a:srgbClr val="33413D"/>
                </a:solidFill>
                <a:latin typeface="Aptos"/>
              </a:rPr>
              <a:t>, </a:t>
            </a:r>
            <a:r>
              <a:rPr sz="1150" b="0" i="0" dirty="0" err="1">
                <a:solidFill>
                  <a:srgbClr val="33413D"/>
                </a:solidFill>
                <a:latin typeface="Aptos"/>
              </a:rPr>
              <a:t>presentations </a:t>
            </a:r>
            <a:r>
              <a:rPr sz="1150" b="0" i="0" dirty="0">
                <a:solidFill>
                  <a:srgbClr val="33413D"/>
                </a:solidFill>
                <a:latin typeface="Aptos"/>
              </a:rPr>
              <a:t>and </a:t>
            </a:r>
            <a:r>
              <a:rPr sz="1150" b="0" i="0" dirty="0" err="1">
                <a:solidFill>
                  <a:srgbClr val="33413D"/>
                </a:solidFill>
                <a:latin typeface="Aptos"/>
              </a:rPr>
              <a:t>initial feedback</a:t>
            </a:r>
            <a:r>
              <a:rPr sz="1150" b="0" i="0" dirty="0">
                <a:solidFill>
                  <a:srgbClr val="33413D"/>
                </a:solidFill>
                <a:latin typeface="Aptos"/>
              </a:rPr>
              <a:t>. </a:t>
            </a:r>
            <a:r>
              <a:rPr sz="1150" b="0" i="0" dirty="0" err="1">
                <a:solidFill>
                  <a:srgbClr val="33413D"/>
                </a:solidFill>
                <a:latin typeface="Aptos"/>
              </a:rPr>
              <a:t>In particular</a:t>
            </a:r>
            <a:r>
              <a:rPr sz="1150" b="0" i="0" dirty="0">
                <a:solidFill>
                  <a:srgbClr val="33413D"/>
                </a:solidFill>
                <a:latin typeface="Aptos"/>
              </a:rPr>
              <a:t>, </a:t>
            </a:r>
            <a:r>
              <a:rPr sz="1150" b="0" i="0" dirty="0" err="1">
                <a:solidFill>
                  <a:srgbClr val="33413D"/>
                </a:solidFill>
                <a:latin typeface="Aptos"/>
              </a:rPr>
              <a:t>payment processing</a:t>
            </a:r>
            <a:r>
              <a:rPr sz="1150" b="0" i="0" dirty="0">
                <a:solidFill>
                  <a:srgbClr val="33413D"/>
                </a:solidFill>
                <a:latin typeface="Aptos"/>
              </a:rPr>
              <a:t>, </a:t>
            </a:r>
            <a:r>
              <a:rPr sz="1150" b="0" i="0" dirty="0" err="1">
                <a:solidFill>
                  <a:srgbClr val="33413D"/>
                </a:solidFill>
                <a:latin typeface="Aptos"/>
              </a:rPr>
              <a:t>access control</a:t>
            </a:r>
            <a:r>
              <a:rPr sz="1150" b="0" i="0" dirty="0">
                <a:solidFill>
                  <a:srgbClr val="33413D"/>
                </a:solidFill>
                <a:latin typeface="Aptos"/>
              </a:rPr>
              <a:t>, </a:t>
            </a:r>
            <a:r>
              <a:rPr sz="1150" b="0" i="0" dirty="0" err="1">
                <a:solidFill>
                  <a:srgbClr val="33413D"/>
                </a:solidFill>
                <a:latin typeface="Aptos"/>
              </a:rPr>
              <a:t>reporting to authorities </a:t>
            </a:r>
            <a:r>
              <a:rPr sz="1150" b="0" i="0" dirty="0">
                <a:solidFill>
                  <a:srgbClr val="33413D"/>
                </a:solidFill>
                <a:latin typeface="Aptos"/>
              </a:rPr>
              <a:t>and </a:t>
            </a:r>
            <a:r>
              <a:rPr sz="1150" b="0" i="0" dirty="0" err="1">
                <a:solidFill>
                  <a:srgbClr val="33413D"/>
                </a:solidFill>
                <a:latin typeface="Aptos"/>
              </a:rPr>
              <a:t>any </a:t>
            </a:r>
            <a:r>
              <a:rPr sz="1150" b="0" i="0" dirty="0">
                <a:solidFill>
                  <a:srgbClr val="33413D"/>
                </a:solidFill>
                <a:latin typeface="Aptos"/>
              </a:rPr>
              <a:t>form of </a:t>
            </a:r>
            <a:r>
              <a:rPr sz="1150" b="0" i="0" dirty="0" err="1">
                <a:solidFill>
                  <a:srgbClr val="33413D"/>
                </a:solidFill>
                <a:latin typeface="Aptos"/>
              </a:rPr>
              <a:t>AI automation are deliberately set to require human approval </a:t>
            </a:r>
            <a:r>
              <a:rPr sz="1150" b="0" i="0" dirty="0">
                <a:solidFill>
                  <a:srgbClr val="33413D"/>
                </a:solidFill>
                <a:latin typeface="Aptos"/>
              </a:rPr>
              <a:t>or to </a:t>
            </a:r>
            <a:r>
              <a:rPr sz="1150" b="0" i="0" dirty="0" err="1">
                <a:solidFill>
                  <a:srgbClr val="33413D"/>
                </a:solidFill>
                <a:latin typeface="Aptos"/>
              </a:rPr>
              <a:t>serve a purely advisory role</a:t>
            </a:r>
            <a:r>
              <a:rPr sz="1150" b="0" i="0" dirty="0">
                <a:solidFill>
                  <a:srgbClr val="33413D"/>
                </a:solidFill>
                <a:latin typeface="Aptos"/>
              </a:rPr>
              <a:t>, and </a:t>
            </a:r>
            <a:r>
              <a:rPr sz="1150" b="0" i="0" dirty="0" err="1">
                <a:solidFill>
                  <a:srgbClr val="33413D"/>
                </a:solidFill>
                <a:latin typeface="Aptos"/>
              </a:rPr>
              <a:t>will </a:t>
            </a:r>
            <a:r>
              <a:rPr sz="1150" b="0" i="0" dirty="0">
                <a:solidFill>
                  <a:srgbClr val="33413D"/>
                </a:solidFill>
                <a:latin typeface="Aptos"/>
              </a:rPr>
              <a:t>only </a:t>
            </a:r>
            <a:r>
              <a:rPr sz="1150" b="0" i="0" dirty="0" err="1">
                <a:solidFill>
                  <a:srgbClr val="33413D"/>
                </a:solidFill>
                <a:latin typeface="Aptos"/>
              </a:rPr>
              <a:t>be put into production following </a:t>
            </a:r>
            <a:r>
              <a:rPr sz="1150" b="0" i="0" dirty="0">
                <a:solidFill>
                  <a:srgbClr val="33413D"/>
                </a:solidFill>
                <a:latin typeface="Aptos"/>
              </a:rPr>
              <a:t>the </a:t>
            </a:r>
            <a:r>
              <a:rPr sz="1150" b="0" i="0" dirty="0" err="1">
                <a:solidFill>
                  <a:srgbClr val="33413D"/>
                </a:solidFill>
                <a:latin typeface="Aptos"/>
              </a:rPr>
              <a:t>decisions outlined in Chapter</a:t>
            </a:r>
            <a:r>
              <a:rPr sz="1150" b="0" i="0" dirty="0">
                <a:solidFill>
                  <a:srgbClr val="33413D"/>
                </a:solidFill>
                <a:latin typeface="Aptos"/>
              </a:rPr>
              <a:t> 9.</a:t>
            </a:r>
          </a:p>
        </p:txBody>
      </p:sp>
      <p:sp>
        <p:nvSpPr>
          <p:cNvPr id="12" name="TextBox 11"/>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13" name="TextBox 12"/>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30</a:t>
            </a:r>
          </a:p>
        </p:txBody>
      </p:sp>
      <p:pic>
        <p:nvPicPr>
          <p:cNvPr id="14" name="Picture 13"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CHAPTER 11</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Opportunities</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280160"/>
          </a:xfrm>
          <a:prstGeom prst="rect">
            <a:avLst/>
          </a:prstGeom>
          <a:noFill/>
        </p:spPr>
        <p:txBody>
          <a:bodyPr wrap="square" lIns="0" tIns="0" rIns="0" bIns="0" anchor="t">
            <a:spAutoFit/>
          </a:bodyPr>
          <a:lstStyle/>
          <a:p>
            <a:r>
              <a:rPr sz="1300" b="1" i="0">
                <a:solidFill>
                  <a:srgbClr val="044F49"/>
                </a:solidFill>
                <a:latin typeface="Aptos"/>
              </a:rPr>
              <a:t>Unique positioning in the Turkish market</a:t>
            </a:r>
          </a:p>
          <a:p>
            <a:pPr>
              <a:spcBef>
                <a:spcPts val="400"/>
              </a:spcBef>
            </a:pPr>
            <a:r>
              <a:rPr sz="1050" b="0" i="0">
                <a:solidFill>
                  <a:srgbClr val="64716D"/>
                </a:solidFill>
                <a:latin typeface="Aptos"/>
              </a:rPr>
              <a:t>The combination of robust financial management, a structured service desk and controlled AI has no direct equivalent on the Turkish market.</a:t>
            </a:r>
          </a:p>
        </p:txBody>
      </p:sp>
      <p:sp>
        <p:nvSpPr>
          <p:cNvPr id="11" name="Rounded Rectangle 10"/>
          <p:cNvSpPr/>
          <p:nvPr/>
        </p:nvSpPr>
        <p:spPr>
          <a:xfrm>
            <a:off x="619506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1280160"/>
          </a:xfrm>
          <a:prstGeom prst="rect">
            <a:avLst/>
          </a:prstGeom>
          <a:noFill/>
        </p:spPr>
        <p:txBody>
          <a:bodyPr wrap="square" lIns="0" tIns="0" rIns="0" bIns="0" anchor="t">
            <a:spAutoFit/>
          </a:bodyPr>
          <a:lstStyle/>
          <a:p>
            <a:r>
              <a:rPr sz="1300" b="1" i="0">
                <a:solidFill>
                  <a:srgbClr val="044F49"/>
                </a:solidFill>
                <a:latin typeface="Aptos"/>
              </a:rPr>
              <a:t>A tailwind from AI acceptance</a:t>
            </a:r>
          </a:p>
          <a:p>
            <a:pPr>
              <a:spcBef>
                <a:spcPts val="400"/>
              </a:spcBef>
            </a:pPr>
            <a:r>
              <a:rPr sz="1050" b="0" i="0">
                <a:solidFill>
                  <a:srgbClr val="64716D"/>
                </a:solidFill>
                <a:latin typeface="Aptos"/>
              </a:rPr>
              <a:t>The rapidly growing acceptance of AI aligns with an already established, trust-building ‘human decision-making’ principle.</a:t>
            </a:r>
          </a:p>
        </p:txBody>
      </p:sp>
      <p:sp>
        <p:nvSpPr>
          <p:cNvPr id="13" name="Rounded Rectangle 12"/>
          <p:cNvSpPr/>
          <p:nvPr/>
        </p:nvSpPr>
        <p:spPr>
          <a:xfrm>
            <a:off x="64008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574516"/>
          </a:xfrm>
          <a:prstGeom prst="rect">
            <a:avLst/>
          </a:prstGeom>
          <a:noFill/>
        </p:spPr>
        <p:txBody>
          <a:bodyPr wrap="square" lIns="0" tIns="0" rIns="0" bIns="0" anchor="t">
            <a:spAutoFit/>
          </a:bodyPr>
          <a:lstStyle/>
          <a:p>
            <a:r>
              <a:rPr sz="1300" b="1" i="0" dirty="0">
                <a:solidFill>
                  <a:srgbClr val="044F49"/>
                </a:solidFill>
                <a:latin typeface="Aptos"/>
              </a:rPr>
              <a:t>Value in </a:t>
            </a:r>
            <a:r>
              <a:rPr sz="1300" b="1" i="0" dirty="0" err="1">
                <a:solidFill>
                  <a:srgbClr val="044F49"/>
                </a:solidFill>
                <a:latin typeface="Aptos"/>
              </a:rPr>
              <a:t>a shrinking </a:t>
            </a:r>
            <a:r>
              <a:rPr sz="1300" b="1" i="0" dirty="0">
                <a:solidFill>
                  <a:srgbClr val="044F49"/>
                </a:solidFill>
                <a:latin typeface="Aptos"/>
              </a:rPr>
              <a:t>market</a:t>
            </a:r>
          </a:p>
          <a:p>
            <a:pPr>
              <a:spcBef>
                <a:spcPts val="400"/>
              </a:spcBef>
            </a:pPr>
            <a:r>
              <a:rPr sz="1050" b="0" i="0" dirty="0">
                <a:solidFill>
                  <a:srgbClr val="64716D"/>
                </a:solidFill>
                <a:latin typeface="Aptos"/>
              </a:rPr>
              <a:t>A </a:t>
            </a:r>
            <a:r>
              <a:rPr sz="1050" b="0" i="0" dirty="0" err="1">
                <a:solidFill>
                  <a:srgbClr val="64716D"/>
                </a:solidFill>
                <a:latin typeface="Aptos"/>
              </a:rPr>
              <a:t>shrinking </a:t>
            </a:r>
            <a:r>
              <a:rPr sz="1050" b="0" i="0" dirty="0">
                <a:solidFill>
                  <a:srgbClr val="64716D"/>
                </a:solidFill>
                <a:latin typeface="Aptos"/>
              </a:rPr>
              <a:t>market </a:t>
            </a:r>
            <a:r>
              <a:rPr sz="1050" b="0" i="0" dirty="0" err="1">
                <a:solidFill>
                  <a:srgbClr val="64716D"/>
                </a:solidFill>
                <a:latin typeface="Aptos"/>
              </a:rPr>
              <a:t>increases </a:t>
            </a:r>
            <a:r>
              <a:rPr sz="1050" b="0" i="0" dirty="0">
                <a:solidFill>
                  <a:srgbClr val="64716D"/>
                </a:solidFill>
                <a:latin typeface="Aptos"/>
              </a:rPr>
              <a:t>the </a:t>
            </a:r>
            <a:r>
              <a:rPr sz="1050" b="0" i="0" dirty="0" err="1">
                <a:solidFill>
                  <a:srgbClr val="64716D"/>
                </a:solidFill>
                <a:latin typeface="Aptos"/>
              </a:rPr>
              <a:t>relative </a:t>
            </a:r>
            <a:r>
              <a:rPr sz="1050" b="0" i="0" dirty="0">
                <a:solidFill>
                  <a:srgbClr val="64716D"/>
                </a:solidFill>
                <a:latin typeface="Aptos"/>
              </a:rPr>
              <a:t>value </a:t>
            </a:r>
            <a:r>
              <a:rPr sz="1050" b="0" i="0" dirty="0" err="1">
                <a:solidFill>
                  <a:srgbClr val="64716D"/>
                </a:solidFill>
                <a:latin typeface="Aptos"/>
              </a:rPr>
              <a:t>of operational excellence for existing customers </a:t>
            </a:r>
            <a:r>
              <a:rPr lang="de-DE" sz="1050" b="0" i="0" dirty="0">
                <a:solidFill>
                  <a:srgbClr val="64716D"/>
                </a:solidFill>
                <a:latin typeface="Aptos"/>
              </a:rPr>
              <a:t>– </a:t>
            </a:r>
            <a:r>
              <a:rPr sz="1050" b="0" i="0" dirty="0" err="1">
                <a:solidFill>
                  <a:srgbClr val="64716D"/>
                </a:solidFill>
                <a:latin typeface="Aptos"/>
              </a:rPr>
              <a:t>which is precisely what</a:t>
            </a:r>
            <a:r>
              <a:rPr sz="1050" b="0" i="0" dirty="0">
                <a:solidFill>
                  <a:srgbClr val="64716D"/>
                </a:solidFill>
                <a:latin typeface="Aptos"/>
              </a:rPr>
              <a:t> 1Çatı </a:t>
            </a:r>
            <a:r>
              <a:rPr sz="1050" b="0" i="0" dirty="0" err="1">
                <a:solidFill>
                  <a:srgbClr val="64716D"/>
                </a:solidFill>
                <a:latin typeface="Aptos"/>
              </a:rPr>
              <a:t>aims to deliver</a:t>
            </a:r>
            <a:r>
              <a:rPr sz="1050" b="0" i="0" dirty="0">
                <a:solidFill>
                  <a:srgbClr val="64716D"/>
                </a:solidFill>
                <a:latin typeface="Aptos"/>
              </a:rPr>
              <a:t>.</a:t>
            </a:r>
          </a:p>
        </p:txBody>
      </p:sp>
      <p:sp>
        <p:nvSpPr>
          <p:cNvPr id="15" name="Rounded Rectangle 14"/>
          <p:cNvSpPr/>
          <p:nvPr/>
        </p:nvSpPr>
        <p:spPr>
          <a:xfrm>
            <a:off x="619506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1280160"/>
          </a:xfrm>
          <a:prstGeom prst="rect">
            <a:avLst/>
          </a:prstGeom>
          <a:noFill/>
        </p:spPr>
        <p:txBody>
          <a:bodyPr wrap="square" lIns="0" tIns="0" rIns="0" bIns="0" anchor="t">
            <a:spAutoFit/>
          </a:bodyPr>
          <a:lstStyle/>
          <a:p>
            <a:r>
              <a:rPr sz="1300" b="1" i="0">
                <a:solidFill>
                  <a:srgbClr val="044F49"/>
                </a:solidFill>
                <a:latin typeface="Aptos"/>
              </a:rPr>
              <a:t>A transferable model</a:t>
            </a:r>
          </a:p>
          <a:p>
            <a:pPr>
              <a:spcBef>
                <a:spcPts val="400"/>
              </a:spcBef>
            </a:pPr>
            <a:r>
              <a:rPr sz="1050" b="0" i="0">
                <a:solidFill>
                  <a:srgbClr val="64716D"/>
                </a:solidFill>
                <a:latin typeface="Aptos"/>
              </a:rPr>
              <a:t>The public registration and reporting channel is a reusable model for further construction projects and sites.</a:t>
            </a:r>
          </a:p>
        </p:txBody>
      </p:sp>
      <p:sp>
        <p:nvSpPr>
          <p:cNvPr id="17" name="Rounded Rectangle 16"/>
          <p:cNvSpPr/>
          <p:nvPr/>
        </p:nvSpPr>
        <p:spPr>
          <a:xfrm>
            <a:off x="640080" y="5212080"/>
            <a:ext cx="10881360" cy="10058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212080"/>
            <a:ext cx="54864" cy="100584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441848"/>
            <a:ext cx="10469880" cy="546303"/>
          </a:xfrm>
          <a:prstGeom prst="rect">
            <a:avLst/>
          </a:prstGeom>
          <a:noFill/>
        </p:spPr>
        <p:txBody>
          <a:bodyPr wrap="square" lIns="0" tIns="0" rIns="0" bIns="0" anchor="ctr">
            <a:spAutoFit/>
          </a:bodyPr>
          <a:lstStyle/>
          <a:p>
            <a:r>
              <a:rPr sz="1250" b="1" i="0" dirty="0" err="1">
                <a:solidFill>
                  <a:srgbClr val="044F49"/>
                </a:solidFill>
                <a:latin typeface="Aptos"/>
              </a:rPr>
              <a:t>Prerequisites </a:t>
            </a:r>
            <a:r>
              <a:rPr sz="1250" b="1" i="0" dirty="0">
                <a:solidFill>
                  <a:srgbClr val="044F49"/>
                </a:solidFill>
                <a:latin typeface="Aptos"/>
              </a:rPr>
              <a:t>for </a:t>
            </a:r>
            <a:r>
              <a:rPr sz="1250" b="1" i="0" dirty="0" err="1">
                <a:solidFill>
                  <a:srgbClr val="044F49"/>
                </a:solidFill>
                <a:latin typeface="Aptos"/>
              </a:rPr>
              <a:t>going live</a:t>
            </a:r>
            <a:r>
              <a:rPr sz="1250" b="1" i="0" dirty="0">
                <a:solidFill>
                  <a:srgbClr val="044F49"/>
                </a:solidFill>
                <a:latin typeface="Aptos"/>
              </a:rPr>
              <a:t>.  The following </a:t>
            </a:r>
            <a:r>
              <a:rPr sz="1150" b="0" i="0" dirty="0" err="1">
                <a:solidFill>
                  <a:srgbClr val="33413D"/>
                </a:solidFill>
                <a:latin typeface="Aptos"/>
              </a:rPr>
              <a:t>are required: a production data environment</a:t>
            </a:r>
            <a:r>
              <a:rPr sz="1150" b="0" i="0" dirty="0">
                <a:solidFill>
                  <a:srgbClr val="33413D"/>
                </a:solidFill>
                <a:latin typeface="Aptos"/>
              </a:rPr>
              <a:t>, </a:t>
            </a:r>
            <a:r>
              <a:rPr sz="1150" b="0" i="0" dirty="0" err="1">
                <a:solidFill>
                  <a:srgbClr val="33413D"/>
                </a:solidFill>
                <a:latin typeface="Aptos"/>
              </a:rPr>
              <a:t>payment/banking channels</a:t>
            </a:r>
            <a:r>
              <a:rPr sz="1150" b="0" i="0" dirty="0">
                <a:solidFill>
                  <a:srgbClr val="33413D"/>
                </a:solidFill>
                <a:latin typeface="Aptos"/>
              </a:rPr>
              <a:t>, </a:t>
            </a:r>
            <a:r>
              <a:rPr sz="1150" b="0" i="0" dirty="0" err="1">
                <a:solidFill>
                  <a:srgbClr val="33413D"/>
                </a:solidFill>
                <a:latin typeface="Aptos"/>
              </a:rPr>
              <a:t>a communications provider</a:t>
            </a:r>
            <a:r>
              <a:rPr sz="1150" b="0" i="0" dirty="0">
                <a:solidFill>
                  <a:srgbClr val="33413D"/>
                </a:solidFill>
                <a:latin typeface="Aptos"/>
              </a:rPr>
              <a:t>, </a:t>
            </a:r>
            <a:r>
              <a:rPr sz="1150" b="0" i="0" dirty="0" err="1">
                <a:solidFill>
                  <a:srgbClr val="33413D"/>
                </a:solidFill>
                <a:latin typeface="Aptos"/>
              </a:rPr>
              <a:t>an access system</a:t>
            </a:r>
            <a:r>
              <a:rPr sz="1150" b="0" i="0" dirty="0">
                <a:solidFill>
                  <a:srgbClr val="33413D"/>
                </a:solidFill>
                <a:latin typeface="Aptos"/>
              </a:rPr>
              <a:t>, </a:t>
            </a:r>
            <a:r>
              <a:rPr sz="1150" b="0" i="0" dirty="0" err="1">
                <a:solidFill>
                  <a:srgbClr val="33413D"/>
                </a:solidFill>
                <a:latin typeface="Aptos"/>
              </a:rPr>
              <a:t>identity verification</a:t>
            </a:r>
            <a:r>
              <a:rPr sz="1150" b="0" i="0" dirty="0">
                <a:solidFill>
                  <a:srgbClr val="33413D"/>
                </a:solidFill>
                <a:latin typeface="Aptos"/>
              </a:rPr>
              <a:t>, </a:t>
            </a:r>
            <a:r>
              <a:rPr sz="1150" b="0" i="0" dirty="0" err="1">
                <a:solidFill>
                  <a:srgbClr val="33413D"/>
                </a:solidFill>
                <a:latin typeface="Aptos"/>
              </a:rPr>
              <a:t>legal approvals </a:t>
            </a:r>
            <a:r>
              <a:rPr sz="1150" b="0" i="0" dirty="0">
                <a:solidFill>
                  <a:srgbClr val="33413D"/>
                </a:solidFill>
                <a:latin typeface="Aptos"/>
              </a:rPr>
              <a:t>and </a:t>
            </a:r>
            <a:r>
              <a:rPr sz="1150" b="0" i="0" dirty="0" err="1">
                <a:solidFill>
                  <a:srgbClr val="33413D"/>
                </a:solidFill>
                <a:latin typeface="Aptos"/>
              </a:rPr>
              <a:t>a joint acceptance test </a:t>
            </a:r>
            <a:r>
              <a:rPr sz="1150" b="0" i="0" dirty="0">
                <a:solidFill>
                  <a:srgbClr val="33413D"/>
                </a:solidFill>
                <a:latin typeface="Aptos"/>
              </a:rPr>
              <a:t>(see </a:t>
            </a:r>
            <a:r>
              <a:rPr sz="1150" b="0" i="0" dirty="0" err="1">
                <a:solidFill>
                  <a:srgbClr val="33413D"/>
                </a:solidFill>
                <a:latin typeface="Aptos"/>
              </a:rPr>
              <a:t>Chapter</a:t>
            </a:r>
            <a:r>
              <a:rPr sz="1150" b="0" i="0" dirty="0">
                <a:solidFill>
                  <a:srgbClr val="33413D"/>
                </a:solidFill>
                <a:latin typeface="Aptos"/>
              </a:rPr>
              <a:t> 9 for details). None </a:t>
            </a:r>
            <a:r>
              <a:rPr sz="1150" b="0" i="0" dirty="0" err="1">
                <a:solidFill>
                  <a:srgbClr val="33413D"/>
                </a:solidFill>
                <a:latin typeface="Aptos"/>
              </a:rPr>
              <a:t>of these points constitutes a technical </a:t>
            </a:r>
            <a:r>
              <a:rPr sz="1150" b="0" i="0" dirty="0">
                <a:solidFill>
                  <a:srgbClr val="33413D"/>
                </a:solidFill>
                <a:latin typeface="Aptos"/>
              </a:rPr>
              <a:t>risk </a:t>
            </a:r>
            <a:r>
              <a:rPr lang="de-DE" sz="1150" b="0" i="0" dirty="0">
                <a:solidFill>
                  <a:srgbClr val="33413D"/>
                </a:solidFill>
                <a:latin typeface="Aptos"/>
              </a:rPr>
              <a:t>– </a:t>
            </a:r>
            <a:r>
              <a:rPr sz="1150" b="0" i="0" dirty="0">
                <a:solidFill>
                  <a:srgbClr val="33413D"/>
                </a:solidFill>
                <a:latin typeface="Aptos"/>
              </a:rPr>
              <a:t>they </a:t>
            </a:r>
            <a:r>
              <a:rPr sz="1150" b="0" i="0" dirty="0" err="1">
                <a:solidFill>
                  <a:srgbClr val="33413D"/>
                </a:solidFill>
                <a:latin typeface="Aptos"/>
              </a:rPr>
              <a:t>are clearly defined</a:t>
            </a:r>
            <a:r>
              <a:rPr sz="1150" b="0" i="0" dirty="0">
                <a:solidFill>
                  <a:srgbClr val="33413D"/>
                </a:solidFill>
                <a:latin typeface="Aptos"/>
              </a:rPr>
              <a:t>, </a:t>
            </a:r>
            <a:r>
              <a:rPr sz="1150" b="0" i="0" dirty="0" err="1">
                <a:solidFill>
                  <a:srgbClr val="33413D"/>
                </a:solidFill>
                <a:latin typeface="Aptos"/>
              </a:rPr>
              <a:t>plannable approvals</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Property Management &amp; Real Estate ERP · WAMOCON GmbH for </a:t>
            </a:r>
            <a:r>
              <a:rPr sz="750" b="0" i="0" dirty="0" err="1">
                <a:solidFill>
                  <a:srgbClr val="64716D"/>
                </a:solidFill>
                <a:latin typeface="Aptos"/>
              </a:rPr>
              <a:t>Ataberk </a:t>
            </a:r>
            <a:r>
              <a:rPr sz="750" b="0" i="0" dirty="0">
                <a:solidFill>
                  <a:srgbClr val="64716D"/>
                </a:solidFill>
                <a:latin typeface="Aptos"/>
              </a:rPr>
              <a:t>Estate · </a:t>
            </a:r>
            <a:r>
              <a:rPr sz="750" b="0" i="0" dirty="0" err="1">
                <a:solidFill>
                  <a:srgbClr val="64716D"/>
                </a:solidFill>
                <a:latin typeface="Aptos"/>
              </a:rPr>
              <a:t>Confidential</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31</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losing_photo.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pic>
        <p:nvPicPr>
          <p:cNvPr id="6" name="Picture 5" descr="logo.png"/>
          <p:cNvPicPr>
            <a:picLocks noChangeAspect="1"/>
          </p:cNvPicPr>
          <p:nvPr/>
        </p:nvPicPr>
        <p:blipFill>
          <a:blip r:embed="rId4"/>
          <a:stretch>
            <a:fillRect/>
          </a:stretch>
        </p:blipFill>
        <p:spPr>
          <a:xfrm>
            <a:off x="822960" y="2194560"/>
            <a:ext cx="822960" cy="822960"/>
          </a:xfrm>
          <a:prstGeom prst="rect">
            <a:avLst/>
          </a:prstGeom>
        </p:spPr>
      </p:pic>
      <p:sp>
        <p:nvSpPr>
          <p:cNvPr id="7" name="TextBox 6"/>
          <p:cNvSpPr txBox="1"/>
          <p:nvPr/>
        </p:nvSpPr>
        <p:spPr>
          <a:xfrm>
            <a:off x="822960" y="3200400"/>
            <a:ext cx="10515600" cy="1463040"/>
          </a:xfrm>
          <a:prstGeom prst="rect">
            <a:avLst/>
          </a:prstGeom>
          <a:noFill/>
        </p:spPr>
        <p:txBody>
          <a:bodyPr wrap="square" lIns="0" tIns="0" rIns="0" bIns="0" anchor="t">
            <a:spAutoFit/>
          </a:bodyPr>
          <a:lstStyle/>
          <a:p>
            <a:r>
              <a:rPr sz="3000" b="1" i="0">
                <a:solidFill>
                  <a:srgbClr val="FFFFFF"/>
                </a:solidFill>
                <a:latin typeface="Aptos"/>
              </a:rPr>
              <a:t>A one-stop solution for your entire property management operation.</a:t>
            </a:r>
          </a:p>
        </p:txBody>
      </p:sp>
      <p:sp>
        <p:nvSpPr>
          <p:cNvPr id="8" name="TextBox 7"/>
          <p:cNvSpPr txBox="1"/>
          <p:nvPr/>
        </p:nvSpPr>
        <p:spPr>
          <a:xfrm>
            <a:off x="822960" y="4343400"/>
            <a:ext cx="9875520" cy="1097280"/>
          </a:xfrm>
          <a:prstGeom prst="rect">
            <a:avLst/>
          </a:prstGeom>
          <a:noFill/>
        </p:spPr>
        <p:txBody>
          <a:bodyPr wrap="square" lIns="0" tIns="0" rIns="0" bIns="0" anchor="t">
            <a:spAutoFit/>
          </a:bodyPr>
          <a:lstStyle/>
          <a:p>
            <a:r>
              <a:rPr sz="1400" b="0" i="0">
                <a:solidFill>
                  <a:srgbClr val="CDE7E1"/>
                </a:solidFill>
                <a:latin typeface="Aptos"/>
              </a:rPr>
              <a:t>1Çatı is now delivering a fully functional operating system for New Level Premium, designed in line with your brand identity. The path to going live is clear, straightforward and free from hidden surprises.</a:t>
            </a:r>
          </a:p>
        </p:txBody>
      </p:sp>
      <p:sp>
        <p:nvSpPr>
          <p:cNvPr id="9" name="TextBox 8"/>
          <p:cNvSpPr txBox="1"/>
          <p:nvPr/>
        </p:nvSpPr>
        <p:spPr>
          <a:xfrm>
            <a:off x="822960" y="5943600"/>
            <a:ext cx="10515600" cy="457200"/>
          </a:xfrm>
          <a:prstGeom prst="rect">
            <a:avLst/>
          </a:prstGeom>
          <a:noFill/>
        </p:spPr>
        <p:txBody>
          <a:bodyPr wrap="square" lIns="0" tIns="0" rIns="0" bIns="0" anchor="t">
            <a:spAutoFit/>
          </a:bodyPr>
          <a:lstStyle/>
          <a:p>
            <a:r>
              <a:rPr sz="1050" b="0" i="0">
                <a:solidFill>
                  <a:srgbClr val="A9D2CB"/>
                </a:solidFill>
                <a:latin typeface="Aptos"/>
              </a:rPr>
              <a:t>WAMOCON GmbH  ·  for Ataberk Estate  ·  Confidential  ·  7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4874</Words>
  <Application>Microsoft Office PowerPoint</Application>
  <PresentationFormat>Breitbild</PresentationFormat>
  <Paragraphs>539</Paragraphs>
  <Slides>33</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33</vt:i4>
      </vt:variant>
    </vt:vector>
  </HeadingPairs>
  <TitlesOfParts>
    <vt:vector size="37"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docId:49E8909160E748F6CC111C7CE720DED7</cp:keywords>
  <dc:description>generated using python-pptx</dc:description>
  <cp:lastModifiedBy>Waleri Moretz</cp:lastModifiedBy>
  <cp:revision>4</cp:revision>
  <dcterms:created xsi:type="dcterms:W3CDTF">2013-01-27T09:14:16Z</dcterms:created>
  <dcterms:modified xsi:type="dcterms:W3CDTF">2026-07-07T10:33:35Z</dcterms:modified>
  <cp:category/>
</cp:coreProperties>
</file>