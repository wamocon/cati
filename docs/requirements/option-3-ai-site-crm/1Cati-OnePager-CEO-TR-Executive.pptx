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ed7521c3b487f" /><Relationship Type="http://schemas.openxmlformats.org/officeDocument/2006/relationships/extended-properties" Target="/docProps/app.xml" Id="R20770bc6c24e4c22" /><Relationship Type="http://schemas.openxmlformats.org/officeDocument/2006/relationships/officeDocument" Target="/ppt/presentation.xml" Id="Red814c80f61a4b0c" /></Relationships>
</file>

<file path=ppt/presentation.xml><?xml version="1.0" encoding="utf-8"?>
<p:presentation xmlns:p="http://schemas.openxmlformats.org/presentationml/2006/main">
  <p:sldMasterIdLst>
    <p:sldMasterId xmlns:r="http://schemas.openxmlformats.org/officeDocument/2006/relationships" id="2147483648" r:id="R90bb6efff0224038"/>
  </p:sldMasterIdLst>
  <p:notesMasterIdLst>
    <p:notesMasterId xmlns:r="http://schemas.openxmlformats.org/officeDocument/2006/relationships" r:id="Rc45b8ba046214a5d"/>
  </p:notesMasterIdLst>
  <p:sldIdLst>
    <p:sldId xmlns:r="http://schemas.openxmlformats.org/officeDocument/2006/relationships" id="256" r:id="R4fbc8515d356426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92052d3d7c44d6f" /><Relationship Type="http://schemas.openxmlformats.org/officeDocument/2006/relationships/slideMaster" Target="/ppt/slideMasters/slideMaster1.xml" Id="R90bb6efff0224038" /><Relationship Type="http://schemas.openxmlformats.org/officeDocument/2006/relationships/notesMaster" Target="/ppt/notesMasters/notesMaster1.xml" Id="Rc45b8ba046214a5d" /><Relationship Type="http://schemas.openxmlformats.org/officeDocument/2006/relationships/presProps" Target="/ppt/presProps.xml" Id="R9a0aa9013224421f" /><Relationship Type="http://schemas.openxmlformats.org/officeDocument/2006/relationships/viewProps" Target="/ppt/viewProps.xml" Id="Re3374565d7ea4204" /><Relationship Type="http://schemas.openxmlformats.org/officeDocument/2006/relationships/tableStyles" Target="/ppt/tableStyles.xml" Id="R86ea2bd0bb974c8e" /><Relationship Type="http://schemas.openxmlformats.org/officeDocument/2006/relationships/slide" Target="/ppt/slides/slide1.xml" Id="R4fbc8515d35642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63af9cdbb74b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34805b9a8b478e" /><Relationship Type="http://schemas.openxmlformats.org/officeDocument/2006/relationships/notesMaster" Target="/ppt/notesMasters/notesMaster1.xml" Id="R4761a7ab4cef48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SAYIN FATİH BEY,</a:t>
            </a:r>
          </a:p>
          <a:p xmlns:a="http://schemas.openxmlformats.org/drawingml/2006/main">
            <a:r>
              <a:t/>
            </a:r>
          </a:p>
          <a:p xmlns:a="http://schemas.openxmlformats.org/drawingml/2006/main">
            <a:r>
              <a:t>Zaman ayırdığınız için teşekkür ederim. Bu tek sayfada 1Çatı’nın yönetim açısından neyi değiştirdiğini, bugün hangi kapsamın hazır olduğunu ve bir sonraki kararın ne olması gerektiğini özetlemek istiyorum.</a:t>
            </a:r>
          </a:p>
          <a:p xmlns:a="http://schemas.openxmlformats.org/drawingml/2006/main">
            <a:r>
              <a:t/>
            </a:r>
          </a:p>
          <a:p xmlns:a="http://schemas.openxmlformats.org/drawingml/2006/main">
            <a:r>
              <a:t>AÇILIŞ — 769 BAĞIMSIZ BÖLÜM, TEK YÖNETİM GÖRÜNÜMÜ</a:t>
            </a:r>
          </a:p>
          <a:p xmlns:a="http://schemas.openxmlformats.org/drawingml/2006/main">
            <a:r>
              <a:t/>
            </a:r>
          </a:p>
          <a:p xmlns:a="http://schemas.openxmlformats.org/drawingml/2006/main">
            <a:r>
              <a:t>New Level Premium, İSKÂN ve işletmeye geçiş eşiğinde. 769 bağımsız bölüm ve farklı ülkelerde yaşayan malikler söz konusu olduğunda operasyonun karmaşıklığı hızla büyüyor. Ödeme durumları, açık borçlar, hizmet talepleri, belgeler, rezervasyonlar ve erişim hakları farklı araçlarda takip edildiğinde yönetimin tek ve güncel bir tabloya ulaşması zorlaşıyor.</a:t>
            </a:r>
          </a:p>
          <a:p xmlns:a="http://schemas.openxmlformats.org/drawingml/2006/main">
            <a:r>
              <a:t/>
            </a:r>
          </a:p>
          <a:p xmlns:a="http://schemas.openxmlformats.org/drawingml/2006/main">
            <a:r>
              <a:t>1Çatı’nın temel vaadi bu dağınıklığı ortadan kaldırmaktır. Finans, hizmet, belge, erişim ve iletişim süreçlerini aynı veri ve yetki modeli üzerinde, rol bazlı ve dört dilli tek bir işletim sisteminde birleştirir.</a:t>
            </a:r>
          </a:p>
          <a:p xmlns:a="http://schemas.openxmlformats.org/drawingml/2006/main">
            <a:r>
              <a:t/>
            </a:r>
          </a:p>
          <a:p xmlns:a="http://schemas.openxmlformats.org/drawingml/2006/main">
            <a:r>
              <a:t>NEDEN ŞİMDİ?</a:t>
            </a:r>
          </a:p>
          <a:p xmlns:a="http://schemas.openxmlformats.org/drawingml/2006/main">
            <a:r>
              <a:t/>
            </a:r>
          </a:p>
          <a:p xmlns:a="http://schemas.openxmlformats.org/drawingml/2006/main">
            <a:r>
              <a:t>Pazar göstergeleri zamanlamayı açıklıyor. Türkiye’de yabancıya konut satışları 2025 yılında yüzde 9,4 düştü ve son dokuz yılın en düşük seviyesine indi. Buna rağmen Alanya, Rus alıcılar arasında dört yıldır üst üste birinci sırada. Türkiye’de WhatsApp kullanımı yüzde 88,6 seviyesinde; uluslararası gayrimenkul sektöründe yapay zekâ kullanımı ise yüzde 21’den yüzde 34’e yükseldi.</a:t>
            </a:r>
          </a:p>
          <a:p xmlns:a="http://schemas.openxmlformats.org/drawingml/2006/main">
            <a:r>
              <a:t/>
            </a:r>
          </a:p>
          <a:p xmlns:a="http://schemas.openxmlformats.org/drawingml/2006/main">
            <a:r>
              <a:t>Yönetim açısından anlamı şu: Pazar daha seçici hale gelirken hızlı, şeffaf ve çok dilli hizmet artık yalnızca bir kolaylık değil, müşteri bağlılığını belirleyen bir rekabet unsurudur.</a:t>
            </a:r>
          </a:p>
          <a:p xmlns:a="http://schemas.openxmlformats.org/drawingml/2006/main">
            <a:r>
              <a:t/>
            </a:r>
          </a:p>
          <a:p xmlns:a="http://schemas.openxmlformats.org/drawingml/2006/main">
            <a:r>
              <a:t>YÖNETİM İÇİN ÜÇ SONUÇ</a:t>
            </a:r>
          </a:p>
          <a:p xmlns:a="http://schemas.openxmlformats.org/drawingml/2006/main">
            <a:r>
              <a:t/>
            </a:r>
          </a:p>
          <a:p xmlns:a="http://schemas.openxmlformats.org/drawingml/2006/main">
            <a:r>
              <a:t>Birincisi kontrol. Portföy ve rezervasyon süreçleri, bakiye ve aidatlar, hizmet talepleri, SLA süreleri ve saha görevleri tek görünümde izlenir. Finansal kayıtlar sonradan değiştirilemez; kritik işlemler denetim izinde kalır. Yönetim, finans, hizmet ve erişim durumunu aynı veri üzerinden okuyabilir.</a:t>
            </a:r>
          </a:p>
          <a:p xmlns:a="http://schemas.openxmlformats.org/drawingml/2006/main">
            <a:r>
              <a:t/>
            </a:r>
          </a:p>
          <a:p xmlns:a="http://schemas.openxmlformats.org/drawingml/2006/main">
            <a:r>
              <a:t>İkincisi güven. TAPU, KYC ve sözleşmeler belge kasasında tutulur. Altı rol için çift erişim kontrolü uygulanır. WhatsApp, portal, e-posta ve SMS tek çalışma akışında birleştirilir. Türkçe, İngilizce, Almanca ve Rusça deneyim; uluslararası maliklerle iletişimi daha tutarlı ve izlenebilir hale getirir.</a:t>
            </a:r>
          </a:p>
          <a:p xmlns:a="http://schemas.openxmlformats.org/drawingml/2006/main">
            <a:r>
              <a:t/>
            </a:r>
          </a:p>
          <a:p xmlns:a="http://schemas.openxmlformats.org/drawingml/2006/main">
            <a:r>
              <a:t>Üçüncüsü ölçek. Platform modüler, API öncelikli ve sağlayıcıdan bağımsızdır. Yüklenebilir web uygulaması olarak farklı cihazlarda çalışır; uygulama mağazasına bağımlı değildir. Kamuya açık ön kayıt alanı ve insan onayıyla çalışan iki yapay zekâ asistanı ekipleri destekler. Aynı temel, ileride yeni proje ve lokasyonlara uyarlanabilir.</a:t>
            </a:r>
          </a:p>
          <a:p xmlns:a="http://schemas.openxmlformats.org/drawingml/2006/main">
            <a:r>
              <a:t/>
            </a:r>
          </a:p>
          <a:p xmlns:a="http://schemas.openxmlformats.org/drawingml/2006/main">
            <a:r>
              <a:t>KANIT — BUGÜN HAZIR OLAN KAPSAM</a:t>
            </a:r>
          </a:p>
          <a:p xmlns:a="http://schemas.openxmlformats.org/drawingml/2006/main">
            <a:r>
              <a:t/>
            </a:r>
          </a:p>
          <a:p xmlns:a="http://schemas.openxmlformats.org/drawingml/2006/main">
            <a:r>
              <a:t>Alt banttaki rakamlar bir gelecek tahmini değil, mevcut demo kapsamının özetidir: referans projede 769 bağımsız bölüm, portalda 13 çalışma alanı, ince yetkilerle tanımlanmış 6 rol, 4 dil ve “Cati Training” içinde 19 eğitim videosu.</a:t>
            </a:r>
          </a:p>
          <a:p xmlns:a="http://schemas.openxmlformats.org/drawingml/2006/main">
            <a:r>
              <a:t/>
            </a:r>
          </a:p>
          <a:p xmlns:a="http://schemas.openxmlformats.org/drawingml/2006/main">
            <a:r>
              <a:t>Teknoloji altyapısı kontrollü yapay zekâ, uygulama ve veritabanı düzeyinde erişim koruması, değiştirilemez finans kayıtları, güvenlik başlıkları ve 100’ün üzerinde test ile destekleniyor. Yapay zekâ önerir; nihai kararı her zaman yetkili kişi verir.</a:t>
            </a:r>
          </a:p>
          <a:p xmlns:a="http://schemas.openxmlformats.org/drawingml/2006/main">
            <a:r>
              <a:t/>
            </a:r>
          </a:p>
          <a:p xmlns:a="http://schemas.openxmlformats.org/drawingml/2006/main">
            <a:r>
              <a:t>HAZIRLIK VE İŞLETME MODELİ</a:t>
            </a:r>
          </a:p>
          <a:p xmlns:a="http://schemas.openxmlformats.org/drawingml/2006/main">
            <a:r>
              <a:t/>
            </a:r>
          </a:p>
          <a:p xmlns:a="http://schemas.openxmlformats.org/drawingml/2006/main">
            <a:r>
              <a:t>Bugün gördüğünüz sistem gerçekçi verilerle kullanılabilir bir demo ortamıdır. Temel platform ve “Cati Training” hazırdır. Ancak gerçek ödeme tahsilatı, canlı mesaj gönderimi ve fiziksel erişim komutları henüz üretimde açık değildir.</a:t>
            </a:r>
          </a:p>
          <a:p xmlns:a="http://schemas.openxmlformats.org/drawingml/2006/main">
            <a:r>
              <a:t/>
            </a:r>
          </a:p>
          <a:p xmlns:a="http://schemas.openxmlformats.org/drawingml/2006/main">
            <a:r>
              <a:t>Bu işlevler; sağlayıcıların seçilmesi, sözleşmelerin ve API anahtarlarının sağlanması, hukuki onayların tamamlanması ve gerçek verilerle UAT sonrasında kontrollü biçimde etkinleştirilecektir. Bu ayrım, beklentiyi doğru yönetmek ve güvenli bir canlı geçiş sağlamak için önemlidir.</a:t>
            </a:r>
          </a:p>
          <a:p xmlns:a="http://schemas.openxmlformats.org/drawingml/2006/main">
            <a:r>
              <a:t/>
            </a:r>
          </a:p>
          <a:p xmlns:a="http://schemas.openxmlformats.org/drawingml/2006/main">
            <a:r>
              <a:t>Teklif modeli kullanıcı başına aylık 5 avro bakım ve hizmet bedelidir; müteahhit için geliştirme bedeli öngörülmez. Harici sağlayıcı ve donanım kapsamları ayrıca onaylanır. WAMOCON geliştirme, servis, bakım ve güvenlik güncellemelerini üstlenir.</a:t>
            </a:r>
          </a:p>
          <a:p xmlns:a="http://schemas.openxmlformats.org/drawingml/2006/main">
            <a:r>
              <a:t/>
            </a:r>
          </a:p>
          <a:p xmlns:a="http://schemas.openxmlformats.org/drawingml/2006/main">
            <a:r>
              <a:t>KAPANIŞ</a:t>
            </a:r>
          </a:p>
          <a:p xmlns:a="http://schemas.openxmlformats.org/drawingml/2006/main">
            <a:r>
              <a:t/>
            </a:r>
          </a:p>
          <a:p xmlns:a="http://schemas.openxmlformats.org/drawingml/2006/main">
            <a:r>
              <a:t>Sağ tarafta bu sistemin tasarlandığı referans projeyi görüyorsunuz: Avsallar’daki New Level Premium; 769 bağımsız bölüm, 52.000 metrekare, sahile 900 metre mesafe ve 5 yıldızlı otel.</a:t>
            </a:r>
          </a:p>
          <a:p xmlns:a="http://schemas.openxmlformats.org/drawingml/2006/main">
            <a:r>
              <a:t/>
            </a:r>
          </a:p>
          <a:p xmlns:a="http://schemas.openxmlformats.org/drawingml/2006/main">
            <a:r>
              <a:t>Fatih Bey, bir sonraki adımda sizi kısa yönetim turuna ve ardından gerçek iş akışlarıyla canlı demoya davet ediyorum. Böylece bugün hazır olan yapıyı ve üretime geçiş için birlikte onaylamamız gereken kontrol listesini doğrudan inceleyebiliriz.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95c539ea084a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ad9d782fbb4e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cf5d9c22664e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6bb218f5df47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a18d82a1c04f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e257b53a9c41d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44c43be4b204da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fa80789e7f94c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45d12d9e1ab467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c38b9ac1aff40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06c9d3b2c3f472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BB9C98-02A5-44CA-8405-7FF2EEB37EA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34A8CDD-996E-4490-A433-3CBA8688FB42}"/>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844CE23-08D1-48E1-B0CD-93ED94F5EC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21DA1FF0-ECB9-4D9F-B7F4-E3214D4D65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53F68B0-CABC-4CC8-BA2A-A82A3863CD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088AB2-1CD8-4B0B-AE29-D6986FE0C7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3DE8EFE-D136-488B-8791-F0C7AA9AC00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25DE4237-EEA1-44DB-ADCB-F623951280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A7080947-9547-4BCB-948A-A8E28E5CC2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404A8EB-839D-4425-A871-D608D3DB4D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6DB233-3CC6-4F7C-A459-5F3C370BED8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70DD827-5630-4A46-B13F-FF494B18E83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5871F66-F5EF-4084-9FB1-84A9B8EA02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A473BBDF-67FF-4A06-9427-F2E9D29AE2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DD4309D-EAEF-487E-95D7-A97A0798E1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505D22-90F1-45E1-977A-D85C6C2848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6B25323-255F-4E8B-88C5-8AC3D3A43D7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12EB85CA-F006-4CFB-A84F-C0BDE40920D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79E9DE17-34C6-46C9-9F30-8D22DD1345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6" name="Footer Placeholder 5">
            <a:extLst xmlns:a="http://schemas.openxmlformats.org/drawingml/2006/main">
              <a:ext uri="{FF2B5EF4-FFF2-40B4-BE49-F238E27FC236}">
                <a16:creationId xmlns:a16="http://schemas.microsoft.com/office/drawing/2014/main" id="{ED3DAAEB-8089-43A9-A4FC-946AD2038A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A877ECC1-4485-4BAD-B40D-513DCA3B66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F58DB4-1592-43AA-BD26-2727C832B5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4F7C912-52A3-48F1-93BB-0196EF6ACE7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0142EAD-D983-42CD-A5EE-9558E254C3D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902989A0-CEA3-4836-9A42-6E75561556D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82AF712-F610-4BE9-ADF7-67407B4C9C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F8B24DC5-7B82-460B-B91B-6F04744108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8" name="Footer Placeholder 7">
            <a:extLst xmlns:a="http://schemas.openxmlformats.org/drawingml/2006/main">
              <a:ext uri="{FF2B5EF4-FFF2-40B4-BE49-F238E27FC236}">
                <a16:creationId xmlns:a16="http://schemas.microsoft.com/office/drawing/2014/main" id="{5715CBE1-3B2F-4601-A447-CFBBC024FD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5CE11C40-1D95-431C-B281-EDF3B30AF5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C74F13-CD5D-4E36-B41F-7C9AD7F62D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09989D5-2706-4CB9-9F13-3A6028069F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4" name="Footer Placeholder 3">
            <a:extLst xmlns:a="http://schemas.openxmlformats.org/drawingml/2006/main">
              <a:ext uri="{FF2B5EF4-FFF2-40B4-BE49-F238E27FC236}">
                <a16:creationId xmlns:a16="http://schemas.microsoft.com/office/drawing/2014/main" id="{28E54F12-3201-4FEE-8DA5-BF03DC00B1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C7A3C3F3-F585-4ECE-84CC-3C802E32F0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A5370B8-8E4B-4EE4-8A8E-46119ABEE4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3" name="Footer Placeholder 2">
            <a:extLst xmlns:a="http://schemas.openxmlformats.org/drawingml/2006/main">
              <a:ext uri="{FF2B5EF4-FFF2-40B4-BE49-F238E27FC236}">
                <a16:creationId xmlns:a16="http://schemas.microsoft.com/office/drawing/2014/main" id="{28185458-9F4C-4E59-8994-57C8520D74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3F067D09-078A-4C7A-9328-EF823C254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035E3D-1960-4EA6-8E81-9459AF1EECE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C754EB9-9E26-41F6-9F8E-B99C8D12FA0C}"/>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490C20B9-2804-4F95-9730-F905B30AEC5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00A3060-F9A9-4BBD-BCD7-2B077378DD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6" name="Footer Placeholder 5">
            <a:extLst xmlns:a="http://schemas.openxmlformats.org/drawingml/2006/main">
              <a:ext uri="{FF2B5EF4-FFF2-40B4-BE49-F238E27FC236}">
                <a16:creationId xmlns:a16="http://schemas.microsoft.com/office/drawing/2014/main" id="{EFBCC3E4-7160-4147-A1EC-11DA2CDB84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B427BB45-CBFD-4132-B0C6-F76DF72CEA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2F8E2D-0F40-4AC0-ACD0-EC64A494A43F}"/>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10D0BFB-312C-4469-8FC1-17ADB9C5B40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ABB1245E-8089-4A6D-82B5-E7D2A241982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72C5CCA-3402-4521-96AE-3FAAF7454B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6" name="Footer Placeholder 5">
            <a:extLst xmlns:a="http://schemas.openxmlformats.org/drawingml/2006/main">
              <a:ext uri="{FF2B5EF4-FFF2-40B4-BE49-F238E27FC236}">
                <a16:creationId xmlns:a16="http://schemas.microsoft.com/office/drawing/2014/main" id="{4B8B2FCF-1950-43C4-BB37-E74E4F9E2D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63622D2-7662-48BF-9016-000961499A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14195D-C4A3-493F-8354-1117336B9D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28CC2F9-6FCA-430F-AEDF-CD53D70764B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E58D1F09-0219-4849-A275-D6701D1A1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5C081113-7E40-40F4-A1C8-24BD3C769C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5EE5E82-45FA-483C-9130-1408999042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9EB9137-44B8-46C2-B64C-951B566A8F6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32922F2-98AB-47E6-A848-181AAB2FAC18}"/>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5C8F54E-D13F-4E30-9A9D-B4304754CB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2E52C44B-0883-4948-9E51-3FDEFD1B47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7AD4C5F-4A89-48DE-A3AE-0D670C78F8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‹Nr.›</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3264ecb5a34210" /><Relationship Type="http://schemas.openxmlformats.org/officeDocument/2006/relationships/slideLayout" Target="/ppt/slideLayouts/slideLayout1.xml" Id="R3b1b5a9a595340dd" /><Relationship Type="http://schemas.openxmlformats.org/officeDocument/2006/relationships/slideLayout" Target="/ppt/slideLayouts/slideLayout2.xml" Id="R21ed3148f4984c11" /><Relationship Type="http://schemas.openxmlformats.org/officeDocument/2006/relationships/slideLayout" Target="/ppt/slideLayouts/slideLayout3.xml" Id="R1a60d5df2f8941a0" /><Relationship Type="http://schemas.openxmlformats.org/officeDocument/2006/relationships/slideLayout" Target="/ppt/slideLayouts/slideLayout4.xml" Id="R69235c5b09414f92" /><Relationship Type="http://schemas.openxmlformats.org/officeDocument/2006/relationships/slideLayout" Target="/ppt/slideLayouts/slideLayout5.xml" Id="R2904ad499f854986" /><Relationship Type="http://schemas.openxmlformats.org/officeDocument/2006/relationships/slideLayout" Target="/ppt/slideLayouts/slideLayout6.xml" Id="Rbed3308f48ac47db" /><Relationship Type="http://schemas.openxmlformats.org/officeDocument/2006/relationships/slideLayout" Target="/ppt/slideLayouts/slideLayout7.xml" Id="R30e883a95d3c4a09" /><Relationship Type="http://schemas.openxmlformats.org/officeDocument/2006/relationships/slideLayout" Target="/ppt/slideLayouts/slideLayout8.xml" Id="R6e8d8feb4461495f" /><Relationship Type="http://schemas.openxmlformats.org/officeDocument/2006/relationships/slideLayout" Target="/ppt/slideLayouts/slideLayout9.xml" Id="R76ba3319de714664" /><Relationship Type="http://schemas.openxmlformats.org/officeDocument/2006/relationships/slideLayout" Target="/ppt/slideLayouts/slideLayout10.xml" Id="R183b723321b147ac" /><Relationship Type="http://schemas.openxmlformats.org/officeDocument/2006/relationships/slideLayout" Target="/ppt/slideLayouts/slideLayout11.xml" Id="Rb760e56cebee45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2ED93E4-6892-4816-AD2D-519E1D67A27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2C563A9-2594-43CB-8332-FCC7DA91C93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BCBA713A-DAF7-45B4-9794-A07B360BE16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7/11/2026</a:t>
            </a:fld>
          </a:p>
        </p:txBody>
      </p:sp>
      <p:sp>
        <p:nvSpPr>
          <p:cNvPr id="5" name="Footer Placeholder 4">
            <a:extLst xmlns:a="http://schemas.openxmlformats.org/drawingml/2006/main">
              <a:ext uri="{FF2B5EF4-FFF2-40B4-BE49-F238E27FC236}">
                <a16:creationId xmlns:a16="http://schemas.microsoft.com/office/drawing/2014/main" id="{EC8830AA-8EA5-471E-8B51-C31F8A5EE6E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29693D4-DE97-4C89-BE41-ACB58B21C31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‹Nr.›</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b5a9a595340dd"/>
    <p:sldLayoutId xmlns:r="http://schemas.openxmlformats.org/officeDocument/2006/relationships" id="2147483650" r:id="R21ed3148f4984c11"/>
    <p:sldLayoutId xmlns:r="http://schemas.openxmlformats.org/officeDocument/2006/relationships" id="2147483651" r:id="R1a60d5df2f8941a0"/>
    <p:sldLayoutId xmlns:r="http://schemas.openxmlformats.org/officeDocument/2006/relationships" id="2147483652" r:id="R69235c5b09414f92"/>
    <p:sldLayoutId xmlns:r="http://schemas.openxmlformats.org/officeDocument/2006/relationships" id="2147483653" r:id="R2904ad499f854986"/>
    <p:sldLayoutId xmlns:r="http://schemas.openxmlformats.org/officeDocument/2006/relationships" id="2147483654" r:id="Rbed3308f48ac47db"/>
    <p:sldLayoutId xmlns:r="http://schemas.openxmlformats.org/officeDocument/2006/relationships" id="2147483655" r:id="R30e883a95d3c4a09"/>
    <p:sldLayoutId xmlns:r="http://schemas.openxmlformats.org/officeDocument/2006/relationships" id="2147483656" r:id="R6e8d8feb4461495f"/>
    <p:sldLayoutId xmlns:r="http://schemas.openxmlformats.org/officeDocument/2006/relationships" id="2147483657" r:id="R76ba3319de714664"/>
    <p:sldLayoutId xmlns:r="http://schemas.openxmlformats.org/officeDocument/2006/relationships" id="2147483658" r:id="R183b723321b147ac"/>
    <p:sldLayoutId xmlns:r="http://schemas.openxmlformats.org/officeDocument/2006/relationships" id="2147483659" r:id="Rb760e56cebee45a0"/>
  </p:sldLayoutIdLst>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0a614836e884e85" /><Relationship Type="http://schemas.openxmlformats.org/officeDocument/2006/relationships/image" Target="/ppt/media/image.png" Id="R07d6e14717d14d5a" /><Relationship Type="http://schemas.openxmlformats.org/officeDocument/2006/relationships/image" Target="/ppt/media/image2.png" Id="R5047860363a24655" /><Relationship Type="http://schemas.openxmlformats.org/officeDocument/2006/relationships/image" Target="/ppt/media/image.jpeg" Id="R6446590dd9e347bc" /><Relationship Type="http://schemas.openxmlformats.org/officeDocument/2006/relationships/hyperlink" Target="https://cati-blond.vercel.app/tr/videos#video-library" TargetMode="External" Id="R7d647bc7d4da4f6e" /><Relationship Type="http://schemas.openxmlformats.org/officeDocument/2006/relationships/hyperlink" Target="https://cati-blond.vercel.app/tr/videos#video-library" TargetMode="External" Id="Rde4dfdebb4b94bae" /><Relationship Type="http://schemas.openxmlformats.org/officeDocument/2006/relationships/hyperlink" Target="https://cati-blond.vercel.app/tr/videos#video-library" TargetMode="External" Id="R65fcb283a2164262" /><Relationship Type="http://schemas.openxmlformats.org/officeDocument/2006/relationships/hyperlink" Target="https://cati-blond.vercel.app/tr/videos#video-library" TargetMode="External" Id="Rf111b7226e894698" /><Relationship Type="http://schemas.openxmlformats.org/officeDocument/2006/relationships/notesSlide" Target="/ppt/notesSlides/notesSlide1.xml" Id="R68532add89254a5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EC41A4C-D90F-4CFF-91D7-E6D069464D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8"/>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AD0E046-1FA0-4B1C-8D55-BEF9B4C3F110}"/>
              </a:ext>
            </a:extLst>
          </p:cNvPr>
          <p:cNvSpPr>
            <a:spLocks xmlns:a="http://schemas.openxmlformats.org/drawingml/2006/main" noGrp="1"/>
          </p:cNvSpPr>
          <p:nvPr/>
        </p:nvSpPr>
        <p:spPr>
          <a:xfrm xmlns:a="http://schemas.openxmlformats.org/drawingml/2006/main">
            <a:off x="0" y="0"/>
            <a:ext cx="12192000" cy="714375"/>
          </a:xfrm>
          <a:prstGeom xmlns:a="http://schemas.openxmlformats.org/drawingml/2006/main" prst="rect">
            <a:avLst/>
          </a:prstGeom>
          <a:solidFill xmlns:a="http://schemas.openxmlformats.org/drawingml/2006/main">
            <a:srgbClr val="032F2B"/>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29" name="Picture 3"/>
          <p:cNvPicPr>
            <a:picLocks xmlns:a="http://schemas.openxmlformats.org/drawingml/2006/main" noChangeAspect="1"/>
          </p:cNvPicPr>
          <p:nvPr/>
        </p:nvPicPr>
        <p:blipFill>
          <a:blip xmlns:r="http://schemas.openxmlformats.org/officeDocument/2006/relationships" xmlns:a="http://schemas.openxmlformats.org/drawingml/2006/main" r:embed="R07d6e14717d14d5a"/>
          <a:stretch xmlns:a="http://schemas.openxmlformats.org/drawingml/2006/main">
            <a:fillRect l="0" t="0" r="0" b="0"/>
          </a:stretch>
        </p:blipFill>
        <p:spPr>
          <a:xfrm xmlns:a="http://schemas.openxmlformats.org/drawingml/2006/main">
            <a:off x="304792" y="152396"/>
            <a:ext cx="406389" cy="406389"/>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72E550E1-23C6-47C8-B60F-8089AAB2BEAE}"/>
              </a:ext>
            </a:extLst>
          </p:cNvPr>
          <p:cNvSpPr>
            <a:spLocks xmlns:a="http://schemas.openxmlformats.org/drawingml/2006/main" noGrp="1"/>
          </p:cNvSpPr>
          <p:nvPr/>
        </p:nvSpPr>
        <p:spPr>
          <a:xfrm xmlns:a="http://schemas.openxmlformats.org/drawingml/2006/main">
            <a:off x="800100" y="95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FFFFFF"/>
                </a:solidFill>
                <a:latin typeface="Aptos"/>
                <a:ea typeface="Aptos"/>
                <a:cs typeface="Aptos"/>
              </a:defRPr>
            </a:pPr>
            <a:r>
              <a:rPr sz="1875" b="1" i="0">
                <a:solidFill>
                  <a:srgbClr val="FFFFFF"/>
                </a:solidFill>
                <a:latin typeface="Aptos"/>
                <a:ea typeface="Aptos"/>
                <a:cs typeface="Aptos"/>
              </a:rPr>
              <a:t>1Çatı</a:t>
            </a:r>
          </a:p>
        </p:txBody>
      </p:sp>
      <p:sp>
        <p:nvSpPr>
          <p:cNvPr id="6" name="TextBox 5">
            <a:extLst xmlns:a="http://schemas.openxmlformats.org/drawingml/2006/main">
              <a:ext uri="{FF2B5EF4-FFF2-40B4-BE49-F238E27FC236}">
                <a16:creationId xmlns:a16="http://schemas.microsoft.com/office/drawing/2014/main" id="{A6388E12-3417-4512-A996-2A68CA20F44E}"/>
              </a:ext>
            </a:extLst>
          </p:cNvPr>
          <p:cNvSpPr>
            <a:spLocks xmlns:a="http://schemas.openxmlformats.org/drawingml/2006/main" noGrp="1"/>
          </p:cNvSpPr>
          <p:nvPr/>
        </p:nvSpPr>
        <p:spPr>
          <a:xfrm xmlns:a="http://schemas.openxmlformats.org/drawingml/2006/main">
            <a:off x="800100" y="3714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38">
                <a:solidFill>
                  <a:srgbClr val="BFE0DA"/>
                </a:solidFill>
                <a:latin typeface="Aptos"/>
                <a:ea typeface="Aptos"/>
                <a:cs typeface="Aptos"/>
              </a:defRPr>
            </a:pPr>
            <a:r>
              <a:rPr sz="938" b="0" i="0">
                <a:solidFill>
                  <a:srgbClr val="BFE0DA"/>
                </a:solidFill>
                <a:latin typeface="Aptos"/>
                <a:ea typeface="Aptos"/>
                <a:cs typeface="Aptos"/>
              </a:rPr>
              <a:t>Tüm gayrimenkul operasyonlarınız tek çatı altında</a:t>
            </a:r>
          </a:p>
        </p:txBody>
      </p:sp>
      <p:sp>
        <p:nvSpPr>
          <p:cNvPr id="7" name="TextBox 6">
            <a:extLst xmlns:a="http://schemas.openxmlformats.org/drawingml/2006/main">
              <a:ext uri="{FF2B5EF4-FFF2-40B4-BE49-F238E27FC236}">
                <a16:creationId xmlns:a16="http://schemas.microsoft.com/office/drawing/2014/main" id="{63BE24A8-5B94-4212-AB2F-4A65D7A3A4F1}"/>
              </a:ext>
            </a:extLst>
          </p:cNvPr>
          <p:cNvSpPr>
            <a:spLocks xmlns:a="http://schemas.openxmlformats.org/drawingml/2006/main" noGrp="1"/>
          </p:cNvSpPr>
          <p:nvPr/>
        </p:nvSpPr>
        <p:spPr>
          <a:xfrm xmlns:a="http://schemas.openxmlformats.org/drawingml/2006/main">
            <a:off x="6953250" y="161925"/>
            <a:ext cx="3143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0000"/>
              </a:lnSpc>
              <a:buNone/>
              <a:defRPr sz="825">
                <a:solidFill>
                  <a:srgbClr val="BFE0DA"/>
                </a:solidFill>
                <a:latin typeface="Aptos"/>
                <a:ea typeface="Aptos"/>
                <a:cs typeface="Aptos"/>
              </a:defRPr>
            </a:pPr>
            <a:r>
              <a:rPr sz="825" b="0">
                <a:solidFill>
                  <a:srgbClr val="BFE0DA"/>
                </a:solidFill>
                <a:latin typeface="Aptos"/>
                <a:ea typeface="Aptos"/>
                <a:cs typeface="Aptos"/>
              </a:rPr>
              <a:t>Ataberk Estate için Site ve Gayrimenkul Yönetimi ERP’si</a:t>
            </a:r>
          </a:p>
          <a:p xmlns:a="http://schemas.openxmlformats.org/drawingml/2006/main">
            <a:pPr algn="r">
              <a:lnSpc>
                <a:spcPct val="110000"/>
              </a:lnSpc>
              <a:buNone/>
              <a:defRPr sz="825">
                <a:solidFill>
                  <a:srgbClr val="BFE0DA"/>
                </a:solidFill>
                <a:latin typeface="Aptos"/>
                <a:ea typeface="Aptos"/>
                <a:cs typeface="Aptos"/>
              </a:defRPr>
            </a:pPr>
            <a:r>
              <a:rPr sz="825" b="0">
                <a:solidFill>
                  <a:srgbClr val="BFE0DA"/>
                </a:solidFill>
                <a:latin typeface="Aptos"/>
                <a:ea typeface="Aptos"/>
                <a:cs typeface="Aptos"/>
              </a:rPr>
              <a:t>WAMOCON tarafından geliştirildi</a:t>
            </a:r>
          </a:p>
        </p:txBody>
      </p:sp>
      <p:sp>
        <p:nvSpPr>
          <p:cNvPr id="8" name="Rounded Rectangle 7">
            <a:extLst xmlns:a="http://schemas.openxmlformats.org/drawingml/2006/main">
              <a:ext uri="{FF2B5EF4-FFF2-40B4-BE49-F238E27FC236}">
                <a16:creationId xmlns:a16="http://schemas.microsoft.com/office/drawing/2014/main" id="{999B7C1B-7F09-4C8C-B467-460798EF70D2}"/>
              </a:ext>
            </a:extLst>
          </p:cNvPr>
          <p:cNvSpPr>
            <a:spLocks xmlns:a="http://schemas.openxmlformats.org/drawingml/2006/main" noGrp="1"/>
          </p:cNvSpPr>
          <p:nvPr/>
        </p:nvSpPr>
        <p:spPr>
          <a:xfrm xmlns:a="http://schemas.openxmlformats.org/drawingml/2006/main">
            <a:off x="10286742" y="215894"/>
            <a:ext cx="1473163" cy="279393"/>
          </a:xfrm>
          <a:prstGeom xmlns:a="http://schemas.openxmlformats.org/drawingml/2006/main" prst="roundRect">
            <a:avLst>
              <a:gd name="adj" fmla="val 50000"/>
            </a:avLst>
          </a:prstGeom>
          <a:solidFill xmlns:a="http://schemas.openxmlformats.org/drawingml/2006/main">
            <a:srgbClr val="043F3A"/>
          </a:solidFill>
          <a:ln xmlns:a="http://schemas.openxmlformats.org/drawingml/2006/main" w="9525">
            <a:solidFill>
              <a:srgbClr val="E2B75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4" name="Picture 8"/>
          <p:cNvPicPr>
            <a:picLocks xmlns:a="http://schemas.openxmlformats.org/drawingml/2006/main" noChangeAspect="1"/>
          </p:cNvPicPr>
          <p:nvPr/>
        </p:nvPicPr>
        <p:blipFill>
          <a:blip xmlns:r="http://schemas.openxmlformats.org/officeDocument/2006/relationships" xmlns:a="http://schemas.openxmlformats.org/drawingml/2006/main" r:embed="R5047860363a24655"/>
          <a:stretch xmlns:a="http://schemas.openxmlformats.org/drawingml/2006/main">
            <a:fillRect l="0" t="0" r="0" b="0"/>
          </a:stretch>
        </p:blipFill>
        <p:spPr>
          <a:xfrm xmlns:a="http://schemas.openxmlformats.org/drawingml/2006/main">
            <a:off x="10464538" y="292092"/>
            <a:ext cx="1117572" cy="222244"/>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BF8D6CB6-D379-4F8E-85C0-7422AC9747FE}"/>
              </a:ext>
            </a:extLst>
          </p:cNvPr>
          <p:cNvSpPr>
            <a:spLocks xmlns:a="http://schemas.openxmlformats.org/drawingml/2006/main" noGrp="1"/>
          </p:cNvSpPr>
          <p:nvPr/>
        </p:nvSpPr>
        <p:spPr>
          <a:xfrm xmlns:a="http://schemas.openxmlformats.org/drawingml/2006/main">
            <a:off x="0" y="711182"/>
            <a:ext cx="12191695" cy="25399"/>
          </a:xfrm>
          <a:prstGeom xmlns:a="http://schemas.openxmlformats.org/drawingml/2006/main" prst="rect">
            <a:avLst/>
          </a:prstGeom>
          <a:gradFill xmlns:a="http://schemas.openxmlformats.org/drawingml/2006/main" rotWithShape="1">
            <a:gsLst>
              <a:gs pos="0">
                <a:srgbClr val="B9822B"/>
              </a:gs>
              <a:gs pos="100000">
                <a:srgbClr val="E2B75D"/>
              </a:gs>
            </a:gsLst>
            <a:lin ang="0" scaled="0"/>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85C83C54-DEDB-4AA8-84FE-4EF0A2845D53}"/>
              </a:ext>
            </a:extLst>
          </p:cNvPr>
          <p:cNvSpPr>
            <a:spLocks xmlns:a="http://schemas.openxmlformats.org/drawingml/2006/main" noGrp="1"/>
          </p:cNvSpPr>
          <p:nvPr/>
        </p:nvSpPr>
        <p:spPr>
          <a:xfrm xmlns:a="http://schemas.openxmlformats.org/drawingml/2006/main">
            <a:off x="457200" y="876300"/>
            <a:ext cx="628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A97619"/>
                </a:solidFill>
                <a:latin typeface="Aptos"/>
                <a:ea typeface="Aptos"/>
                <a:cs typeface="Aptos"/>
              </a:defRPr>
            </a:pPr>
            <a:r>
              <a:rPr sz="975" b="1" i="0">
                <a:solidFill>
                  <a:srgbClr val="A97619"/>
                </a:solidFill>
                <a:latin typeface="Aptos"/>
                <a:ea typeface="Aptos"/>
                <a:cs typeface="Aptos"/>
              </a:rPr>
              <a:t>NEW LEVEL PREMIUM • YÖNETİM ÖZETİ</a:t>
            </a:r>
          </a:p>
        </p:txBody>
      </p:sp>
      <p:sp>
        <p:nvSpPr>
          <p:cNvPr id="13" name="TextBox 12">
            <a:extLst xmlns:a="http://schemas.openxmlformats.org/drawingml/2006/main">
              <a:ext uri="{FF2B5EF4-FFF2-40B4-BE49-F238E27FC236}">
                <a16:creationId xmlns:a16="http://schemas.microsoft.com/office/drawing/2014/main" id="{190D3B2B-60C8-45B0-9CB6-347D14CCC1EF}"/>
              </a:ext>
            </a:extLst>
          </p:cNvPr>
          <p:cNvSpPr>
            <a:spLocks xmlns:a="http://schemas.openxmlformats.org/drawingml/2006/main" noGrp="1"/>
          </p:cNvSpPr>
          <p:nvPr/>
        </p:nvSpPr>
        <p:spPr>
          <a:xfrm xmlns:a="http://schemas.openxmlformats.org/drawingml/2006/main">
            <a:off x="457200" y="1085850"/>
            <a:ext cx="6286500" cy="10744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525" b="1">
                <a:solidFill>
                  <a:srgbClr val="032F2B"/>
                </a:solidFill>
                <a:latin typeface="Aptos"/>
                <a:ea typeface="Aptos"/>
                <a:cs typeface="Aptos"/>
              </a:defRPr>
            </a:pPr>
            <a:r>
              <a:rPr sz="3525" b="1" i="0">
                <a:solidFill>
                  <a:srgbClr val="032F2B"/>
                </a:solidFill>
                <a:latin typeface="Aptos"/>
                <a:ea typeface="Aptos"/>
                <a:cs typeface="Aptos"/>
              </a:rPr>
              <a:t>769 bağımsız bölüm.</a:t>
            </a:r>
          </a:p>
          <a:p xmlns:a="http://schemas.openxmlformats.org/drawingml/2006/main">
            <a:pPr algn="l">
              <a:lnSpc>
                <a:spcPct val="94000"/>
              </a:lnSpc>
              <a:buNone/>
              <a:defRPr sz="3525" b="1">
                <a:solidFill>
                  <a:srgbClr val="032F2B"/>
                </a:solidFill>
                <a:latin typeface="Aptos"/>
                <a:ea typeface="Aptos"/>
                <a:cs typeface="Aptos"/>
              </a:defRPr>
            </a:pPr>
            <a:r>
              <a:rPr sz="3525" b="1" i="0">
                <a:solidFill>
                  <a:srgbClr val="032F2B"/>
                </a:solidFill>
                <a:latin typeface="Aptos"/>
                <a:ea typeface="Aptos"/>
                <a:cs typeface="Aptos"/>
              </a:rPr>
              <a:t>Tek yönetim görünümü.</a:t>
            </a:r>
          </a:p>
        </p:txBody>
      </p:sp>
      <p:sp>
        <p:nvSpPr>
          <p:cNvPr id="14" name="TextBox 13">
            <a:extLst xmlns:a="http://schemas.openxmlformats.org/drawingml/2006/main">
              <a:ext uri="{FF2B5EF4-FFF2-40B4-BE49-F238E27FC236}">
                <a16:creationId xmlns:a16="http://schemas.microsoft.com/office/drawing/2014/main" id="{DCFB733E-0AC4-41D0-8D7E-0573E659BC89}"/>
              </a:ext>
            </a:extLst>
          </p:cNvPr>
          <p:cNvSpPr>
            <a:spLocks xmlns:a="http://schemas.openxmlformats.org/drawingml/2006/main" noGrp="1"/>
          </p:cNvSpPr>
          <p:nvPr/>
        </p:nvSpPr>
        <p:spPr>
          <a:xfrm xmlns:a="http://schemas.openxmlformats.org/drawingml/2006/main">
            <a:off x="457200" y="2200275"/>
            <a:ext cx="628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a:solidFill>
                  <a:srgbClr val="40534D"/>
                </a:solidFill>
                <a:latin typeface="Aptos"/>
                <a:ea typeface="Aptos"/>
                <a:cs typeface="Aptos"/>
              </a:defRPr>
            </a:pPr>
            <a:r>
              <a:rPr sz="1575" b="0" i="0">
                <a:solidFill>
                  <a:srgbClr val="40534D"/>
                </a:solidFill>
                <a:latin typeface="Aptos"/>
                <a:ea typeface="Aptos"/>
                <a:cs typeface="Aptos"/>
              </a:rPr>
              <a:t>1Çatı; finans, hizmet, belge, erişim ve iletişimi rol bazlı ve dört dilli tek operasyon modelinde birleştirir.</a:t>
            </a:r>
          </a:p>
        </p:txBody>
      </p:sp>
      <p:sp>
        <p:nvSpPr>
          <p:cNvPr id="24" name="Rectangle 23">
            <a:extLst xmlns:a="http://schemas.openxmlformats.org/drawingml/2006/main">
              <a:ext uri="{FF2B5EF4-FFF2-40B4-BE49-F238E27FC236}">
                <a16:creationId xmlns:a16="http://schemas.microsoft.com/office/drawing/2014/main" id="{1853BC3C-7C51-4E09-9108-3D6FE2379EA7}"/>
              </a:ext>
            </a:extLst>
          </p:cNvPr>
          <p:cNvSpPr>
            <a:spLocks xmlns:a="http://schemas.openxmlformats.org/drawingml/2006/main" noGrp="1"/>
          </p:cNvSpPr>
          <p:nvPr/>
        </p:nvSpPr>
        <p:spPr>
          <a:xfrm xmlns:a="http://schemas.openxmlformats.org/drawingml/2006/main">
            <a:off x="457200" y="3057525"/>
            <a:ext cx="47625" cy="542925"/>
          </a:xfrm>
          <a:prstGeom xmlns:a="http://schemas.openxmlformats.org/drawingml/2006/main" prst="rect">
            <a:avLst/>
          </a:prstGeom>
          <a:solidFill xmlns:a="http://schemas.openxmlformats.org/drawingml/2006/main">
            <a:srgbClr val="E2B75D"/>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1C90D766-382A-439F-A11F-FFAD9F867EBC}"/>
              </a:ext>
            </a:extLst>
          </p:cNvPr>
          <p:cNvSpPr>
            <a:spLocks xmlns:a="http://schemas.openxmlformats.org/drawingml/2006/main" noGrp="1"/>
          </p:cNvSpPr>
          <p:nvPr/>
        </p:nvSpPr>
        <p:spPr>
          <a:xfrm xmlns:a="http://schemas.openxmlformats.org/drawingml/2006/main">
            <a:off x="647700" y="3067050"/>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20332E"/>
                </a:solidFill>
                <a:latin typeface="Aptos"/>
                <a:ea typeface="Aptos"/>
                <a:cs typeface="Aptos"/>
              </a:defRPr>
            </a:pPr>
            <a:r>
              <a:rPr sz="1575" b="1">
                <a:solidFill>
                  <a:srgbClr val="20332E"/>
                </a:solidFill>
                <a:latin typeface="Aptos"/>
                <a:ea typeface="Aptos"/>
                <a:cs typeface="Aptos"/>
              </a:rPr>
              <a:t>Daralan pazarda farkı hizmet kalitesi ve şeffaflık yaratır.</a:t>
            </a:r>
          </a:p>
        </p:txBody>
      </p:sp>
      <p:sp>
        <p:nvSpPr>
          <p:cNvPr id="26" name="TextBox 25">
            <a:extLst xmlns:a="http://schemas.openxmlformats.org/drawingml/2006/main">
              <a:ext uri="{FF2B5EF4-FFF2-40B4-BE49-F238E27FC236}">
                <a16:creationId xmlns:a16="http://schemas.microsoft.com/office/drawing/2014/main" id="{BF1D0F55-EA2C-48E5-BF2A-C4E1C20E4340}"/>
              </a:ext>
            </a:extLst>
          </p:cNvPr>
          <p:cNvSpPr>
            <a:spLocks xmlns:a="http://schemas.openxmlformats.org/drawingml/2006/main" noGrp="1"/>
          </p:cNvSpPr>
          <p:nvPr/>
        </p:nvSpPr>
        <p:spPr>
          <a:xfrm xmlns:a="http://schemas.openxmlformats.org/drawingml/2006/main">
            <a:off x="457200" y="385762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38" b="1">
                <a:solidFill>
                  <a:srgbClr val="A97619"/>
                </a:solidFill>
                <a:latin typeface="Aptos"/>
                <a:ea typeface="Aptos"/>
                <a:cs typeface="Aptos"/>
              </a:defRPr>
            </a:pPr>
            <a:r>
              <a:rPr sz="938" b="1" i="0">
                <a:solidFill>
                  <a:srgbClr val="A97619"/>
                </a:solidFill>
                <a:latin typeface="Aptos"/>
                <a:ea typeface="Aptos"/>
                <a:cs typeface="Aptos"/>
              </a:rPr>
              <a:t>YÖNETİM İÇİN ÜÇ SONUÇ</a:t>
            </a:r>
          </a:p>
        </p:txBody>
      </p:sp>
      <p:sp>
        <p:nvSpPr>
          <p:cNvPr id="29" name="TextBox 28">
            <a:extLst xmlns:a="http://schemas.openxmlformats.org/drawingml/2006/main">
              <a:ext uri="{FF2B5EF4-FFF2-40B4-BE49-F238E27FC236}">
                <a16:creationId xmlns:a16="http://schemas.microsoft.com/office/drawing/2014/main" id="{56AD8F0C-6FBE-4026-B874-B903EBB38A17}"/>
              </a:ext>
            </a:extLst>
          </p:cNvPr>
          <p:cNvSpPr>
            <a:spLocks xmlns:a="http://schemas.openxmlformats.org/drawingml/2006/main" noGrp="1"/>
          </p:cNvSpPr>
          <p:nvPr/>
        </p:nvSpPr>
        <p:spPr>
          <a:xfrm xmlns:a="http://schemas.openxmlformats.org/drawingml/2006/main">
            <a:off x="457200" y="41148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E2B75D"/>
                </a:solidFill>
                <a:latin typeface="Aptos"/>
                <a:ea typeface="Aptos"/>
                <a:cs typeface="Aptos"/>
              </a:defRPr>
            </a:pPr>
            <a:r>
              <a:rPr sz="1125" b="1" i="0">
                <a:solidFill>
                  <a:srgbClr val="E2B75D"/>
                </a:solidFill>
                <a:latin typeface="Aptos"/>
                <a:ea typeface="Aptos"/>
                <a:cs typeface="Aptos"/>
              </a:rPr>
              <a:t>01</a:t>
            </a:r>
          </a:p>
        </p:txBody>
      </p:sp>
      <p:sp>
        <p:nvSpPr>
          <p:cNvPr id="30" name="TextBox 29">
            <a:extLst xmlns:a="http://schemas.openxmlformats.org/drawingml/2006/main">
              <a:ext uri="{FF2B5EF4-FFF2-40B4-BE49-F238E27FC236}">
                <a16:creationId xmlns:a16="http://schemas.microsoft.com/office/drawing/2014/main" id="{CCDE816C-D4E4-4006-8606-6C61C6E80621}"/>
              </a:ext>
            </a:extLst>
          </p:cNvPr>
          <p:cNvSpPr>
            <a:spLocks xmlns:a="http://schemas.openxmlformats.org/drawingml/2006/main" noGrp="1"/>
          </p:cNvSpPr>
          <p:nvPr/>
        </p:nvSpPr>
        <p:spPr>
          <a:xfrm xmlns:a="http://schemas.openxmlformats.org/drawingml/2006/main">
            <a:off x="914400" y="408622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032F2B"/>
                </a:solidFill>
                <a:latin typeface="Aptos"/>
                <a:ea typeface="Aptos"/>
                <a:cs typeface="Aptos"/>
              </a:defRPr>
            </a:pPr>
            <a:r>
              <a:rPr sz="1725" b="1" i="0">
                <a:solidFill>
                  <a:srgbClr val="032F2B"/>
                </a:solidFill>
                <a:latin typeface="Aptos"/>
                <a:ea typeface="Aptos"/>
                <a:cs typeface="Aptos"/>
              </a:rPr>
              <a:t>Kontrol</a:t>
            </a:r>
          </a:p>
        </p:txBody>
      </p:sp>
      <p:sp>
        <p:nvSpPr>
          <p:cNvPr id="31" name="TextBox 30">
            <a:extLst xmlns:a="http://schemas.openxmlformats.org/drawingml/2006/main">
              <a:ext uri="{FF2B5EF4-FFF2-40B4-BE49-F238E27FC236}">
                <a16:creationId xmlns:a16="http://schemas.microsoft.com/office/drawing/2014/main" id="{1A5D5E9F-B70B-4DAD-901D-58597108B5BC}"/>
              </a:ext>
            </a:extLst>
          </p:cNvPr>
          <p:cNvSpPr>
            <a:spLocks xmlns:a="http://schemas.openxmlformats.org/drawingml/2006/main" noGrp="1"/>
          </p:cNvSpPr>
          <p:nvPr/>
        </p:nvSpPr>
        <p:spPr>
          <a:xfrm xmlns:a="http://schemas.openxmlformats.org/drawingml/2006/main">
            <a:off x="2362200" y="40862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13">
                <a:solidFill>
                  <a:srgbClr val="40534D"/>
                </a:solidFill>
                <a:latin typeface="Aptos"/>
                <a:ea typeface="Aptos"/>
                <a:cs typeface="Aptos"/>
              </a:defRPr>
            </a:pPr>
            <a:r>
              <a:rPr sz="1313" b="0" i="0">
                <a:solidFill>
                  <a:srgbClr val="40534D"/>
                </a:solidFill>
                <a:latin typeface="Aptos"/>
                <a:ea typeface="Aptos"/>
                <a:cs typeface="Aptos"/>
              </a:rPr>
              <a:t>Finans, hizmet ve erişim tek ekranda.</a:t>
            </a:r>
          </a:p>
        </p:txBody>
      </p:sp>
      <p:sp>
        <p:nvSpPr>
          <p:cNvPr id="33" name="TextBox 32">
            <a:extLst xmlns:a="http://schemas.openxmlformats.org/drawingml/2006/main">
              <a:ext uri="{FF2B5EF4-FFF2-40B4-BE49-F238E27FC236}">
                <a16:creationId xmlns:a16="http://schemas.microsoft.com/office/drawing/2014/main" id="{26F9DB7F-3ECC-4F93-B109-E6933710B81E}"/>
              </a:ext>
            </a:extLst>
          </p:cNvPr>
          <p:cNvSpPr>
            <a:spLocks xmlns:a="http://schemas.openxmlformats.org/drawingml/2006/main" noGrp="1"/>
          </p:cNvSpPr>
          <p:nvPr/>
        </p:nvSpPr>
        <p:spPr>
          <a:xfrm xmlns:a="http://schemas.openxmlformats.org/drawingml/2006/main">
            <a:off x="457200" y="46291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E2B75D"/>
                </a:solidFill>
                <a:latin typeface="Aptos"/>
                <a:ea typeface="Aptos"/>
                <a:cs typeface="Aptos"/>
              </a:defRPr>
            </a:pPr>
            <a:r>
              <a:rPr sz="1125" b="1" i="0">
                <a:solidFill>
                  <a:srgbClr val="E2B75D"/>
                </a:solidFill>
                <a:latin typeface="Aptos"/>
                <a:ea typeface="Aptos"/>
                <a:cs typeface="Aptos"/>
              </a:rPr>
              <a:t>02</a:t>
            </a:r>
          </a:p>
        </p:txBody>
      </p:sp>
      <p:sp>
        <p:nvSpPr>
          <p:cNvPr id="34" name="TextBox 33">
            <a:extLst xmlns:a="http://schemas.openxmlformats.org/drawingml/2006/main">
              <a:ext uri="{FF2B5EF4-FFF2-40B4-BE49-F238E27FC236}">
                <a16:creationId xmlns:a16="http://schemas.microsoft.com/office/drawing/2014/main" id="{F7AC4E7A-07A4-4634-8953-AB20755C5A94}"/>
              </a:ext>
            </a:extLst>
          </p:cNvPr>
          <p:cNvSpPr>
            <a:spLocks xmlns:a="http://schemas.openxmlformats.org/drawingml/2006/main" noGrp="1"/>
          </p:cNvSpPr>
          <p:nvPr/>
        </p:nvSpPr>
        <p:spPr>
          <a:xfrm xmlns:a="http://schemas.openxmlformats.org/drawingml/2006/main">
            <a:off x="914400" y="460057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032F2B"/>
                </a:solidFill>
                <a:latin typeface="Aptos"/>
                <a:ea typeface="Aptos"/>
                <a:cs typeface="Aptos"/>
              </a:defRPr>
            </a:pPr>
            <a:r>
              <a:rPr sz="1725" b="1" i="0">
                <a:solidFill>
                  <a:srgbClr val="032F2B"/>
                </a:solidFill>
                <a:latin typeface="Aptos"/>
                <a:ea typeface="Aptos"/>
                <a:cs typeface="Aptos"/>
              </a:rPr>
              <a:t>Güven</a:t>
            </a:r>
          </a:p>
        </p:txBody>
      </p:sp>
      <p:sp>
        <p:nvSpPr>
          <p:cNvPr id="35" name="TextBox 34">
            <a:extLst xmlns:a="http://schemas.openxmlformats.org/drawingml/2006/main">
              <a:ext uri="{FF2B5EF4-FFF2-40B4-BE49-F238E27FC236}">
                <a16:creationId xmlns:a16="http://schemas.microsoft.com/office/drawing/2014/main" id="{8A121C9C-E724-46FF-A3F3-E08C2A94B7BE}"/>
              </a:ext>
            </a:extLst>
          </p:cNvPr>
          <p:cNvSpPr>
            <a:spLocks xmlns:a="http://schemas.openxmlformats.org/drawingml/2006/main" noGrp="1"/>
          </p:cNvSpPr>
          <p:nvPr/>
        </p:nvSpPr>
        <p:spPr>
          <a:xfrm xmlns:a="http://schemas.openxmlformats.org/drawingml/2006/main">
            <a:off x="2362200" y="460057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13">
                <a:solidFill>
                  <a:srgbClr val="40534D"/>
                </a:solidFill>
                <a:latin typeface="Aptos"/>
                <a:ea typeface="Aptos"/>
                <a:cs typeface="Aptos"/>
              </a:defRPr>
            </a:pPr>
            <a:r>
              <a:rPr sz="1313" b="0" i="0">
                <a:solidFill>
                  <a:srgbClr val="40534D"/>
                </a:solidFill>
                <a:latin typeface="Aptos"/>
                <a:ea typeface="Aptos"/>
                <a:cs typeface="Aptos"/>
              </a:rPr>
              <a:t>Dört dil, izlenebilir yetki, tek iletişim akışı.</a:t>
            </a:r>
          </a:p>
        </p:txBody>
      </p:sp>
      <p:sp>
        <p:nvSpPr>
          <p:cNvPr id="37" name="TextBox 36">
            <a:extLst xmlns:a="http://schemas.openxmlformats.org/drawingml/2006/main">
              <a:ext uri="{FF2B5EF4-FFF2-40B4-BE49-F238E27FC236}">
                <a16:creationId xmlns:a16="http://schemas.microsoft.com/office/drawing/2014/main" id="{022AD044-F521-4209-B987-7062131E8BB7}"/>
              </a:ext>
            </a:extLst>
          </p:cNvPr>
          <p:cNvSpPr>
            <a:spLocks xmlns:a="http://schemas.openxmlformats.org/drawingml/2006/main" noGrp="1"/>
          </p:cNvSpPr>
          <p:nvPr/>
        </p:nvSpPr>
        <p:spPr>
          <a:xfrm xmlns:a="http://schemas.openxmlformats.org/drawingml/2006/main">
            <a:off x="457200" y="514350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E2B75D"/>
                </a:solidFill>
                <a:latin typeface="Aptos"/>
                <a:ea typeface="Aptos"/>
                <a:cs typeface="Aptos"/>
              </a:defRPr>
            </a:pPr>
            <a:r>
              <a:rPr sz="1125" b="1" i="0">
                <a:solidFill>
                  <a:srgbClr val="E2B75D"/>
                </a:solidFill>
                <a:latin typeface="Aptos"/>
                <a:ea typeface="Aptos"/>
                <a:cs typeface="Aptos"/>
              </a:rPr>
              <a:t>03</a:t>
            </a:r>
          </a:p>
        </p:txBody>
      </p:sp>
      <p:sp>
        <p:nvSpPr>
          <p:cNvPr id="38" name="TextBox 37">
            <a:extLst xmlns:a="http://schemas.openxmlformats.org/drawingml/2006/main">
              <a:ext uri="{FF2B5EF4-FFF2-40B4-BE49-F238E27FC236}">
                <a16:creationId xmlns:a16="http://schemas.microsoft.com/office/drawing/2014/main" id="{5678DE55-3F7D-4815-A3D6-6B619AA2DBD8}"/>
              </a:ext>
            </a:extLst>
          </p:cNvPr>
          <p:cNvSpPr>
            <a:spLocks xmlns:a="http://schemas.openxmlformats.org/drawingml/2006/main" noGrp="1"/>
          </p:cNvSpPr>
          <p:nvPr/>
        </p:nvSpPr>
        <p:spPr>
          <a:xfrm xmlns:a="http://schemas.openxmlformats.org/drawingml/2006/main">
            <a:off x="914400" y="511492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032F2B"/>
                </a:solidFill>
                <a:latin typeface="Aptos"/>
                <a:ea typeface="Aptos"/>
                <a:cs typeface="Aptos"/>
              </a:defRPr>
            </a:pPr>
            <a:r>
              <a:rPr sz="1725" b="1" i="0">
                <a:solidFill>
                  <a:srgbClr val="032F2B"/>
                </a:solidFill>
                <a:latin typeface="Aptos"/>
                <a:ea typeface="Aptos"/>
                <a:cs typeface="Aptos"/>
              </a:rPr>
              <a:t>Ölçek</a:t>
            </a:r>
          </a:p>
        </p:txBody>
      </p:sp>
      <p:sp>
        <p:nvSpPr>
          <p:cNvPr id="39" name="TextBox 38">
            <a:extLst xmlns:a="http://schemas.openxmlformats.org/drawingml/2006/main">
              <a:ext uri="{FF2B5EF4-FFF2-40B4-BE49-F238E27FC236}">
                <a16:creationId xmlns:a16="http://schemas.microsoft.com/office/drawing/2014/main" id="{9A986C72-9DAA-4495-9328-825A9796DECF}"/>
              </a:ext>
            </a:extLst>
          </p:cNvPr>
          <p:cNvSpPr>
            <a:spLocks xmlns:a="http://schemas.openxmlformats.org/drawingml/2006/main" noGrp="1"/>
          </p:cNvSpPr>
          <p:nvPr/>
        </p:nvSpPr>
        <p:spPr>
          <a:xfrm xmlns:a="http://schemas.openxmlformats.org/drawingml/2006/main">
            <a:off x="2362200" y="51149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13">
                <a:solidFill>
                  <a:srgbClr val="40534D"/>
                </a:solidFill>
                <a:latin typeface="Aptos"/>
                <a:ea typeface="Aptos"/>
                <a:cs typeface="Aptos"/>
              </a:defRPr>
            </a:pPr>
            <a:r>
              <a:rPr sz="1313" b="0" i="0">
                <a:solidFill>
                  <a:srgbClr val="40534D"/>
                </a:solidFill>
                <a:latin typeface="Aptos"/>
                <a:ea typeface="Aptos"/>
                <a:cs typeface="Aptos"/>
              </a:rPr>
              <a:t>Yeni proje ve lokasyonlara hazır modüler yapı.</a:t>
            </a:r>
          </a:p>
        </p:txBody>
      </p:sp>
      <p:sp>
        <p:nvSpPr>
          <p:cNvPr id="64" name="TextBox 63">
            <a:extLst xmlns:a="http://schemas.openxmlformats.org/drawingml/2006/main">
              <a:ext uri="{FF2B5EF4-FFF2-40B4-BE49-F238E27FC236}">
                <a16:creationId xmlns:a16="http://schemas.microsoft.com/office/drawing/2014/main" id="{97AFC6BA-E0C3-4310-89E6-F03DDD17F869}"/>
              </a:ext>
            </a:extLst>
          </p:cNvPr>
          <p:cNvSpPr>
            <a:spLocks xmlns:a="http://schemas.openxmlformats.org/drawingml/2006/main" noGrp="1"/>
          </p:cNvSpPr>
          <p:nvPr/>
        </p:nvSpPr>
        <p:spPr>
          <a:xfrm xmlns:a="http://schemas.openxmlformats.org/drawingml/2006/main">
            <a:off x="457200" y="5619750"/>
            <a:ext cx="6286500" cy="438150"/>
          </a:xfrm>
          <a:prstGeom xmlns:a="http://schemas.openxmlformats.org/drawingml/2006/main" prst="rect">
            <a:avLst/>
          </a:prstGeom>
          <a:solidFill xmlns:a="http://schemas.openxmlformats.org/drawingml/2006/main">
            <a:srgbClr val="066B63"/>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25000"/>
              </a:lnSpc>
              <a:buNone/>
              <a:defRPr sz="1313" b="1">
                <a:solidFill>
                  <a:srgbClr val="FFFFFF"/>
                </a:solidFill>
                <a:latin typeface="Aptos"/>
                <a:ea typeface="Aptos"/>
                <a:cs typeface="Aptos"/>
              </a:defRPr>
            </a:pPr>
            <a:r>
              <a:rPr sz="1313" b="1">
                <a:solidFill>
                  <a:srgbClr val="FFFFFF"/>
                </a:solidFill>
                <a:latin typeface="Aptos"/>
                <a:ea typeface="Aptos"/>
                <a:cs typeface="Aptos"/>
              </a:rPr>
              <a:t>769 bağımsız bölüm   •   13 çalışma alanı   •   6 rol   •   4 dil   •   19 eğitim videosu</a:t>
            </a:r>
          </a:p>
        </p:txBody>
      </p:sp>
      <p:sp>
        <p:nvSpPr>
          <p:cNvPr id="70" name="Rectangle 69">
            <a:extLst xmlns:a="http://schemas.openxmlformats.org/drawingml/2006/main">
              <a:ext uri="{FF2B5EF4-FFF2-40B4-BE49-F238E27FC236}">
                <a16:creationId xmlns:a16="http://schemas.microsoft.com/office/drawing/2014/main" id="{48593039-DA30-433B-9FC6-9B3A0F7B121F}"/>
              </a:ext>
            </a:extLst>
          </p:cNvPr>
          <p:cNvSpPr>
            <a:spLocks xmlns:a="http://schemas.openxmlformats.org/drawingml/2006/main" noGrp="1"/>
          </p:cNvSpPr>
          <p:nvPr/>
        </p:nvSpPr>
        <p:spPr>
          <a:xfrm xmlns:a="http://schemas.openxmlformats.org/drawingml/2006/main">
            <a:off x="914400" y="4514850"/>
            <a:ext cx="5829300" cy="9525"/>
          </a:xfrm>
          <a:prstGeom xmlns:a="http://schemas.openxmlformats.org/drawingml/2006/main" prst="rect">
            <a:avLst/>
          </a:prstGeom>
          <a:solidFill xmlns:a="http://schemas.openxmlformats.org/drawingml/2006/main">
            <a:srgbClr val="D7E3DF"/>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6848F01F-A067-4E4C-84A2-BC2043E6CC61}"/>
              </a:ext>
            </a:extLst>
          </p:cNvPr>
          <p:cNvSpPr>
            <a:spLocks xmlns:a="http://schemas.openxmlformats.org/drawingml/2006/main" noGrp="1"/>
          </p:cNvSpPr>
          <p:nvPr/>
        </p:nvSpPr>
        <p:spPr>
          <a:xfrm xmlns:a="http://schemas.openxmlformats.org/drawingml/2006/main">
            <a:off x="914400" y="5029200"/>
            <a:ext cx="5829300" cy="9525"/>
          </a:xfrm>
          <a:prstGeom xmlns:a="http://schemas.openxmlformats.org/drawingml/2006/main" prst="rect">
            <a:avLst/>
          </a:prstGeom>
          <a:solidFill xmlns:a="http://schemas.openxmlformats.org/drawingml/2006/main">
            <a:srgbClr val="D7E3DF"/>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TextBox 79">
            <a:extLst xmlns:a="http://schemas.openxmlformats.org/drawingml/2006/main">
              <a:ext uri="{FF2B5EF4-FFF2-40B4-BE49-F238E27FC236}">
                <a16:creationId xmlns:a16="http://schemas.microsoft.com/office/drawing/2014/main" id="{F16CC902-9245-4F5F-9739-D84318EDBDF0}"/>
              </a:ext>
            </a:extLst>
          </p:cNvPr>
          <p:cNvSpPr>
            <a:spLocks xmlns:a="http://schemas.openxmlformats.org/drawingml/2006/main" noGrp="1"/>
          </p:cNvSpPr>
          <p:nvPr/>
        </p:nvSpPr>
        <p:spPr>
          <a:xfrm xmlns:a="http://schemas.openxmlformats.org/drawingml/2006/main">
            <a:off x="7239000" y="4772025"/>
            <a:ext cx="464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38" b="1">
                <a:solidFill>
                  <a:srgbClr val="A97619"/>
                </a:solidFill>
                <a:latin typeface="Aptos"/>
                <a:ea typeface="Aptos"/>
                <a:cs typeface="Aptos"/>
              </a:defRPr>
            </a:pPr>
            <a:r>
              <a:rPr sz="938" b="1" i="0">
                <a:solidFill>
                  <a:srgbClr val="A97619"/>
                </a:solidFill>
                <a:latin typeface="Aptos"/>
                <a:ea typeface="Aptos"/>
                <a:cs typeface="Aptos"/>
              </a:rPr>
              <a:t>SONRAKİ ADIM</a:t>
            </a:r>
          </a:p>
        </p:txBody>
      </p:sp>
      <p:sp>
        <p:nvSpPr>
          <p:cNvPr id="110" name="TextBox 109">
            <a:extLst xmlns:a="http://schemas.openxmlformats.org/drawingml/2006/main">
              <a:ext uri="{FF2B5EF4-FFF2-40B4-BE49-F238E27FC236}">
                <a16:creationId xmlns:a16="http://schemas.microsoft.com/office/drawing/2014/main" id="{6055DAB4-1D02-4E22-8C16-8DD3E1EC18F6}"/>
              </a:ext>
            </a:extLst>
          </p:cNvPr>
          <p:cNvSpPr>
            <a:spLocks xmlns:a="http://schemas.openxmlformats.org/drawingml/2006/main" noGrp="1"/>
          </p:cNvSpPr>
          <p:nvPr/>
        </p:nvSpPr>
        <p:spPr>
          <a:xfrm xmlns:a="http://schemas.openxmlformats.org/drawingml/2006/main">
            <a:off x="457200" y="62388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lnSpc>
                <a:spcPct val="108000"/>
              </a:lnSpc>
              <a:buNone/>
              <a:defRPr sz="863">
                <a:solidFill>
                  <a:srgbClr val="65746F"/>
                </a:solidFill>
                <a:latin typeface="Aptos"/>
                <a:ea typeface="Aptos"/>
                <a:cs typeface="Aptos"/>
              </a:defRPr>
            </a:pPr>
            <a:r>
              <a:rPr sz="863" b="0" i="0">
                <a:solidFill>
                  <a:srgbClr val="65746F"/>
                </a:solidFill>
                <a:latin typeface="Aptos"/>
                <a:ea typeface="Aptos"/>
                <a:cs typeface="Aptos"/>
              </a:rPr>
              <a:t>Demo ve “Cati Training” hazır. Ödeme, mesajlaşma ve erişim kontrolü; sağlayıcı, hukuk ve UAT onaylarından sonra üretimde etkinleştirilir.</a:t>
            </a:r>
          </a:p>
          <a:p xmlns:a="http://schemas.openxmlformats.org/drawingml/2006/main">
            <a:pPr algn="l">
              <a:lnSpc>
                <a:spcPct val="108000"/>
              </a:lnSpc>
              <a:buNone/>
              <a:defRPr sz="863">
                <a:solidFill>
                  <a:srgbClr val="65746F"/>
                </a:solidFill>
                <a:latin typeface="Aptos"/>
                <a:ea typeface="Aptos"/>
                <a:cs typeface="Aptos"/>
              </a:defRPr>
            </a:pPr>
            <a:r>
              <a:rPr sz="863" b="0" i="0">
                <a:solidFill>
                  <a:srgbClr val="65746F"/>
                </a:solidFill>
                <a:latin typeface="Aptos"/>
                <a:ea typeface="Aptos"/>
                <a:cs typeface="Aptos"/>
              </a:rPr>
              <a:t>Özel ve gizlidir • Ataberk Estate • 11.07.2026</a:t>
            </a:r>
          </a:p>
        </p:txBody>
      </p:sp>
      <p:pic>
        <p:nvPicPr>
          <p:cNvPr id="156" name="Picture 110"/>
          <p:cNvPicPr>
            <a:picLocks xmlns:a="http://schemas.openxmlformats.org/drawingml/2006/main" noChangeAspect="1"/>
          </p:cNvPicPr>
          <p:nvPr/>
        </p:nvPicPr>
        <p:blipFill>
          <a:blip xmlns:r="http://schemas.openxmlformats.org/officeDocument/2006/relationships" xmlns:a="http://schemas.openxmlformats.org/drawingml/2006/main" r:embed="R6446590dd9e347bc"/>
          <a:stretch xmlns:a="http://schemas.openxmlformats.org/drawingml/2006/main">
            <a:fillRect l="0" t="0" r="0" b="0"/>
          </a:stretch>
        </p:blipFill>
        <p:spPr>
          <a:xfrm xmlns:a="http://schemas.openxmlformats.org/drawingml/2006/main">
            <a:off x="7239000" y="914400"/>
            <a:ext cx="4648200" cy="3143250"/>
          </a:xfrm>
          <a:prstGeom xmlns:a="http://schemas.openxmlformats.org/drawingml/2006/main" prst="rect">
            <a:avLst/>
          </a:prstGeom>
          <a:ln xmlns:a="http://schemas.openxmlformats.org/drawingml/2006/main" w="12700">
            <a:solidFill>
              <a:srgbClr val="DAE3E0"/>
            </a:solidFill>
          </a:ln>
        </p:spPr>
      </p:pic>
      <p:sp>
        <p:nvSpPr>
          <p:cNvPr id="113" name="TextBox 112">
            <a:extLst xmlns:a="http://schemas.openxmlformats.org/drawingml/2006/main">
              <a:ext uri="{FF2B5EF4-FFF2-40B4-BE49-F238E27FC236}">
                <a16:creationId xmlns:a16="http://schemas.microsoft.com/office/drawing/2014/main" id="{843E41BC-F886-49E6-A1B8-A5C91AEE2BDB}"/>
              </a:ext>
            </a:extLst>
          </p:cNvPr>
          <p:cNvSpPr>
            <a:spLocks xmlns:a="http://schemas.openxmlformats.org/drawingml/2006/main" noGrp="1"/>
          </p:cNvSpPr>
          <p:nvPr/>
        </p:nvSpPr>
        <p:spPr>
          <a:xfrm xmlns:a="http://schemas.openxmlformats.org/drawingml/2006/main">
            <a:off x="7239000" y="4057650"/>
            <a:ext cx="4648200" cy="276225"/>
          </a:xfrm>
          <a:prstGeom xmlns:a="http://schemas.openxmlformats.org/drawingml/2006/main" prst="rect">
            <a:avLst/>
          </a:prstGeom>
          <a:solidFill xmlns:a="http://schemas.openxmlformats.org/drawingml/2006/main">
            <a:srgbClr val="043F3A"/>
          </a:solidFill>
          <a:ln xmlns:a="http://schemas.openxmlformats.org/drawingml/2006/main" w="0">
            <a:noFill/>
            <a:prstDash val="solid"/>
          </a:ln>
        </p:spPr>
        <p:txBody>
          <a:bodyPr xmlns:a="http://schemas.openxmlformats.org/drawingml/2006/main" wrap="square" lIns="152400" tIns="38100" rIns="114300" bIns="0" anchor="ctr">
            <a:normAutofit fontScale="100000"/>
          </a:bodyPr>
          <a:lstStyle xmlns:a="http://schemas.openxmlformats.org/drawingml/2006/main"/>
          <a:p xmlns:a="http://schemas.openxmlformats.org/drawingml/2006/main">
            <a:pPr algn="l">
              <a:lnSpc>
                <a:spcPct val="100000"/>
              </a:lnSpc>
              <a:buNone/>
              <a:defRPr sz="1275" b="1">
                <a:solidFill>
                  <a:srgbClr val="FFFFFF"/>
                </a:solidFill>
                <a:latin typeface="Aptos"/>
                <a:ea typeface="Aptos"/>
                <a:cs typeface="Aptos"/>
              </a:defRPr>
            </a:pPr>
            <a:r>
              <a:rPr sz="1275" b="1" i="0">
                <a:solidFill>
                  <a:srgbClr val="FFFFFF"/>
                </a:solidFill>
                <a:latin typeface="Aptos"/>
                <a:ea typeface="Aptos"/>
                <a:cs typeface="Aptos"/>
              </a:rPr>
              <a:t>New Level Premium • Avsallar / Alanya</a:t>
            </a:r>
          </a:p>
        </p:txBody>
      </p:sp>
      <p:sp>
        <p:nvSpPr>
          <p:cNvPr id="114" name="TextBox 113">
            <a:extLst xmlns:a="http://schemas.openxmlformats.org/drawingml/2006/main">
              <a:ext uri="{FF2B5EF4-FFF2-40B4-BE49-F238E27FC236}">
                <a16:creationId xmlns:a16="http://schemas.microsoft.com/office/drawing/2014/main" id="{5451A1AB-B54F-43C7-9DF9-2DB4C95D6EBF}"/>
              </a:ext>
            </a:extLst>
          </p:cNvPr>
          <p:cNvSpPr>
            <a:spLocks xmlns:a="http://schemas.openxmlformats.org/drawingml/2006/main" noGrp="1"/>
          </p:cNvSpPr>
          <p:nvPr/>
        </p:nvSpPr>
        <p:spPr>
          <a:xfrm xmlns:a="http://schemas.openxmlformats.org/drawingml/2006/main">
            <a:off x="7239000" y="4333875"/>
            <a:ext cx="4648200" cy="219075"/>
          </a:xfrm>
          <a:prstGeom xmlns:a="http://schemas.openxmlformats.org/drawingml/2006/main" prst="rect">
            <a:avLst/>
          </a:prstGeom>
          <a:solidFill xmlns:a="http://schemas.openxmlformats.org/drawingml/2006/main">
            <a:srgbClr val="043F3A"/>
          </a:solidFill>
          <a:ln xmlns:a="http://schemas.openxmlformats.org/drawingml/2006/main" w="0">
            <a:noFill/>
            <a:prstDash val="solid"/>
          </a:ln>
        </p:spPr>
        <p:txBody>
          <a:bodyPr xmlns:a="http://schemas.openxmlformats.org/drawingml/2006/main" wrap="square" lIns="152400" tIns="0" rIns="114300" bIns="38100" anchor="ctr">
            <a:normAutofit fontScale="100000"/>
          </a:bodyPr>
          <a:lstStyle xmlns:a="http://schemas.openxmlformats.org/drawingml/2006/main"/>
          <a:p xmlns:a="http://schemas.openxmlformats.org/drawingml/2006/main">
            <a:pPr algn="l">
              <a:lnSpc>
                <a:spcPct val="100000"/>
              </a:lnSpc>
              <a:buNone/>
              <a:defRPr sz="938">
                <a:solidFill>
                  <a:srgbClr val="CFE7E1"/>
                </a:solidFill>
                <a:latin typeface="Aptos"/>
                <a:ea typeface="Aptos"/>
                <a:cs typeface="Aptos"/>
              </a:defRPr>
            </a:pPr>
            <a:r>
              <a:rPr sz="938" b="0" i="0">
                <a:solidFill>
                  <a:srgbClr val="CFE7E1"/>
                </a:solidFill>
                <a:latin typeface="Aptos"/>
                <a:ea typeface="Aptos"/>
                <a:cs typeface="Aptos"/>
              </a:rPr>
              <a:t>769 bağımsız bölüm • 52.000 m² • sahile 900 m • 5 yıldızlı otel</a:t>
            </a:r>
          </a:p>
        </p:txBody>
      </p:sp>
      <p:sp>
        <p:nvSpPr>
          <p:cNvPr id="116" name="Rounded Rectangle 115">
            <a:hlinkClick xmlns:r="http://schemas.openxmlformats.org/officeDocument/2006/relationships" xmlns:a="http://schemas.openxmlformats.org/drawingml/2006/main" r:id="R7d647bc7d4da4f6e"/>
            <a:extLst xmlns:a="http://schemas.openxmlformats.org/drawingml/2006/main">
              <a:ext uri="{FF2B5EF4-FFF2-40B4-BE49-F238E27FC236}">
                <a16:creationId xmlns:a16="http://schemas.microsoft.com/office/drawing/2014/main" id="{0E890422-91A0-4745-89CA-E534C2FAABF0}"/>
              </a:ext>
            </a:extLst>
          </p:cNvPr>
          <p:cNvSpPr>
            <a:spLocks xmlns:a="http://schemas.openxmlformats.org/drawingml/2006/main" noGrp="1"/>
          </p:cNvSpPr>
          <p:nvPr/>
        </p:nvSpPr>
        <p:spPr>
          <a:xfrm xmlns:a="http://schemas.openxmlformats.org/drawingml/2006/main">
            <a:off x="7753350" y="6276975"/>
            <a:ext cx="2038350" cy="381000"/>
          </a:xfrm>
          <a:prstGeom xmlns:a="http://schemas.openxmlformats.org/drawingml/2006/main" prst="roundRect">
            <a:avLst>
              <a:gd name="adj" fmla="val 45000"/>
            </a:avLst>
          </a:prstGeom>
          <a:solidFill xmlns:a="http://schemas.openxmlformats.org/drawingml/2006/main">
            <a:srgbClr val="032F2B"/>
          </a:solidFill>
          <a:ln xmlns:a="http://schemas.openxmlformats.org/drawingml/2006/main" w="9525">
            <a:solidFill>
              <a:srgbClr val="E2B75D"/>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TextBox 116">
            <a:hlinkClick xmlns:r="http://schemas.openxmlformats.org/officeDocument/2006/relationships" xmlns:a="http://schemas.openxmlformats.org/drawingml/2006/main" r:id="Rde4dfdebb4b94bae"/>
            <a:extLst xmlns:a="http://schemas.openxmlformats.org/drawingml/2006/main">
              <a:ext uri="{FF2B5EF4-FFF2-40B4-BE49-F238E27FC236}">
                <a16:creationId xmlns:a16="http://schemas.microsoft.com/office/drawing/2014/main" id="{A25D6024-B53C-4369-BA24-EF894BCBF95F}"/>
              </a:ext>
            </a:extLst>
          </p:cNvPr>
          <p:cNvSpPr>
            <a:spLocks xmlns:a="http://schemas.openxmlformats.org/drawingml/2006/main" noGrp="1"/>
          </p:cNvSpPr>
          <p:nvPr/>
        </p:nvSpPr>
        <p:spPr>
          <a:xfrm xmlns:a="http://schemas.openxmlformats.org/drawingml/2006/main">
            <a:off x="7753350" y="6381750"/>
            <a:ext cx="203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38" b="1">
                <a:solidFill>
                  <a:srgbClr val="FFFFFF"/>
                </a:solidFill>
                <a:latin typeface="Aptos"/>
                <a:ea typeface="Aptos"/>
                <a:cs typeface="Aptos"/>
              </a:defRPr>
            </a:pPr>
            <a:r>
              <a:rPr sz="938" b="1" i="0">
                <a:solidFill>
                  <a:srgbClr val="FFFFFF"/>
                </a:solidFill>
                <a:latin typeface="Aptos"/>
                <a:ea typeface="Aptos"/>
                <a:cs typeface="Aptos"/>
              </a:rPr>
              <a:t>YÖNETİM TURUNU AÇ</a:t>
            </a:r>
          </a:p>
        </p:txBody>
      </p:sp>
      <p:sp>
        <p:nvSpPr>
          <p:cNvPr id="118" name="Oval 117">
            <a:hlinkClick xmlns:r="http://schemas.openxmlformats.org/officeDocument/2006/relationships" xmlns:a="http://schemas.openxmlformats.org/drawingml/2006/main" r:id="R65fcb283a2164262"/>
            <a:extLst xmlns:a="http://schemas.openxmlformats.org/drawingml/2006/main">
              <a:ext uri="{FF2B5EF4-FFF2-40B4-BE49-F238E27FC236}">
                <a16:creationId xmlns:a16="http://schemas.microsoft.com/office/drawing/2014/main" id="{BD815AFD-0CAB-42B3-B472-798CD7CDA7E2}"/>
              </a:ext>
            </a:extLst>
          </p:cNvPr>
          <p:cNvSpPr>
            <a:spLocks xmlns:a="http://schemas.openxmlformats.org/drawingml/2006/main" noGrp="1"/>
          </p:cNvSpPr>
          <p:nvPr/>
        </p:nvSpPr>
        <p:spPr>
          <a:xfrm xmlns:a="http://schemas.openxmlformats.org/drawingml/2006/main">
            <a:off x="7239000" y="6267450"/>
            <a:ext cx="400050" cy="400050"/>
          </a:xfrm>
          <a:prstGeom xmlns:a="http://schemas.openxmlformats.org/drawingml/2006/main" prst="ellipse">
            <a:avLst/>
          </a:prstGeom>
          <a:solidFill xmlns:a="http://schemas.openxmlformats.org/drawingml/2006/main">
            <a:srgbClr val="032F2B"/>
          </a:solidFill>
          <a:ln xmlns:a="http://schemas.openxmlformats.org/drawingml/2006/main" w="19050">
            <a:solidFill>
              <a:srgbClr val="E2B75D"/>
            </a:solid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Isosceles Triangle 118">
            <a:hlinkClick xmlns:r="http://schemas.openxmlformats.org/officeDocument/2006/relationships" xmlns:a="http://schemas.openxmlformats.org/drawingml/2006/main" r:id="Rf111b7226e894698"/>
            <a:extLst xmlns:a="http://schemas.openxmlformats.org/drawingml/2006/main">
              <a:ext uri="{FF2B5EF4-FFF2-40B4-BE49-F238E27FC236}">
                <a16:creationId xmlns:a16="http://schemas.microsoft.com/office/drawing/2014/main" id="{8914EEA0-7975-4DF6-8CF6-AC630EA160BD}"/>
              </a:ext>
            </a:extLst>
          </p:cNvPr>
          <p:cNvSpPr>
            <a:spLocks xmlns:a="http://schemas.openxmlformats.org/drawingml/2006/main" noGrp="1"/>
          </p:cNvSpPr>
          <p:nvPr/>
        </p:nvSpPr>
        <p:spPr>
          <a:xfrm xmlns:a="http://schemas.openxmlformats.org/drawingml/2006/main" rot="5400000">
            <a:off x="7381875" y="6372225"/>
            <a:ext cx="142875" cy="190500"/>
          </a:xfrm>
          <a:prstGeom xmlns:a="http://schemas.openxmlformats.org/drawingml/2006/main" prst="triangle">
            <a:avLst/>
          </a:prstGeom>
          <a:solidFill xmlns:a="http://schemas.openxmlformats.org/drawingml/2006/main">
            <a:srgbClr val="E2B75D"/>
          </a:solidFill>
          <a:ln xmlns:a="http://schemas.openxmlformats.org/drawingml/2006/main" w="0">
            <a:noFill/>
            <a:prstDash val="solid"/>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652953F2-6752-4018-A379-C9EE88C77C03}"/>
              </a:ext>
            </a:extLst>
          </p:cNvPr>
          <p:cNvSpPr>
            <a:spLocks xmlns:a="http://schemas.openxmlformats.org/drawingml/2006/main" noGrp="1"/>
          </p:cNvSpPr>
          <p:nvPr/>
        </p:nvSpPr>
        <p:spPr>
          <a:xfrm xmlns:a="http://schemas.openxmlformats.org/drawingml/2006/main">
            <a:off x="7239000" y="5905500"/>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88" b="1">
                <a:solidFill>
                  <a:srgbClr val="066B63"/>
                </a:solidFill>
                <a:latin typeface="Aptos"/>
                <a:ea typeface="Aptos"/>
                <a:cs typeface="Aptos"/>
              </a:defRPr>
            </a:pPr>
            <a:r>
              <a:rPr sz="1088" b="1" i="0">
                <a:solidFill>
                  <a:srgbClr val="066B63"/>
                </a:solidFill>
                <a:latin typeface="Aptos"/>
                <a:ea typeface="Aptos"/>
                <a:cs typeface="Aptos"/>
              </a:rPr>
              <a:t>5 € / kullanıcı / ay • WAMOCON işletim ve güvenlik desteği</a:t>
            </a:r>
          </a:p>
        </p:txBody>
      </p:sp>
      <p:sp>
        <p:nvSpPr>
          <p:cNvPr id="121" name="TextBox 120">
            <a:extLst xmlns:a="http://schemas.openxmlformats.org/drawingml/2006/main">
              <a:ext uri="{FF2B5EF4-FFF2-40B4-BE49-F238E27FC236}">
                <a16:creationId xmlns:a16="http://schemas.microsoft.com/office/drawing/2014/main" id="{8F079097-FB43-4EAF-B958-44F3E5A14766}"/>
              </a:ext>
            </a:extLst>
          </p:cNvPr>
          <p:cNvSpPr>
            <a:spLocks xmlns:a="http://schemas.openxmlformats.org/drawingml/2006/main" noGrp="1"/>
          </p:cNvSpPr>
          <p:nvPr/>
        </p:nvSpPr>
        <p:spPr>
          <a:xfrm xmlns:a="http://schemas.openxmlformats.org/drawingml/2006/main">
            <a:off x="7239000" y="4953000"/>
            <a:ext cx="4648200" cy="42748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2550" b="1">
                <a:solidFill>
                  <a:srgbClr val="032F2B"/>
                </a:solidFill>
                <a:latin typeface="Aptos"/>
                <a:ea typeface="Aptos"/>
                <a:cs typeface="Aptos"/>
              </a:defRPr>
            </a:pPr>
            <a:r>
              <a:rPr sz="2550" b="1" i="0">
                <a:solidFill>
                  <a:srgbClr val="032F2B"/>
                </a:solidFill>
                <a:latin typeface="Aptos"/>
                <a:ea typeface="Aptos"/>
                <a:cs typeface="Aptos"/>
              </a:rPr>
              <a:t>Canlı demoya geçelim.</a:t>
            </a:r>
          </a:p>
        </p:txBody>
      </p:sp>
      <p:sp>
        <p:nvSpPr>
          <p:cNvPr id="122" name="TextBox 121">
            <a:extLst xmlns:a="http://schemas.openxmlformats.org/drawingml/2006/main">
              <a:ext uri="{FF2B5EF4-FFF2-40B4-BE49-F238E27FC236}">
                <a16:creationId xmlns:a16="http://schemas.microsoft.com/office/drawing/2014/main" id="{997C2517-CDEE-40F3-B67E-7A53E0707603}"/>
              </a:ext>
            </a:extLst>
          </p:cNvPr>
          <p:cNvSpPr>
            <a:spLocks xmlns:a="http://schemas.openxmlformats.org/drawingml/2006/main" noGrp="1"/>
          </p:cNvSpPr>
          <p:nvPr/>
        </p:nvSpPr>
        <p:spPr>
          <a:xfrm xmlns:a="http://schemas.openxmlformats.org/drawingml/2006/main">
            <a:off x="7239000" y="5400675"/>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a:solidFill>
                  <a:srgbClr val="40534D"/>
                </a:solidFill>
                <a:latin typeface="Aptos"/>
                <a:ea typeface="Aptos"/>
                <a:cs typeface="Aptos"/>
              </a:defRPr>
            </a:pPr>
            <a:r>
              <a:rPr sz="1350" b="0" i="0">
                <a:solidFill>
                  <a:srgbClr val="40534D"/>
                </a:solidFill>
                <a:latin typeface="Aptos"/>
                <a:ea typeface="Aptos"/>
                <a:cs typeface="Aptos"/>
              </a:rPr>
              <a:t>Bugün hazır olan yapıyı ve üretim kontrol listesini gerçek iş akışlarıyla birlikte inceleyelim.</a:t>
            </a:r>
          </a:p>
        </p:txBody>
      </p:sp>
      <p:sp>
        <p:nvSpPr>
          <p:cNvPr id="123" name="TextBox 122">
            <a:extLst xmlns:a="http://schemas.openxmlformats.org/drawingml/2006/main">
              <a:ext uri="{FF2B5EF4-FFF2-40B4-BE49-F238E27FC236}">
                <a16:creationId xmlns:a16="http://schemas.microsoft.com/office/drawing/2014/main" id="{2104FC9C-229B-41EE-8E7B-A9D5CB551681}"/>
              </a:ext>
            </a:extLst>
          </p:cNvPr>
          <p:cNvSpPr>
            <a:spLocks xmlns:a="http://schemas.openxmlformats.org/drawingml/2006/main" noGrp="1"/>
          </p:cNvSpPr>
          <p:nvPr/>
        </p:nvSpPr>
        <p:spPr>
          <a:xfrm xmlns:a="http://schemas.openxmlformats.org/drawingml/2006/main">
            <a:off x="9906000" y="6467475"/>
            <a:ext cx="1905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750">
                <a:solidFill>
                  <a:srgbClr val="65746F"/>
                </a:solidFill>
                <a:latin typeface="Aptos"/>
                <a:ea typeface="Aptos"/>
                <a:cs typeface="Aptos"/>
              </a:defRPr>
            </a:pPr>
            <a:r>
              <a:rPr sz="750" b="0" i="0">
                <a:solidFill>
                  <a:srgbClr val="65746F"/>
                </a:solidFill>
                <a:latin typeface="Aptos"/>
                <a:ea typeface="Aptos"/>
                <a:cs typeface="Aptos"/>
              </a:rPr>
              <a:t>Waleri Moretz • WAMOCON GmbH</a:t>
            </a:r>
          </a:p>
        </p:txBody>
      </p:sp>
    </p:spTree>
    <p:extLst>
      <p:ext uri="{BB962C8B-B14F-4D97-AF65-F5344CB8AC3E}">
        <p14:creationId xmlns:p14="http://schemas.microsoft.com/office/powerpoint/2010/main" val="8942037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2026-07-11T15:55:55.0820000Z</dcterms:created>
  <dcterms:modified xsi:type="dcterms:W3CDTF">2026-07-11T15:55:55.0820000Z</dcterms:modified>
</coreProperties>
</file>