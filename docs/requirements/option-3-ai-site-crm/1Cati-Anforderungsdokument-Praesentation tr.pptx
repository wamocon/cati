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3" d="100"/>
          <a:sy n="103" d="100"/>
        </p:scale>
        <p:origin x="176"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Ana başlık stilini düzenlemek için tıklayın</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Ana metin stillerini düzenlemek için tıklayın</a:t>
            </a:r>
          </a:p>
          <a:p>
            <a:pPr lvl="1"/>
            <a:r>
              <a:rPr lang="en-US"/>
              <a:t>İkinci düzey</a:t>
            </a:r>
          </a:p>
          <a:p>
            <a:pPr lvl="2"/>
            <a:r>
              <a:rPr lang="en-US"/>
              <a:t>Üçüncü düzey</a:t>
            </a:r>
          </a:p>
          <a:p>
            <a:pPr lvl="3"/>
            <a:r>
              <a:rPr lang="en-US"/>
              <a:t>Dördüncü seviye</a:t>
            </a:r>
          </a:p>
          <a:p>
            <a:pPr lvl="4"/>
            <a:r>
              <a:rPr lang="en-US"/>
              <a:t>Beşinci seviye</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‹No.›</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ver_photo.jp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aberk_logo_transparent.png"/>
          <p:cNvPicPr>
            <a:picLocks noChangeAspect="1"/>
          </p:cNvPicPr>
          <p:nvPr/>
        </p:nvPicPr>
        <p:blipFill>
          <a:blip r:embed="rId3"/>
          <a:stretch>
            <a:fillRect/>
          </a:stretch>
        </p:blipFill>
        <p:spPr>
          <a:xfrm>
            <a:off x="10104120" y="473659"/>
            <a:ext cx="1298448" cy="259689"/>
          </a:xfrm>
          <a:prstGeom prst="rect">
            <a:avLst/>
          </a:prstGeom>
        </p:spPr>
      </p:pic>
      <p:pic>
        <p:nvPicPr>
          <p:cNvPr id="6" name="Picture 5" descr="logo.png"/>
          <p:cNvPicPr>
            <a:picLocks noChangeAspect="1"/>
          </p:cNvPicPr>
          <p:nvPr/>
        </p:nvPicPr>
        <p:blipFill>
          <a:blip r:embed="rId4"/>
          <a:stretch>
            <a:fillRect/>
          </a:stretch>
        </p:blipFill>
        <p:spPr>
          <a:xfrm>
            <a:off x="777240" y="640080"/>
            <a:ext cx="658368" cy="658368"/>
          </a:xfrm>
          <a:prstGeom prst="rect">
            <a:avLst/>
          </a:prstGeom>
        </p:spPr>
      </p:pic>
      <p:sp>
        <p:nvSpPr>
          <p:cNvPr id="7" name="TextBox 6"/>
          <p:cNvSpPr txBox="1"/>
          <p:nvPr/>
        </p:nvSpPr>
        <p:spPr>
          <a:xfrm>
            <a:off x="1572768" y="621792"/>
            <a:ext cx="8229600" cy="731520"/>
          </a:xfrm>
          <a:prstGeom prst="rect">
            <a:avLst/>
          </a:prstGeom>
          <a:noFill/>
        </p:spPr>
        <p:txBody>
          <a:bodyPr wrap="square" lIns="0" tIns="0" rIns="0" bIns="0" anchor="t">
            <a:spAutoFit/>
          </a:bodyPr>
          <a:lstStyle/>
          <a:p>
            <a:r>
              <a:rPr sz="2200" b="1" i="0">
                <a:solidFill>
                  <a:srgbClr val="FFFFFF"/>
                </a:solidFill>
                <a:latin typeface="Aptos"/>
              </a:rPr>
              <a:t>1Çatı</a:t>
            </a:r>
          </a:p>
          <a:p>
            <a:r>
              <a:rPr sz="1050" b="0" i="0">
                <a:solidFill>
                  <a:srgbClr val="CDE7E1"/>
                </a:solidFill>
                <a:latin typeface="Aptos"/>
              </a:rPr>
              <a:t>Mülk Yönetimi ve Gayrimenkul ERP · WAMOCON GmbH tarafından hayata geçirilmiştir</a:t>
            </a:r>
          </a:p>
        </p:txBody>
      </p:sp>
      <p:sp>
        <p:nvSpPr>
          <p:cNvPr id="8" name="Rounded Rectangle 7"/>
          <p:cNvSpPr/>
          <p:nvPr/>
        </p:nvSpPr>
        <p:spPr>
          <a:xfrm>
            <a:off x="777240" y="2148840"/>
            <a:ext cx="4206240" cy="384048"/>
          </a:xfrm>
          <a:prstGeom prst="roundRect">
            <a:avLst>
              <a:gd name="adj" fmla="val 50000"/>
            </a:avLst>
          </a:prstGeom>
          <a:solidFill>
            <a:srgbClr val="043F3A"/>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167128"/>
            <a:ext cx="4206240" cy="347472"/>
          </a:xfrm>
          <a:prstGeom prst="rect">
            <a:avLst/>
          </a:prstGeom>
          <a:noFill/>
        </p:spPr>
        <p:txBody>
          <a:bodyPr wrap="square" lIns="0" tIns="0" rIns="0" bIns="0" anchor="ctr">
            <a:spAutoFit/>
          </a:bodyPr>
          <a:lstStyle/>
          <a:p>
            <a:pPr algn="ctr"/>
            <a:r>
              <a:rPr sz="1100" b="1" i="0">
                <a:solidFill>
                  <a:srgbClr val="E2B75D"/>
                </a:solidFill>
                <a:latin typeface="Aptos"/>
              </a:rPr>
              <a:t>GEREKLİLİKLER VE HİZMET BELGESİ</a:t>
            </a:r>
          </a:p>
        </p:txBody>
      </p:sp>
      <p:sp>
        <p:nvSpPr>
          <p:cNvPr id="10" name="TextBox 9"/>
          <p:cNvSpPr txBox="1"/>
          <p:nvPr/>
        </p:nvSpPr>
        <p:spPr>
          <a:xfrm>
            <a:off x="777240" y="2697480"/>
            <a:ext cx="8778240" cy="1828800"/>
          </a:xfrm>
          <a:prstGeom prst="rect">
            <a:avLst/>
          </a:prstGeom>
          <a:noFill/>
        </p:spPr>
        <p:txBody>
          <a:bodyPr wrap="square" lIns="0" tIns="0" rIns="0" bIns="0" anchor="t">
            <a:spAutoFit/>
          </a:bodyPr>
          <a:lstStyle/>
          <a:p>
            <a:r>
              <a:rPr sz="4000" b="1" i="0">
                <a:solidFill>
                  <a:srgbClr val="FFFFFF"/>
                </a:solidFill>
                <a:latin typeface="Aptos"/>
              </a:rPr>
              <a:t>Tüm gayrimenkul faaliyetleriniz için
tek bir çatı</a:t>
            </a:r>
          </a:p>
        </p:txBody>
      </p:sp>
      <p:sp>
        <p:nvSpPr>
          <p:cNvPr id="11" name="TextBox 10"/>
          <p:cNvSpPr txBox="1"/>
          <p:nvPr/>
        </p:nvSpPr>
        <p:spPr>
          <a:xfrm>
            <a:off x="777240" y="4343400"/>
            <a:ext cx="7680960" cy="400110"/>
          </a:xfrm>
          <a:prstGeom prst="rect">
            <a:avLst/>
          </a:prstGeom>
          <a:noFill/>
        </p:spPr>
        <p:txBody>
          <a:bodyPr wrap="square" lIns="0" tIns="0" rIns="0" bIns="0" anchor="t">
            <a:spAutoFit/>
          </a:bodyPr>
          <a:lstStyle/>
          <a:p>
            <a:r>
              <a:rPr sz="1300" b="0" i="0" dirty="0">
                <a:solidFill>
                  <a:srgbClr val="CDE7E1"/>
                </a:solidFill>
                <a:latin typeface="Aptos"/>
              </a:rPr>
              <a:t>New Level Premium için </a:t>
            </a:r>
            <a:r>
              <a:rPr sz="1300" b="0" i="0" dirty="0" err="1">
                <a:solidFill>
                  <a:srgbClr val="CDE7E1"/>
                </a:solidFill>
                <a:latin typeface="Aptos"/>
              </a:rPr>
              <a:t>merkezi</a:t>
            </a:r>
            <a:r>
              <a:rPr sz="1300" b="0" i="0" dirty="0">
                <a:solidFill>
                  <a:srgbClr val="CDE7E1"/>
                </a:solidFill>
                <a:latin typeface="Aptos"/>
              </a:rPr>
              <a:t>, </a:t>
            </a:r>
            <a:r>
              <a:rPr sz="1300" b="0" i="0" dirty="0" err="1">
                <a:solidFill>
                  <a:srgbClr val="CDE7E1"/>
                </a:solidFill>
                <a:latin typeface="Aptos"/>
              </a:rPr>
              <a:t>çok dilli </a:t>
            </a:r>
            <a:r>
              <a:rPr sz="1300" b="0" i="0" dirty="0" err="1">
                <a:solidFill>
                  <a:srgbClr val="CDE7E1"/>
                </a:solidFill>
                <a:latin typeface="Aptos"/>
              </a:rPr>
              <a:t>platform </a:t>
            </a:r>
            <a:r>
              <a:rPr lang="de-DE" sz="1300" b="0" i="0" dirty="0">
                <a:solidFill>
                  <a:srgbClr val="CDE7E1"/>
                </a:solidFill>
                <a:latin typeface="Aptos"/>
              </a:rPr>
              <a:t>– </a:t>
            </a:r>
            <a:r>
              <a:rPr sz="1300" b="0" i="0" dirty="0">
                <a:solidFill>
                  <a:srgbClr val="CDE7E1"/>
                </a:solidFill>
                <a:latin typeface="Aptos"/>
              </a:rPr>
              <a:t>portföy, </a:t>
            </a:r>
            <a:r>
              <a:rPr sz="1300" b="0" i="0" dirty="0" err="1">
                <a:solidFill>
                  <a:srgbClr val="CDE7E1"/>
                </a:solidFill>
                <a:latin typeface="Aptos"/>
              </a:rPr>
              <a:t>mal sahipleri </a:t>
            </a:r>
            <a:r>
              <a:rPr sz="1300" b="0" i="0" dirty="0">
                <a:solidFill>
                  <a:srgbClr val="CDE7E1"/>
                </a:solidFill>
                <a:latin typeface="Aptos"/>
              </a:rPr>
              <a:t>ve </a:t>
            </a:r>
            <a:r>
              <a:rPr sz="1300" b="0" i="0" dirty="0" err="1">
                <a:solidFill>
                  <a:srgbClr val="CDE7E1"/>
                </a:solidFill>
                <a:latin typeface="Aptos"/>
              </a:rPr>
              <a:t>kiracılar</a:t>
            </a:r>
            <a:r>
              <a:rPr sz="1300" b="0" i="0" dirty="0">
                <a:solidFill>
                  <a:srgbClr val="CDE7E1"/>
                </a:solidFill>
                <a:latin typeface="Aptos"/>
              </a:rPr>
              <a:t>, </a:t>
            </a:r>
            <a:r>
              <a:rPr sz="1300" b="0" i="0" dirty="0" err="1">
                <a:solidFill>
                  <a:srgbClr val="CDE7E1"/>
                </a:solidFill>
                <a:latin typeface="Aptos"/>
              </a:rPr>
              <a:t>finans</a:t>
            </a:r>
            <a:r>
              <a:rPr sz="1300" b="0" i="0" dirty="0">
                <a:solidFill>
                  <a:srgbClr val="CDE7E1"/>
                </a:solidFill>
                <a:latin typeface="Aptos"/>
              </a:rPr>
              <a:t>, hizmet, </a:t>
            </a:r>
            <a:r>
              <a:rPr sz="1300" b="0" i="0" dirty="0" err="1">
                <a:solidFill>
                  <a:srgbClr val="CDE7E1"/>
                </a:solidFill>
                <a:latin typeface="Aptos"/>
              </a:rPr>
              <a:t>rezervasyon</a:t>
            </a:r>
            <a:r>
              <a:rPr sz="1300" b="0" i="0" dirty="0">
                <a:solidFill>
                  <a:srgbClr val="CDE7E1"/>
                </a:solidFill>
                <a:latin typeface="Aptos"/>
              </a:rPr>
              <a:t>, </a:t>
            </a:r>
            <a:r>
              <a:rPr sz="1300" b="0" i="0" dirty="0" err="1">
                <a:solidFill>
                  <a:srgbClr val="CDE7E1"/>
                </a:solidFill>
                <a:latin typeface="Aptos"/>
              </a:rPr>
              <a:t>belgeler</a:t>
            </a:r>
            <a:r>
              <a:rPr sz="1300" b="0" i="0" dirty="0">
                <a:solidFill>
                  <a:srgbClr val="CDE7E1"/>
                </a:solidFill>
                <a:latin typeface="Aptos"/>
              </a:rPr>
              <a:t>, iletişim ve </a:t>
            </a:r>
            <a:r>
              <a:rPr sz="1300" b="0" i="0" dirty="0" err="1">
                <a:solidFill>
                  <a:srgbClr val="CDE7E1"/>
                </a:solidFill>
                <a:latin typeface="Aptos"/>
              </a:rPr>
              <a:t>raporlar </a:t>
            </a:r>
            <a:r>
              <a:rPr sz="1300" b="0" i="0" dirty="0">
                <a:solidFill>
                  <a:srgbClr val="CDE7E1"/>
                </a:solidFill>
                <a:latin typeface="Aptos"/>
              </a:rPr>
              <a:t>tek bir sistemde.</a:t>
            </a:r>
          </a:p>
        </p:txBody>
      </p:sp>
      <p:sp>
        <p:nvSpPr>
          <p:cNvPr id="12" name="Rounded Rectangle 11"/>
          <p:cNvSpPr/>
          <p:nvPr/>
        </p:nvSpPr>
        <p:spPr>
          <a:xfrm>
            <a:off x="777240" y="5193792"/>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248656"/>
            <a:ext cx="3108960" cy="365760"/>
          </a:xfrm>
          <a:prstGeom prst="rect">
            <a:avLst/>
          </a:prstGeom>
          <a:noFill/>
        </p:spPr>
        <p:txBody>
          <a:bodyPr wrap="square" lIns="0" tIns="0" rIns="0" bIns="0" anchor="t">
            <a:spAutoFit/>
          </a:bodyPr>
          <a:lstStyle/>
          <a:p>
            <a:r>
              <a:rPr sz="750" b="1" i="0">
                <a:solidFill>
                  <a:srgbClr val="9FCFC6"/>
                </a:solidFill>
                <a:latin typeface="Aptos"/>
              </a:rPr>
              <a:t>MÜŞTERİ</a:t>
            </a:r>
          </a:p>
          <a:p>
            <a:r>
              <a:rPr sz="1050" b="1" i="0">
                <a:solidFill>
                  <a:srgbClr val="FFFFFF"/>
                </a:solidFill>
                <a:latin typeface="Aptos"/>
              </a:rPr>
              <a:t>Ataberk Estate, Türkiye</a:t>
            </a:r>
          </a:p>
        </p:txBody>
      </p:sp>
      <p:sp>
        <p:nvSpPr>
          <p:cNvPr id="14" name="Rounded Rectangle 13"/>
          <p:cNvSpPr/>
          <p:nvPr/>
        </p:nvSpPr>
        <p:spPr>
          <a:xfrm>
            <a:off x="4270248" y="5193792"/>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07408" y="5248656"/>
            <a:ext cx="3108960" cy="365760"/>
          </a:xfrm>
          <a:prstGeom prst="rect">
            <a:avLst/>
          </a:prstGeom>
          <a:noFill/>
        </p:spPr>
        <p:txBody>
          <a:bodyPr wrap="square" lIns="0" tIns="0" rIns="0" bIns="0" anchor="t">
            <a:spAutoFit/>
          </a:bodyPr>
          <a:lstStyle/>
          <a:p>
            <a:r>
              <a:rPr sz="750" b="1" i="0">
                <a:solidFill>
                  <a:srgbClr val="9FCFC6"/>
                </a:solidFill>
                <a:latin typeface="Aptos"/>
              </a:rPr>
              <a:t>REFERANS PROJE</a:t>
            </a:r>
          </a:p>
          <a:p>
            <a:r>
              <a:rPr sz="1050" b="1" i="0">
                <a:solidFill>
                  <a:srgbClr val="FFFFFF"/>
                </a:solidFill>
                <a:latin typeface="Aptos"/>
              </a:rPr>
              <a:t>New Level Premium, Avsallar/Alanya</a:t>
            </a:r>
          </a:p>
        </p:txBody>
      </p:sp>
      <p:sp>
        <p:nvSpPr>
          <p:cNvPr id="16" name="Rounded Rectangle 15"/>
          <p:cNvSpPr/>
          <p:nvPr/>
        </p:nvSpPr>
        <p:spPr>
          <a:xfrm>
            <a:off x="7763256" y="5193792"/>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00416" y="5248656"/>
            <a:ext cx="3108960" cy="365760"/>
          </a:xfrm>
          <a:prstGeom prst="rect">
            <a:avLst/>
          </a:prstGeom>
          <a:noFill/>
        </p:spPr>
        <p:txBody>
          <a:bodyPr wrap="square" lIns="0" tIns="0" rIns="0" bIns="0" anchor="t">
            <a:spAutoFit/>
          </a:bodyPr>
          <a:lstStyle/>
          <a:p>
            <a:r>
              <a:rPr sz="750" b="1" i="0">
                <a:solidFill>
                  <a:srgbClr val="9FCFC6"/>
                </a:solidFill>
                <a:latin typeface="Aptos"/>
              </a:rPr>
              <a:t>UYGULAMA</a:t>
            </a:r>
          </a:p>
          <a:p>
            <a:r>
              <a:rPr sz="1050" b="1" i="0">
                <a:solidFill>
                  <a:srgbClr val="FFFFFF"/>
                </a:solidFill>
                <a:latin typeface="Aptos"/>
              </a:rPr>
              <a:t>WAMOCON GmbH</a:t>
            </a:r>
          </a:p>
        </p:txBody>
      </p:sp>
      <p:sp>
        <p:nvSpPr>
          <p:cNvPr id="18" name="Rounded Rectangle 17"/>
          <p:cNvSpPr/>
          <p:nvPr/>
        </p:nvSpPr>
        <p:spPr>
          <a:xfrm>
            <a:off x="777240" y="5760720"/>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815584"/>
            <a:ext cx="3108960" cy="365760"/>
          </a:xfrm>
          <a:prstGeom prst="rect">
            <a:avLst/>
          </a:prstGeom>
          <a:noFill/>
        </p:spPr>
        <p:txBody>
          <a:bodyPr wrap="square" lIns="0" tIns="0" rIns="0" bIns="0" anchor="t">
            <a:spAutoFit/>
          </a:bodyPr>
          <a:lstStyle/>
          <a:p>
            <a:r>
              <a:rPr sz="750" b="1" i="0">
                <a:solidFill>
                  <a:srgbClr val="9FCFC6"/>
                </a:solidFill>
                <a:latin typeface="Aptos"/>
              </a:rPr>
              <a:t>PLATFORM</a:t>
            </a:r>
          </a:p>
          <a:p>
            <a:r>
              <a:rPr sz="1050" b="1" i="0">
                <a:solidFill>
                  <a:srgbClr val="FFFFFF"/>
                </a:solidFill>
                <a:latin typeface="Aptos"/>
              </a:rPr>
              <a:t>1Çatı ERP · Tanıtım standı</a:t>
            </a:r>
          </a:p>
        </p:txBody>
      </p:sp>
      <p:sp>
        <p:nvSpPr>
          <p:cNvPr id="20" name="Rounded Rectangle 19"/>
          <p:cNvSpPr/>
          <p:nvPr/>
        </p:nvSpPr>
        <p:spPr>
          <a:xfrm>
            <a:off x="4270248" y="5760720"/>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07408" y="5815584"/>
            <a:ext cx="3108960" cy="365760"/>
          </a:xfrm>
          <a:prstGeom prst="rect">
            <a:avLst/>
          </a:prstGeom>
          <a:noFill/>
        </p:spPr>
        <p:txBody>
          <a:bodyPr wrap="square" lIns="0" tIns="0" rIns="0" bIns="0" anchor="t">
            <a:spAutoFit/>
          </a:bodyPr>
          <a:lstStyle/>
          <a:p>
            <a:r>
              <a:rPr sz="750" b="1" i="0">
                <a:solidFill>
                  <a:srgbClr val="9FCFC6"/>
                </a:solidFill>
                <a:latin typeface="Aptos"/>
              </a:rPr>
              <a:t>DOKÜMAN</a:t>
            </a:r>
          </a:p>
          <a:p>
            <a:r>
              <a:rPr sz="1050" b="1" i="0">
                <a:solidFill>
                  <a:srgbClr val="FFFFFF"/>
                </a:solidFill>
                <a:latin typeface="Aptos"/>
              </a:rPr>
              <a:t>Müşteri Sürümü</a:t>
            </a:r>
          </a:p>
        </p:txBody>
      </p:sp>
      <p:sp>
        <p:nvSpPr>
          <p:cNvPr id="22" name="Rounded Rectangle 21"/>
          <p:cNvSpPr/>
          <p:nvPr/>
        </p:nvSpPr>
        <p:spPr>
          <a:xfrm>
            <a:off x="7763256" y="5760720"/>
            <a:ext cx="3383280" cy="475488"/>
          </a:xfrm>
          <a:prstGeom prst="roundRect">
            <a:avLst>
              <a:gd name="adj" fmla="val 8000"/>
            </a:avLst>
          </a:prstGeom>
          <a:solidFill>
            <a:srgbClr val="054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00416" y="5815584"/>
            <a:ext cx="3108960" cy="365760"/>
          </a:xfrm>
          <a:prstGeom prst="rect">
            <a:avLst/>
          </a:prstGeom>
          <a:noFill/>
        </p:spPr>
        <p:txBody>
          <a:bodyPr wrap="square" lIns="0" tIns="0" rIns="0" bIns="0" anchor="t">
            <a:spAutoFit/>
          </a:bodyPr>
          <a:lstStyle/>
          <a:p>
            <a:r>
              <a:rPr sz="750" b="1" i="0">
                <a:solidFill>
                  <a:srgbClr val="9FCFC6"/>
                </a:solidFill>
                <a:latin typeface="Aptos"/>
              </a:rPr>
              <a:t>TARİH</a:t>
            </a:r>
          </a:p>
          <a:p>
            <a:r>
              <a:rPr sz="1050" b="1" i="0">
                <a:solidFill>
                  <a:srgbClr val="FFFFFF"/>
                </a:solidFill>
                <a:latin typeface="Aptos"/>
              </a:rPr>
              <a:t>7 Temmuz 2026</a:t>
            </a:r>
          </a:p>
        </p:txBody>
      </p:sp>
      <p:sp>
        <p:nvSpPr>
          <p:cNvPr id="24" name="TextBox 23"/>
          <p:cNvSpPr txBox="1"/>
          <p:nvPr/>
        </p:nvSpPr>
        <p:spPr>
          <a:xfrm>
            <a:off x="777240" y="6473952"/>
            <a:ext cx="8229600" cy="130805"/>
          </a:xfrm>
          <a:prstGeom prst="rect">
            <a:avLst/>
          </a:prstGeom>
          <a:noFill/>
        </p:spPr>
        <p:txBody>
          <a:bodyPr wrap="square" lIns="0" tIns="0" rIns="0" bIns="0" anchor="t">
            <a:spAutoFit/>
          </a:bodyPr>
          <a:lstStyle/>
          <a:p>
            <a:r>
              <a:rPr sz="850" b="0" i="0" dirty="0" err="1">
                <a:solidFill>
                  <a:srgbClr val="A9D2CB"/>
                </a:solidFill>
                <a:latin typeface="Aptos"/>
              </a:rPr>
              <a:t>Gizli </a:t>
            </a:r>
            <a:r>
              <a:rPr lang="de-DE" sz="850" b="0" i="0" dirty="0">
                <a:solidFill>
                  <a:srgbClr val="A9D2CB"/>
                </a:solidFill>
                <a:latin typeface="Aptos"/>
              </a:rPr>
              <a:t>- </a:t>
            </a:r>
            <a:r>
              <a:rPr sz="850" b="0" i="0" dirty="0" err="1">
                <a:solidFill>
                  <a:srgbClr val="A9D2CB"/>
                </a:solidFill>
                <a:latin typeface="Aptos"/>
              </a:rPr>
              <a:t>Yalnızca </a:t>
            </a:r>
            <a:r>
              <a:rPr sz="850" b="0" i="0" dirty="0" err="1">
                <a:solidFill>
                  <a:srgbClr val="A9D2CB"/>
                </a:solidFill>
                <a:latin typeface="Aptos"/>
              </a:rPr>
              <a:t>Ataberk </a:t>
            </a:r>
            <a:r>
              <a:rPr sz="850" b="0" i="0" dirty="0">
                <a:solidFill>
                  <a:srgbClr val="A9D2CB"/>
                </a:solidFill>
                <a:latin typeface="Aptos"/>
              </a:rPr>
              <a:t>Estate </a:t>
            </a:r>
            <a:r>
              <a:rPr sz="850" b="0" i="0" dirty="0">
                <a:solidFill>
                  <a:srgbClr val="A9D2CB"/>
                </a:solidFill>
                <a:latin typeface="Aptos"/>
              </a:rPr>
              <a:t>için </a:t>
            </a:r>
            <a:r>
              <a:rPr sz="850" b="0" i="0" dirty="0" err="1">
                <a:solidFill>
                  <a:srgbClr val="A9D2CB"/>
                </a:solidFill>
                <a:latin typeface="Aptos"/>
              </a:rPr>
              <a:t>hazırlanmıştır</a:t>
            </a:r>
            <a:r>
              <a:rPr sz="850" b="0" i="0" dirty="0">
                <a:solidFill>
                  <a:srgbClr val="A9D2CB"/>
                </a:solidFill>
                <a:latin typeface="Apto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GENEL BAKIŞ</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Sunumun içeriği</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645920"/>
            <a:ext cx="4937760" cy="475488"/>
          </a:xfrm>
          <a:prstGeom prst="rect">
            <a:avLst/>
          </a:prstGeom>
          <a:noFill/>
        </p:spPr>
        <p:txBody>
          <a:bodyPr wrap="square" lIns="0" tIns="0" rIns="0" bIns="0" anchor="ctr">
            <a:spAutoFit/>
          </a:bodyPr>
          <a:lstStyle/>
          <a:p>
            <a:r>
              <a:rPr sz="1300" b="1" i="0">
                <a:solidFill>
                  <a:srgbClr val="B9822B"/>
                </a:solidFill>
                <a:latin typeface="Aptos"/>
              </a:rPr>
              <a:t>01 </a:t>
            </a:r>
            <a:r>
              <a:rPr sz="1250" b="1" i="0">
                <a:solidFill>
                  <a:srgbClr val="101820"/>
                </a:solidFill>
                <a:latin typeface="Aptos"/>
              </a:rPr>
              <a:t>  Yönetim Özeti</a:t>
            </a:r>
          </a:p>
        </p:txBody>
      </p:sp>
      <p:sp>
        <p:nvSpPr>
          <p:cNvPr id="11" name="Rounded Rectangle 10"/>
          <p:cNvSpPr/>
          <p:nvPr/>
        </p:nvSpPr>
        <p:spPr>
          <a:xfrm>
            <a:off x="640080" y="2231136"/>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231136"/>
            <a:ext cx="4937760" cy="475488"/>
          </a:xfrm>
          <a:prstGeom prst="rect">
            <a:avLst/>
          </a:prstGeom>
          <a:noFill/>
        </p:spPr>
        <p:txBody>
          <a:bodyPr wrap="square" lIns="0" tIns="0" rIns="0" bIns="0" anchor="ctr">
            <a:spAutoFit/>
          </a:bodyPr>
          <a:lstStyle/>
          <a:p>
            <a:r>
              <a:rPr sz="1300" b="1" i="0">
                <a:solidFill>
                  <a:srgbClr val="B9822B"/>
                </a:solidFill>
                <a:latin typeface="Aptos"/>
              </a:rPr>
              <a:t>02 </a:t>
            </a:r>
            <a:r>
              <a:rPr sz="1250" b="1" i="0">
                <a:solidFill>
                  <a:srgbClr val="101820"/>
                </a:solidFill>
                <a:latin typeface="Aptos"/>
              </a:rPr>
              <a:t>  Pazar Ortamı ve Zamanlama</a:t>
            </a:r>
          </a:p>
        </p:txBody>
      </p:sp>
      <p:sp>
        <p:nvSpPr>
          <p:cNvPr id="13" name="Rounded Rectangle 12"/>
          <p:cNvSpPr/>
          <p:nvPr/>
        </p:nvSpPr>
        <p:spPr>
          <a:xfrm>
            <a:off x="640080" y="2816352"/>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2816352"/>
            <a:ext cx="4937760" cy="475488"/>
          </a:xfrm>
          <a:prstGeom prst="rect">
            <a:avLst/>
          </a:prstGeom>
          <a:noFill/>
        </p:spPr>
        <p:txBody>
          <a:bodyPr wrap="square" lIns="0" tIns="0" rIns="0" bIns="0" anchor="ctr">
            <a:spAutoFit/>
          </a:bodyPr>
          <a:lstStyle/>
          <a:p>
            <a:r>
              <a:rPr sz="1300" b="1" i="0">
                <a:solidFill>
                  <a:srgbClr val="B9822B"/>
                </a:solidFill>
                <a:latin typeface="Aptos"/>
              </a:rPr>
              <a:t>03 </a:t>
            </a:r>
            <a:r>
              <a:rPr sz="1250" b="1" i="0">
                <a:solidFill>
                  <a:srgbClr val="101820"/>
                </a:solidFill>
                <a:latin typeface="Aptos"/>
              </a:rPr>
              <a:t>  Rekabet ve Konumlandırma</a:t>
            </a:r>
          </a:p>
        </p:txBody>
      </p:sp>
      <p:sp>
        <p:nvSpPr>
          <p:cNvPr id="15" name="Rounded Rectangle 14"/>
          <p:cNvSpPr/>
          <p:nvPr/>
        </p:nvSpPr>
        <p:spPr>
          <a:xfrm>
            <a:off x="640080" y="3401568"/>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401568"/>
            <a:ext cx="4937760" cy="475488"/>
          </a:xfrm>
          <a:prstGeom prst="rect">
            <a:avLst/>
          </a:prstGeom>
          <a:noFill/>
        </p:spPr>
        <p:txBody>
          <a:bodyPr wrap="square" lIns="0" tIns="0" rIns="0" bIns="0" anchor="ctr">
            <a:spAutoFit/>
          </a:bodyPr>
          <a:lstStyle/>
          <a:p>
            <a:r>
              <a:rPr sz="1300" b="1" i="0">
                <a:solidFill>
                  <a:srgbClr val="B9822B"/>
                </a:solidFill>
                <a:latin typeface="Aptos"/>
              </a:rPr>
              <a:t>04   Hedef </a:t>
            </a:r>
            <a:r>
              <a:rPr sz="1250" b="1" i="0">
                <a:solidFill>
                  <a:srgbClr val="101820"/>
                </a:solidFill>
                <a:latin typeface="Aptos"/>
              </a:rPr>
              <a:t>Kitle</a:t>
            </a:r>
          </a:p>
        </p:txBody>
      </p:sp>
      <p:sp>
        <p:nvSpPr>
          <p:cNvPr id="17" name="Rounded Rectangle 16"/>
          <p:cNvSpPr/>
          <p:nvPr/>
        </p:nvSpPr>
        <p:spPr>
          <a:xfrm>
            <a:off x="640080" y="3986784"/>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986784"/>
            <a:ext cx="4937760" cy="475488"/>
          </a:xfrm>
          <a:prstGeom prst="rect">
            <a:avLst/>
          </a:prstGeom>
          <a:noFill/>
        </p:spPr>
        <p:txBody>
          <a:bodyPr wrap="square" lIns="0" tIns="0" rIns="0" bIns="0" anchor="ctr">
            <a:spAutoFit/>
          </a:bodyPr>
          <a:lstStyle/>
          <a:p>
            <a:r>
              <a:rPr sz="1300" b="1" i="0">
                <a:solidFill>
                  <a:srgbClr val="B9822B"/>
                </a:solidFill>
                <a:latin typeface="Aptos"/>
              </a:rPr>
              <a:t>05 </a:t>
            </a:r>
            <a:r>
              <a:rPr sz="1250" b="1" i="0">
                <a:solidFill>
                  <a:srgbClr val="101820"/>
                </a:solidFill>
                <a:latin typeface="Aptos"/>
              </a:rPr>
              <a:t>  Ataberk Estate için Faydalar</a:t>
            </a:r>
          </a:p>
        </p:txBody>
      </p:sp>
      <p:sp>
        <p:nvSpPr>
          <p:cNvPr id="19" name="Rounded Rectangle 18"/>
          <p:cNvSpPr/>
          <p:nvPr/>
        </p:nvSpPr>
        <p:spPr>
          <a:xfrm>
            <a:off x="640080" y="4572000"/>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4709716"/>
            <a:ext cx="4937760" cy="200055"/>
          </a:xfrm>
          <a:prstGeom prst="rect">
            <a:avLst/>
          </a:prstGeom>
          <a:noFill/>
        </p:spPr>
        <p:txBody>
          <a:bodyPr wrap="square" lIns="0" tIns="0" rIns="0" bIns="0" anchor="ctr">
            <a:spAutoFit/>
          </a:bodyPr>
          <a:lstStyle/>
          <a:p>
            <a:r>
              <a:rPr sz="1300" b="1" i="0" dirty="0">
                <a:solidFill>
                  <a:srgbClr val="B9822B"/>
                </a:solidFill>
                <a:latin typeface="Aptos"/>
              </a:rPr>
              <a:t>06 </a:t>
            </a:r>
            <a:r>
              <a:rPr sz="1250" b="1" i="0" dirty="0" err="1">
                <a:solidFill>
                  <a:srgbClr val="101820"/>
                </a:solidFill>
                <a:latin typeface="Aptos"/>
              </a:rPr>
              <a:t>  İşlev Kapsamı </a:t>
            </a:r>
            <a:r>
              <a:rPr lang="de-DE" sz="1250" b="1" i="0" dirty="0">
                <a:solidFill>
                  <a:srgbClr val="101820"/>
                </a:solidFill>
                <a:latin typeface="Aptos"/>
              </a:rPr>
              <a:t>-</a:t>
            </a:r>
            <a:r>
              <a:rPr sz="1250" b="1" i="0" dirty="0">
                <a:solidFill>
                  <a:srgbClr val="101820"/>
                </a:solidFill>
                <a:latin typeface="Aptos"/>
              </a:rPr>
              <a:t> 1Çatı'nın </a:t>
            </a:r>
            <a:r>
              <a:rPr sz="1250" b="1" i="0" dirty="0" err="1">
                <a:solidFill>
                  <a:srgbClr val="101820"/>
                </a:solidFill>
                <a:latin typeface="Aptos"/>
              </a:rPr>
              <a:t>Sundukları</a:t>
            </a:r>
            <a:endParaRPr sz="1250" b="1" i="0" dirty="0">
              <a:solidFill>
                <a:srgbClr val="101820"/>
              </a:solidFill>
              <a:latin typeface="Aptos"/>
            </a:endParaRPr>
          </a:p>
        </p:txBody>
      </p:sp>
      <p:sp>
        <p:nvSpPr>
          <p:cNvPr id="21" name="Rounded Rectangle 20"/>
          <p:cNvSpPr/>
          <p:nvPr/>
        </p:nvSpPr>
        <p:spPr>
          <a:xfrm>
            <a:off x="6217920" y="1645920"/>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1645920"/>
            <a:ext cx="4937760" cy="475488"/>
          </a:xfrm>
          <a:prstGeom prst="rect">
            <a:avLst/>
          </a:prstGeom>
          <a:noFill/>
        </p:spPr>
        <p:txBody>
          <a:bodyPr wrap="square" lIns="0" tIns="0" rIns="0" bIns="0" anchor="ctr">
            <a:spAutoFit/>
          </a:bodyPr>
          <a:lstStyle/>
          <a:p>
            <a:r>
              <a:rPr sz="1300" b="1" i="0">
                <a:solidFill>
                  <a:srgbClr val="B9822B"/>
                </a:solidFill>
                <a:latin typeface="Aptos"/>
              </a:rPr>
              <a:t>07 </a:t>
            </a:r>
            <a:r>
              <a:rPr sz="1250" b="1" i="0">
                <a:solidFill>
                  <a:srgbClr val="101820"/>
                </a:solidFill>
                <a:latin typeface="Aptos"/>
              </a:rPr>
              <a:t>  Gereksinimlerinizin Karşılaştırılması</a:t>
            </a:r>
          </a:p>
        </p:txBody>
      </p:sp>
      <p:sp>
        <p:nvSpPr>
          <p:cNvPr id="23" name="Rounded Rectangle 22"/>
          <p:cNvSpPr/>
          <p:nvPr/>
        </p:nvSpPr>
        <p:spPr>
          <a:xfrm>
            <a:off x="6217920" y="2231136"/>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2368852"/>
            <a:ext cx="4937760" cy="200055"/>
          </a:xfrm>
          <a:prstGeom prst="rect">
            <a:avLst/>
          </a:prstGeom>
          <a:noFill/>
        </p:spPr>
        <p:txBody>
          <a:bodyPr wrap="square" lIns="0" tIns="0" rIns="0" bIns="0" anchor="ctr">
            <a:spAutoFit/>
          </a:bodyPr>
          <a:lstStyle/>
          <a:p>
            <a:r>
              <a:rPr sz="1300" b="1" i="0" dirty="0">
                <a:solidFill>
                  <a:srgbClr val="B9822B"/>
                </a:solidFill>
                <a:latin typeface="Aptos"/>
              </a:rPr>
              <a:t>08 </a:t>
            </a:r>
            <a:r>
              <a:rPr sz="1250" b="1" i="0" dirty="0">
                <a:solidFill>
                  <a:srgbClr val="101820"/>
                </a:solidFill>
                <a:latin typeface="Aptos"/>
              </a:rPr>
              <a:t>  Tanıtım </a:t>
            </a:r>
            <a:r>
              <a:rPr lang="de-DE" sz="1250" b="1" i="0" dirty="0">
                <a:solidFill>
                  <a:srgbClr val="101820"/>
                </a:solidFill>
                <a:latin typeface="Aptos"/>
              </a:rPr>
              <a:t>- </a:t>
            </a:r>
            <a:r>
              <a:rPr sz="1250" b="1" i="0" dirty="0">
                <a:solidFill>
                  <a:srgbClr val="101820"/>
                </a:solidFill>
                <a:latin typeface="Aptos"/>
              </a:rPr>
              <a:t>Amaç ve </a:t>
            </a:r>
            <a:r>
              <a:rPr sz="1250" b="1" i="0" dirty="0" err="1">
                <a:solidFill>
                  <a:srgbClr val="101820"/>
                </a:solidFill>
                <a:latin typeface="Aptos"/>
              </a:rPr>
              <a:t>Kapsam</a:t>
            </a:r>
            <a:endParaRPr sz="1250" b="1" i="0" dirty="0">
              <a:solidFill>
                <a:srgbClr val="101820"/>
              </a:solidFill>
              <a:latin typeface="Aptos"/>
            </a:endParaRPr>
          </a:p>
        </p:txBody>
      </p:sp>
      <p:sp>
        <p:nvSpPr>
          <p:cNvPr id="25" name="Rounded Rectangle 24"/>
          <p:cNvSpPr/>
          <p:nvPr/>
        </p:nvSpPr>
        <p:spPr>
          <a:xfrm>
            <a:off x="6217920" y="2816352"/>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2816352"/>
            <a:ext cx="4937760" cy="475488"/>
          </a:xfrm>
          <a:prstGeom prst="rect">
            <a:avLst/>
          </a:prstGeom>
          <a:noFill/>
        </p:spPr>
        <p:txBody>
          <a:bodyPr wrap="square" lIns="0" tIns="0" rIns="0" bIns="0" anchor="ctr">
            <a:spAutoFit/>
          </a:bodyPr>
          <a:lstStyle/>
          <a:p>
            <a:r>
              <a:rPr sz="1300" b="1" i="0">
                <a:solidFill>
                  <a:srgbClr val="B9822B"/>
                </a:solidFill>
                <a:latin typeface="Aptos"/>
              </a:rPr>
              <a:t>09 </a:t>
            </a:r>
            <a:r>
              <a:rPr sz="1250" b="1" i="0">
                <a:solidFill>
                  <a:srgbClr val="101820"/>
                </a:solidFill>
                <a:latin typeface="Aptos"/>
              </a:rPr>
              <a:t>  Sonraki Adımlar</a:t>
            </a:r>
          </a:p>
        </p:txBody>
      </p:sp>
      <p:sp>
        <p:nvSpPr>
          <p:cNvPr id="27" name="Rounded Rectangle 26"/>
          <p:cNvSpPr/>
          <p:nvPr/>
        </p:nvSpPr>
        <p:spPr>
          <a:xfrm>
            <a:off x="6217920" y="3401568"/>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3401568"/>
            <a:ext cx="4937760" cy="475488"/>
          </a:xfrm>
          <a:prstGeom prst="rect">
            <a:avLst/>
          </a:prstGeom>
          <a:noFill/>
        </p:spPr>
        <p:txBody>
          <a:bodyPr wrap="square" lIns="0" tIns="0" rIns="0" bIns="0" anchor="ctr">
            <a:spAutoFit/>
          </a:bodyPr>
          <a:lstStyle/>
          <a:p>
            <a:r>
              <a:rPr sz="1300" b="1" i="0">
                <a:solidFill>
                  <a:srgbClr val="B9822B"/>
                </a:solidFill>
                <a:latin typeface="Aptos"/>
              </a:rPr>
              <a:t>10 </a:t>
            </a:r>
            <a:r>
              <a:rPr sz="1250" b="1" i="0">
                <a:solidFill>
                  <a:srgbClr val="101820"/>
                </a:solidFill>
                <a:latin typeface="Aptos"/>
              </a:rPr>
              <a:t>  Uygulama Planı ve Zaman Çizelgesi</a:t>
            </a:r>
          </a:p>
        </p:txBody>
      </p:sp>
      <p:sp>
        <p:nvSpPr>
          <p:cNvPr id="29" name="Rounded Rectangle 28"/>
          <p:cNvSpPr/>
          <p:nvPr/>
        </p:nvSpPr>
        <p:spPr>
          <a:xfrm>
            <a:off x="6217920" y="3986784"/>
            <a:ext cx="5303520" cy="475488"/>
          </a:xfrm>
          <a:prstGeom prst="roundRect">
            <a:avLst>
              <a:gd name="adj" fmla="val 12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3986784"/>
            <a:ext cx="4937760" cy="475488"/>
          </a:xfrm>
          <a:prstGeom prst="rect">
            <a:avLst/>
          </a:prstGeom>
          <a:noFill/>
        </p:spPr>
        <p:txBody>
          <a:bodyPr wrap="square" lIns="0" tIns="0" rIns="0" bIns="0" anchor="ctr">
            <a:spAutoFit/>
          </a:bodyPr>
          <a:lstStyle/>
          <a:p>
            <a:r>
              <a:rPr sz="1300" b="1" i="0">
                <a:solidFill>
                  <a:srgbClr val="B9822B"/>
                </a:solidFill>
                <a:latin typeface="Aptos"/>
              </a:rPr>
              <a:t>11 </a:t>
            </a:r>
            <a:r>
              <a:rPr sz="1250" b="1" i="0">
                <a:solidFill>
                  <a:srgbClr val="101820"/>
                </a:solidFill>
                <a:latin typeface="Aptos"/>
              </a:rPr>
              <a:t>  Fırsatlar ve Ön Koşullar</a:t>
            </a:r>
          </a:p>
        </p:txBody>
      </p:sp>
      <p:sp>
        <p:nvSpPr>
          <p:cNvPr id="31" name="Rounded Rectangle 30"/>
          <p:cNvSpPr/>
          <p:nvPr/>
        </p:nvSpPr>
        <p:spPr>
          <a:xfrm>
            <a:off x="640080" y="5440680"/>
            <a:ext cx="10881360" cy="7772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 y="5440680"/>
            <a:ext cx="54864" cy="7772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6112" y="5644634"/>
            <a:ext cx="10469880" cy="369332"/>
          </a:xfrm>
          <a:prstGeom prst="rect">
            <a:avLst/>
          </a:prstGeom>
          <a:noFill/>
        </p:spPr>
        <p:txBody>
          <a:bodyPr wrap="square" lIns="0" tIns="0" rIns="0" bIns="0" anchor="ctr">
            <a:spAutoFit/>
          </a:bodyPr>
          <a:lstStyle/>
          <a:p>
            <a:r>
              <a:rPr sz="1250" b="1" i="0" dirty="0" err="1">
                <a:solidFill>
                  <a:srgbClr val="044F49"/>
                </a:solidFill>
                <a:latin typeface="Aptos"/>
              </a:rPr>
              <a:t>Bu </a:t>
            </a:r>
            <a:r>
              <a:rPr sz="1250" b="1" i="0" dirty="0" err="1">
                <a:solidFill>
                  <a:srgbClr val="044F49"/>
                </a:solidFill>
                <a:latin typeface="Aptos"/>
              </a:rPr>
              <a:t>sunumun </a:t>
            </a:r>
            <a:r>
              <a:rPr sz="1250" b="1" i="0" dirty="0">
                <a:solidFill>
                  <a:srgbClr val="044F49"/>
                </a:solidFill>
                <a:latin typeface="Aptos"/>
              </a:rPr>
              <a:t>nasıl </a:t>
            </a:r>
            <a:r>
              <a:rPr sz="1250" b="1" i="0" dirty="0" err="1">
                <a:solidFill>
                  <a:srgbClr val="044F49"/>
                </a:solidFill>
                <a:latin typeface="Aptos"/>
              </a:rPr>
              <a:t>okunması</a:t>
            </a:r>
            <a:r>
              <a:rPr sz="1250" b="1" i="0" dirty="0" err="1">
                <a:solidFill>
                  <a:srgbClr val="044F49"/>
                </a:solidFill>
                <a:latin typeface="Aptos"/>
              </a:rPr>
              <a:t> </a:t>
            </a:r>
            <a:r>
              <a:rPr sz="1250" b="1" i="0" dirty="0" err="1">
                <a:solidFill>
                  <a:srgbClr val="044F49"/>
                </a:solidFill>
                <a:latin typeface="Aptos"/>
              </a:rPr>
              <a:t>gerektiği</a:t>
            </a:r>
            <a:r>
              <a:rPr sz="1250" b="1" i="0" dirty="0">
                <a:solidFill>
                  <a:srgbClr val="044F49"/>
                </a:solidFill>
                <a:latin typeface="Aptos"/>
              </a:rPr>
              <a:t>. </a:t>
            </a:r>
            <a:r>
              <a:rPr sz="1150" b="0" i="0" dirty="0">
                <a:solidFill>
                  <a:srgbClr val="33413D"/>
                </a:solidFill>
                <a:latin typeface="Aptos"/>
              </a:rPr>
              <a:t> 1Çatı, </a:t>
            </a:r>
            <a:r>
              <a:rPr sz="1150" b="0" i="0" dirty="0" err="1">
                <a:solidFill>
                  <a:srgbClr val="33413D"/>
                </a:solidFill>
                <a:latin typeface="Aptos"/>
              </a:rPr>
              <a:t>tamamen </a:t>
            </a:r>
            <a:r>
              <a:rPr sz="1150" b="0" i="0" dirty="0" err="1">
                <a:solidFill>
                  <a:srgbClr val="33413D"/>
                </a:solidFill>
                <a:latin typeface="Aptos"/>
              </a:rPr>
              <a:t>kullanılabilir </a:t>
            </a:r>
            <a:r>
              <a:rPr sz="1150" b="0" i="0" dirty="0" err="1">
                <a:solidFill>
                  <a:srgbClr val="33413D"/>
                </a:solidFill>
                <a:latin typeface="Aptos"/>
              </a:rPr>
              <a:t>bir tanıtım ortamı </a:t>
            </a:r>
            <a:r>
              <a:rPr sz="1150" b="0" i="0" dirty="0" err="1">
                <a:solidFill>
                  <a:srgbClr val="33413D"/>
                </a:solidFill>
                <a:latin typeface="Aptos"/>
              </a:rPr>
              <a:t>olarak </a:t>
            </a:r>
            <a:r>
              <a:rPr sz="1150" b="0" i="0" dirty="0" err="1">
                <a:solidFill>
                  <a:srgbClr val="33413D"/>
                </a:solidFill>
                <a:latin typeface="Aptos"/>
              </a:rPr>
              <a:t>sunulmaktadır</a:t>
            </a:r>
            <a:r>
              <a:rPr sz="1150" b="0" i="0" dirty="0">
                <a:solidFill>
                  <a:srgbClr val="33413D"/>
                </a:solidFill>
                <a:latin typeface="Aptos"/>
              </a:rPr>
              <a:t>. </a:t>
            </a:r>
            <a:r>
              <a:rPr sz="1150" b="0" i="0" dirty="0" err="1">
                <a:solidFill>
                  <a:srgbClr val="33413D"/>
                </a:solidFill>
                <a:latin typeface="Aptos"/>
              </a:rPr>
              <a:t>Her </a:t>
            </a:r>
            <a:r>
              <a:rPr sz="1150" b="0" i="0" dirty="0" err="1">
                <a:solidFill>
                  <a:srgbClr val="33413D"/>
                </a:solidFill>
                <a:latin typeface="Aptos"/>
              </a:rPr>
              <a:t>işlev </a:t>
            </a:r>
            <a:r>
              <a:rPr sz="1150" b="0" i="0" dirty="0" err="1">
                <a:solidFill>
                  <a:srgbClr val="33413D"/>
                </a:solidFill>
                <a:latin typeface="Aptos"/>
              </a:rPr>
              <a:t>bir </a:t>
            </a:r>
            <a:r>
              <a:rPr sz="1150" b="0" i="0" dirty="0">
                <a:solidFill>
                  <a:srgbClr val="33413D"/>
                </a:solidFill>
                <a:latin typeface="Aptos"/>
              </a:rPr>
              <a:t>durum işaret</a:t>
            </a:r>
            <a:r>
              <a:rPr sz="1150" b="0" i="0" dirty="0" err="1">
                <a:solidFill>
                  <a:srgbClr val="33413D"/>
                </a:solidFill>
                <a:latin typeface="Aptos"/>
              </a:rPr>
              <a:t>iyle </a:t>
            </a:r>
            <a:r>
              <a:rPr sz="1150" b="0" i="0" dirty="0" err="1">
                <a:solidFill>
                  <a:srgbClr val="33413D"/>
                </a:solidFill>
                <a:latin typeface="Aptos"/>
              </a:rPr>
              <a:t>belirtilmiştir</a:t>
            </a:r>
            <a:r>
              <a:rPr lang="de-DE" sz="1150" b="0" i="0" dirty="0">
                <a:solidFill>
                  <a:srgbClr val="33413D"/>
                </a:solidFill>
                <a:latin typeface="Aptos"/>
              </a:rPr>
              <a:t>; </a:t>
            </a:r>
            <a:r>
              <a:rPr sz="1150" b="0" i="0" dirty="0">
                <a:solidFill>
                  <a:srgbClr val="33413D"/>
                </a:solidFill>
                <a:latin typeface="Aptos"/>
              </a:rPr>
              <a:t>böylece </a:t>
            </a:r>
            <a:r>
              <a:rPr sz="1150" b="0" i="0" dirty="0" err="1">
                <a:solidFill>
                  <a:srgbClr val="33413D"/>
                </a:solidFill>
                <a:latin typeface="Aptos"/>
              </a:rPr>
              <a:t>bugün</a:t>
            </a:r>
            <a:r>
              <a:rPr sz="1150" b="0" i="0" dirty="0">
                <a:solidFill>
                  <a:srgbClr val="33413D"/>
                </a:solidFill>
                <a:latin typeface="Aptos"/>
              </a:rPr>
              <a:t> nelerin </a:t>
            </a:r>
            <a:r>
              <a:rPr sz="1150" b="0" i="0" dirty="0" err="1">
                <a:solidFill>
                  <a:srgbClr val="33413D"/>
                </a:solidFill>
                <a:latin typeface="Aptos"/>
              </a:rPr>
              <a:t>kullanılabilir </a:t>
            </a:r>
            <a:r>
              <a:rPr sz="1150" b="0" i="0" dirty="0" err="1">
                <a:solidFill>
                  <a:srgbClr val="33413D"/>
                </a:solidFill>
                <a:latin typeface="Aptos"/>
              </a:rPr>
              <a:t>olduğu </a:t>
            </a:r>
            <a:r>
              <a:rPr sz="1150" b="0" i="0" dirty="0">
                <a:solidFill>
                  <a:srgbClr val="33413D"/>
                </a:solidFill>
                <a:latin typeface="Aptos"/>
              </a:rPr>
              <a:t>ve hangilerinin </a:t>
            </a:r>
            <a:r>
              <a:rPr sz="1150" b="0" i="0" dirty="0" err="1">
                <a:solidFill>
                  <a:srgbClr val="33413D"/>
                </a:solidFill>
                <a:latin typeface="Aptos"/>
              </a:rPr>
              <a:t>üretim</a:t>
            </a:r>
            <a:r>
              <a:rPr sz="1150" b="0" i="0" dirty="0">
                <a:solidFill>
                  <a:srgbClr val="33413D"/>
                </a:solidFill>
                <a:latin typeface="Aptos"/>
              </a:rPr>
              <a:t> ortamında </a:t>
            </a:r>
            <a:r>
              <a:rPr sz="1150" b="0" i="0" dirty="0" err="1">
                <a:solidFill>
                  <a:srgbClr val="33413D"/>
                </a:solidFill>
                <a:latin typeface="Aptos"/>
              </a:rPr>
              <a:t>etkinleştirileceği </a:t>
            </a:r>
            <a:r>
              <a:rPr sz="1150" b="0" i="0" dirty="0" err="1">
                <a:solidFill>
                  <a:srgbClr val="33413D"/>
                </a:solidFill>
                <a:latin typeface="Aptos"/>
              </a:rPr>
              <a:t>açıkça </a:t>
            </a:r>
            <a:r>
              <a:rPr sz="1150" b="0" i="0" dirty="0" err="1">
                <a:solidFill>
                  <a:srgbClr val="33413D"/>
                </a:solidFill>
                <a:latin typeface="Aptos"/>
              </a:rPr>
              <a:t>anlaşılmaktadır</a:t>
            </a:r>
            <a:r>
              <a:rPr sz="1150" b="0" i="0" dirty="0">
                <a:solidFill>
                  <a:srgbClr val="33413D"/>
                </a:solidFill>
                <a:latin typeface="Aptos"/>
              </a:rPr>
              <a:t>.</a:t>
            </a:r>
          </a:p>
        </p:txBody>
      </p:sp>
      <p:sp>
        <p:nvSpPr>
          <p:cNvPr id="34" name="TextBox 3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adına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35" name="TextBox 3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a:t>
            </a:r>
          </a:p>
        </p:txBody>
      </p:sp>
      <p:pic>
        <p:nvPicPr>
          <p:cNvPr id="36" name="Picture 3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ÖRNEK PROJE</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New Level Premium </a:t>
            </a:r>
            <a:r>
              <a:rPr lang="de-DE" sz="2700" b="1" i="0" dirty="0">
                <a:solidFill>
                  <a:srgbClr val="044F49"/>
                </a:solidFill>
                <a:latin typeface="Aptos"/>
              </a:rPr>
              <a:t>- </a:t>
            </a:r>
            <a:r>
              <a:rPr sz="2700" b="1" i="0" dirty="0" err="1">
                <a:solidFill>
                  <a:srgbClr val="044F49"/>
                </a:solidFill>
                <a:latin typeface="Aptos"/>
              </a:rPr>
              <a:t>Avsallar </a:t>
            </a:r>
            <a:r>
              <a:rPr sz="2700" b="1" i="0" dirty="0">
                <a:solidFill>
                  <a:srgbClr val="044F49"/>
                </a:solidFill>
                <a:latin typeface="Aptos"/>
              </a:rPr>
              <a:t>/ Alanya</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481328"/>
            <a:ext cx="10881360" cy="176972"/>
          </a:xfrm>
          <a:prstGeom prst="rect">
            <a:avLst/>
          </a:prstGeom>
          <a:noFill/>
        </p:spPr>
        <p:txBody>
          <a:bodyPr wrap="square" lIns="0" tIns="0" rIns="0" bIns="0" anchor="t">
            <a:spAutoFit/>
          </a:bodyPr>
          <a:lstStyle/>
          <a:p>
            <a:pPr>
              <a:spcAft>
                <a:spcPts val="600"/>
              </a:spcAft>
            </a:pPr>
            <a:r>
              <a:rPr sz="1150" i="0" dirty="0" err="1">
                <a:solidFill>
                  <a:srgbClr val="33413D"/>
                </a:solidFill>
                <a:latin typeface="Aptos"/>
              </a:rPr>
              <a:t>Deniz manzaralı</a:t>
            </a:r>
            <a:r>
              <a:rPr lang="de-DE" sz="1150" i="0" dirty="0">
                <a:solidFill>
                  <a:srgbClr val="33413D"/>
                </a:solidFill>
                <a:latin typeface="Aptos"/>
              </a:rPr>
              <a:t>, </a:t>
            </a:r>
            <a:r>
              <a:rPr sz="1150" i="0" dirty="0" err="1">
                <a:solidFill>
                  <a:srgbClr val="33413D"/>
                </a:solidFill>
                <a:latin typeface="Aptos"/>
              </a:rPr>
              <a:t>ormanlık </a:t>
            </a:r>
            <a:r>
              <a:rPr sz="1150" i="0" dirty="0" err="1">
                <a:solidFill>
                  <a:srgbClr val="33413D"/>
                </a:solidFill>
                <a:latin typeface="Aptos"/>
              </a:rPr>
              <a:t>bir yamaçta</a:t>
            </a:r>
            <a:r>
              <a:rPr sz="1150" i="0" dirty="0">
                <a:solidFill>
                  <a:srgbClr val="33413D"/>
                </a:solidFill>
                <a:latin typeface="Aptos"/>
              </a:rPr>
              <a:t> yer alan</a:t>
            </a:r>
            <a:r>
              <a:rPr sz="1150" i="0" dirty="0">
                <a:solidFill>
                  <a:srgbClr val="33413D"/>
                </a:solidFill>
                <a:latin typeface="Aptos"/>
              </a:rPr>
              <a:t> 769 </a:t>
            </a:r>
            <a:r>
              <a:rPr sz="1150" i="0" dirty="0" err="1">
                <a:solidFill>
                  <a:srgbClr val="33413D"/>
                </a:solidFill>
                <a:latin typeface="Aptos"/>
              </a:rPr>
              <a:t>konut biriminden</a:t>
            </a:r>
            <a:r>
              <a:rPr sz="1150" i="0" dirty="0" err="1">
                <a:solidFill>
                  <a:srgbClr val="33413D"/>
                </a:solidFill>
                <a:latin typeface="Aptos"/>
              </a:rPr>
              <a:t> oluşan </a:t>
            </a:r>
            <a:r>
              <a:rPr sz="1150" i="0" dirty="0">
                <a:solidFill>
                  <a:srgbClr val="33413D"/>
                </a:solidFill>
                <a:latin typeface="Aptos"/>
              </a:rPr>
              <a:t>yeni bir </a:t>
            </a:r>
            <a:r>
              <a:rPr sz="1150" i="0" dirty="0" err="1">
                <a:solidFill>
                  <a:srgbClr val="33413D"/>
                </a:solidFill>
                <a:latin typeface="Aptos"/>
              </a:rPr>
              <a:t>inşaat projesi </a:t>
            </a:r>
            <a:r>
              <a:rPr lang="de-DE" sz="1150" i="0" dirty="0">
                <a:solidFill>
                  <a:srgbClr val="33413D"/>
                </a:solidFill>
                <a:latin typeface="Aptos"/>
              </a:rPr>
              <a:t>–</a:t>
            </a:r>
            <a:r>
              <a:rPr sz="1150" i="0" dirty="0">
                <a:solidFill>
                  <a:srgbClr val="33413D"/>
                </a:solidFill>
                <a:latin typeface="Aptos"/>
              </a:rPr>
              <a:t> 1Çatı'nın </a:t>
            </a:r>
            <a:r>
              <a:rPr sz="1150" i="0" dirty="0" err="1">
                <a:solidFill>
                  <a:srgbClr val="33413D"/>
                </a:solidFill>
                <a:latin typeface="Aptos"/>
              </a:rPr>
              <a:t>geliştirildiği </a:t>
            </a:r>
            <a:r>
              <a:rPr sz="1150" i="0" dirty="0" err="1">
                <a:solidFill>
                  <a:srgbClr val="33413D"/>
                </a:solidFill>
                <a:latin typeface="Aptos"/>
              </a:rPr>
              <a:t>referans proje</a:t>
            </a:r>
            <a:r>
              <a:rPr sz="1150" i="0" dirty="0">
                <a:solidFill>
                  <a:srgbClr val="33413D"/>
                </a:solidFill>
                <a:latin typeface="Aptos"/>
              </a:rPr>
              <a:t>.</a:t>
            </a:r>
          </a:p>
        </p:txBody>
      </p:sp>
      <p:pic>
        <p:nvPicPr>
          <p:cNvPr id="10" name="Picture 9" descr="oben.jpg"/>
          <p:cNvPicPr>
            <a:picLocks noChangeAspect="1"/>
          </p:cNvPicPr>
          <p:nvPr/>
        </p:nvPicPr>
        <p:blipFill>
          <a:blip r:embed="rId3"/>
          <a:stretch>
            <a:fillRect/>
          </a:stretch>
        </p:blipFill>
        <p:spPr>
          <a:xfrm>
            <a:off x="640080" y="2057400"/>
            <a:ext cx="5321808" cy="2990088"/>
          </a:xfrm>
          <a:prstGeom prst="rect">
            <a:avLst/>
          </a:prstGeom>
          <a:ln w="12700">
            <a:solidFill>
              <a:srgbClr val="DAE3E0"/>
            </a:solidFill>
          </a:ln>
        </p:spPr>
      </p:pic>
      <p:pic>
        <p:nvPicPr>
          <p:cNvPr id="11" name="Picture 10" descr="seite.jpg"/>
          <p:cNvPicPr>
            <a:picLocks noChangeAspect="1"/>
          </p:cNvPicPr>
          <p:nvPr/>
        </p:nvPicPr>
        <p:blipFill>
          <a:blip r:embed="rId4"/>
          <a:stretch>
            <a:fillRect/>
          </a:stretch>
        </p:blipFill>
        <p:spPr>
          <a:xfrm>
            <a:off x="6190488" y="2057400"/>
            <a:ext cx="5321808" cy="2990088"/>
          </a:xfrm>
          <a:prstGeom prst="rect">
            <a:avLst/>
          </a:prstGeom>
          <a:ln w="12700">
            <a:solidFill>
              <a:srgbClr val="DAE3E0"/>
            </a:solidFill>
          </a:ln>
        </p:spPr>
      </p:pic>
      <p:sp>
        <p:nvSpPr>
          <p:cNvPr id="12" name="TextBox 11"/>
          <p:cNvSpPr txBox="1"/>
          <p:nvPr/>
        </p:nvSpPr>
        <p:spPr>
          <a:xfrm>
            <a:off x="640080" y="5120640"/>
            <a:ext cx="5321808" cy="146194"/>
          </a:xfrm>
          <a:prstGeom prst="rect">
            <a:avLst/>
          </a:prstGeom>
          <a:noFill/>
        </p:spPr>
        <p:txBody>
          <a:bodyPr wrap="square" lIns="0" tIns="0" rIns="0" bIns="0" anchor="t">
            <a:spAutoFit/>
          </a:bodyPr>
          <a:lstStyle/>
          <a:p>
            <a:r>
              <a:rPr sz="950" b="0" i="1" dirty="0">
                <a:solidFill>
                  <a:srgbClr val="64716D"/>
                </a:solidFill>
                <a:latin typeface="Aptos"/>
              </a:rPr>
              <a:t>Kompleksin </a:t>
            </a:r>
            <a:r>
              <a:rPr sz="950" b="0" i="1" dirty="0" err="1">
                <a:solidFill>
                  <a:srgbClr val="64716D"/>
                </a:solidFill>
                <a:latin typeface="Aptos"/>
              </a:rPr>
              <a:t>kuşbakışı</a:t>
            </a:r>
            <a:r>
              <a:rPr sz="950" b="0" i="1" dirty="0">
                <a:solidFill>
                  <a:srgbClr val="64716D"/>
                </a:solidFill>
                <a:latin typeface="Aptos"/>
              </a:rPr>
              <a:t> görünümü </a:t>
            </a:r>
            <a:r>
              <a:rPr lang="de-DE" sz="950" b="0" i="1" dirty="0">
                <a:solidFill>
                  <a:srgbClr val="64716D"/>
                </a:solidFill>
                <a:latin typeface="Aptos"/>
              </a:rPr>
              <a:t>– </a:t>
            </a:r>
            <a:r>
              <a:rPr sz="950" b="0" i="1" dirty="0" err="1">
                <a:solidFill>
                  <a:srgbClr val="64716D"/>
                </a:solidFill>
                <a:latin typeface="Aptos"/>
              </a:rPr>
              <a:t>blok yapısı</a:t>
            </a:r>
            <a:r>
              <a:rPr sz="950" b="0" i="1" dirty="0">
                <a:solidFill>
                  <a:srgbClr val="64716D"/>
                </a:solidFill>
                <a:latin typeface="Aptos"/>
              </a:rPr>
              <a:t>, havuzlar ve </a:t>
            </a:r>
            <a:r>
              <a:rPr sz="950" b="0" i="1" dirty="0" err="1">
                <a:solidFill>
                  <a:srgbClr val="64716D"/>
                </a:solidFill>
                <a:latin typeface="Aptos"/>
              </a:rPr>
              <a:t>spor tesisleri</a:t>
            </a:r>
            <a:r>
              <a:rPr sz="950" b="0" i="1" dirty="0">
                <a:solidFill>
                  <a:srgbClr val="64716D"/>
                </a:solidFill>
                <a:latin typeface="Aptos"/>
              </a:rPr>
              <a:t>.</a:t>
            </a:r>
          </a:p>
        </p:txBody>
      </p:sp>
      <p:sp>
        <p:nvSpPr>
          <p:cNvPr id="13" name="TextBox 12"/>
          <p:cNvSpPr txBox="1"/>
          <p:nvPr/>
        </p:nvSpPr>
        <p:spPr>
          <a:xfrm>
            <a:off x="6190488" y="5120640"/>
            <a:ext cx="5321808" cy="146194"/>
          </a:xfrm>
          <a:prstGeom prst="rect">
            <a:avLst/>
          </a:prstGeom>
          <a:noFill/>
        </p:spPr>
        <p:txBody>
          <a:bodyPr wrap="square" lIns="0" tIns="0" rIns="0" bIns="0" anchor="t">
            <a:spAutoFit/>
          </a:bodyPr>
          <a:lstStyle/>
          <a:p>
            <a:r>
              <a:rPr sz="950" b="0" i="1" dirty="0" err="1">
                <a:solidFill>
                  <a:srgbClr val="64716D"/>
                </a:solidFill>
                <a:latin typeface="Aptos"/>
              </a:rPr>
              <a:t>Deniz </a:t>
            </a:r>
            <a:r>
              <a:rPr sz="950" b="0" i="1" dirty="0" err="1">
                <a:solidFill>
                  <a:srgbClr val="64716D"/>
                </a:solidFill>
                <a:latin typeface="Aptos"/>
              </a:rPr>
              <a:t>manzaralı </a:t>
            </a:r>
            <a:r>
              <a:rPr sz="950" b="0" i="1" dirty="0" err="1">
                <a:solidFill>
                  <a:srgbClr val="64716D"/>
                </a:solidFill>
                <a:latin typeface="Aptos"/>
              </a:rPr>
              <a:t>yan görünüm </a:t>
            </a:r>
            <a:r>
              <a:rPr lang="de-DE" sz="950" b="0" i="1" dirty="0">
                <a:solidFill>
                  <a:srgbClr val="64716D"/>
                </a:solidFill>
                <a:latin typeface="Aptos"/>
              </a:rPr>
              <a:t>- </a:t>
            </a:r>
            <a:r>
              <a:rPr sz="950" b="0" i="1" dirty="0" err="1">
                <a:solidFill>
                  <a:srgbClr val="64716D"/>
                </a:solidFill>
                <a:latin typeface="Aptos"/>
              </a:rPr>
              <a:t>çam ağaçlarıyla</a:t>
            </a:r>
            <a:r>
              <a:rPr sz="950" b="0" i="1" dirty="0">
                <a:solidFill>
                  <a:srgbClr val="64716D"/>
                </a:solidFill>
                <a:latin typeface="Aptos"/>
              </a:rPr>
              <a:t> çevrili </a:t>
            </a:r>
            <a:r>
              <a:rPr sz="950" b="0" i="1" dirty="0" err="1">
                <a:solidFill>
                  <a:srgbClr val="64716D"/>
                </a:solidFill>
                <a:latin typeface="Aptos"/>
              </a:rPr>
              <a:t>konut</a:t>
            </a:r>
            <a:r>
              <a:rPr sz="950" b="0" i="1" dirty="0">
                <a:solidFill>
                  <a:srgbClr val="64716D"/>
                </a:solidFill>
                <a:latin typeface="Aptos"/>
              </a:rPr>
              <a:t> kuleleri</a:t>
            </a:r>
            <a:r>
              <a:rPr sz="950" b="0" i="1" dirty="0">
                <a:solidFill>
                  <a:srgbClr val="64716D"/>
                </a:solidFill>
                <a:latin typeface="Aptos"/>
              </a:rPr>
              <a:t>.</a:t>
            </a:r>
          </a:p>
        </p:txBody>
      </p:sp>
      <p:sp>
        <p:nvSpPr>
          <p:cNvPr id="14" name="Rounded Rectangle 13"/>
          <p:cNvSpPr/>
          <p:nvPr/>
        </p:nvSpPr>
        <p:spPr>
          <a:xfrm>
            <a:off x="640080" y="5715000"/>
            <a:ext cx="10881360" cy="50292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5715000"/>
            <a:ext cx="54864" cy="50292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5843016"/>
            <a:ext cx="10469880" cy="246888"/>
          </a:xfrm>
          <a:prstGeom prst="rect">
            <a:avLst/>
          </a:prstGeom>
          <a:noFill/>
        </p:spPr>
        <p:txBody>
          <a:bodyPr wrap="square" lIns="0" tIns="0" rIns="0" bIns="0" anchor="ctr">
            <a:spAutoFit/>
          </a:bodyPr>
          <a:lstStyle/>
          <a:p>
            <a:r>
              <a:rPr sz="1250" b="1" i="0">
                <a:solidFill>
                  <a:srgbClr val="044F49"/>
                </a:solidFill>
                <a:latin typeface="Aptos"/>
              </a:rPr>
              <a:t>769 konut birimi. </a:t>
            </a:r>
            <a:r>
              <a:rPr sz="1150" b="0" i="0">
                <a:solidFill>
                  <a:srgbClr val="33413D"/>
                </a:solidFill>
                <a:latin typeface="Aptos"/>
              </a:rPr>
              <a:t> 1Çatı, bu portföy için satış, mal sahipleri ve kiracılar, finans, hizmet ve iletişimi tek bir platformda birleştiriyor.</a:t>
            </a:r>
          </a:p>
        </p:txBody>
      </p:sp>
      <p:sp>
        <p:nvSpPr>
          <p:cNvPr id="17" name="TextBox 16"/>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8" name="TextBox 17"/>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a:t>
            </a:r>
          </a:p>
        </p:txBody>
      </p:sp>
      <p:pic>
        <p:nvPicPr>
          <p:cNvPr id="19" name="Picture 18" descr="logo.png"/>
          <p:cNvPicPr>
            <a:picLocks noChangeAspect="1"/>
          </p:cNvPicPr>
          <p:nvPr/>
        </p:nvPicPr>
        <p:blipFill>
          <a:blip r:embed="rId5"/>
          <a:stretch>
            <a:fillRect/>
          </a:stretch>
        </p:blipFill>
        <p:spPr>
          <a:xfrm>
            <a:off x="10744200" y="6382512"/>
            <a:ext cx="310896" cy="3108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01</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Yönetim Özeti</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600200"/>
            <a:ext cx="10881360" cy="530915"/>
          </a:xfrm>
          <a:prstGeom prst="rect">
            <a:avLst/>
          </a:prstGeom>
          <a:noFill/>
        </p:spPr>
        <p:txBody>
          <a:bodyPr wrap="square" lIns="0" tIns="0" rIns="0" bIns="0" anchor="t">
            <a:spAutoFit/>
          </a:bodyPr>
          <a:lstStyle/>
          <a:p>
            <a:pPr>
              <a:spcAft>
                <a:spcPts val="600"/>
              </a:spcAft>
            </a:pPr>
            <a:r>
              <a:rPr sz="1150" i="0" dirty="0">
                <a:solidFill>
                  <a:srgbClr val="33413D"/>
                </a:solidFill>
                <a:latin typeface="Aptos"/>
              </a:rPr>
              <a:t>1Çatı (“Bir Çatı”), </a:t>
            </a:r>
            <a:r>
              <a:rPr sz="1150" i="0" dirty="0" err="1">
                <a:solidFill>
                  <a:srgbClr val="33413D"/>
                </a:solidFill>
                <a:latin typeface="Aptos"/>
              </a:rPr>
              <a:t>Ataberk</a:t>
            </a:r>
            <a:r>
              <a:rPr sz="1150" i="0" dirty="0">
                <a:solidFill>
                  <a:srgbClr val="33413D"/>
                </a:solidFill>
                <a:latin typeface="Aptos"/>
              </a:rPr>
              <a:t> </a:t>
            </a:r>
            <a:r>
              <a:rPr sz="1150" i="0" dirty="0">
                <a:solidFill>
                  <a:srgbClr val="33413D"/>
                </a:solidFill>
                <a:latin typeface="Aptos"/>
              </a:rPr>
              <a:t>Estate</a:t>
            </a:r>
            <a:r>
              <a:rPr sz="1150" i="0" dirty="0">
                <a:solidFill>
                  <a:srgbClr val="33413D"/>
                </a:solidFill>
                <a:latin typeface="Aptos"/>
              </a:rPr>
              <a:t>’in </a:t>
            </a:r>
            <a:r>
              <a:rPr sz="1150" i="0" dirty="0" err="1">
                <a:solidFill>
                  <a:srgbClr val="33413D"/>
                </a:solidFill>
                <a:latin typeface="Aptos"/>
              </a:rPr>
              <a:t>tüm </a:t>
            </a:r>
            <a:r>
              <a:rPr sz="1150" i="0" dirty="0" err="1">
                <a:solidFill>
                  <a:srgbClr val="33413D"/>
                </a:solidFill>
                <a:latin typeface="Aptos"/>
              </a:rPr>
              <a:t>gayrimenkul faaliyetlerini </a:t>
            </a:r>
            <a:r>
              <a:rPr sz="1150" i="0" dirty="0" err="1">
                <a:solidFill>
                  <a:srgbClr val="33413D"/>
                </a:solidFill>
                <a:latin typeface="Aptos"/>
              </a:rPr>
              <a:t>tek bir</a:t>
            </a:r>
            <a:r>
              <a:rPr sz="1150" i="0" dirty="0">
                <a:solidFill>
                  <a:srgbClr val="33413D"/>
                </a:solidFill>
                <a:latin typeface="Aptos"/>
              </a:rPr>
              <a:t> </a:t>
            </a:r>
            <a:r>
              <a:rPr sz="1150" i="0" dirty="0">
                <a:solidFill>
                  <a:srgbClr val="33413D"/>
                </a:solidFill>
                <a:latin typeface="Aptos"/>
              </a:rPr>
              <a:t>yerde </a:t>
            </a:r>
            <a:r>
              <a:rPr sz="1150" i="0" dirty="0" err="1">
                <a:solidFill>
                  <a:srgbClr val="33413D"/>
                </a:solidFill>
                <a:latin typeface="Aptos"/>
              </a:rPr>
              <a:t>bir araya getiriyor </a:t>
            </a:r>
            <a:r>
              <a:rPr lang="de-DE" sz="1150" i="0" dirty="0">
                <a:solidFill>
                  <a:srgbClr val="33413D"/>
                </a:solidFill>
                <a:latin typeface="Aptos"/>
              </a:rPr>
              <a:t>– </a:t>
            </a:r>
            <a:r>
              <a:rPr sz="1150" i="0" dirty="0">
                <a:solidFill>
                  <a:srgbClr val="33413D"/>
                </a:solidFill>
                <a:latin typeface="Aptos"/>
              </a:rPr>
              <a:t>Avsallar/Alanya</a:t>
            </a:r>
            <a:r>
              <a:rPr sz="1150" i="0" dirty="0">
                <a:solidFill>
                  <a:srgbClr val="33413D"/>
                </a:solidFill>
                <a:latin typeface="Aptos"/>
              </a:rPr>
              <a:t>’da</a:t>
            </a:r>
            <a:r>
              <a:rPr sz="1150" i="0" dirty="0">
                <a:solidFill>
                  <a:srgbClr val="33413D"/>
                </a:solidFill>
                <a:latin typeface="Aptos"/>
              </a:rPr>
              <a:t> 769 </a:t>
            </a:r>
            <a:r>
              <a:rPr sz="1150" i="0" dirty="0" err="1">
                <a:solidFill>
                  <a:srgbClr val="33413D"/>
                </a:solidFill>
                <a:latin typeface="Aptos"/>
              </a:rPr>
              <a:t>konut biriminden</a:t>
            </a:r>
            <a:r>
              <a:rPr sz="1150" i="0" dirty="0" err="1">
                <a:solidFill>
                  <a:srgbClr val="33413D"/>
                </a:solidFill>
                <a:latin typeface="Aptos"/>
              </a:rPr>
              <a:t> oluşan </a:t>
            </a:r>
            <a:r>
              <a:rPr sz="1150" i="0" dirty="0">
                <a:solidFill>
                  <a:srgbClr val="33413D"/>
                </a:solidFill>
                <a:latin typeface="Aptos"/>
              </a:rPr>
              <a:t>New Level Premium projesi için </a:t>
            </a:r>
            <a:r>
              <a:rPr sz="1150" i="0" dirty="0" err="1">
                <a:solidFill>
                  <a:srgbClr val="33413D"/>
                </a:solidFill>
                <a:latin typeface="Aptos"/>
              </a:rPr>
              <a:t>geliştirilmiştir</a:t>
            </a:r>
            <a:r>
              <a:rPr sz="1150" i="0" dirty="0">
                <a:solidFill>
                  <a:srgbClr val="33413D"/>
                </a:solidFill>
                <a:latin typeface="Aptos"/>
              </a:rPr>
              <a:t>. </a:t>
            </a:r>
            <a:r>
              <a:rPr sz="1150" i="0" dirty="0" err="1">
                <a:solidFill>
                  <a:srgbClr val="33413D"/>
                </a:solidFill>
                <a:latin typeface="Aptos"/>
              </a:rPr>
              <a:t>Şimdiye kadar </a:t>
            </a:r>
            <a:r>
              <a:rPr sz="1150" i="0" dirty="0">
                <a:solidFill>
                  <a:srgbClr val="33413D"/>
                </a:solidFill>
                <a:latin typeface="Aptos"/>
              </a:rPr>
              <a:t>Excel listeleri, WhatsApp ve </a:t>
            </a:r>
            <a:r>
              <a:rPr sz="1150" i="0" dirty="0" err="1">
                <a:solidFill>
                  <a:srgbClr val="33413D"/>
                </a:solidFill>
                <a:latin typeface="Aptos"/>
              </a:rPr>
              <a:t>yerinde görüşmeler </a:t>
            </a:r>
            <a:r>
              <a:rPr sz="1150" i="0" dirty="0" err="1">
                <a:solidFill>
                  <a:srgbClr val="33413D"/>
                </a:solidFill>
                <a:latin typeface="Aptos"/>
              </a:rPr>
              <a:t>yoluyla </a:t>
            </a:r>
            <a:r>
              <a:rPr sz="1150" i="0" dirty="0" err="1">
                <a:solidFill>
                  <a:srgbClr val="33413D"/>
                </a:solidFill>
                <a:latin typeface="Aptos"/>
              </a:rPr>
              <a:t>yürütülen</a:t>
            </a:r>
            <a:r>
              <a:rPr sz="1150" i="0" dirty="0" err="1">
                <a:solidFill>
                  <a:srgbClr val="33413D"/>
                </a:solidFill>
                <a:latin typeface="Aptos"/>
              </a:rPr>
              <a:t> koordinasyon</a:t>
            </a:r>
            <a:r>
              <a:rPr sz="1150" i="0" dirty="0">
                <a:solidFill>
                  <a:srgbClr val="33413D"/>
                </a:solidFill>
                <a:latin typeface="Aptos"/>
              </a:rPr>
              <a:t>, </a:t>
            </a:r>
            <a:r>
              <a:rPr sz="1150" i="0" dirty="0" err="1">
                <a:solidFill>
                  <a:srgbClr val="33413D"/>
                </a:solidFill>
                <a:latin typeface="Aptos"/>
              </a:rPr>
              <a:t>mülk sahipleri</a:t>
            </a:r>
            <a:r>
              <a:rPr sz="1150" i="0" dirty="0">
                <a:solidFill>
                  <a:srgbClr val="33413D"/>
                </a:solidFill>
                <a:latin typeface="Aptos"/>
              </a:rPr>
              <a:t>, </a:t>
            </a:r>
            <a:r>
              <a:rPr sz="1150" i="0" dirty="0" err="1">
                <a:solidFill>
                  <a:srgbClr val="33413D"/>
                </a:solidFill>
                <a:latin typeface="Aptos"/>
              </a:rPr>
              <a:t>kiracılar</a:t>
            </a:r>
            <a:r>
              <a:rPr sz="1150" i="0" dirty="0">
                <a:solidFill>
                  <a:srgbClr val="33413D"/>
                </a:solidFill>
                <a:latin typeface="Aptos"/>
              </a:rPr>
              <a:t>, personel, </a:t>
            </a:r>
            <a:r>
              <a:rPr sz="1150" i="0" dirty="0" err="1">
                <a:solidFill>
                  <a:srgbClr val="33413D"/>
                </a:solidFill>
                <a:latin typeface="Aptos"/>
              </a:rPr>
              <a:t>muhasebe </a:t>
            </a:r>
            <a:r>
              <a:rPr sz="1150" i="0" dirty="0">
                <a:solidFill>
                  <a:srgbClr val="33413D"/>
                </a:solidFill>
                <a:latin typeface="Aptos"/>
              </a:rPr>
              <a:t>ve </a:t>
            </a:r>
            <a:r>
              <a:rPr sz="1150" i="0" dirty="0" err="1">
                <a:solidFill>
                  <a:srgbClr val="33413D"/>
                </a:solidFill>
                <a:latin typeface="Aptos"/>
              </a:rPr>
              <a:t>yönetim </a:t>
            </a:r>
            <a:r>
              <a:rPr sz="1150" i="0" dirty="0">
                <a:solidFill>
                  <a:srgbClr val="33413D"/>
                </a:solidFill>
                <a:latin typeface="Aptos"/>
              </a:rPr>
              <a:t>için </a:t>
            </a:r>
            <a:r>
              <a:rPr sz="1150" b="1" i="0" dirty="0" err="1">
                <a:solidFill>
                  <a:srgbClr val="33413D"/>
                </a:solidFill>
                <a:latin typeface="Aptos"/>
              </a:rPr>
              <a:t>rol tabanlı</a:t>
            </a:r>
            <a:r>
              <a:rPr sz="1150" b="1" i="0" dirty="0">
                <a:solidFill>
                  <a:srgbClr val="33413D"/>
                </a:solidFill>
                <a:latin typeface="Aptos"/>
              </a:rPr>
              <a:t>, </a:t>
            </a:r>
            <a:r>
              <a:rPr sz="1150" b="1" i="0" dirty="0" err="1">
                <a:solidFill>
                  <a:srgbClr val="33413D"/>
                </a:solidFill>
                <a:latin typeface="Aptos"/>
              </a:rPr>
              <a:t>dört dilli </a:t>
            </a:r>
            <a:r>
              <a:rPr sz="1150" i="0" dirty="0">
                <a:solidFill>
                  <a:srgbClr val="33413D"/>
                </a:solidFill>
                <a:latin typeface="Aptos"/>
              </a:rPr>
              <a:t>(</a:t>
            </a:r>
            <a:r>
              <a:rPr sz="1150" i="0" dirty="0" err="1">
                <a:solidFill>
                  <a:srgbClr val="33413D"/>
                </a:solidFill>
                <a:latin typeface="Aptos"/>
              </a:rPr>
              <a:t>Türkçe</a:t>
            </a:r>
            <a:r>
              <a:rPr sz="1150" i="0" dirty="0">
                <a:solidFill>
                  <a:srgbClr val="33413D"/>
                </a:solidFill>
                <a:latin typeface="Aptos"/>
              </a:rPr>
              <a:t>, İngilizce, Almanca, </a:t>
            </a:r>
            <a:r>
              <a:rPr sz="1150" i="0" dirty="0" err="1">
                <a:solidFill>
                  <a:srgbClr val="33413D"/>
                </a:solidFill>
                <a:latin typeface="Aptos"/>
              </a:rPr>
              <a:t>Rusça</a:t>
            </a:r>
            <a:r>
              <a:rPr sz="1150" i="0" dirty="0">
                <a:solidFill>
                  <a:srgbClr val="33413D"/>
                </a:solidFill>
                <a:latin typeface="Aptos"/>
              </a:rPr>
              <a:t>) </a:t>
            </a:r>
            <a:r>
              <a:rPr sz="1150" i="0" dirty="0" err="1">
                <a:solidFill>
                  <a:srgbClr val="33413D"/>
                </a:solidFill>
                <a:latin typeface="Aptos"/>
              </a:rPr>
              <a:t>bir </a:t>
            </a:r>
            <a:r>
              <a:rPr sz="1150" b="1" i="0" dirty="0" err="1">
                <a:solidFill>
                  <a:srgbClr val="33413D"/>
                </a:solidFill>
                <a:latin typeface="Aptos"/>
              </a:rPr>
              <a:t>işletim sistemi </a:t>
            </a:r>
            <a:r>
              <a:rPr sz="1150" i="0" dirty="0" err="1">
                <a:solidFill>
                  <a:srgbClr val="33413D"/>
                </a:solidFill>
                <a:latin typeface="Aptos"/>
              </a:rPr>
              <a:t>ile </a:t>
            </a:r>
            <a:r>
              <a:rPr sz="1150" i="0" dirty="0" err="1">
                <a:solidFill>
                  <a:srgbClr val="33413D"/>
                </a:solidFill>
                <a:latin typeface="Aptos"/>
              </a:rPr>
              <a:t>değiştirilmiştir</a:t>
            </a:r>
            <a:r>
              <a:rPr sz="1150" i="0" dirty="0">
                <a:solidFill>
                  <a:srgbClr val="33413D"/>
                </a:solidFill>
                <a:latin typeface="Aptos"/>
              </a:rPr>
              <a:t>.</a:t>
            </a:r>
          </a:p>
        </p:txBody>
      </p:sp>
      <p:sp>
        <p:nvSpPr>
          <p:cNvPr id="10" name="Rounded Rectangle 9"/>
          <p:cNvSpPr/>
          <p:nvPr/>
        </p:nvSpPr>
        <p:spPr>
          <a:xfrm>
            <a:off x="64008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3209544"/>
            <a:ext cx="2183130" cy="640080"/>
          </a:xfrm>
          <a:prstGeom prst="rect">
            <a:avLst/>
          </a:prstGeom>
          <a:noFill/>
        </p:spPr>
        <p:txBody>
          <a:bodyPr wrap="square" lIns="0" tIns="0" rIns="0" bIns="0" anchor="t">
            <a:spAutoFit/>
          </a:bodyPr>
          <a:lstStyle/>
          <a:p>
            <a:r>
              <a:rPr sz="3200" b="1" i="0">
                <a:solidFill>
                  <a:srgbClr val="066B63"/>
                </a:solidFill>
                <a:latin typeface="Aptos"/>
              </a:rPr>
              <a:t>769</a:t>
            </a:r>
          </a:p>
        </p:txBody>
      </p:sp>
      <p:sp>
        <p:nvSpPr>
          <p:cNvPr id="12" name="TextBox 11"/>
          <p:cNvSpPr txBox="1"/>
          <p:nvPr/>
        </p:nvSpPr>
        <p:spPr>
          <a:xfrm>
            <a:off x="822960" y="3813048"/>
            <a:ext cx="2183130" cy="411480"/>
          </a:xfrm>
          <a:prstGeom prst="rect">
            <a:avLst/>
          </a:prstGeom>
          <a:noFill/>
        </p:spPr>
        <p:txBody>
          <a:bodyPr wrap="square" lIns="0" tIns="0" rIns="0" bIns="0" anchor="t">
            <a:spAutoFit/>
          </a:bodyPr>
          <a:lstStyle/>
          <a:p>
            <a:r>
              <a:rPr sz="1050" b="0" i="0">
                <a:solidFill>
                  <a:srgbClr val="64716D"/>
                </a:solidFill>
                <a:latin typeface="Aptos"/>
              </a:rPr>
              <a:t>konut birimi referans projede</a:t>
            </a:r>
          </a:p>
        </p:txBody>
      </p:sp>
      <p:sp>
        <p:nvSpPr>
          <p:cNvPr id="13" name="Rounded Rectangle 12"/>
          <p:cNvSpPr/>
          <p:nvPr/>
        </p:nvSpPr>
        <p:spPr>
          <a:xfrm>
            <a:off x="341757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00450" y="3209544"/>
            <a:ext cx="2183130" cy="640080"/>
          </a:xfrm>
          <a:prstGeom prst="rect">
            <a:avLst/>
          </a:prstGeom>
          <a:noFill/>
        </p:spPr>
        <p:txBody>
          <a:bodyPr wrap="square" lIns="0" tIns="0" rIns="0" bIns="0" anchor="t">
            <a:spAutoFit/>
          </a:bodyPr>
          <a:lstStyle/>
          <a:p>
            <a:r>
              <a:rPr sz="3200" b="1" i="0">
                <a:solidFill>
                  <a:srgbClr val="066B63"/>
                </a:solidFill>
                <a:latin typeface="Aptos"/>
              </a:rPr>
              <a:t>4</a:t>
            </a:r>
          </a:p>
        </p:txBody>
      </p:sp>
      <p:sp>
        <p:nvSpPr>
          <p:cNvPr id="15" name="TextBox 14"/>
          <p:cNvSpPr txBox="1"/>
          <p:nvPr/>
        </p:nvSpPr>
        <p:spPr>
          <a:xfrm>
            <a:off x="3600450" y="3813048"/>
            <a:ext cx="2183130" cy="411480"/>
          </a:xfrm>
          <a:prstGeom prst="rect">
            <a:avLst/>
          </a:prstGeom>
          <a:noFill/>
        </p:spPr>
        <p:txBody>
          <a:bodyPr wrap="square" lIns="0" tIns="0" rIns="0" bIns="0" anchor="t">
            <a:spAutoFit/>
          </a:bodyPr>
          <a:lstStyle/>
          <a:p>
            <a:r>
              <a:rPr sz="1050" b="0" i="0">
                <a:solidFill>
                  <a:srgbClr val="64716D"/>
                </a:solidFill>
                <a:latin typeface="Aptos"/>
              </a:rPr>
              <a:t>dil (TR · EN · DE · RU)</a:t>
            </a:r>
          </a:p>
        </p:txBody>
      </p:sp>
      <p:sp>
        <p:nvSpPr>
          <p:cNvPr id="16" name="Rounded Rectangle 15"/>
          <p:cNvSpPr/>
          <p:nvPr/>
        </p:nvSpPr>
        <p:spPr>
          <a:xfrm>
            <a:off x="619506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7940" y="3209544"/>
            <a:ext cx="2183130" cy="640080"/>
          </a:xfrm>
          <a:prstGeom prst="rect">
            <a:avLst/>
          </a:prstGeom>
          <a:noFill/>
        </p:spPr>
        <p:txBody>
          <a:bodyPr wrap="square" lIns="0" tIns="0" rIns="0" bIns="0" anchor="t">
            <a:spAutoFit/>
          </a:bodyPr>
          <a:lstStyle/>
          <a:p>
            <a:r>
              <a:rPr sz="3200" b="1" i="0">
                <a:solidFill>
                  <a:srgbClr val="066B63"/>
                </a:solidFill>
                <a:latin typeface="Aptos"/>
              </a:rPr>
              <a:t>6</a:t>
            </a:r>
          </a:p>
        </p:txBody>
      </p:sp>
      <p:sp>
        <p:nvSpPr>
          <p:cNvPr id="18" name="TextBox 17"/>
          <p:cNvSpPr txBox="1"/>
          <p:nvPr/>
        </p:nvSpPr>
        <p:spPr>
          <a:xfrm>
            <a:off x="6377940" y="3813048"/>
            <a:ext cx="2183130" cy="411480"/>
          </a:xfrm>
          <a:prstGeom prst="rect">
            <a:avLst/>
          </a:prstGeom>
          <a:noFill/>
        </p:spPr>
        <p:txBody>
          <a:bodyPr wrap="square" lIns="0" tIns="0" rIns="0" bIns="0" anchor="t">
            <a:spAutoFit/>
          </a:bodyPr>
          <a:lstStyle/>
          <a:p>
            <a:r>
              <a:rPr sz="1050" b="0" i="0">
                <a:solidFill>
                  <a:srgbClr val="64716D"/>
                </a:solidFill>
                <a:latin typeface="Aptos"/>
              </a:rPr>
              <a:t>İnce kademeli yetkilere sahip roller</a:t>
            </a:r>
          </a:p>
        </p:txBody>
      </p:sp>
      <p:sp>
        <p:nvSpPr>
          <p:cNvPr id="19" name="Rounded Rectangle 18"/>
          <p:cNvSpPr/>
          <p:nvPr/>
        </p:nvSpPr>
        <p:spPr>
          <a:xfrm>
            <a:off x="8972550" y="306324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55430" y="3209544"/>
            <a:ext cx="2183130" cy="640080"/>
          </a:xfrm>
          <a:prstGeom prst="rect">
            <a:avLst/>
          </a:prstGeom>
          <a:noFill/>
        </p:spPr>
        <p:txBody>
          <a:bodyPr wrap="square" lIns="0" tIns="0" rIns="0" bIns="0" anchor="t">
            <a:spAutoFit/>
          </a:bodyPr>
          <a:lstStyle/>
          <a:p>
            <a:r>
              <a:rPr sz="3200" b="1" i="0">
                <a:solidFill>
                  <a:srgbClr val="066B63"/>
                </a:solidFill>
                <a:latin typeface="Aptos"/>
              </a:rPr>
              <a:t>13</a:t>
            </a:r>
          </a:p>
        </p:txBody>
      </p:sp>
      <p:sp>
        <p:nvSpPr>
          <p:cNvPr id="21" name="TextBox 20"/>
          <p:cNvSpPr txBox="1"/>
          <p:nvPr/>
        </p:nvSpPr>
        <p:spPr>
          <a:xfrm>
            <a:off x="9155430" y="3813048"/>
            <a:ext cx="2183130" cy="411480"/>
          </a:xfrm>
          <a:prstGeom prst="rect">
            <a:avLst/>
          </a:prstGeom>
          <a:noFill/>
        </p:spPr>
        <p:txBody>
          <a:bodyPr wrap="square" lIns="0" tIns="0" rIns="0" bIns="0" anchor="t">
            <a:spAutoFit/>
          </a:bodyPr>
          <a:lstStyle/>
          <a:p>
            <a:r>
              <a:rPr sz="1050" b="0" i="0">
                <a:solidFill>
                  <a:srgbClr val="64716D"/>
                </a:solidFill>
                <a:latin typeface="Aptos"/>
              </a:rPr>
              <a:t>Portaldaki çalışma alanları</a:t>
            </a:r>
          </a:p>
        </p:txBody>
      </p:sp>
      <p:sp>
        <p:nvSpPr>
          <p:cNvPr id="22" name="Rounded Rectangle 21"/>
          <p:cNvSpPr/>
          <p:nvPr/>
        </p:nvSpPr>
        <p:spPr>
          <a:xfrm>
            <a:off x="640080" y="4617720"/>
            <a:ext cx="10881360" cy="16002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4617720"/>
            <a:ext cx="54864" cy="160020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5144668"/>
            <a:ext cx="10469880" cy="546303"/>
          </a:xfrm>
          <a:prstGeom prst="rect">
            <a:avLst/>
          </a:prstGeom>
          <a:noFill/>
        </p:spPr>
        <p:txBody>
          <a:bodyPr wrap="square" lIns="0" tIns="0" rIns="0" bIns="0" anchor="ctr">
            <a:spAutoFit/>
          </a:bodyPr>
          <a:lstStyle/>
          <a:p>
            <a:r>
              <a:rPr sz="1250" b="1" i="0" dirty="0">
                <a:solidFill>
                  <a:srgbClr val="044F49"/>
                </a:solidFill>
                <a:latin typeface="Aptos"/>
              </a:rPr>
              <a:t>1Çatı’nın </a:t>
            </a:r>
            <a:r>
              <a:rPr sz="1250" b="1" i="0" dirty="0" err="1">
                <a:solidFill>
                  <a:srgbClr val="044F49"/>
                </a:solidFill>
                <a:latin typeface="Aptos"/>
              </a:rPr>
              <a:t>temel ilkesi</a:t>
            </a:r>
            <a:r>
              <a:rPr sz="1250" b="1" i="0" dirty="0">
                <a:solidFill>
                  <a:srgbClr val="044F49"/>
                </a:solidFill>
                <a:latin typeface="Aptos"/>
              </a:rPr>
              <a:t>. </a:t>
            </a:r>
            <a:r>
              <a:rPr sz="1150" b="0" i="0" dirty="0">
                <a:solidFill>
                  <a:srgbClr val="33413D"/>
                </a:solidFill>
                <a:latin typeface="Aptos"/>
              </a:rPr>
              <a:t>Önemli </a:t>
            </a:r>
            <a:r>
              <a:rPr sz="1150" b="0" i="0" dirty="0" err="1">
                <a:solidFill>
                  <a:srgbClr val="33413D"/>
                </a:solidFill>
                <a:latin typeface="Aptos"/>
              </a:rPr>
              <a:t>işlemler </a:t>
            </a:r>
            <a:r>
              <a:rPr lang="de-DE" sz="1150" b="0" i="0" dirty="0">
                <a:solidFill>
                  <a:srgbClr val="33413D"/>
                </a:solidFill>
                <a:latin typeface="Aptos"/>
              </a:rPr>
              <a:t>– </a:t>
            </a:r>
            <a:r>
              <a:rPr sz="1150" b="0" i="0" dirty="0" err="1">
                <a:solidFill>
                  <a:srgbClr val="33413D"/>
                </a:solidFill>
                <a:latin typeface="Aptos"/>
              </a:rPr>
              <a:t>ödemeler</a:t>
            </a:r>
            <a:r>
              <a:rPr sz="1150" b="0" i="0" dirty="0">
                <a:solidFill>
                  <a:srgbClr val="33413D"/>
                </a:solidFill>
                <a:latin typeface="Aptos"/>
              </a:rPr>
              <a:t>, </a:t>
            </a:r>
            <a:r>
              <a:rPr sz="1150" b="0" i="0" dirty="0" err="1">
                <a:solidFill>
                  <a:srgbClr val="33413D"/>
                </a:solidFill>
                <a:latin typeface="Aptos"/>
              </a:rPr>
              <a:t>erişim engellemeleri</a:t>
            </a:r>
            <a:r>
              <a:rPr sz="1150" b="0" i="0" dirty="0">
                <a:solidFill>
                  <a:srgbClr val="33413D"/>
                </a:solidFill>
                <a:latin typeface="Aptos"/>
              </a:rPr>
              <a:t>, </a:t>
            </a:r>
            <a:r>
              <a:rPr sz="1150" b="0" i="0" dirty="0" err="1">
                <a:solidFill>
                  <a:srgbClr val="33413D"/>
                </a:solidFill>
                <a:latin typeface="Aptos"/>
              </a:rPr>
              <a:t>geri ödemeler </a:t>
            </a:r>
            <a:r>
              <a:rPr lang="de-DE" sz="1150" b="0" i="0" dirty="0">
                <a:solidFill>
                  <a:srgbClr val="33413D"/>
                </a:solidFill>
                <a:latin typeface="Aptos"/>
              </a:rPr>
              <a:t>– </a:t>
            </a:r>
            <a:r>
              <a:rPr sz="1150" b="0" i="0" dirty="0">
                <a:solidFill>
                  <a:srgbClr val="33413D"/>
                </a:solidFill>
                <a:latin typeface="Aptos"/>
              </a:rPr>
              <a:t>sistem </a:t>
            </a:r>
            <a:r>
              <a:rPr sz="1150" b="0" i="0" dirty="0" err="1">
                <a:solidFill>
                  <a:srgbClr val="33413D"/>
                </a:solidFill>
                <a:latin typeface="Aptos"/>
              </a:rPr>
              <a:t>tarafından </a:t>
            </a:r>
            <a:r>
              <a:rPr sz="1150" b="0" i="0" dirty="0" err="1">
                <a:solidFill>
                  <a:srgbClr val="33413D"/>
                </a:solidFill>
                <a:latin typeface="Aptos"/>
              </a:rPr>
              <a:t>asla </a:t>
            </a:r>
            <a:r>
              <a:rPr sz="1150" b="0" i="0" dirty="0" err="1">
                <a:solidFill>
                  <a:srgbClr val="33413D"/>
                </a:solidFill>
                <a:latin typeface="Aptos"/>
              </a:rPr>
              <a:t>kendi başına </a:t>
            </a:r>
            <a:r>
              <a:rPr sz="1150" b="0" i="0" dirty="0" err="1">
                <a:solidFill>
                  <a:srgbClr val="33413D"/>
                </a:solidFill>
                <a:latin typeface="Aptos"/>
              </a:rPr>
              <a:t>gerçekleştirilmez</a:t>
            </a:r>
            <a:r>
              <a:rPr sz="1150" b="0" i="0" dirty="0">
                <a:solidFill>
                  <a:srgbClr val="33413D"/>
                </a:solidFill>
                <a:latin typeface="Aptos"/>
              </a:rPr>
              <a:t>. Bu işlemler </a:t>
            </a:r>
            <a:r>
              <a:rPr sz="1150" b="0" i="0" dirty="0" err="1">
                <a:solidFill>
                  <a:srgbClr val="33413D"/>
                </a:solidFill>
                <a:latin typeface="Aptos"/>
              </a:rPr>
              <a:t>hazırlanır</a:t>
            </a:r>
            <a:r>
              <a:rPr sz="1150" b="0" i="0" dirty="0">
                <a:solidFill>
                  <a:srgbClr val="33413D"/>
                </a:solidFill>
                <a:latin typeface="Aptos"/>
              </a:rPr>
              <a:t>, </a:t>
            </a:r>
            <a:r>
              <a:rPr sz="1150" b="0" i="0" dirty="0" err="1">
                <a:solidFill>
                  <a:srgbClr val="33413D"/>
                </a:solidFill>
                <a:latin typeface="Aptos"/>
              </a:rPr>
              <a:t>belgelenir </a:t>
            </a:r>
            <a:r>
              <a:rPr sz="1150" b="0" i="0" dirty="0">
                <a:solidFill>
                  <a:srgbClr val="33413D"/>
                </a:solidFill>
                <a:latin typeface="Aptos"/>
              </a:rPr>
              <a:t>ve </a:t>
            </a:r>
            <a:r>
              <a:rPr sz="1150" b="0" i="0" dirty="0" err="1">
                <a:solidFill>
                  <a:srgbClr val="33413D"/>
                </a:solidFill>
                <a:latin typeface="Aptos"/>
              </a:rPr>
              <a:t>onay </a:t>
            </a:r>
            <a:r>
              <a:rPr sz="1150" b="0" i="0" dirty="0" err="1">
                <a:solidFill>
                  <a:srgbClr val="33413D"/>
                </a:solidFill>
                <a:latin typeface="Aptos"/>
              </a:rPr>
              <a:t>için </a:t>
            </a:r>
            <a:r>
              <a:rPr sz="1150" b="0" i="0" dirty="0" err="1">
                <a:solidFill>
                  <a:srgbClr val="33413D"/>
                </a:solidFill>
                <a:latin typeface="Aptos"/>
              </a:rPr>
              <a:t>yetkili </a:t>
            </a:r>
            <a:r>
              <a:rPr sz="1150" b="0" i="0" dirty="0">
                <a:solidFill>
                  <a:srgbClr val="33413D"/>
                </a:solidFill>
                <a:latin typeface="Aptos"/>
              </a:rPr>
              <a:t>bir kişiye </a:t>
            </a:r>
            <a:r>
              <a:rPr sz="1150" b="0" i="0" dirty="0" err="1">
                <a:solidFill>
                  <a:srgbClr val="33413D"/>
                </a:solidFill>
                <a:latin typeface="Aptos"/>
              </a:rPr>
              <a:t>sunulur</a:t>
            </a:r>
            <a:r>
              <a:rPr sz="1150" b="0" i="0" dirty="0">
                <a:solidFill>
                  <a:srgbClr val="33413D"/>
                </a:solidFill>
                <a:latin typeface="Aptos"/>
              </a:rPr>
              <a:t>. Böylelikle </a:t>
            </a:r>
            <a:r>
              <a:rPr sz="1150" b="0" i="0" dirty="0" err="1">
                <a:solidFill>
                  <a:srgbClr val="33413D"/>
                </a:solidFill>
                <a:latin typeface="Aptos"/>
              </a:rPr>
              <a:t>her türlü </a:t>
            </a:r>
            <a:r>
              <a:rPr sz="1150" b="0" i="0" dirty="0" err="1">
                <a:solidFill>
                  <a:srgbClr val="33413D"/>
                </a:solidFill>
                <a:latin typeface="Aptos"/>
              </a:rPr>
              <a:t>mali </a:t>
            </a:r>
            <a:r>
              <a:rPr sz="1150" b="0" i="0" dirty="0">
                <a:solidFill>
                  <a:srgbClr val="33413D"/>
                </a:solidFill>
                <a:latin typeface="Aptos"/>
              </a:rPr>
              <a:t>ve </a:t>
            </a:r>
            <a:r>
              <a:rPr sz="1150" b="0" i="0" dirty="0" err="1">
                <a:solidFill>
                  <a:srgbClr val="33413D"/>
                </a:solidFill>
                <a:latin typeface="Aptos"/>
              </a:rPr>
              <a:t>güvenlikle ilgili </a:t>
            </a:r>
            <a:r>
              <a:rPr sz="1150" b="0" i="0" dirty="0" err="1">
                <a:solidFill>
                  <a:srgbClr val="33413D"/>
                </a:solidFill>
                <a:latin typeface="Aptos"/>
              </a:rPr>
              <a:t>karar, </a:t>
            </a:r>
            <a:r>
              <a:rPr sz="1150" b="0" i="0" dirty="0" err="1">
                <a:solidFill>
                  <a:srgbClr val="33413D"/>
                </a:solidFill>
                <a:latin typeface="Aptos"/>
              </a:rPr>
              <a:t>izlenebilir bir şekilde </a:t>
            </a:r>
            <a:r>
              <a:rPr sz="1150" b="0" i="0" dirty="0">
                <a:solidFill>
                  <a:srgbClr val="33413D"/>
                </a:solidFill>
                <a:latin typeface="Aptos"/>
              </a:rPr>
              <a:t>insan elinde </a:t>
            </a:r>
            <a:r>
              <a:rPr sz="1150" b="0" i="0" dirty="0" err="1">
                <a:solidFill>
                  <a:srgbClr val="33413D"/>
                </a:solidFill>
                <a:latin typeface="Aptos"/>
              </a:rPr>
              <a:t>kalır </a:t>
            </a:r>
            <a:r>
              <a:rPr lang="de-DE" sz="1150" b="0" i="0" dirty="0">
                <a:solidFill>
                  <a:srgbClr val="33413D"/>
                </a:solidFill>
                <a:latin typeface="Aptos"/>
              </a:rPr>
              <a:t>– </a:t>
            </a:r>
            <a:r>
              <a:rPr sz="1150" b="0" i="0" dirty="0" err="1">
                <a:solidFill>
                  <a:srgbClr val="33413D"/>
                </a:solidFill>
                <a:latin typeface="Aptos"/>
              </a:rPr>
              <a:t>bu</a:t>
            </a:r>
            <a:r>
              <a:rPr lang="de-DE" sz="1150" b="0" i="0" dirty="0">
                <a:solidFill>
                  <a:srgbClr val="33413D"/>
                </a:solidFill>
                <a:latin typeface="Aptos"/>
              </a:rPr>
              <a:t>, </a:t>
            </a:r>
            <a:r>
              <a:rPr sz="1150" b="0" i="0" dirty="0" err="1">
                <a:solidFill>
                  <a:srgbClr val="33413D"/>
                </a:solidFill>
                <a:latin typeface="Aptos"/>
              </a:rPr>
              <a:t>platformun </a:t>
            </a:r>
            <a:r>
              <a:rPr sz="1150" b="0" i="0" dirty="0" err="1">
                <a:solidFill>
                  <a:srgbClr val="33413D"/>
                </a:solidFill>
                <a:latin typeface="Aptos"/>
              </a:rPr>
              <a:t>temel </a:t>
            </a:r>
            <a:r>
              <a:rPr sz="1150" b="0" i="0" dirty="0" err="1">
                <a:solidFill>
                  <a:srgbClr val="33413D"/>
                </a:solidFill>
                <a:latin typeface="Aptos"/>
              </a:rPr>
              <a:t>güven unsurlarından</a:t>
            </a:r>
            <a:r>
              <a:rPr sz="1150" b="0" i="0" dirty="0" err="1">
                <a:solidFill>
                  <a:srgbClr val="33413D"/>
                </a:solidFill>
                <a:latin typeface="Aptos"/>
              </a:rPr>
              <a:t> biridir</a:t>
            </a:r>
            <a:r>
              <a:rPr sz="1150" b="0" i="0" dirty="0">
                <a:solidFill>
                  <a:srgbClr val="33413D"/>
                </a:solidFill>
                <a:latin typeface="Aptos"/>
              </a:rPr>
              <a:t>.</a:t>
            </a:r>
          </a:p>
        </p:txBody>
      </p:sp>
      <p:sp>
        <p:nvSpPr>
          <p:cNvPr id="25" name="TextBox 24"/>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26" name="TextBox 25"/>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3</a:t>
            </a:r>
          </a:p>
        </p:txBody>
      </p:sp>
      <p:pic>
        <p:nvPicPr>
          <p:cNvPr id="27" name="Picture 26"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01 · YÖNETİM ÖZETİ</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err="1">
                <a:solidFill>
                  <a:srgbClr val="044F49"/>
                </a:solidFill>
                <a:latin typeface="Aptos"/>
              </a:rPr>
              <a:t>Bugün </a:t>
            </a:r>
            <a:r>
              <a:rPr sz="2700" b="1" i="0" dirty="0" err="1">
                <a:solidFill>
                  <a:srgbClr val="044F49"/>
                </a:solidFill>
                <a:latin typeface="Aptos"/>
              </a:rPr>
              <a:t>elimizde olanlar </a:t>
            </a:r>
            <a:r>
              <a:rPr lang="de-DE" sz="2700" b="1" i="0" dirty="0">
                <a:solidFill>
                  <a:srgbClr val="044F49"/>
                </a:solidFill>
                <a:latin typeface="Aptos"/>
              </a:rPr>
              <a:t>– </a:t>
            </a:r>
            <a:r>
              <a:rPr sz="2700" b="1" i="0" dirty="0">
                <a:solidFill>
                  <a:srgbClr val="044F49"/>
                </a:solidFill>
                <a:latin typeface="Aptos"/>
              </a:rPr>
              <a:t>ve bunun </a:t>
            </a:r>
            <a:r>
              <a:rPr sz="2700" b="1" i="0" dirty="0" err="1">
                <a:solidFill>
                  <a:srgbClr val="044F49"/>
                </a:solidFill>
                <a:latin typeface="Aptos"/>
              </a:rPr>
              <a:t>anlamı</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91640"/>
            <a:ext cx="5257800" cy="4297680"/>
          </a:xfrm>
          <a:prstGeom prst="roundRect">
            <a:avLst>
              <a:gd name="adj" fmla="val 5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96112" y="1892808"/>
            <a:ext cx="4745736" cy="3931920"/>
          </a:xfrm>
          <a:prstGeom prst="rect">
            <a:avLst/>
          </a:prstGeom>
          <a:noFill/>
        </p:spPr>
        <p:txBody>
          <a:bodyPr wrap="square" lIns="0" tIns="0" rIns="0" bIns="0" anchor="t">
            <a:spAutoFit/>
          </a:bodyPr>
          <a:lstStyle/>
          <a:p>
            <a:r>
              <a:rPr sz="1400" b="1" i="0">
                <a:solidFill>
                  <a:srgbClr val="044F49"/>
                </a:solidFill>
                <a:latin typeface="Aptos"/>
              </a:rPr>
              <a:t>Bugün elimizde olanlar</a:t>
            </a:r>
          </a:p>
          <a:p>
            <a:pPr>
              <a:spcBef>
                <a:spcPts val="600"/>
              </a:spcBef>
            </a:pPr>
            <a:r>
              <a:rPr sz="1100" b="0" i="0">
                <a:solidFill>
                  <a:srgbClr val="33413D"/>
                </a:solidFill>
                <a:latin typeface="Aptos"/>
              </a:rPr>
              <a:t>Platform, baştan sona kullanılabilir bir demo ortamı olarak tamamlanmış olup, işletimin tüm temel unsurlarını kapsamaktadır:</a:t>
            </a:r>
          </a:p>
          <a:p>
            <a:pPr>
              <a:spcAft>
                <a:spcPts val="300"/>
              </a:spcAft>
            </a:pPr>
            <a:r>
              <a:rPr sz="1100" b="0" i="0">
                <a:solidFill>
                  <a:srgbClr val="33413D"/>
                </a:solidFill>
                <a:latin typeface="Aptos"/>
              </a:rPr>
              <a:t>•  Erişim ve roller</a:t>
            </a:r>
          </a:p>
          <a:p>
            <a:pPr>
              <a:spcAft>
                <a:spcPts val="300"/>
              </a:spcAft>
            </a:pPr>
            <a:r>
              <a:rPr sz="1100" b="0" i="0">
                <a:solidFill>
                  <a:srgbClr val="33413D"/>
                </a:solidFill>
                <a:latin typeface="Aptos"/>
              </a:rPr>
              <a:t>•  Portföy ve konut yönetimi</a:t>
            </a:r>
          </a:p>
          <a:p>
            <a:pPr>
              <a:spcAft>
                <a:spcPts val="300"/>
              </a:spcAft>
            </a:pPr>
            <a:r>
              <a:rPr sz="1100" b="0" i="0">
                <a:solidFill>
                  <a:srgbClr val="33413D"/>
                </a:solidFill>
                <a:latin typeface="Aptos"/>
              </a:rPr>
              <a:t>•  Finans ve aidatlar</a:t>
            </a:r>
          </a:p>
          <a:p>
            <a:pPr>
              <a:spcAft>
                <a:spcPts val="300"/>
              </a:spcAft>
            </a:pPr>
            <a:r>
              <a:rPr sz="1100" b="0" i="0">
                <a:solidFill>
                  <a:srgbClr val="33413D"/>
                </a:solidFill>
                <a:latin typeface="Aptos"/>
              </a:rPr>
              <a:t>•  Hizmetler ve Görevler</a:t>
            </a:r>
          </a:p>
          <a:p>
            <a:pPr>
              <a:spcAft>
                <a:spcPts val="300"/>
              </a:spcAft>
            </a:pPr>
            <a:r>
              <a:rPr sz="1100" b="0" i="0">
                <a:solidFill>
                  <a:srgbClr val="33413D"/>
                </a:solidFill>
                <a:latin typeface="Aptos"/>
              </a:rPr>
              <a:t>•  Rezervasyon, belgeler, iletişim</a:t>
            </a:r>
          </a:p>
          <a:p>
            <a:pPr>
              <a:spcAft>
                <a:spcPts val="300"/>
              </a:spcAft>
            </a:pPr>
            <a:r>
              <a:rPr sz="1100" b="0" i="0">
                <a:solidFill>
                  <a:srgbClr val="33413D"/>
                </a:solidFill>
                <a:latin typeface="Aptos"/>
              </a:rPr>
              <a:t>•  Raporlar ve Canlı Kontrol Paneli</a:t>
            </a:r>
          </a:p>
          <a:p>
            <a:pPr>
              <a:spcAft>
                <a:spcPts val="300"/>
              </a:spcAft>
            </a:pPr>
            <a:r>
              <a:rPr sz="1100" b="0" i="0">
                <a:solidFill>
                  <a:srgbClr val="33413D"/>
                </a:solidFill>
                <a:latin typeface="Aptos"/>
              </a:rPr>
              <a:t>•  Halka Açık Yeni Seviye Premium Alan (Kayıt, Bildirim Kanalı, QR Afişi, AI Konsiyerj)</a:t>
            </a:r>
          </a:p>
        </p:txBody>
      </p:sp>
      <p:sp>
        <p:nvSpPr>
          <p:cNvPr id="11" name="Rounded Rectangle 10"/>
          <p:cNvSpPr/>
          <p:nvPr/>
        </p:nvSpPr>
        <p:spPr>
          <a:xfrm>
            <a:off x="6263640" y="1691640"/>
            <a:ext cx="5257800" cy="4297680"/>
          </a:xfrm>
          <a:prstGeom prst="roundRect">
            <a:avLst>
              <a:gd name="adj" fmla="val 5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1892808"/>
            <a:ext cx="4745736" cy="1633781"/>
          </a:xfrm>
          <a:prstGeom prst="rect">
            <a:avLst/>
          </a:prstGeom>
          <a:noFill/>
        </p:spPr>
        <p:txBody>
          <a:bodyPr wrap="square" lIns="0" tIns="0" rIns="0" bIns="0" anchor="t">
            <a:spAutoFit/>
          </a:bodyPr>
          <a:lstStyle/>
          <a:p>
            <a:r>
              <a:rPr sz="1400" b="1" i="0" dirty="0">
                <a:solidFill>
                  <a:srgbClr val="044F49"/>
                </a:solidFill>
                <a:latin typeface="Aptos"/>
              </a:rPr>
              <a:t>Bunun </a:t>
            </a:r>
            <a:r>
              <a:rPr sz="1400" b="1" i="0" dirty="0" err="1">
                <a:solidFill>
                  <a:srgbClr val="044F49"/>
                </a:solidFill>
                <a:latin typeface="Aptos"/>
              </a:rPr>
              <a:t>Ataberk </a:t>
            </a:r>
            <a:r>
              <a:rPr sz="1400" b="1" i="0" dirty="0">
                <a:solidFill>
                  <a:srgbClr val="044F49"/>
                </a:solidFill>
                <a:latin typeface="Aptos"/>
              </a:rPr>
              <a:t>Estate </a:t>
            </a:r>
            <a:r>
              <a:rPr sz="1400" b="1" i="0" dirty="0">
                <a:solidFill>
                  <a:srgbClr val="044F49"/>
                </a:solidFill>
                <a:latin typeface="Aptos"/>
              </a:rPr>
              <a:t>için </a:t>
            </a:r>
            <a:r>
              <a:rPr sz="1400" b="1" i="0" dirty="0" err="1">
                <a:solidFill>
                  <a:srgbClr val="044F49"/>
                </a:solidFill>
                <a:latin typeface="Aptos"/>
              </a:rPr>
              <a:t>anlamı</a:t>
            </a:r>
            <a:endParaRPr sz="1400" b="1" i="0" dirty="0">
              <a:solidFill>
                <a:srgbClr val="044F49"/>
              </a:solidFill>
              <a:latin typeface="Aptos"/>
            </a:endParaRPr>
          </a:p>
          <a:p>
            <a:pPr>
              <a:spcBef>
                <a:spcPts val="600"/>
              </a:spcBef>
            </a:pPr>
            <a:r>
              <a:rPr sz="1150" b="0" i="0" dirty="0" err="1">
                <a:solidFill>
                  <a:srgbClr val="33413D"/>
                </a:solidFill>
                <a:latin typeface="Aptos"/>
              </a:rPr>
              <a:t>Bugün </a:t>
            </a:r>
            <a:r>
              <a:rPr sz="1150" b="0" i="0" dirty="0" err="1">
                <a:solidFill>
                  <a:srgbClr val="33413D"/>
                </a:solidFill>
                <a:latin typeface="Aptos"/>
              </a:rPr>
              <a:t>tüm</a:t>
            </a:r>
            <a:r>
              <a:rPr sz="1150" b="0" i="0" dirty="0">
                <a:solidFill>
                  <a:srgbClr val="33413D"/>
                </a:solidFill>
                <a:latin typeface="Aptos"/>
              </a:rPr>
              <a:t> </a:t>
            </a:r>
            <a:r>
              <a:rPr sz="1150" b="0" i="0" dirty="0" err="1">
                <a:solidFill>
                  <a:srgbClr val="33413D"/>
                </a:solidFill>
                <a:latin typeface="Aptos"/>
              </a:rPr>
              <a:t>işlevleri </a:t>
            </a:r>
            <a:r>
              <a:rPr sz="1150" b="0" i="0" dirty="0" err="1">
                <a:solidFill>
                  <a:srgbClr val="33413D"/>
                </a:solidFill>
                <a:latin typeface="Aptos"/>
              </a:rPr>
              <a:t>deneyimleyebilir</a:t>
            </a:r>
            <a:r>
              <a:rPr sz="1150" b="0" i="0" dirty="0">
                <a:solidFill>
                  <a:srgbClr val="33413D"/>
                </a:solidFill>
                <a:latin typeface="Aptos"/>
              </a:rPr>
              <a:t>, </a:t>
            </a:r>
            <a:r>
              <a:rPr sz="1150" b="0" i="0" dirty="0" err="1">
                <a:solidFill>
                  <a:srgbClr val="33413D"/>
                </a:solidFill>
                <a:latin typeface="Aptos"/>
              </a:rPr>
              <a:t>inceleyebilir </a:t>
            </a:r>
            <a:r>
              <a:rPr sz="1150" b="0" i="0" dirty="0">
                <a:solidFill>
                  <a:srgbClr val="33413D"/>
                </a:solidFill>
                <a:latin typeface="Aptos"/>
              </a:rPr>
              <a:t>ve </a:t>
            </a:r>
            <a:r>
              <a:rPr sz="1150" b="0" i="0" dirty="0" err="1">
                <a:solidFill>
                  <a:srgbClr val="33413D"/>
                </a:solidFill>
                <a:latin typeface="Aptos"/>
              </a:rPr>
              <a:t>değerlendirebilirsiniz </a:t>
            </a:r>
            <a:r>
              <a:rPr lang="de-DE" sz="1150" b="0" i="0" dirty="0">
                <a:solidFill>
                  <a:srgbClr val="33413D"/>
                </a:solidFill>
                <a:latin typeface="Aptos"/>
              </a:rPr>
              <a:t>— </a:t>
            </a:r>
            <a:r>
              <a:rPr sz="1150" b="0" i="0" dirty="0" err="1">
                <a:solidFill>
                  <a:srgbClr val="33413D"/>
                </a:solidFill>
                <a:latin typeface="Aptos"/>
              </a:rPr>
              <a:t>tüm </a:t>
            </a:r>
            <a:r>
              <a:rPr sz="1150" b="0" i="0" dirty="0">
                <a:solidFill>
                  <a:srgbClr val="33413D"/>
                </a:solidFill>
                <a:latin typeface="Aptos"/>
              </a:rPr>
              <a:t>roller ve </a:t>
            </a:r>
            <a:r>
              <a:rPr sz="1150" b="0" i="0" dirty="0">
                <a:solidFill>
                  <a:srgbClr val="33413D"/>
                </a:solidFill>
                <a:latin typeface="Aptos"/>
              </a:rPr>
              <a:t>dört dilde.</a:t>
            </a:r>
          </a:p>
          <a:p>
            <a:pPr>
              <a:spcBef>
                <a:spcPts val="800"/>
              </a:spcBef>
            </a:pPr>
            <a:r>
              <a:rPr sz="1150" b="0" i="0" dirty="0" err="1">
                <a:solidFill>
                  <a:srgbClr val="33413D"/>
                </a:solidFill>
                <a:latin typeface="Aptos"/>
              </a:rPr>
              <a:t>Üretime hazır </a:t>
            </a:r>
            <a:r>
              <a:rPr sz="1150" b="0" i="0" dirty="0" err="1">
                <a:solidFill>
                  <a:srgbClr val="33413D"/>
                </a:solidFill>
                <a:latin typeface="Aptos"/>
              </a:rPr>
              <a:t>canlı işletime</a:t>
            </a:r>
            <a:r>
              <a:rPr sz="1150" b="0" i="0" dirty="0">
                <a:solidFill>
                  <a:srgbClr val="33413D"/>
                </a:solidFill>
                <a:latin typeface="Aptos"/>
              </a:rPr>
              <a:t> geçiş </a:t>
            </a:r>
            <a:r>
              <a:rPr sz="1150" b="0" i="0" dirty="0" err="1">
                <a:solidFill>
                  <a:srgbClr val="33413D"/>
                </a:solidFill>
                <a:latin typeface="Aptos"/>
              </a:rPr>
              <a:t>için </a:t>
            </a:r>
            <a:r>
              <a:rPr sz="1150" b="0" i="0" dirty="0" err="1">
                <a:solidFill>
                  <a:srgbClr val="33413D"/>
                </a:solidFill>
                <a:latin typeface="Aptos"/>
              </a:rPr>
              <a:t>bazı </a:t>
            </a:r>
            <a:r>
              <a:rPr sz="1150" b="0" i="0" dirty="0" err="1">
                <a:solidFill>
                  <a:srgbClr val="33413D"/>
                </a:solidFill>
                <a:latin typeface="Aptos"/>
              </a:rPr>
              <a:t>açıkça </a:t>
            </a:r>
            <a:r>
              <a:rPr sz="1150" b="0" i="0" dirty="0" err="1">
                <a:solidFill>
                  <a:srgbClr val="33413D"/>
                </a:solidFill>
                <a:latin typeface="Aptos"/>
              </a:rPr>
              <a:t>belirtilen </a:t>
            </a:r>
            <a:r>
              <a:rPr sz="1150" b="0" i="0" dirty="0" err="1">
                <a:solidFill>
                  <a:srgbClr val="33413D"/>
                </a:solidFill>
                <a:latin typeface="Aptos"/>
              </a:rPr>
              <a:t>onaylar </a:t>
            </a:r>
            <a:r>
              <a:rPr sz="1150" b="0" i="0" dirty="0" err="1">
                <a:solidFill>
                  <a:srgbClr val="33413D"/>
                </a:solidFill>
                <a:latin typeface="Aptos"/>
              </a:rPr>
              <a:t>gereklidir</a:t>
            </a:r>
            <a:r>
              <a:rPr lang="de-DE" sz="1150" b="0" i="0" dirty="0">
                <a:solidFill>
                  <a:srgbClr val="33413D"/>
                </a:solidFill>
                <a:latin typeface="Aptos"/>
              </a:rPr>
              <a:t>: </a:t>
            </a:r>
            <a:r>
              <a:rPr sz="1150" b="0" i="0" dirty="0" err="1">
                <a:solidFill>
                  <a:srgbClr val="33413D"/>
                </a:solidFill>
                <a:latin typeface="Aptos"/>
              </a:rPr>
              <a:t>gerçek </a:t>
            </a:r>
            <a:r>
              <a:rPr sz="1150" b="0" i="0" dirty="0" err="1">
                <a:solidFill>
                  <a:srgbClr val="33413D"/>
                </a:solidFill>
                <a:latin typeface="Aptos"/>
              </a:rPr>
              <a:t>müşteri verileri</a:t>
            </a:r>
            <a:r>
              <a:rPr sz="1150" b="0" i="0" dirty="0">
                <a:solidFill>
                  <a:srgbClr val="33413D"/>
                </a:solidFill>
                <a:latin typeface="Aptos"/>
              </a:rPr>
              <a:t>, </a:t>
            </a:r>
            <a:r>
              <a:rPr sz="1150" b="0" i="0" dirty="0" err="1">
                <a:solidFill>
                  <a:srgbClr val="33413D"/>
                </a:solidFill>
                <a:latin typeface="Aptos"/>
              </a:rPr>
              <a:t>ödeme/banka entegrasyonu</a:t>
            </a:r>
            <a:r>
              <a:rPr sz="1150" b="0" i="0" dirty="0">
                <a:solidFill>
                  <a:srgbClr val="33413D"/>
                </a:solidFill>
                <a:latin typeface="Aptos"/>
              </a:rPr>
              <a:t>, </a:t>
            </a:r>
            <a:r>
              <a:rPr sz="1150" b="0" i="0" dirty="0" err="1">
                <a:solidFill>
                  <a:srgbClr val="33413D"/>
                </a:solidFill>
                <a:latin typeface="Aptos"/>
              </a:rPr>
              <a:t>yasal </a:t>
            </a:r>
            <a:r>
              <a:rPr sz="1150" b="0" i="0" dirty="0" err="1">
                <a:solidFill>
                  <a:srgbClr val="33413D"/>
                </a:solidFill>
                <a:latin typeface="Aptos"/>
              </a:rPr>
              <a:t>onaylar </a:t>
            </a:r>
            <a:r>
              <a:rPr sz="1150" b="0" i="0" dirty="0">
                <a:solidFill>
                  <a:srgbClr val="33413D"/>
                </a:solidFill>
                <a:latin typeface="Aptos"/>
              </a:rPr>
              <a:t>ve </a:t>
            </a:r>
            <a:r>
              <a:rPr sz="1150" b="0" i="0" dirty="0" err="1">
                <a:solidFill>
                  <a:srgbClr val="33413D"/>
                </a:solidFill>
                <a:latin typeface="Aptos"/>
              </a:rPr>
              <a:t>bir </a:t>
            </a:r>
            <a:r>
              <a:rPr sz="1150" b="0" i="0" dirty="0" err="1">
                <a:solidFill>
                  <a:srgbClr val="33413D"/>
                </a:solidFill>
                <a:latin typeface="Aptos"/>
              </a:rPr>
              <a:t>kabul testi</a:t>
            </a:r>
            <a:r>
              <a:rPr sz="1150" b="0" i="0" dirty="0">
                <a:solidFill>
                  <a:srgbClr val="33413D"/>
                </a:solidFill>
                <a:latin typeface="Aptos"/>
              </a:rPr>
              <a:t>. </a:t>
            </a:r>
            <a:r>
              <a:rPr sz="1150" b="0" i="0" dirty="0" err="1">
                <a:solidFill>
                  <a:srgbClr val="33413D"/>
                </a:solidFill>
                <a:latin typeface="Aptos"/>
              </a:rPr>
              <a:t>Bunlar</a:t>
            </a:r>
            <a:r>
              <a:rPr sz="1150" b="0" i="0" dirty="0">
                <a:solidFill>
                  <a:srgbClr val="33413D"/>
                </a:solidFill>
                <a:latin typeface="Aptos"/>
              </a:rPr>
              <a:t> 9. ve 11.</a:t>
            </a:r>
            <a:r>
              <a:rPr sz="1150" b="0" i="0" dirty="0" err="1">
                <a:solidFill>
                  <a:srgbClr val="33413D"/>
                </a:solidFill>
                <a:latin typeface="Aptos"/>
              </a:rPr>
              <a:t> bölümlerde </a:t>
            </a:r>
            <a:r>
              <a:rPr sz="1150" b="0" i="0" dirty="0">
                <a:solidFill>
                  <a:srgbClr val="33413D"/>
                </a:solidFill>
                <a:latin typeface="Aptos"/>
              </a:rPr>
              <a:t>şeffaf bir şekilde </a:t>
            </a:r>
            <a:r>
              <a:rPr sz="1150" b="0" i="0" dirty="0" err="1">
                <a:solidFill>
                  <a:srgbClr val="33413D"/>
                </a:solidFill>
                <a:latin typeface="Aptos"/>
              </a:rPr>
              <a:t>listelenmiştir </a:t>
            </a:r>
            <a:r>
              <a:rPr sz="1150" b="0" i="0" dirty="0">
                <a:solidFill>
                  <a:srgbClr val="33413D"/>
                </a:solidFill>
                <a:latin typeface="Aptos"/>
              </a:rPr>
              <a:t>ve </a:t>
            </a:r>
            <a:r>
              <a:rPr sz="1150" b="0" i="0" dirty="0">
                <a:solidFill>
                  <a:srgbClr val="33413D"/>
                </a:solidFill>
                <a:latin typeface="Aptos"/>
              </a:rPr>
              <a:t>sizde </a:t>
            </a:r>
            <a:r>
              <a:rPr sz="1150" b="0" i="0" dirty="0">
                <a:solidFill>
                  <a:srgbClr val="33413D"/>
                </a:solidFill>
                <a:latin typeface="Aptos"/>
              </a:rPr>
              <a:t>ya da </a:t>
            </a:r>
            <a:r>
              <a:rPr sz="1150" b="0" i="0" dirty="0" err="1">
                <a:solidFill>
                  <a:srgbClr val="33413D"/>
                </a:solidFill>
                <a:latin typeface="Aptos"/>
              </a:rPr>
              <a:t>ilgili</a:t>
            </a:r>
            <a:r>
              <a:rPr sz="1150" b="0" i="0" dirty="0">
                <a:solidFill>
                  <a:srgbClr val="33413D"/>
                </a:solidFill>
                <a:latin typeface="Aptos"/>
              </a:rPr>
              <a:t> </a:t>
            </a:r>
            <a:r>
              <a:rPr sz="1150" b="0" i="0" dirty="0" err="1">
                <a:solidFill>
                  <a:srgbClr val="33413D"/>
                </a:solidFill>
                <a:latin typeface="Aptos"/>
              </a:rPr>
              <a:t>uzman iş ortaklarında </a:t>
            </a:r>
            <a:r>
              <a:rPr sz="1150" b="0" i="0" dirty="0" err="1">
                <a:solidFill>
                  <a:srgbClr val="33413D"/>
                </a:solidFill>
                <a:latin typeface="Aptos"/>
              </a:rPr>
              <a:t>bulunmaktadır</a:t>
            </a:r>
            <a:r>
              <a:rPr sz="1150" b="0" i="0" dirty="0">
                <a:solidFill>
                  <a:srgbClr val="33413D"/>
                </a:solidFill>
                <a:latin typeface="Aptos"/>
              </a:rPr>
              <a:t>.</a:t>
            </a:r>
          </a:p>
        </p:txBody>
      </p:sp>
      <p:sp>
        <p:nvSpPr>
          <p:cNvPr id="13" name="TextBox 12"/>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adına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4" name="TextBox 13"/>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4</a:t>
            </a:r>
          </a:p>
        </p:txBody>
      </p:sp>
      <p:pic>
        <p:nvPicPr>
          <p:cNvPr id="15" name="Picture 14"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02</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Pazar Ortamı ve Zamanlama</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554480"/>
            <a:ext cx="10881360" cy="1110560"/>
          </a:xfrm>
          <a:prstGeom prst="rect">
            <a:avLst/>
          </a:prstGeom>
          <a:noFill/>
        </p:spPr>
        <p:txBody>
          <a:bodyPr wrap="square" lIns="0" tIns="0" rIns="0" bIns="0" anchor="t">
            <a:spAutoFit/>
          </a:bodyPr>
          <a:lstStyle/>
          <a:p>
            <a:pPr>
              <a:spcAft>
                <a:spcPts val="600"/>
              </a:spcAft>
            </a:pPr>
            <a:r>
              <a:rPr sz="1200" i="0" dirty="0">
                <a:solidFill>
                  <a:srgbClr val="33413D"/>
                </a:solidFill>
                <a:latin typeface="Aptos"/>
              </a:rPr>
              <a:t>İki </a:t>
            </a:r>
            <a:r>
              <a:rPr sz="1200" i="0" dirty="0" err="1">
                <a:solidFill>
                  <a:srgbClr val="33413D"/>
                </a:solidFill>
                <a:latin typeface="Aptos"/>
              </a:rPr>
              <a:t>zıt </a:t>
            </a:r>
            <a:r>
              <a:rPr sz="1200" i="0" dirty="0" err="1">
                <a:solidFill>
                  <a:srgbClr val="33413D"/>
                </a:solidFill>
                <a:latin typeface="Aptos"/>
              </a:rPr>
              <a:t>piyasa hareketi</a:t>
            </a:r>
            <a:r>
              <a:rPr sz="1200" i="0" dirty="0">
                <a:solidFill>
                  <a:srgbClr val="33413D"/>
                </a:solidFill>
                <a:latin typeface="Aptos"/>
              </a:rPr>
              <a:t>,</a:t>
            </a:r>
            <a:r>
              <a:rPr sz="1200" i="0" dirty="0">
                <a:solidFill>
                  <a:srgbClr val="33413D"/>
                </a:solidFill>
                <a:latin typeface="Aptos"/>
              </a:rPr>
              <a:t> 1Çatı'nın </a:t>
            </a:r>
            <a:r>
              <a:rPr sz="1200" i="0" dirty="0" err="1">
                <a:solidFill>
                  <a:srgbClr val="33413D"/>
                </a:solidFill>
                <a:latin typeface="Aptos"/>
              </a:rPr>
              <a:t>geliştirilmesinin </a:t>
            </a:r>
            <a:r>
              <a:rPr sz="1200" i="0" dirty="0" err="1">
                <a:solidFill>
                  <a:srgbClr val="33413D"/>
                </a:solidFill>
                <a:latin typeface="Aptos"/>
              </a:rPr>
              <a:t>tam da </a:t>
            </a:r>
            <a:r>
              <a:rPr sz="1200" i="0" dirty="0" err="1">
                <a:solidFill>
                  <a:srgbClr val="33413D"/>
                </a:solidFill>
                <a:latin typeface="Aptos"/>
              </a:rPr>
              <a:t>şu anda </a:t>
            </a:r>
            <a:r>
              <a:rPr sz="1200" i="0" dirty="0" err="1">
                <a:solidFill>
                  <a:srgbClr val="33413D"/>
                </a:solidFill>
                <a:latin typeface="Aptos"/>
              </a:rPr>
              <a:t>stratejik olarak </a:t>
            </a:r>
            <a:r>
              <a:rPr sz="1200" i="0" dirty="0" err="1">
                <a:solidFill>
                  <a:srgbClr val="33413D"/>
                </a:solidFill>
                <a:latin typeface="Aptos"/>
              </a:rPr>
              <a:t>mantıklı </a:t>
            </a:r>
            <a:r>
              <a:rPr sz="1200" i="0" dirty="0" err="1">
                <a:solidFill>
                  <a:srgbClr val="33413D"/>
                </a:solidFill>
                <a:latin typeface="Aptos"/>
              </a:rPr>
              <a:t>olmasının </a:t>
            </a:r>
            <a:r>
              <a:rPr sz="1200" i="0" dirty="0" err="1">
                <a:solidFill>
                  <a:srgbClr val="33413D"/>
                </a:solidFill>
                <a:latin typeface="Aptos"/>
              </a:rPr>
              <a:t>nedenini </a:t>
            </a:r>
            <a:r>
              <a:rPr sz="1200" i="0" dirty="0" err="1">
                <a:solidFill>
                  <a:srgbClr val="33413D"/>
                </a:solidFill>
                <a:latin typeface="Aptos"/>
              </a:rPr>
              <a:t>ortaya koyuyor</a:t>
            </a:r>
            <a:r>
              <a:rPr sz="1200" i="0" dirty="0">
                <a:solidFill>
                  <a:srgbClr val="33413D"/>
                </a:solidFill>
                <a:latin typeface="Aptos"/>
              </a:rPr>
              <a:t>.</a:t>
            </a:r>
          </a:p>
          <a:p>
            <a:pPr>
              <a:spcBef>
                <a:spcPts val="800"/>
              </a:spcBef>
              <a:spcAft>
                <a:spcPts val="300"/>
              </a:spcAft>
            </a:pPr>
            <a:r>
              <a:rPr sz="1300" b="1" i="0" dirty="0" err="1">
                <a:solidFill>
                  <a:srgbClr val="066B63"/>
                </a:solidFill>
                <a:latin typeface="Aptos"/>
              </a:rPr>
              <a:t>Yurt dışı emlak</a:t>
            </a:r>
            <a:r>
              <a:rPr sz="1300" b="1" i="0" dirty="0">
                <a:solidFill>
                  <a:srgbClr val="066B63"/>
                </a:solidFill>
                <a:latin typeface="Aptos"/>
              </a:rPr>
              <a:t> piyasası </a:t>
            </a:r>
            <a:r>
              <a:rPr sz="1300" b="1" i="0" dirty="0" err="1">
                <a:solidFill>
                  <a:srgbClr val="066B63"/>
                </a:solidFill>
                <a:latin typeface="Aptos"/>
              </a:rPr>
              <a:t>küçülüyor </a:t>
            </a:r>
            <a:r>
              <a:rPr lang="de-DE" sz="1300" b="1" i="0" dirty="0">
                <a:solidFill>
                  <a:srgbClr val="066B63"/>
                </a:solidFill>
                <a:latin typeface="Aptos"/>
              </a:rPr>
              <a:t>– </a:t>
            </a:r>
            <a:r>
              <a:rPr sz="1300" b="1" i="0" dirty="0" err="1">
                <a:solidFill>
                  <a:srgbClr val="066B63"/>
                </a:solidFill>
                <a:latin typeface="Aptos"/>
              </a:rPr>
              <a:t>ancak </a:t>
            </a:r>
            <a:r>
              <a:rPr sz="1300" b="1" i="0" dirty="0">
                <a:solidFill>
                  <a:srgbClr val="066B63"/>
                </a:solidFill>
                <a:latin typeface="Aptos"/>
              </a:rPr>
              <a:t>Alanya </a:t>
            </a:r>
            <a:r>
              <a:rPr sz="1300" b="1" i="0" dirty="0" err="1">
                <a:solidFill>
                  <a:srgbClr val="066B63"/>
                </a:solidFill>
                <a:latin typeface="Aptos"/>
              </a:rPr>
              <a:t>liderliğini </a:t>
            </a:r>
            <a:r>
              <a:rPr sz="1300" b="1" i="0" dirty="0" err="1">
                <a:solidFill>
                  <a:srgbClr val="066B63"/>
                </a:solidFill>
                <a:latin typeface="Aptos"/>
              </a:rPr>
              <a:t>koruyor</a:t>
            </a:r>
            <a:endParaRPr sz="1300" b="1" i="0" dirty="0">
              <a:solidFill>
                <a:srgbClr val="066B63"/>
              </a:solidFill>
              <a:latin typeface="Aptos"/>
            </a:endParaRPr>
          </a:p>
          <a:p>
            <a:pPr>
              <a:spcAft>
                <a:spcPts val="600"/>
              </a:spcAft>
            </a:pPr>
            <a:r>
              <a:rPr sz="1100" i="0" dirty="0">
                <a:solidFill>
                  <a:srgbClr val="33413D"/>
                </a:solidFill>
                <a:latin typeface="Aptos"/>
              </a:rPr>
              <a:t>2025 yılında </a:t>
            </a:r>
            <a:r>
              <a:rPr sz="1100" i="0" dirty="0" err="1">
                <a:solidFill>
                  <a:srgbClr val="33413D"/>
                </a:solidFill>
                <a:latin typeface="Aptos"/>
              </a:rPr>
              <a:t>ülke genelinde </a:t>
            </a:r>
            <a:r>
              <a:rPr sz="1100" i="0" dirty="0">
                <a:solidFill>
                  <a:srgbClr val="33413D"/>
                </a:solidFill>
                <a:latin typeface="Aptos"/>
              </a:rPr>
              <a:t>yabancılara </a:t>
            </a:r>
            <a:r>
              <a:rPr sz="1100" i="0" dirty="0" err="1">
                <a:solidFill>
                  <a:srgbClr val="33413D"/>
                </a:solidFill>
                <a:latin typeface="Aptos"/>
              </a:rPr>
              <a:t>sadece </a:t>
            </a:r>
            <a:r>
              <a:rPr sz="1100" i="0" dirty="0" err="1">
                <a:solidFill>
                  <a:srgbClr val="33413D"/>
                </a:solidFill>
                <a:latin typeface="Aptos"/>
              </a:rPr>
              <a:t>yaklaşık</a:t>
            </a:r>
            <a:r>
              <a:rPr sz="1100" i="0" dirty="0">
                <a:solidFill>
                  <a:srgbClr val="33413D"/>
                </a:solidFill>
                <a:latin typeface="Aptos"/>
              </a:rPr>
              <a:t> 21.500 </a:t>
            </a:r>
            <a:r>
              <a:rPr sz="1100" i="0" dirty="0" err="1">
                <a:solidFill>
                  <a:srgbClr val="33413D"/>
                </a:solidFill>
                <a:latin typeface="Aptos"/>
              </a:rPr>
              <a:t>konut </a:t>
            </a:r>
            <a:r>
              <a:rPr sz="1100" i="0" dirty="0" err="1">
                <a:solidFill>
                  <a:srgbClr val="33413D"/>
                </a:solidFill>
                <a:latin typeface="Aptos"/>
              </a:rPr>
              <a:t>satıldı</a:t>
            </a:r>
            <a:r>
              <a:rPr lang="de-DE" sz="1100" i="0" dirty="0">
                <a:solidFill>
                  <a:srgbClr val="33413D"/>
                </a:solidFill>
                <a:latin typeface="Aptos"/>
              </a:rPr>
              <a:t>; </a:t>
            </a:r>
            <a:r>
              <a:rPr sz="1100" i="0" dirty="0">
                <a:solidFill>
                  <a:srgbClr val="33413D"/>
                </a:solidFill>
                <a:latin typeface="Aptos"/>
              </a:rPr>
              <a:t>bu, </a:t>
            </a:r>
            <a:r>
              <a:rPr sz="1100" i="0" dirty="0" err="1">
                <a:solidFill>
                  <a:srgbClr val="33413D"/>
                </a:solidFill>
                <a:latin typeface="Aptos"/>
              </a:rPr>
              <a:t>son </a:t>
            </a:r>
            <a:r>
              <a:rPr sz="1100" i="0" dirty="0" err="1">
                <a:solidFill>
                  <a:srgbClr val="33413D"/>
                </a:solidFill>
                <a:latin typeface="Aptos"/>
              </a:rPr>
              <a:t>dokuz </a:t>
            </a:r>
            <a:r>
              <a:rPr sz="1100" i="0" dirty="0">
                <a:solidFill>
                  <a:srgbClr val="33413D"/>
                </a:solidFill>
                <a:latin typeface="Aptos"/>
              </a:rPr>
              <a:t>yılın </a:t>
            </a:r>
            <a:r>
              <a:rPr sz="1100" i="0" dirty="0" err="1">
                <a:solidFill>
                  <a:srgbClr val="33413D"/>
                </a:solidFill>
                <a:latin typeface="Aptos"/>
              </a:rPr>
              <a:t>en düşük</a:t>
            </a:r>
            <a:r>
              <a:rPr sz="1100" i="0" dirty="0">
                <a:solidFill>
                  <a:srgbClr val="33413D"/>
                </a:solidFill>
                <a:latin typeface="Aptos"/>
              </a:rPr>
              <a:t> </a:t>
            </a:r>
            <a:r>
              <a:rPr sz="1100" i="0" dirty="0">
                <a:solidFill>
                  <a:srgbClr val="33413D"/>
                </a:solidFill>
                <a:latin typeface="Aptos"/>
              </a:rPr>
              <a:t>rakamı</a:t>
            </a:r>
            <a:r>
              <a:rPr sz="1100" i="0" dirty="0">
                <a:solidFill>
                  <a:srgbClr val="33413D"/>
                </a:solidFill>
                <a:latin typeface="Aptos"/>
              </a:rPr>
              <a:t>. </a:t>
            </a:r>
            <a:r>
              <a:rPr sz="1100" i="0" dirty="0">
                <a:solidFill>
                  <a:srgbClr val="33413D"/>
                </a:solidFill>
                <a:latin typeface="Aptos"/>
              </a:rPr>
              <a:t>Alanya’da</a:t>
            </a:r>
            <a:r>
              <a:rPr sz="1100" i="0" dirty="0">
                <a:solidFill>
                  <a:srgbClr val="33413D"/>
                </a:solidFill>
                <a:latin typeface="Aptos"/>
              </a:rPr>
              <a:t> </a:t>
            </a:r>
            <a:r>
              <a:rPr sz="1100" i="0" dirty="0" err="1">
                <a:solidFill>
                  <a:srgbClr val="33413D"/>
                </a:solidFill>
                <a:latin typeface="Aptos"/>
              </a:rPr>
              <a:t>Rus</a:t>
            </a:r>
            <a:r>
              <a:rPr sz="1100" i="0" dirty="0">
                <a:solidFill>
                  <a:srgbClr val="33413D"/>
                </a:solidFill>
                <a:latin typeface="Aptos"/>
              </a:rPr>
              <a:t> </a:t>
            </a:r>
            <a:r>
              <a:rPr sz="1100" i="0" dirty="0" err="1">
                <a:solidFill>
                  <a:srgbClr val="33413D"/>
                </a:solidFill>
                <a:latin typeface="Aptos"/>
              </a:rPr>
              <a:t>alıcıların </a:t>
            </a:r>
            <a:r>
              <a:rPr sz="1100" i="0" dirty="0">
                <a:solidFill>
                  <a:srgbClr val="33413D"/>
                </a:solidFill>
                <a:latin typeface="Aptos"/>
              </a:rPr>
              <a:t>sayısı 6.640’tan (2022) 1.</a:t>
            </a:r>
            <a:r>
              <a:rPr sz="1100" i="0" dirty="0" err="1">
                <a:solidFill>
                  <a:srgbClr val="33413D"/>
                </a:solidFill>
                <a:latin typeface="Aptos"/>
              </a:rPr>
              <a:t>662’ye </a:t>
            </a:r>
            <a:r>
              <a:rPr sz="1100" i="0" dirty="0">
                <a:solidFill>
                  <a:srgbClr val="33413D"/>
                </a:solidFill>
                <a:latin typeface="Aptos"/>
              </a:rPr>
              <a:t>(2025) </a:t>
            </a:r>
            <a:r>
              <a:rPr sz="1100" i="0" dirty="0" err="1">
                <a:solidFill>
                  <a:srgbClr val="33413D"/>
                </a:solidFill>
                <a:latin typeface="Aptos"/>
              </a:rPr>
              <a:t>geriledi</a:t>
            </a:r>
            <a:r>
              <a:rPr sz="1100" i="0" dirty="0">
                <a:solidFill>
                  <a:srgbClr val="33413D"/>
                </a:solidFill>
                <a:latin typeface="Aptos"/>
              </a:rPr>
              <a:t>. </a:t>
            </a:r>
            <a:r>
              <a:rPr sz="1100" i="0" dirty="0" err="1">
                <a:solidFill>
                  <a:srgbClr val="33413D"/>
                </a:solidFill>
                <a:latin typeface="Aptos"/>
              </a:rPr>
              <a:t>Bununla birlikte</a:t>
            </a:r>
            <a:r>
              <a:rPr sz="1100" i="0" dirty="0">
                <a:solidFill>
                  <a:srgbClr val="33413D"/>
                </a:solidFill>
                <a:latin typeface="Aptos"/>
              </a:rPr>
              <a:t>, </a:t>
            </a:r>
            <a:r>
              <a:rPr sz="1100" i="0" dirty="0">
                <a:solidFill>
                  <a:srgbClr val="33413D"/>
                </a:solidFill>
                <a:latin typeface="Aptos"/>
              </a:rPr>
              <a:t>Alanya </a:t>
            </a:r>
            <a:r>
              <a:rPr sz="1100" i="0" dirty="0">
                <a:solidFill>
                  <a:srgbClr val="33413D"/>
                </a:solidFill>
                <a:latin typeface="Aptos"/>
              </a:rPr>
              <a:t>dört yıldır </a:t>
            </a:r>
            <a:r>
              <a:rPr sz="1100" i="0" dirty="0" err="1">
                <a:solidFill>
                  <a:srgbClr val="33413D"/>
                </a:solidFill>
                <a:latin typeface="Aptos"/>
              </a:rPr>
              <a:t>üst üste </a:t>
            </a:r>
            <a:r>
              <a:rPr sz="1100" i="0" dirty="0" err="1">
                <a:solidFill>
                  <a:srgbClr val="33413D"/>
                </a:solidFill>
                <a:latin typeface="Aptos"/>
              </a:rPr>
              <a:t>tüm</a:t>
            </a:r>
            <a:r>
              <a:rPr sz="1100" i="0" dirty="0">
                <a:solidFill>
                  <a:srgbClr val="33413D"/>
                </a:solidFill>
                <a:latin typeface="Aptos"/>
              </a:rPr>
              <a:t> </a:t>
            </a:r>
            <a:r>
              <a:rPr sz="1100" i="0" dirty="0" err="1">
                <a:solidFill>
                  <a:srgbClr val="33413D"/>
                </a:solidFill>
                <a:latin typeface="Aptos"/>
              </a:rPr>
              <a:t>Türkiye’de </a:t>
            </a:r>
            <a:r>
              <a:rPr sz="1100" i="0" dirty="0" err="1">
                <a:solidFill>
                  <a:srgbClr val="33413D"/>
                </a:solidFill>
                <a:latin typeface="Aptos"/>
              </a:rPr>
              <a:t>Rus </a:t>
            </a:r>
            <a:r>
              <a:rPr sz="1100" i="0" dirty="0" err="1">
                <a:solidFill>
                  <a:srgbClr val="33413D"/>
                </a:solidFill>
                <a:latin typeface="Aptos"/>
              </a:rPr>
              <a:t>alıcılar </a:t>
            </a:r>
            <a:r>
              <a:rPr sz="1100" i="0" dirty="0">
                <a:solidFill>
                  <a:srgbClr val="33413D"/>
                </a:solidFill>
                <a:latin typeface="Aptos"/>
              </a:rPr>
              <a:t>tarafından </a:t>
            </a:r>
            <a:r>
              <a:rPr sz="1100" i="0" dirty="0" err="1">
                <a:solidFill>
                  <a:srgbClr val="33413D"/>
                </a:solidFill>
                <a:latin typeface="Aptos"/>
              </a:rPr>
              <a:t>en çok tercih edilen </a:t>
            </a:r>
            <a:r>
              <a:rPr sz="1100" i="0" dirty="0">
                <a:solidFill>
                  <a:srgbClr val="33413D"/>
                </a:solidFill>
                <a:latin typeface="Aptos"/>
              </a:rPr>
              <a:t>ilçe </a:t>
            </a:r>
            <a:r>
              <a:rPr sz="1100" i="0" dirty="0" err="1">
                <a:solidFill>
                  <a:srgbClr val="33413D"/>
                </a:solidFill>
                <a:latin typeface="Aptos"/>
              </a:rPr>
              <a:t>olmaya devam ediyor</a:t>
            </a:r>
            <a:r>
              <a:rPr sz="1100" i="0" dirty="0">
                <a:solidFill>
                  <a:srgbClr val="33413D"/>
                </a:solidFill>
                <a:latin typeface="Aptos"/>
              </a:rPr>
              <a:t>. </a:t>
            </a:r>
            <a:r>
              <a:rPr sz="1100" i="0" dirty="0" err="1">
                <a:solidFill>
                  <a:srgbClr val="33413D"/>
                </a:solidFill>
                <a:latin typeface="Aptos"/>
              </a:rPr>
              <a:t>Daralan </a:t>
            </a:r>
            <a:r>
              <a:rPr sz="1100" i="0" dirty="0">
                <a:solidFill>
                  <a:srgbClr val="33413D"/>
                </a:solidFill>
                <a:latin typeface="Aptos"/>
              </a:rPr>
              <a:t>bir pazarda, </a:t>
            </a:r>
            <a:r>
              <a:rPr sz="1100" i="0" dirty="0">
                <a:solidFill>
                  <a:srgbClr val="33413D"/>
                </a:solidFill>
                <a:latin typeface="Aptos"/>
              </a:rPr>
              <a:t>operasyonel </a:t>
            </a:r>
            <a:r>
              <a:rPr sz="1100" i="0" dirty="0" err="1">
                <a:solidFill>
                  <a:srgbClr val="33413D"/>
                </a:solidFill>
                <a:latin typeface="Aptos"/>
              </a:rPr>
              <a:t>mükemmellik </a:t>
            </a:r>
            <a:r>
              <a:rPr sz="1100" i="0" dirty="0">
                <a:solidFill>
                  <a:srgbClr val="33413D"/>
                </a:solidFill>
                <a:latin typeface="Aptos"/>
              </a:rPr>
              <a:t>ve </a:t>
            </a:r>
            <a:r>
              <a:rPr sz="1100" i="0" dirty="0" err="1">
                <a:solidFill>
                  <a:srgbClr val="33413D"/>
                </a:solidFill>
                <a:latin typeface="Aptos"/>
              </a:rPr>
              <a:t>dijital </a:t>
            </a:r>
            <a:r>
              <a:rPr sz="1100" i="0" dirty="0" err="1">
                <a:solidFill>
                  <a:srgbClr val="33413D"/>
                </a:solidFill>
                <a:latin typeface="Aptos"/>
              </a:rPr>
              <a:t>güven, </a:t>
            </a:r>
            <a:r>
              <a:rPr sz="1100" i="0" dirty="0" err="1">
                <a:solidFill>
                  <a:srgbClr val="33413D"/>
                </a:solidFill>
                <a:latin typeface="Aptos"/>
              </a:rPr>
              <a:t>büyüyen </a:t>
            </a:r>
            <a:r>
              <a:rPr sz="1100" i="0" dirty="0">
                <a:solidFill>
                  <a:srgbClr val="33413D"/>
                </a:solidFill>
                <a:latin typeface="Aptos"/>
              </a:rPr>
              <a:t>bir pazara </a:t>
            </a:r>
            <a:r>
              <a:rPr sz="1100" i="0" dirty="0" err="1">
                <a:solidFill>
                  <a:srgbClr val="33413D"/>
                </a:solidFill>
                <a:latin typeface="Aptos"/>
              </a:rPr>
              <a:t>kıyasla </a:t>
            </a:r>
            <a:r>
              <a:rPr sz="1100" i="0" dirty="0" err="1">
                <a:solidFill>
                  <a:srgbClr val="33413D"/>
                </a:solidFill>
                <a:latin typeface="Aptos"/>
              </a:rPr>
              <a:t>müşteri sadakatini </a:t>
            </a:r>
            <a:r>
              <a:rPr sz="1100" i="0" dirty="0" err="1">
                <a:solidFill>
                  <a:srgbClr val="33413D"/>
                </a:solidFill>
                <a:latin typeface="Aptos"/>
              </a:rPr>
              <a:t>daha fazla </a:t>
            </a:r>
            <a:r>
              <a:rPr sz="1100" i="0" dirty="0" err="1">
                <a:solidFill>
                  <a:srgbClr val="33413D"/>
                </a:solidFill>
                <a:latin typeface="Aptos"/>
              </a:rPr>
              <a:t>belirleyen faktörlerdir</a:t>
            </a:r>
            <a:r>
              <a:rPr sz="1100" i="0" dirty="0">
                <a:solidFill>
                  <a:srgbClr val="33413D"/>
                </a:solidFill>
                <a:latin typeface="Aptos"/>
              </a:rPr>
              <a:t>.</a:t>
            </a:r>
          </a:p>
        </p:txBody>
      </p:sp>
      <p:sp>
        <p:nvSpPr>
          <p:cNvPr id="10" name="Rounded Rectangle 9"/>
          <p:cNvSpPr/>
          <p:nvPr/>
        </p:nvSpPr>
        <p:spPr>
          <a:xfrm>
            <a:off x="64008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3941064"/>
            <a:ext cx="2183130" cy="492443"/>
          </a:xfrm>
          <a:prstGeom prst="rect">
            <a:avLst/>
          </a:prstGeom>
          <a:noFill/>
        </p:spPr>
        <p:txBody>
          <a:bodyPr wrap="square" lIns="0" tIns="0" rIns="0" bIns="0" anchor="t">
            <a:spAutoFit/>
          </a:bodyPr>
          <a:lstStyle/>
          <a:p>
            <a:r>
              <a:rPr sz="3200" b="1" i="0" dirty="0">
                <a:solidFill>
                  <a:srgbClr val="066B63"/>
                </a:solidFill>
                <a:latin typeface="Aptos"/>
              </a:rPr>
              <a:t>-9,4 </a:t>
            </a:r>
            <a:r>
              <a:rPr sz="3200" b="1" i="0" dirty="0">
                <a:solidFill>
                  <a:srgbClr val="B9822B"/>
                </a:solidFill>
                <a:latin typeface="Aptos"/>
              </a:rPr>
              <a:t>%</a:t>
            </a:r>
          </a:p>
        </p:txBody>
      </p:sp>
      <p:sp>
        <p:nvSpPr>
          <p:cNvPr id="12" name="TextBox 11"/>
          <p:cNvSpPr txBox="1"/>
          <p:nvPr/>
        </p:nvSpPr>
        <p:spPr>
          <a:xfrm>
            <a:off x="822960" y="4544568"/>
            <a:ext cx="2183130" cy="411480"/>
          </a:xfrm>
          <a:prstGeom prst="rect">
            <a:avLst/>
          </a:prstGeom>
          <a:noFill/>
        </p:spPr>
        <p:txBody>
          <a:bodyPr wrap="square" lIns="0" tIns="0" rIns="0" bIns="0" anchor="t">
            <a:spAutoFit/>
          </a:bodyPr>
          <a:lstStyle/>
          <a:p>
            <a:r>
              <a:rPr sz="1050" b="0" i="0">
                <a:solidFill>
                  <a:srgbClr val="64716D"/>
                </a:solidFill>
                <a:latin typeface="Aptos"/>
              </a:rPr>
              <a:t>Türkiye’de 2025 Yılı Yabancı Satışları (Bir Önceki Yıla Göre)</a:t>
            </a:r>
          </a:p>
        </p:txBody>
      </p:sp>
      <p:sp>
        <p:nvSpPr>
          <p:cNvPr id="13" name="Rounded Rectangle 12"/>
          <p:cNvSpPr/>
          <p:nvPr/>
        </p:nvSpPr>
        <p:spPr>
          <a:xfrm>
            <a:off x="341757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00450" y="3941064"/>
            <a:ext cx="2183130" cy="640080"/>
          </a:xfrm>
          <a:prstGeom prst="rect">
            <a:avLst/>
          </a:prstGeom>
          <a:noFill/>
        </p:spPr>
        <p:txBody>
          <a:bodyPr wrap="square" lIns="0" tIns="0" rIns="0" bIns="0" anchor="t">
            <a:spAutoFit/>
          </a:bodyPr>
          <a:lstStyle/>
          <a:p>
            <a:r>
              <a:rPr sz="3200" b="1" i="0">
                <a:solidFill>
                  <a:srgbClr val="066B63"/>
                </a:solidFill>
                <a:latin typeface="Aptos"/>
              </a:rPr>
              <a:t>4</a:t>
            </a:r>
          </a:p>
        </p:txBody>
      </p:sp>
      <p:sp>
        <p:nvSpPr>
          <p:cNvPr id="15" name="TextBox 14"/>
          <p:cNvSpPr txBox="1"/>
          <p:nvPr/>
        </p:nvSpPr>
        <p:spPr>
          <a:xfrm>
            <a:off x="3600450" y="4544568"/>
            <a:ext cx="2183130" cy="411480"/>
          </a:xfrm>
          <a:prstGeom prst="rect">
            <a:avLst/>
          </a:prstGeom>
          <a:noFill/>
        </p:spPr>
        <p:txBody>
          <a:bodyPr wrap="square" lIns="0" tIns="0" rIns="0" bIns="0" anchor="t">
            <a:spAutoFit/>
          </a:bodyPr>
          <a:lstStyle/>
          <a:p>
            <a:r>
              <a:rPr sz="1050" b="0" i="0">
                <a:solidFill>
                  <a:srgbClr val="64716D"/>
                </a:solidFill>
                <a:latin typeface="Aptos"/>
              </a:rPr>
              <a:t>Yıl üst üste: Alanya 1 numara (Rus alıcılar)</a:t>
            </a:r>
          </a:p>
        </p:txBody>
      </p:sp>
      <p:sp>
        <p:nvSpPr>
          <p:cNvPr id="16" name="Rounded Rectangle 15"/>
          <p:cNvSpPr/>
          <p:nvPr/>
        </p:nvSpPr>
        <p:spPr>
          <a:xfrm>
            <a:off x="619506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77940" y="3941064"/>
            <a:ext cx="2183130" cy="492443"/>
          </a:xfrm>
          <a:prstGeom prst="rect">
            <a:avLst/>
          </a:prstGeom>
          <a:noFill/>
        </p:spPr>
        <p:txBody>
          <a:bodyPr wrap="square" lIns="0" tIns="0" rIns="0" bIns="0" anchor="t">
            <a:spAutoFit/>
          </a:bodyPr>
          <a:lstStyle/>
          <a:p>
            <a:r>
              <a:rPr sz="3200" b="1" i="0" dirty="0">
                <a:solidFill>
                  <a:srgbClr val="066B63"/>
                </a:solidFill>
                <a:latin typeface="Aptos"/>
              </a:rPr>
              <a:t>8</a:t>
            </a:r>
            <a:r>
              <a:rPr sz="3200" b="1" i="0" dirty="0">
                <a:solidFill>
                  <a:srgbClr val="B9822B"/>
                </a:solidFill>
                <a:latin typeface="Aptos"/>
              </a:rPr>
              <a:t>8</a:t>
            </a:r>
            <a:r>
              <a:rPr sz="3200" b="1" i="0" dirty="0">
                <a:solidFill>
                  <a:srgbClr val="066B63"/>
                </a:solidFill>
                <a:latin typeface="Aptos"/>
              </a:rPr>
              <a:t>,6</a:t>
            </a:r>
          </a:p>
        </p:txBody>
      </p:sp>
      <p:sp>
        <p:nvSpPr>
          <p:cNvPr id="18" name="TextBox 17"/>
          <p:cNvSpPr txBox="1"/>
          <p:nvPr/>
        </p:nvSpPr>
        <p:spPr>
          <a:xfrm>
            <a:off x="6377940" y="4544568"/>
            <a:ext cx="2183130" cy="411480"/>
          </a:xfrm>
          <a:prstGeom prst="rect">
            <a:avLst/>
          </a:prstGeom>
          <a:noFill/>
        </p:spPr>
        <p:txBody>
          <a:bodyPr wrap="square" lIns="0" tIns="0" rIns="0" bIns="0" anchor="t">
            <a:spAutoFit/>
          </a:bodyPr>
          <a:lstStyle/>
          <a:p>
            <a:r>
              <a:rPr sz="1050" b="0" i="0">
                <a:solidFill>
                  <a:srgbClr val="64716D"/>
                </a:solidFill>
                <a:latin typeface="Aptos"/>
              </a:rPr>
              <a:t>Türkiye'de WhatsApp kullanımı</a:t>
            </a:r>
          </a:p>
        </p:txBody>
      </p:sp>
      <p:sp>
        <p:nvSpPr>
          <p:cNvPr id="19" name="Rounded Rectangle 18"/>
          <p:cNvSpPr/>
          <p:nvPr/>
        </p:nvSpPr>
        <p:spPr>
          <a:xfrm>
            <a:off x="8972550" y="3794760"/>
            <a:ext cx="2548890" cy="1234440"/>
          </a:xfrm>
          <a:prstGeom prst="roundRect">
            <a:avLst>
              <a:gd name="adj" fmla="val 9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55430" y="3941064"/>
            <a:ext cx="2183130" cy="492443"/>
          </a:xfrm>
          <a:prstGeom prst="rect">
            <a:avLst/>
          </a:prstGeom>
          <a:noFill/>
        </p:spPr>
        <p:txBody>
          <a:bodyPr wrap="square" lIns="0" tIns="0" rIns="0" bIns="0" anchor="t">
            <a:spAutoFit/>
          </a:bodyPr>
          <a:lstStyle/>
          <a:p>
            <a:r>
              <a:rPr sz="3200" b="1" i="0" dirty="0">
                <a:solidFill>
                  <a:srgbClr val="B9822B"/>
                </a:solidFill>
                <a:latin typeface="Aptos"/>
              </a:rPr>
              <a:t>%</a:t>
            </a:r>
            <a:r>
              <a:rPr sz="3200" b="1" i="0" dirty="0">
                <a:solidFill>
                  <a:srgbClr val="066B63"/>
                </a:solidFill>
                <a:latin typeface="Aptos"/>
              </a:rPr>
              <a:t>34</a:t>
            </a:r>
          </a:p>
        </p:txBody>
      </p:sp>
      <p:sp>
        <p:nvSpPr>
          <p:cNvPr id="21" name="TextBox 20"/>
          <p:cNvSpPr txBox="1"/>
          <p:nvPr/>
        </p:nvSpPr>
        <p:spPr>
          <a:xfrm>
            <a:off x="9155430" y="4544568"/>
            <a:ext cx="2183130" cy="411480"/>
          </a:xfrm>
          <a:prstGeom prst="rect">
            <a:avLst/>
          </a:prstGeom>
          <a:noFill/>
        </p:spPr>
        <p:txBody>
          <a:bodyPr wrap="square" lIns="0" tIns="0" rIns="0" bIns="0" anchor="t">
            <a:spAutoFit/>
          </a:bodyPr>
          <a:lstStyle/>
          <a:p>
            <a:r>
              <a:rPr sz="1050" b="0" i="0">
                <a:solidFill>
                  <a:srgbClr val="64716D"/>
                </a:solidFill>
                <a:latin typeface="Aptos"/>
              </a:rPr>
              <a:t>Emlak yöneticileri arasında yapay zeka kullanımı (%21)</a:t>
            </a:r>
          </a:p>
        </p:txBody>
      </p:sp>
      <p:sp>
        <p:nvSpPr>
          <p:cNvPr id="22" name="Rounded Rectangle 21"/>
          <p:cNvSpPr/>
          <p:nvPr/>
        </p:nvSpPr>
        <p:spPr>
          <a:xfrm>
            <a:off x="640080" y="5349240"/>
            <a:ext cx="10881360" cy="86868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 y="5349240"/>
            <a:ext cx="54864" cy="86868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5477256"/>
            <a:ext cx="10469880" cy="612648"/>
          </a:xfrm>
          <a:prstGeom prst="rect">
            <a:avLst/>
          </a:prstGeom>
          <a:noFill/>
        </p:spPr>
        <p:txBody>
          <a:bodyPr wrap="square" lIns="0" tIns="0" rIns="0" bIns="0" anchor="ctr">
            <a:spAutoFit/>
          </a:bodyPr>
          <a:lstStyle/>
          <a:p>
            <a:r>
              <a:rPr sz="1250" b="1" i="0">
                <a:solidFill>
                  <a:srgbClr val="044F49"/>
                </a:solidFill>
                <a:latin typeface="Aptos"/>
              </a:rPr>
              <a:t>Stratejik sonuç. </a:t>
            </a:r>
            <a:r>
              <a:rPr sz="1150" b="0" i="0">
                <a:solidFill>
                  <a:srgbClr val="33413D"/>
                </a:solidFill>
                <a:latin typeface="Aptos"/>
              </a:rPr>
              <a:t>Mevcut mülk sahiplerini ve kiracıları, belirgin ölçüde daha iyi yönetim, şeffaflık ve self-servis hizmetleriyle kendilerine bağlayanlar, daralan bir pazarda nispeten daha fazla pay kazanır.</a:t>
            </a:r>
          </a:p>
        </p:txBody>
      </p:sp>
      <p:sp>
        <p:nvSpPr>
          <p:cNvPr id="25" name="TextBox 24"/>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adına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26" name="TextBox 25"/>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5</a:t>
            </a:r>
          </a:p>
        </p:txBody>
      </p:sp>
      <p:pic>
        <p:nvPicPr>
          <p:cNvPr id="27" name="Picture 26"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02 · PAZAR ORTAMI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Rekabet standardı olarak yapay zeka ve dijital erişilebilirlik</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91640"/>
            <a:ext cx="5326380" cy="19202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837944"/>
            <a:ext cx="4869180" cy="897682"/>
          </a:xfrm>
          <a:prstGeom prst="rect">
            <a:avLst/>
          </a:prstGeom>
          <a:noFill/>
        </p:spPr>
        <p:txBody>
          <a:bodyPr wrap="square" lIns="0" tIns="0" rIns="0" bIns="0" anchor="t">
            <a:spAutoFit/>
          </a:bodyPr>
          <a:lstStyle/>
          <a:p>
            <a:r>
              <a:rPr sz="1300" b="1" i="0" dirty="0">
                <a:solidFill>
                  <a:srgbClr val="044F49"/>
                </a:solidFill>
                <a:latin typeface="Aptos"/>
              </a:rPr>
              <a:t>AI </a:t>
            </a:r>
            <a:r>
              <a:rPr sz="1300" b="1" i="0" dirty="0">
                <a:solidFill>
                  <a:srgbClr val="044F49"/>
                </a:solidFill>
                <a:latin typeface="Aptos"/>
              </a:rPr>
              <a:t>standart </a:t>
            </a:r>
            <a:r>
              <a:rPr sz="1300" b="1" i="0" dirty="0" err="1">
                <a:solidFill>
                  <a:srgbClr val="044F49"/>
                </a:solidFill>
                <a:latin typeface="Aptos"/>
              </a:rPr>
              <a:t>hale </a:t>
            </a:r>
            <a:r>
              <a:rPr sz="1300" b="1" i="0" dirty="0" err="1">
                <a:solidFill>
                  <a:srgbClr val="044F49"/>
                </a:solidFill>
                <a:latin typeface="Aptos"/>
              </a:rPr>
              <a:t>geliyor</a:t>
            </a:r>
          </a:p>
          <a:p>
            <a:pPr>
              <a:spcBef>
                <a:spcPts val="400"/>
              </a:spcBef>
            </a:pPr>
            <a:r>
              <a:rPr sz="1050" b="0" i="0" dirty="0">
                <a:solidFill>
                  <a:srgbClr val="64716D"/>
                </a:solidFill>
                <a:latin typeface="Aptos"/>
              </a:rPr>
              <a:t>Gayrimenkul </a:t>
            </a:r>
            <a:r>
              <a:rPr sz="1050" b="0" i="0" dirty="0" err="1">
                <a:solidFill>
                  <a:srgbClr val="64716D"/>
                </a:solidFill>
                <a:latin typeface="Aptos"/>
              </a:rPr>
              <a:t>yöneticileri </a:t>
            </a:r>
            <a:r>
              <a:rPr sz="1050" b="0" i="0" dirty="0" err="1">
                <a:solidFill>
                  <a:srgbClr val="64716D"/>
                </a:solidFill>
                <a:latin typeface="Aptos"/>
              </a:rPr>
              <a:t>arasında </a:t>
            </a:r>
            <a:r>
              <a:rPr sz="1050" b="0" i="0" dirty="0" err="1">
                <a:solidFill>
                  <a:srgbClr val="64716D"/>
                </a:solidFill>
                <a:latin typeface="Aptos"/>
              </a:rPr>
              <a:t>aktif </a:t>
            </a:r>
            <a:r>
              <a:rPr sz="1050" b="0" i="0" dirty="0">
                <a:solidFill>
                  <a:srgbClr val="64716D"/>
                </a:solidFill>
                <a:latin typeface="Aptos"/>
              </a:rPr>
              <a:t>AI </a:t>
            </a:r>
            <a:r>
              <a:rPr sz="1050" b="0" i="0" dirty="0" err="1">
                <a:solidFill>
                  <a:srgbClr val="64716D"/>
                </a:solidFill>
                <a:latin typeface="Aptos"/>
              </a:rPr>
              <a:t>kullanımı </a:t>
            </a:r>
            <a:r>
              <a:rPr sz="1050" b="0" i="0" dirty="0" err="1">
                <a:solidFill>
                  <a:srgbClr val="64716D"/>
                </a:solidFill>
                <a:latin typeface="Aptos"/>
              </a:rPr>
              <a:t>bir </a:t>
            </a:r>
            <a:r>
              <a:rPr sz="1050" b="0" i="0" dirty="0">
                <a:solidFill>
                  <a:srgbClr val="64716D"/>
                </a:solidFill>
                <a:latin typeface="Aptos"/>
              </a:rPr>
              <a:t>yıl </a:t>
            </a:r>
            <a:r>
              <a:rPr sz="1050" b="0" i="0" dirty="0">
                <a:solidFill>
                  <a:srgbClr val="64716D"/>
                </a:solidFill>
                <a:latin typeface="Aptos"/>
              </a:rPr>
              <a:t>içinde </a:t>
            </a:r>
            <a:r>
              <a:rPr sz="1050" b="0" i="0" dirty="0">
                <a:solidFill>
                  <a:srgbClr val="64716D"/>
                </a:solidFill>
                <a:latin typeface="Aptos"/>
              </a:rPr>
              <a:t>%21'den %34'e </a:t>
            </a:r>
            <a:r>
              <a:rPr sz="1050" b="0" i="0" dirty="0" err="1">
                <a:solidFill>
                  <a:srgbClr val="64716D"/>
                </a:solidFill>
                <a:latin typeface="Aptos"/>
              </a:rPr>
              <a:t>yükseldi</a:t>
            </a:r>
            <a:r>
              <a:rPr sz="1050" b="0" i="0" dirty="0">
                <a:solidFill>
                  <a:srgbClr val="64716D"/>
                </a:solidFill>
                <a:latin typeface="Aptos"/>
              </a:rPr>
              <a:t>. </a:t>
            </a:r>
            <a:r>
              <a:rPr sz="1050" b="0" i="0" dirty="0" err="1">
                <a:solidFill>
                  <a:srgbClr val="64716D"/>
                </a:solidFill>
                <a:latin typeface="Aptos"/>
              </a:rPr>
              <a:t>Önde gelen </a:t>
            </a:r>
            <a:r>
              <a:rPr sz="1050" b="0" i="0" dirty="0" err="1">
                <a:solidFill>
                  <a:srgbClr val="64716D"/>
                </a:solidFill>
                <a:latin typeface="Aptos"/>
              </a:rPr>
              <a:t>uluslararası </a:t>
            </a:r>
            <a:r>
              <a:rPr sz="1050" b="0" i="0" dirty="0" err="1">
                <a:solidFill>
                  <a:srgbClr val="64716D"/>
                </a:solidFill>
                <a:latin typeface="Aptos"/>
              </a:rPr>
              <a:t>sağlayıcılar</a:t>
            </a:r>
            <a:r>
              <a:rPr sz="1050" b="0" i="0" dirty="0">
                <a:solidFill>
                  <a:srgbClr val="64716D"/>
                </a:solidFill>
                <a:latin typeface="Aptos"/>
              </a:rPr>
              <a:t>, </a:t>
            </a:r>
            <a:r>
              <a:rPr sz="1050" b="0" i="0" dirty="0">
                <a:solidFill>
                  <a:srgbClr val="64716D"/>
                </a:solidFill>
                <a:latin typeface="Aptos"/>
              </a:rPr>
              <a:t>hassas </a:t>
            </a:r>
            <a:r>
              <a:rPr sz="1050" b="0" i="0" dirty="0" err="1">
                <a:solidFill>
                  <a:srgbClr val="64716D"/>
                </a:solidFill>
                <a:latin typeface="Aptos"/>
              </a:rPr>
              <a:t>kararların </a:t>
            </a:r>
            <a:r>
              <a:rPr sz="1050" b="0" i="0" dirty="0" err="1">
                <a:solidFill>
                  <a:srgbClr val="64716D"/>
                </a:solidFill>
                <a:latin typeface="Aptos"/>
              </a:rPr>
              <a:t>insan </a:t>
            </a:r>
            <a:r>
              <a:rPr sz="1050" b="0" i="0" dirty="0" err="1">
                <a:solidFill>
                  <a:srgbClr val="64716D"/>
                </a:solidFill>
                <a:latin typeface="Aptos"/>
              </a:rPr>
              <a:t>denetimine </a:t>
            </a:r>
            <a:r>
              <a:rPr sz="1050" b="0" i="0" dirty="0" err="1">
                <a:solidFill>
                  <a:srgbClr val="64716D"/>
                </a:solidFill>
                <a:latin typeface="Aptos"/>
              </a:rPr>
              <a:t>tabi olması </a:t>
            </a:r>
            <a:r>
              <a:rPr sz="1050" b="0" i="0" dirty="0" err="1">
                <a:solidFill>
                  <a:srgbClr val="64716D"/>
                </a:solidFill>
                <a:latin typeface="Aptos"/>
              </a:rPr>
              <a:t>ilkesini </a:t>
            </a:r>
            <a:r>
              <a:rPr sz="1050" b="0" i="0" dirty="0" err="1">
                <a:solidFill>
                  <a:srgbClr val="64716D"/>
                </a:solidFill>
                <a:latin typeface="Aptos"/>
              </a:rPr>
              <a:t>benimseyerek </a:t>
            </a:r>
            <a:r>
              <a:rPr sz="1050" b="0" i="0" dirty="0" err="1">
                <a:solidFill>
                  <a:srgbClr val="64716D"/>
                </a:solidFill>
                <a:latin typeface="Aptos"/>
              </a:rPr>
              <a:t>AI asistanlarını </a:t>
            </a:r>
            <a:r>
              <a:rPr sz="1050" b="0" i="0" dirty="0" err="1">
                <a:solidFill>
                  <a:srgbClr val="64716D"/>
                </a:solidFill>
                <a:latin typeface="Aptos"/>
              </a:rPr>
              <a:t>güncelledi</a:t>
            </a:r>
            <a:r>
              <a:rPr sz="1050" b="0" i="0" dirty="0">
                <a:solidFill>
                  <a:srgbClr val="64716D"/>
                </a:solidFill>
                <a:latin typeface="Aptos"/>
              </a:rPr>
              <a:t>. </a:t>
            </a:r>
            <a:r>
              <a:rPr sz="1050" b="0" i="0" dirty="0" err="1">
                <a:solidFill>
                  <a:srgbClr val="64716D"/>
                </a:solidFill>
                <a:latin typeface="Aptos"/>
              </a:rPr>
              <a:t>İşte </a:t>
            </a:r>
            <a:r>
              <a:rPr sz="1050" b="0" i="0" dirty="0">
                <a:solidFill>
                  <a:srgbClr val="64716D"/>
                </a:solidFill>
                <a:latin typeface="Aptos"/>
              </a:rPr>
              <a:t>bu </a:t>
            </a:r>
            <a:r>
              <a:rPr sz="1050" b="0" i="0" dirty="0" err="1">
                <a:solidFill>
                  <a:srgbClr val="64716D"/>
                </a:solidFill>
                <a:latin typeface="Aptos"/>
              </a:rPr>
              <a:t>ilke</a:t>
            </a:r>
            <a:r>
              <a:rPr sz="1050" b="0" i="0" dirty="0">
                <a:solidFill>
                  <a:srgbClr val="64716D"/>
                </a:solidFill>
                <a:latin typeface="Aptos"/>
              </a:rPr>
              <a:t>, 1Çatı'da temelden itibaren </a:t>
            </a:r>
            <a:r>
              <a:rPr sz="1050" b="0" i="0" dirty="0" err="1">
                <a:solidFill>
                  <a:srgbClr val="64716D"/>
                </a:solidFill>
                <a:latin typeface="Aptos"/>
              </a:rPr>
              <a:t>yerleşiktir</a:t>
            </a:r>
            <a:r>
              <a:rPr sz="1050" b="0" i="0" dirty="0">
                <a:solidFill>
                  <a:srgbClr val="64716D"/>
                </a:solidFill>
                <a:latin typeface="Aptos"/>
              </a:rPr>
              <a:t>.</a:t>
            </a:r>
          </a:p>
        </p:txBody>
      </p:sp>
      <p:sp>
        <p:nvSpPr>
          <p:cNvPr id="11" name="Rounded Rectangle 10"/>
          <p:cNvSpPr/>
          <p:nvPr/>
        </p:nvSpPr>
        <p:spPr>
          <a:xfrm>
            <a:off x="6195060" y="1691640"/>
            <a:ext cx="5326380" cy="19202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837944"/>
            <a:ext cx="4869180" cy="1645920"/>
          </a:xfrm>
          <a:prstGeom prst="rect">
            <a:avLst/>
          </a:prstGeom>
          <a:noFill/>
        </p:spPr>
        <p:txBody>
          <a:bodyPr wrap="square" lIns="0" tIns="0" rIns="0" bIns="0" anchor="t">
            <a:spAutoFit/>
          </a:bodyPr>
          <a:lstStyle/>
          <a:p>
            <a:r>
              <a:rPr sz="1300" b="1" i="0">
                <a:solidFill>
                  <a:srgbClr val="044F49"/>
                </a:solidFill>
                <a:latin typeface="Aptos"/>
              </a:rPr>
              <a:t>Dijital Erişilebilirlik</a:t>
            </a:r>
          </a:p>
          <a:p>
            <a:pPr>
              <a:spcBef>
                <a:spcPts val="400"/>
              </a:spcBef>
            </a:pPr>
            <a:r>
              <a:rPr sz="1050" b="0" i="0">
                <a:solidFill>
                  <a:srgbClr val="64716D"/>
                </a:solidFill>
                <a:latin typeface="Aptos"/>
              </a:rPr>
              <a:t>Uluslararası mülk sahipleri ve kiracılara dijital olarak son derece kolay bir şekilde ulaşılabiliyor: Türkiye’de WhatsApp kullanımı %88,6, internet kullanımı ise %90’ın üzerinde. Bu durum, uygulama mağazası engeli olmaksızın her cihazda çalışan, yüklenebilir, çok dilli bir web uygulaması yaklaşımını destekliyor.</a:t>
            </a:r>
          </a:p>
        </p:txBody>
      </p:sp>
      <p:sp>
        <p:nvSpPr>
          <p:cNvPr id="13" name="Rounded Rectangle 12"/>
          <p:cNvSpPr/>
          <p:nvPr/>
        </p:nvSpPr>
        <p:spPr>
          <a:xfrm>
            <a:off x="640080" y="5669280"/>
            <a:ext cx="10881360" cy="5486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5669280"/>
            <a:ext cx="54864" cy="5486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5797296"/>
            <a:ext cx="10469880" cy="292608"/>
          </a:xfrm>
          <a:prstGeom prst="rect">
            <a:avLst/>
          </a:prstGeom>
          <a:noFill/>
        </p:spPr>
        <p:txBody>
          <a:bodyPr wrap="square" lIns="0" tIns="0" rIns="0" bIns="0" anchor="ctr">
            <a:spAutoFit/>
          </a:bodyPr>
          <a:lstStyle/>
          <a:p>
            <a:r>
              <a:rPr sz="1250" b="1" i="0">
                <a:solidFill>
                  <a:srgbClr val="044F49"/>
                </a:solidFill>
                <a:latin typeface="Aptos"/>
              </a:rPr>
              <a:t>Sonuç: </a:t>
            </a:r>
            <a:r>
              <a:rPr sz="1150" b="0" i="0">
                <a:solidFill>
                  <a:srgbClr val="33413D"/>
                </a:solidFill>
                <a:latin typeface="Aptos"/>
              </a:rPr>
              <a:t>Küçülen pazar + artan yapay zeka kabulü = güven oluşturucu, yapay zeka destekli operasyonel mükemmellik için ideal zaman.</a:t>
            </a:r>
          </a:p>
        </p:txBody>
      </p:sp>
      <p:sp>
        <p:nvSpPr>
          <p:cNvPr id="16" name="TextBox 15"/>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adına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7" name="TextBox 16"/>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6</a:t>
            </a:r>
          </a:p>
        </p:txBody>
      </p:sp>
      <p:pic>
        <p:nvPicPr>
          <p:cNvPr id="18" name="Picture 17"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8.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03</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Rekabet ve Konumlandırma</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508760"/>
            <a:ext cx="10881360" cy="176972"/>
          </a:xfrm>
          <a:prstGeom prst="rect">
            <a:avLst/>
          </a:prstGeom>
          <a:noFill/>
        </p:spPr>
        <p:txBody>
          <a:bodyPr wrap="square" lIns="0" tIns="0" rIns="0" bIns="0" anchor="t">
            <a:spAutoFit/>
          </a:bodyPr>
          <a:lstStyle/>
          <a:p>
            <a:pPr>
              <a:spcAft>
                <a:spcPts val="600"/>
              </a:spcAft>
            </a:pPr>
            <a:r>
              <a:rPr sz="1150" i="0" dirty="0" err="1">
                <a:solidFill>
                  <a:srgbClr val="33413D"/>
                </a:solidFill>
                <a:latin typeface="Aptos"/>
              </a:rPr>
              <a:t>Türk</a:t>
            </a:r>
            <a:r>
              <a:rPr sz="1150" i="0" dirty="0">
                <a:solidFill>
                  <a:srgbClr val="33413D"/>
                </a:solidFill>
                <a:latin typeface="Aptos"/>
              </a:rPr>
              <a:t> </a:t>
            </a:r>
            <a:r>
              <a:rPr sz="1150" i="0" dirty="0">
                <a:solidFill>
                  <a:srgbClr val="33413D"/>
                </a:solidFill>
                <a:latin typeface="Aptos"/>
              </a:rPr>
              <a:t>pazarı</a:t>
            </a:r>
            <a:r>
              <a:rPr lang="de-DE" sz="1150" i="0" dirty="0">
                <a:solidFill>
                  <a:srgbClr val="33413D"/>
                </a:solidFill>
                <a:latin typeface="Aptos"/>
              </a:rPr>
              <a:t>, </a:t>
            </a:r>
            <a:r>
              <a:rPr sz="1150" i="0" dirty="0" err="1">
                <a:solidFill>
                  <a:srgbClr val="33413D"/>
                </a:solidFill>
                <a:latin typeface="Aptos"/>
              </a:rPr>
              <a:t>yerleşik </a:t>
            </a:r>
            <a:r>
              <a:rPr sz="1150" i="0" dirty="0" err="1">
                <a:solidFill>
                  <a:srgbClr val="33413D"/>
                </a:solidFill>
                <a:latin typeface="Aptos"/>
              </a:rPr>
              <a:t>çözümler </a:t>
            </a:r>
            <a:r>
              <a:rPr sz="1150" i="0" dirty="0" err="1">
                <a:solidFill>
                  <a:srgbClr val="33413D"/>
                </a:solidFill>
                <a:latin typeface="Aptos"/>
              </a:rPr>
              <a:t>sunmaktadır</a:t>
            </a:r>
            <a:r>
              <a:rPr lang="de-DE" sz="1150" i="0" dirty="0">
                <a:solidFill>
                  <a:srgbClr val="33413D"/>
                </a:solidFill>
                <a:latin typeface="Aptos"/>
              </a:rPr>
              <a:t>; </a:t>
            </a:r>
            <a:r>
              <a:rPr sz="1150" i="0" dirty="0" err="1">
                <a:solidFill>
                  <a:srgbClr val="33413D"/>
                </a:solidFill>
                <a:latin typeface="Aptos"/>
              </a:rPr>
              <a:t>ancak </a:t>
            </a:r>
            <a:r>
              <a:rPr sz="1150" i="0" dirty="0">
                <a:solidFill>
                  <a:srgbClr val="33413D"/>
                </a:solidFill>
                <a:latin typeface="Aptos"/>
              </a:rPr>
              <a:t>bunların</a:t>
            </a:r>
            <a:r>
              <a:rPr sz="1150" i="0" dirty="0" err="1">
                <a:solidFill>
                  <a:srgbClr val="33413D"/>
                </a:solidFill>
                <a:latin typeface="Aptos"/>
              </a:rPr>
              <a:t> hiçbiri</a:t>
            </a:r>
            <a:r>
              <a:rPr sz="1150" i="0" dirty="0">
                <a:solidFill>
                  <a:srgbClr val="33413D"/>
                </a:solidFill>
                <a:latin typeface="Aptos"/>
              </a:rPr>
              <a:t> 1Çatı'nın </a:t>
            </a:r>
            <a:r>
              <a:rPr sz="1150" i="0" dirty="0" err="1">
                <a:solidFill>
                  <a:srgbClr val="33413D"/>
                </a:solidFill>
                <a:latin typeface="Aptos"/>
              </a:rPr>
              <a:t>öne çıkardığı </a:t>
            </a:r>
            <a:r>
              <a:rPr sz="1150" i="0" dirty="0">
                <a:solidFill>
                  <a:srgbClr val="33413D"/>
                </a:solidFill>
                <a:latin typeface="Aptos"/>
              </a:rPr>
              <a:t>dört </a:t>
            </a:r>
            <a:r>
              <a:rPr sz="1150" i="0" dirty="0" err="1">
                <a:solidFill>
                  <a:srgbClr val="33413D"/>
                </a:solidFill>
                <a:latin typeface="Aptos"/>
              </a:rPr>
              <a:t>güçlü</a:t>
            </a:r>
            <a:r>
              <a:rPr sz="1150" i="0" dirty="0">
                <a:solidFill>
                  <a:srgbClr val="33413D"/>
                </a:solidFill>
                <a:latin typeface="Aptos"/>
              </a:rPr>
              <a:t> yönü </a:t>
            </a:r>
            <a:r>
              <a:rPr sz="1150" i="0" dirty="0">
                <a:solidFill>
                  <a:srgbClr val="33413D"/>
                </a:solidFill>
                <a:latin typeface="Aptos"/>
              </a:rPr>
              <a:t>bir arada</a:t>
            </a:r>
            <a:r>
              <a:rPr sz="1150" i="0" dirty="0" err="1">
                <a:solidFill>
                  <a:srgbClr val="33413D"/>
                </a:solidFill>
                <a:latin typeface="Aptos"/>
              </a:rPr>
              <a:t> barındırmamaktadır</a:t>
            </a:r>
            <a:r>
              <a:rPr sz="1150" i="0" dirty="0">
                <a:solidFill>
                  <a:srgbClr val="33413D"/>
                </a:solidFill>
                <a:latin typeface="Aptos"/>
              </a:rPr>
              <a:t>.</a:t>
            </a:r>
          </a:p>
        </p:txBody>
      </p:sp>
      <p:graphicFrame>
        <p:nvGraphicFramePr>
          <p:cNvPr id="10" name="Table 9"/>
          <p:cNvGraphicFramePr>
            <a:graphicFrameLocks noGrp="1"/>
          </p:cNvGraphicFramePr>
          <p:nvPr/>
        </p:nvGraphicFramePr>
        <p:xfrm>
          <a:off x="640080" y="2057400"/>
          <a:ext cx="10881359" cy="1911096"/>
        </p:xfrm>
        <a:graphic>
          <a:graphicData uri="http://schemas.openxmlformats.org/drawingml/2006/table">
            <a:tbl>
              <a:tblPr>
                <a:tableStyleId>{5C22544A-7EE6-4342-B048-85BDC9FD1C3A}</a:tableStyleId>
              </a:tblPr>
              <a:tblGrid>
                <a:gridCol w="2393899">
                  <a:extLst>
                    <a:ext uri="{9D8B030D-6E8A-4147-A177-3AD203B41FA5}">
                      <a16:colId xmlns:a16="http://schemas.microsoft.com/office/drawing/2014/main" val="20000"/>
                    </a:ext>
                  </a:extLst>
                </a:gridCol>
                <a:gridCol w="4352544">
                  <a:extLst>
                    <a:ext uri="{9D8B030D-6E8A-4147-A177-3AD203B41FA5}">
                      <a16:colId xmlns:a16="http://schemas.microsoft.com/office/drawing/2014/main" val="20001"/>
                    </a:ext>
                  </a:extLst>
                </a:gridCol>
                <a:gridCol w="4134916">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Tedarikçiler</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Profili</a:t>
                      </a:r>
                    </a:p>
                  </a:txBody>
                  <a:tcPr marL="73152" marR="73152" marT="36576" marB="36576" anchor="ctr">
                    <a:solidFill>
                      <a:srgbClr val="066B63"/>
                    </a:solidFill>
                  </a:tcPr>
                </a:tc>
                <a:tc>
                  <a:txBody>
                    <a:bodyPr/>
                    <a:lstStyle/>
                    <a:p>
                      <a:r>
                        <a:rPr sz="1050" b="1" i="0">
                          <a:solidFill>
                            <a:srgbClr val="FFFFFF"/>
                          </a:solidFill>
                          <a:latin typeface="Aptos"/>
                        </a:rPr>
                        <a:t>1Çatı için Fırsat</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Apsiyon</a:t>
                      </a:r>
                    </a:p>
                  </a:txBody>
                  <a:tcPr marL="73152" marR="73152" marT="36576" marB="36576" anchor="ctr">
                    <a:solidFill>
                      <a:srgbClr val="FFFFFF"/>
                    </a:solidFill>
                  </a:tcPr>
                </a:tc>
                <a:tc>
                  <a:txBody>
                    <a:bodyPr/>
                    <a:lstStyle/>
                    <a:p>
                      <a:r>
                        <a:rPr sz="1050" b="0" i="0">
                          <a:solidFill>
                            <a:srgbClr val="33413D"/>
                          </a:solidFill>
                          <a:latin typeface="Aptos"/>
                        </a:rPr>
                        <a:t>En güçlü yerel referans, geniş ürün yelpazesi, 2024'ten beri iki WhatsApp AI asistanı.</a:t>
                      </a:r>
                    </a:p>
                  </a:txBody>
                  <a:tcPr marL="73152" marR="73152" marT="36576" marB="36576" anchor="ctr">
                    <a:solidFill>
                      <a:srgbClr val="FFFFFF"/>
                    </a:solidFill>
                  </a:tcPr>
                </a:tc>
                <a:tc>
                  <a:txBody>
                    <a:bodyPr/>
                    <a:lstStyle/>
                    <a:p>
                      <a:r>
                        <a:rPr sz="1050" b="0" i="0">
                          <a:solidFill>
                            <a:srgbClr val="33413D"/>
                          </a:solidFill>
                          <a:latin typeface="Aptos"/>
                        </a:rPr>
                        <a:t>Muhasebe açısından güvenilir finansal detaylar yok; 1Çatı, tüm hassas AI eylemleri için sıkı bir insan onayı süreci uyguluyor.</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Senyonet / Yönetimcell</a:t>
                      </a:r>
                    </a:p>
                  </a:txBody>
                  <a:tcPr marL="73152" marR="73152" marT="36576" marB="36576" anchor="ctr">
                    <a:solidFill>
                      <a:srgbClr val="F1F5F4"/>
                    </a:solidFill>
                  </a:tcPr>
                </a:tc>
                <a:tc>
                  <a:txBody>
                    <a:bodyPr/>
                    <a:lstStyle/>
                    <a:p>
                      <a:r>
                        <a:rPr sz="1050" b="0" i="0">
                          <a:solidFill>
                            <a:srgbClr val="33413D"/>
                          </a:solidFill>
                          <a:latin typeface="Aptos"/>
                        </a:rPr>
                        <a:t>Sağlam yönetim modülleri, tesis odaklılık ve basitlik.</a:t>
                      </a:r>
                    </a:p>
                  </a:txBody>
                  <a:tcPr marL="73152" marR="73152" marT="36576" marB="36576" anchor="ctr">
                    <a:solidFill>
                      <a:srgbClr val="F1F5F4"/>
                    </a:solidFill>
                  </a:tcPr>
                </a:tc>
                <a:tc>
                  <a:txBody>
                    <a:bodyPr/>
                    <a:lstStyle/>
                    <a:p>
                      <a:r>
                        <a:rPr sz="1050" b="0" i="0" dirty="0" err="1">
                          <a:solidFill>
                            <a:srgbClr val="33413D"/>
                          </a:solidFill>
                          <a:latin typeface="Aptos"/>
                        </a:rPr>
                        <a:t>Belgelenmiş </a:t>
                      </a:r>
                      <a:r>
                        <a:rPr sz="1050" b="0" i="0" dirty="0" err="1">
                          <a:solidFill>
                            <a:srgbClr val="33413D"/>
                          </a:solidFill>
                          <a:latin typeface="Aptos"/>
                        </a:rPr>
                        <a:t>AI işlevleri </a:t>
                      </a:r>
                      <a:r>
                        <a:rPr sz="1050" b="0" i="0" dirty="0">
                          <a:solidFill>
                            <a:srgbClr val="33413D"/>
                          </a:solidFill>
                          <a:latin typeface="Aptos"/>
                        </a:rPr>
                        <a:t>yok </a:t>
                      </a:r>
                      <a:r>
                        <a:rPr lang="de-DE" sz="1050" b="0" i="0" dirty="0">
                          <a:solidFill>
                            <a:srgbClr val="33413D"/>
                          </a:solidFill>
                          <a:latin typeface="Aptos"/>
                        </a:rPr>
                        <a:t>– </a:t>
                      </a:r>
                      <a:r>
                        <a:rPr sz="1050" b="0" i="0" dirty="0" err="1">
                          <a:solidFill>
                            <a:srgbClr val="33413D"/>
                          </a:solidFill>
                          <a:latin typeface="Aptos"/>
                        </a:rPr>
                        <a:t>daha derin </a:t>
                      </a:r>
                      <a:r>
                        <a:rPr sz="1050" b="0" i="0" dirty="0" err="1">
                          <a:solidFill>
                            <a:srgbClr val="33413D"/>
                          </a:solidFill>
                          <a:latin typeface="Aptos"/>
                        </a:rPr>
                        <a:t>bir yetki yapısı </a:t>
                      </a:r>
                      <a:r>
                        <a:rPr sz="1050" b="0" i="0" dirty="0">
                          <a:solidFill>
                            <a:srgbClr val="33413D"/>
                          </a:solidFill>
                          <a:latin typeface="Aptos"/>
                        </a:rPr>
                        <a:t>ve </a:t>
                      </a:r>
                      <a:r>
                        <a:rPr sz="1050" b="0" i="0" dirty="0" err="1">
                          <a:solidFill>
                            <a:srgbClr val="33413D"/>
                          </a:solidFill>
                          <a:latin typeface="Aptos"/>
                        </a:rPr>
                        <a:t>izlenebilirlik </a:t>
                      </a:r>
                      <a:r>
                        <a:rPr sz="1050" b="0" i="0" dirty="0">
                          <a:solidFill>
                            <a:srgbClr val="33413D"/>
                          </a:solidFill>
                          <a:latin typeface="Aptos"/>
                        </a:rPr>
                        <a:t>için alan var</a:t>
                      </a:r>
                      <a:r>
                        <a:rPr sz="1050" b="0" i="0" dirty="0">
                          <a:solidFill>
                            <a:srgbClr val="33413D"/>
                          </a:solidFill>
                          <a:latin typeface="Aptos"/>
                        </a:rPr>
                        <a:t>.</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Aidatım / Siteplus</a:t>
                      </a:r>
                    </a:p>
                  </a:txBody>
                  <a:tcPr marL="73152" marR="73152" marT="36576" marB="36576" anchor="ctr">
                    <a:solidFill>
                      <a:srgbClr val="FFFFFF"/>
                    </a:solidFill>
                  </a:tcPr>
                </a:tc>
                <a:tc>
                  <a:txBody>
                    <a:bodyPr/>
                    <a:lstStyle/>
                    <a:p>
                      <a:r>
                        <a:rPr sz="1050" b="0" i="0">
                          <a:solidFill>
                            <a:srgbClr val="33413D"/>
                          </a:solidFill>
                          <a:latin typeface="Aptos"/>
                        </a:rPr>
                        <a:t>Yazılım artı hizmet hibrit modeli veya tesis hizmet sağlayıcısı.</a:t>
                      </a:r>
                    </a:p>
                  </a:txBody>
                  <a:tcPr marL="73152" marR="73152" marT="36576" marB="36576" anchor="ctr">
                    <a:solidFill>
                      <a:srgbClr val="FFFFFF"/>
                    </a:solidFill>
                  </a:tcPr>
                </a:tc>
                <a:tc>
                  <a:txBody>
                    <a:bodyPr/>
                    <a:lstStyle/>
                    <a:p>
                      <a:r>
                        <a:rPr sz="1050" b="0" i="0">
                          <a:solidFill>
                            <a:srgbClr val="33413D"/>
                          </a:solidFill>
                          <a:latin typeface="Aptos"/>
                        </a:rPr>
                        <a:t>1Çatı anlamında kesintisiz bir self-servis portalı yok.</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Yeni yapay zeka tabanlı (Çardak, Odyosi)</a:t>
                      </a:r>
                    </a:p>
                  </a:txBody>
                  <a:tcPr marL="73152" marR="73152" marT="36576" marB="36576" anchor="ctr">
                    <a:solidFill>
                      <a:srgbClr val="F1F5F4"/>
                    </a:solidFill>
                  </a:tcPr>
                </a:tc>
                <a:tc>
                  <a:txBody>
                    <a:bodyPr/>
                    <a:lstStyle/>
                    <a:p>
                      <a:r>
                        <a:rPr sz="1050" b="0" i="0">
                          <a:solidFill>
                            <a:srgbClr val="33413D"/>
                          </a:solidFill>
                          <a:latin typeface="Aptos"/>
                        </a:rPr>
                        <a:t>Ön muhasebe ve risk analizine odaklanan, yapay zeka teknolojisini kullanan genç Türk rakipler.</a:t>
                      </a:r>
                    </a:p>
                  </a:txBody>
                  <a:tcPr marL="73152" marR="73152" marT="36576" marB="36576" anchor="ctr">
                    <a:solidFill>
                      <a:srgbClr val="F1F5F4"/>
                    </a:solidFill>
                  </a:tcPr>
                </a:tc>
                <a:tc>
                  <a:txBody>
                    <a:bodyPr/>
                    <a:lstStyle/>
                    <a:p>
                      <a:r>
                        <a:rPr sz="1050" b="0" i="0" dirty="0" err="1">
                          <a:solidFill>
                            <a:srgbClr val="33413D"/>
                          </a:solidFill>
                          <a:latin typeface="Aptos"/>
                        </a:rPr>
                        <a:t>Erken uyarı sinyali </a:t>
                      </a:r>
                      <a:r>
                        <a:rPr lang="de-DE" sz="1050" b="0" i="0" dirty="0">
                          <a:solidFill>
                            <a:srgbClr val="33413D"/>
                          </a:solidFill>
                          <a:latin typeface="Aptos"/>
                        </a:rPr>
                        <a:t>–</a:t>
                      </a:r>
                      <a:r>
                        <a:rPr sz="1050" b="0" i="0" dirty="0">
                          <a:solidFill>
                            <a:srgbClr val="33413D"/>
                          </a:solidFill>
                          <a:latin typeface="Aptos"/>
                        </a:rPr>
                        <a:t> 1Çatı yol haritasındaki </a:t>
                      </a:r>
                      <a:r>
                        <a:rPr sz="1050" b="0" i="0" dirty="0" err="1">
                          <a:solidFill>
                            <a:srgbClr val="33413D"/>
                          </a:solidFill>
                          <a:latin typeface="Aptos"/>
                        </a:rPr>
                        <a:t>işlevlere </a:t>
                      </a:r>
                      <a:r>
                        <a:rPr sz="1050" b="0" i="0" dirty="0" err="1">
                          <a:solidFill>
                            <a:srgbClr val="33413D"/>
                          </a:solidFill>
                          <a:latin typeface="Aptos"/>
                        </a:rPr>
                        <a:t>yönelik </a:t>
                      </a:r>
                      <a:r>
                        <a:rPr sz="1050" b="0" i="0" dirty="0" err="1">
                          <a:solidFill>
                            <a:srgbClr val="33413D"/>
                          </a:solidFill>
                          <a:latin typeface="Aptos"/>
                        </a:rPr>
                        <a:t>talebi </a:t>
                      </a:r>
                      <a:r>
                        <a:rPr sz="1050" b="0" i="0" dirty="0" err="1">
                          <a:solidFill>
                            <a:srgbClr val="33413D"/>
                          </a:solidFill>
                          <a:latin typeface="Aptos"/>
                        </a:rPr>
                        <a:t>teyit ediyor</a:t>
                      </a:r>
                      <a:r>
                        <a:rPr sz="1050" b="0" i="0" dirty="0">
                          <a:solidFill>
                            <a:srgbClr val="33413D"/>
                          </a:solidFill>
                          <a:latin typeface="Aptos"/>
                        </a:rPr>
                        <a:t>.</a:t>
                      </a:r>
                    </a:p>
                  </a:txBody>
                  <a:tcPr marL="73152" marR="73152" marT="36576" marB="36576" anchor="ctr">
                    <a:solidFill>
                      <a:srgbClr val="F1F5F4"/>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2" name="TextBox 11"/>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7</a:t>
            </a:r>
          </a:p>
        </p:txBody>
      </p:sp>
      <p:pic>
        <p:nvPicPr>
          <p:cNvPr id="13" name="Picture 12"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356"/>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03 · REKABET</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1Çatı'nın doldurduğu pazar boşluğu</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73736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883664"/>
            <a:ext cx="4869180" cy="1188720"/>
          </a:xfrm>
          <a:prstGeom prst="rect">
            <a:avLst/>
          </a:prstGeom>
          <a:noFill/>
        </p:spPr>
        <p:txBody>
          <a:bodyPr wrap="square" lIns="0" tIns="0" rIns="0" bIns="0" anchor="t">
            <a:spAutoFit/>
          </a:bodyPr>
          <a:lstStyle/>
          <a:p>
            <a:r>
              <a:rPr sz="1300" b="1" i="0">
                <a:solidFill>
                  <a:srgbClr val="044F49"/>
                </a:solidFill>
                <a:latin typeface="Aptos"/>
              </a:rPr>
              <a:t>(a)  Güvenilir finans yönetimi</a:t>
            </a:r>
          </a:p>
          <a:p>
            <a:pPr>
              <a:spcBef>
                <a:spcPts val="400"/>
              </a:spcBef>
            </a:pPr>
            <a:r>
              <a:rPr sz="1050" b="0" i="0">
                <a:solidFill>
                  <a:srgbClr val="64716D"/>
                </a:solidFill>
                <a:latin typeface="Aptos"/>
              </a:rPr>
              <a:t>Değişmez kayıtlarla muhasebe açısından sürdürülebilir hesap ve katkı yönetimi.</a:t>
            </a:r>
          </a:p>
        </p:txBody>
      </p:sp>
      <p:sp>
        <p:nvSpPr>
          <p:cNvPr id="11" name="Rounded Rectangle 10"/>
          <p:cNvSpPr/>
          <p:nvPr/>
        </p:nvSpPr>
        <p:spPr>
          <a:xfrm>
            <a:off x="6195060" y="173736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883664"/>
            <a:ext cx="4869180" cy="1188720"/>
          </a:xfrm>
          <a:prstGeom prst="rect">
            <a:avLst/>
          </a:prstGeom>
          <a:noFill/>
        </p:spPr>
        <p:txBody>
          <a:bodyPr wrap="square" lIns="0" tIns="0" rIns="0" bIns="0" anchor="t">
            <a:spAutoFit/>
          </a:bodyPr>
          <a:lstStyle/>
          <a:p>
            <a:r>
              <a:rPr sz="1300" b="1" i="0">
                <a:solidFill>
                  <a:srgbClr val="044F49"/>
                </a:solidFill>
                <a:latin typeface="Aptos"/>
              </a:rPr>
              <a:t>(b)  Yapılandırılmış Hizmet Masası</a:t>
            </a:r>
          </a:p>
          <a:p>
            <a:pPr>
              <a:spcBef>
                <a:spcPts val="400"/>
              </a:spcBef>
            </a:pPr>
            <a:r>
              <a:rPr sz="1050" b="0" i="0">
                <a:solidFill>
                  <a:srgbClr val="64716D"/>
                </a:solidFill>
                <a:latin typeface="Aptos"/>
              </a:rPr>
              <a:t>Net işlem süreleri (SLA) ve eskalasyon mekanizmasına sahip bilet sistemi.</a:t>
            </a:r>
          </a:p>
        </p:txBody>
      </p:sp>
      <p:sp>
        <p:nvSpPr>
          <p:cNvPr id="13" name="Rounded Rectangle 12"/>
          <p:cNvSpPr/>
          <p:nvPr/>
        </p:nvSpPr>
        <p:spPr>
          <a:xfrm>
            <a:off x="640080" y="342900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5304"/>
            <a:ext cx="4869180" cy="1188720"/>
          </a:xfrm>
          <a:prstGeom prst="rect">
            <a:avLst/>
          </a:prstGeom>
          <a:noFill/>
        </p:spPr>
        <p:txBody>
          <a:bodyPr wrap="square" lIns="0" tIns="0" rIns="0" bIns="0" anchor="t">
            <a:spAutoFit/>
          </a:bodyPr>
          <a:lstStyle/>
          <a:p>
            <a:r>
              <a:rPr sz="1300" b="1" i="0">
                <a:solidFill>
                  <a:srgbClr val="044F49"/>
                </a:solidFill>
                <a:latin typeface="Aptos"/>
              </a:rPr>
              <a:t>(c)  Halka açık erişim kanalı</a:t>
            </a:r>
          </a:p>
          <a:p>
            <a:pPr>
              <a:spcBef>
                <a:spcPts val="400"/>
              </a:spcBef>
            </a:pPr>
            <a:r>
              <a:rPr sz="1050" b="0" i="0">
                <a:solidFill>
                  <a:srgbClr val="64716D"/>
                </a:solidFill>
                <a:latin typeface="Aptos"/>
              </a:rPr>
              <a:t>Belirli bir yeni inşaat projesi için hesap gerektirmeyen kayıt ve bildirim kanalı.</a:t>
            </a:r>
          </a:p>
        </p:txBody>
      </p:sp>
      <p:sp>
        <p:nvSpPr>
          <p:cNvPr id="15" name="Rounded Rectangle 14"/>
          <p:cNvSpPr/>
          <p:nvPr/>
        </p:nvSpPr>
        <p:spPr>
          <a:xfrm>
            <a:off x="6195060" y="3429000"/>
            <a:ext cx="5326380" cy="14630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575304"/>
            <a:ext cx="4869180" cy="1188720"/>
          </a:xfrm>
          <a:prstGeom prst="rect">
            <a:avLst/>
          </a:prstGeom>
          <a:noFill/>
        </p:spPr>
        <p:txBody>
          <a:bodyPr wrap="square" lIns="0" tIns="0" rIns="0" bIns="0" anchor="t">
            <a:spAutoFit/>
          </a:bodyPr>
          <a:lstStyle/>
          <a:p>
            <a:r>
              <a:rPr sz="1300" b="1" i="0" dirty="0">
                <a:solidFill>
                  <a:srgbClr val="044F49"/>
                </a:solidFill>
                <a:latin typeface="Aptos"/>
              </a:rPr>
              <a:t>(d) </a:t>
            </a:r>
            <a:r>
              <a:rPr sz="1300" b="1" i="0" dirty="0" err="1">
                <a:solidFill>
                  <a:srgbClr val="044F49"/>
                </a:solidFill>
                <a:latin typeface="Aptos"/>
              </a:rPr>
              <a:t> Kontrollü </a:t>
            </a:r>
            <a:r>
              <a:rPr sz="1300" b="1" i="0" dirty="0">
                <a:solidFill>
                  <a:srgbClr val="044F49"/>
                </a:solidFill>
                <a:latin typeface="Aptos"/>
              </a:rPr>
              <a:t>yapay zeka</a:t>
            </a:r>
          </a:p>
          <a:p>
            <a:pPr>
              <a:spcBef>
                <a:spcPts val="400"/>
              </a:spcBef>
            </a:pPr>
            <a:r>
              <a:rPr sz="1050" b="0" i="0" dirty="0">
                <a:solidFill>
                  <a:srgbClr val="64716D"/>
                </a:solidFill>
                <a:latin typeface="Aptos"/>
              </a:rPr>
              <a:t>Hassas </a:t>
            </a:r>
            <a:r>
              <a:rPr sz="1050" b="0" i="0" dirty="0" err="1">
                <a:solidFill>
                  <a:srgbClr val="64716D"/>
                </a:solidFill>
                <a:latin typeface="Aptos"/>
              </a:rPr>
              <a:t>eylemleri </a:t>
            </a:r>
            <a:r>
              <a:rPr sz="1050" b="0" i="0" dirty="0" err="1">
                <a:solidFill>
                  <a:srgbClr val="64716D"/>
                </a:solidFill>
                <a:latin typeface="Aptos"/>
              </a:rPr>
              <a:t>kendi başına </a:t>
            </a:r>
            <a:r>
              <a:rPr sz="1050" b="0" i="0" dirty="0" err="1">
                <a:solidFill>
                  <a:srgbClr val="64716D"/>
                </a:solidFill>
                <a:latin typeface="Aptos"/>
              </a:rPr>
              <a:t>gerçekleştirmek </a:t>
            </a:r>
            <a:r>
              <a:rPr sz="1050" b="0" i="0" dirty="0" err="1">
                <a:solidFill>
                  <a:srgbClr val="64716D"/>
                </a:solidFill>
                <a:latin typeface="Aptos"/>
              </a:rPr>
              <a:t>yerine</a:t>
            </a:r>
            <a:r>
              <a:rPr sz="1050" b="0" i="0" dirty="0" err="1">
                <a:solidFill>
                  <a:srgbClr val="64716D"/>
                </a:solidFill>
                <a:latin typeface="Aptos"/>
              </a:rPr>
              <a:t>, </a:t>
            </a:r>
            <a:r>
              <a:rPr sz="1050" b="0" i="0" dirty="0" err="1">
                <a:solidFill>
                  <a:srgbClr val="64716D"/>
                </a:solidFill>
                <a:latin typeface="Aptos"/>
              </a:rPr>
              <a:t>yalnızca </a:t>
            </a:r>
            <a:r>
              <a:rPr sz="1050" b="0" i="0" dirty="0" err="1">
                <a:solidFill>
                  <a:srgbClr val="64716D"/>
                </a:solidFill>
                <a:latin typeface="Aptos"/>
              </a:rPr>
              <a:t>öneren </a:t>
            </a:r>
            <a:r>
              <a:rPr sz="1050" b="0" i="0" dirty="0">
                <a:solidFill>
                  <a:srgbClr val="64716D"/>
                </a:solidFill>
                <a:latin typeface="Aptos"/>
              </a:rPr>
              <a:t>bir yapay zeka</a:t>
            </a:r>
            <a:r>
              <a:rPr sz="1050" b="0" i="0" dirty="0">
                <a:solidFill>
                  <a:srgbClr val="64716D"/>
                </a:solidFill>
                <a:latin typeface="Aptos"/>
              </a:rPr>
              <a:t>.</a:t>
            </a:r>
          </a:p>
        </p:txBody>
      </p:sp>
      <p:sp>
        <p:nvSpPr>
          <p:cNvPr id="17" name="Rounded Rectangle 16"/>
          <p:cNvSpPr/>
          <p:nvPr/>
        </p:nvSpPr>
        <p:spPr>
          <a:xfrm>
            <a:off x="640080" y="5074920"/>
            <a:ext cx="10881360" cy="11430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074920"/>
            <a:ext cx="54864" cy="114300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461754"/>
            <a:ext cx="10469880" cy="369332"/>
          </a:xfrm>
          <a:prstGeom prst="rect">
            <a:avLst/>
          </a:prstGeom>
          <a:noFill/>
        </p:spPr>
        <p:txBody>
          <a:bodyPr wrap="square" lIns="0" tIns="0" rIns="0" bIns="0" anchor="ctr">
            <a:spAutoFit/>
          </a:bodyPr>
          <a:lstStyle/>
          <a:p>
            <a:r>
              <a:rPr sz="1250" b="1" i="0" dirty="0" err="1">
                <a:solidFill>
                  <a:srgbClr val="044F49"/>
                </a:solidFill>
                <a:latin typeface="Aptos"/>
              </a:rPr>
              <a:t>Konumlandırma</a:t>
            </a:r>
            <a:r>
              <a:rPr sz="1250" b="1" i="0" dirty="0">
                <a:solidFill>
                  <a:srgbClr val="044F49"/>
                </a:solidFill>
                <a:latin typeface="Aptos"/>
              </a:rPr>
              <a:t>. </a:t>
            </a:r>
            <a:r>
              <a:rPr sz="1150" b="0" i="0" dirty="0" err="1">
                <a:solidFill>
                  <a:srgbClr val="33413D"/>
                </a:solidFill>
                <a:latin typeface="Aptos"/>
              </a:rPr>
              <a:t> Araştırılan</a:t>
            </a:r>
            <a:r>
              <a:rPr sz="1150" b="0" i="0" dirty="0">
                <a:solidFill>
                  <a:srgbClr val="33413D"/>
                </a:solidFill>
                <a:latin typeface="Aptos"/>
              </a:rPr>
              <a:t> hiçbir </a:t>
            </a:r>
            <a:r>
              <a:rPr sz="1150" b="0" i="0" dirty="0" err="1">
                <a:solidFill>
                  <a:srgbClr val="33413D"/>
                </a:solidFill>
                <a:latin typeface="Aptos"/>
              </a:rPr>
              <a:t>Türk </a:t>
            </a:r>
            <a:r>
              <a:rPr sz="1150" b="0" i="0" dirty="0" err="1">
                <a:solidFill>
                  <a:srgbClr val="33413D"/>
                </a:solidFill>
                <a:latin typeface="Aptos"/>
              </a:rPr>
              <a:t>veya </a:t>
            </a:r>
            <a:r>
              <a:rPr sz="1150" b="0" i="0" dirty="0" err="1">
                <a:solidFill>
                  <a:srgbClr val="33413D"/>
                </a:solidFill>
                <a:latin typeface="Aptos"/>
              </a:rPr>
              <a:t>uluslararası </a:t>
            </a:r>
            <a:r>
              <a:rPr sz="1150" b="0" i="0" dirty="0" err="1">
                <a:solidFill>
                  <a:srgbClr val="33413D"/>
                </a:solidFill>
                <a:latin typeface="Aptos"/>
              </a:rPr>
              <a:t>sağlayıcı, </a:t>
            </a:r>
            <a:r>
              <a:rPr sz="1150" b="0" i="0" dirty="0" err="1">
                <a:solidFill>
                  <a:srgbClr val="33413D"/>
                </a:solidFill>
                <a:latin typeface="Aptos"/>
              </a:rPr>
              <a:t>bu </a:t>
            </a:r>
            <a:r>
              <a:rPr sz="1150" b="0" i="0" dirty="0">
                <a:solidFill>
                  <a:srgbClr val="33413D"/>
                </a:solidFill>
                <a:latin typeface="Aptos"/>
              </a:rPr>
              <a:t>dört </a:t>
            </a:r>
            <a:r>
              <a:rPr sz="1150" b="0" i="0" dirty="0" err="1">
                <a:solidFill>
                  <a:srgbClr val="33413D"/>
                </a:solidFill>
                <a:latin typeface="Aptos"/>
              </a:rPr>
              <a:t>unsuru </a:t>
            </a:r>
            <a:r>
              <a:rPr sz="1150" b="0" i="0" dirty="0" err="1">
                <a:solidFill>
                  <a:srgbClr val="33413D"/>
                </a:solidFill>
                <a:latin typeface="Aptos"/>
              </a:rPr>
              <a:t>tek bir üründe </a:t>
            </a:r>
            <a:r>
              <a:rPr sz="1150" b="0" i="0" dirty="0" err="1">
                <a:solidFill>
                  <a:srgbClr val="33413D"/>
                </a:solidFill>
                <a:latin typeface="Aptos"/>
              </a:rPr>
              <a:t>bir araya getirmiyor</a:t>
            </a:r>
            <a:r>
              <a:rPr sz="1150" b="0" i="0" dirty="0">
                <a:solidFill>
                  <a:srgbClr val="33413D"/>
                </a:solidFill>
                <a:latin typeface="Aptos"/>
              </a:rPr>
              <a:t>. </a:t>
            </a:r>
            <a:r>
              <a:rPr sz="1150" b="0" i="0" dirty="0" err="1">
                <a:solidFill>
                  <a:srgbClr val="33413D"/>
                </a:solidFill>
                <a:latin typeface="Aptos"/>
              </a:rPr>
              <a:t>Apsiyon </a:t>
            </a:r>
            <a:r>
              <a:rPr sz="1150" b="0" i="0" dirty="0">
                <a:solidFill>
                  <a:srgbClr val="33413D"/>
                </a:solidFill>
                <a:latin typeface="Aptos"/>
              </a:rPr>
              <a:t>buna </a:t>
            </a:r>
            <a:r>
              <a:rPr sz="1150" b="0" i="0" dirty="0" err="1">
                <a:solidFill>
                  <a:srgbClr val="33413D"/>
                </a:solidFill>
                <a:latin typeface="Aptos"/>
              </a:rPr>
              <a:t>en yakın </a:t>
            </a:r>
            <a:r>
              <a:rPr sz="1150" b="0" i="0" dirty="0" err="1">
                <a:solidFill>
                  <a:srgbClr val="33413D"/>
                </a:solidFill>
                <a:latin typeface="Aptos"/>
              </a:rPr>
              <a:t>olanıdır</a:t>
            </a:r>
            <a:r>
              <a:rPr sz="1150" b="0" i="0" dirty="0">
                <a:solidFill>
                  <a:srgbClr val="33413D"/>
                </a:solidFill>
                <a:latin typeface="Aptos"/>
              </a:rPr>
              <a:t>, </a:t>
            </a:r>
            <a:r>
              <a:rPr sz="1150" b="0" i="0" dirty="0" err="1">
                <a:solidFill>
                  <a:srgbClr val="33413D"/>
                </a:solidFill>
                <a:latin typeface="Aptos"/>
              </a:rPr>
              <a:t>ancak </a:t>
            </a:r>
            <a:r>
              <a:rPr sz="1150" b="0" i="0" dirty="0" err="1">
                <a:solidFill>
                  <a:srgbClr val="33413D"/>
                </a:solidFill>
                <a:latin typeface="Aptos"/>
              </a:rPr>
              <a:t>ne </a:t>
            </a:r>
            <a:r>
              <a:rPr sz="1150" b="0" i="0" dirty="0" err="1">
                <a:solidFill>
                  <a:srgbClr val="33413D"/>
                </a:solidFill>
                <a:latin typeface="Aptos"/>
              </a:rPr>
              <a:t>finansal derinliği </a:t>
            </a:r>
            <a:r>
              <a:rPr sz="1150" b="0" i="0" dirty="0" err="1">
                <a:solidFill>
                  <a:srgbClr val="33413D"/>
                </a:solidFill>
                <a:latin typeface="Aptos"/>
              </a:rPr>
              <a:t>ne de </a:t>
            </a:r>
            <a:r>
              <a:rPr sz="1150" b="0" i="0" dirty="0" err="1">
                <a:solidFill>
                  <a:srgbClr val="33413D"/>
                </a:solidFill>
                <a:latin typeface="Aptos"/>
              </a:rPr>
              <a:t>halka açık</a:t>
            </a:r>
            <a:r>
              <a:rPr sz="1150" b="0" i="0" dirty="0">
                <a:solidFill>
                  <a:srgbClr val="33413D"/>
                </a:solidFill>
                <a:latin typeface="Aptos"/>
              </a:rPr>
              <a:t> </a:t>
            </a:r>
            <a:r>
              <a:rPr sz="1150" b="0" i="0" dirty="0" err="1">
                <a:solidFill>
                  <a:srgbClr val="33413D"/>
                </a:solidFill>
                <a:latin typeface="Aptos"/>
              </a:rPr>
              <a:t>kayıt kanalını </a:t>
            </a:r>
            <a:r>
              <a:rPr sz="1150" b="0" i="0" dirty="0">
                <a:solidFill>
                  <a:srgbClr val="33413D"/>
                </a:solidFill>
                <a:latin typeface="Aptos"/>
              </a:rPr>
              <a:t>kapsamaktadır. </a:t>
            </a:r>
            <a:r>
              <a:rPr sz="1150" b="0" i="0" dirty="0" err="1">
                <a:solidFill>
                  <a:srgbClr val="33413D"/>
                </a:solidFill>
                <a:latin typeface="Aptos"/>
              </a:rPr>
              <a:t>Tam da </a:t>
            </a:r>
            <a:r>
              <a:rPr sz="1150" b="0" i="0" dirty="0" err="1">
                <a:solidFill>
                  <a:srgbClr val="33413D"/>
                </a:solidFill>
                <a:latin typeface="Aptos"/>
              </a:rPr>
              <a:t>bu </a:t>
            </a:r>
            <a:r>
              <a:rPr sz="1150" b="0" i="0" dirty="0" err="1">
                <a:solidFill>
                  <a:srgbClr val="33413D"/>
                </a:solidFill>
                <a:latin typeface="Aptos"/>
              </a:rPr>
              <a:t>kombinasyon </a:t>
            </a:r>
            <a:r>
              <a:rPr lang="de-DE" sz="1150" b="0" i="0" dirty="0">
                <a:solidFill>
                  <a:srgbClr val="33413D"/>
                </a:solidFill>
                <a:latin typeface="Aptos"/>
              </a:rPr>
              <a:t>– </a:t>
            </a:r>
            <a:r>
              <a:rPr sz="1150" b="0" i="0" dirty="0" err="1">
                <a:solidFill>
                  <a:srgbClr val="33413D"/>
                </a:solidFill>
                <a:latin typeface="Aptos"/>
              </a:rPr>
              <a:t>tek </a:t>
            </a:r>
            <a:r>
              <a:rPr sz="1150" b="0" i="0" dirty="0" err="1">
                <a:solidFill>
                  <a:srgbClr val="33413D"/>
                </a:solidFill>
                <a:latin typeface="Aptos"/>
              </a:rPr>
              <a:t>bir </a:t>
            </a:r>
            <a:r>
              <a:rPr sz="1150" b="0" i="0" dirty="0">
                <a:solidFill>
                  <a:srgbClr val="33413D"/>
                </a:solidFill>
                <a:latin typeface="Aptos"/>
              </a:rPr>
              <a:t>özellik </a:t>
            </a:r>
            <a:r>
              <a:rPr sz="1150" b="0" i="0" dirty="0">
                <a:solidFill>
                  <a:srgbClr val="33413D"/>
                </a:solidFill>
                <a:latin typeface="Aptos"/>
              </a:rPr>
              <a:t>değil </a:t>
            </a:r>
            <a:r>
              <a:rPr lang="de-DE" sz="1150" b="0" i="0" dirty="0">
                <a:solidFill>
                  <a:srgbClr val="33413D"/>
                </a:solidFill>
                <a:latin typeface="Aptos"/>
              </a:rPr>
              <a:t>–</a:t>
            </a:r>
            <a:r>
              <a:rPr sz="1150" b="0" i="0" dirty="0">
                <a:solidFill>
                  <a:srgbClr val="33413D"/>
                </a:solidFill>
                <a:latin typeface="Aptos"/>
              </a:rPr>
              <a:t> 1Çatı’nın </a:t>
            </a:r>
            <a:r>
              <a:rPr sz="1150" b="0" i="0" dirty="0" err="1">
                <a:solidFill>
                  <a:srgbClr val="33413D"/>
                </a:solidFill>
                <a:latin typeface="Aptos"/>
              </a:rPr>
              <a:t>konumlandırmasıdır</a:t>
            </a:r>
            <a:r>
              <a:rPr sz="1150" b="0" i="0" dirty="0">
                <a:solidFill>
                  <a:srgbClr val="33413D"/>
                </a:solidFill>
                <a:latin typeface="Aptos"/>
              </a:rPr>
              <a:t>.</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adına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8</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04</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Hedef Kitle</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869180" cy="1417320"/>
          </a:xfrm>
          <a:prstGeom prst="rect">
            <a:avLst/>
          </a:prstGeom>
          <a:noFill/>
        </p:spPr>
        <p:txBody>
          <a:bodyPr wrap="square" lIns="0" tIns="0" rIns="0" bIns="0" anchor="t">
            <a:spAutoFit/>
          </a:bodyPr>
          <a:lstStyle/>
          <a:p>
            <a:r>
              <a:rPr sz="1300" b="1" i="0">
                <a:solidFill>
                  <a:srgbClr val="044F49"/>
                </a:solidFill>
                <a:latin typeface="Aptos"/>
              </a:rPr>
              <a:t>🌍  Uluslararası Mülk Sahipleri ve Alıcılar</a:t>
            </a:r>
          </a:p>
          <a:p>
            <a:pPr>
              <a:spcBef>
                <a:spcPts val="400"/>
              </a:spcBef>
            </a:pPr>
            <a:r>
              <a:rPr sz="1050" b="0" i="0">
                <a:solidFill>
                  <a:srgbClr val="64716D"/>
                </a:solidFill>
                <a:latin typeface="Aptos"/>
              </a:rPr>
              <a:t>Özellikle Almanya, Rusya, Ukrayna ve İran'dan gelen, bir daireye sahip olan veya daire satın alan, ancak bölgede kalıcı olarak ikamet etmeyen ve ödeme durumu, hizmetler ve belgelere ilişkin dijital, çok dilli bir erişim ihtiyacı duyan kişiler.</a:t>
            </a:r>
          </a:p>
        </p:txBody>
      </p:sp>
      <p:sp>
        <p:nvSpPr>
          <p:cNvPr id="11" name="Rounded Rectangle 10"/>
          <p:cNvSpPr/>
          <p:nvPr/>
        </p:nvSpPr>
        <p:spPr>
          <a:xfrm>
            <a:off x="6195060" y="164592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792224"/>
            <a:ext cx="4869180" cy="574516"/>
          </a:xfrm>
          <a:prstGeom prst="rect">
            <a:avLst/>
          </a:prstGeom>
          <a:noFill/>
        </p:spPr>
        <p:txBody>
          <a:bodyPr wrap="square" lIns="0" tIns="0" rIns="0" bIns="0" anchor="t">
            <a:spAutoFit/>
          </a:bodyPr>
          <a:lstStyle/>
          <a:p>
            <a:r>
              <a:rPr sz="1300" b="1" i="0" dirty="0">
                <a:solidFill>
                  <a:srgbClr val="044F49"/>
                </a:solidFill>
                <a:latin typeface="Aptos"/>
              </a:rPr>
              <a:t>🔑 </a:t>
            </a:r>
            <a:r>
              <a:rPr sz="1300" b="1" i="0" dirty="0" err="1">
                <a:solidFill>
                  <a:srgbClr val="044F49"/>
                </a:solidFill>
                <a:latin typeface="Aptos"/>
              </a:rPr>
              <a:t> Kiracılar</a:t>
            </a:r>
            <a:endParaRPr sz="1300" b="1" i="0" dirty="0">
              <a:solidFill>
                <a:srgbClr val="044F49"/>
              </a:solidFill>
              <a:latin typeface="Aptos"/>
            </a:endParaRPr>
          </a:p>
          <a:p>
            <a:pPr>
              <a:spcBef>
                <a:spcPts val="400"/>
              </a:spcBef>
            </a:pPr>
            <a:r>
              <a:rPr sz="1050" b="0" i="0" dirty="0" err="1">
                <a:solidFill>
                  <a:srgbClr val="64716D"/>
                </a:solidFill>
                <a:latin typeface="Aptos"/>
              </a:rPr>
              <a:t>Mülk sahibi tarafından desteklenen </a:t>
            </a:r>
            <a:r>
              <a:rPr sz="1050" b="0" i="0" dirty="0" err="1">
                <a:solidFill>
                  <a:srgbClr val="64716D"/>
                </a:solidFill>
                <a:latin typeface="Aptos"/>
              </a:rPr>
              <a:t>bir </a:t>
            </a:r>
            <a:r>
              <a:rPr sz="1050" b="0" i="0" dirty="0" err="1">
                <a:solidFill>
                  <a:srgbClr val="64716D"/>
                </a:solidFill>
                <a:latin typeface="Aptos"/>
              </a:rPr>
              <a:t>zamanlı erişim modeli </a:t>
            </a:r>
            <a:r>
              <a:rPr sz="1050" b="0" i="0" dirty="0" err="1">
                <a:solidFill>
                  <a:srgbClr val="64716D"/>
                </a:solidFill>
                <a:latin typeface="Aptos"/>
              </a:rPr>
              <a:t>aracılığıyla</a:t>
            </a:r>
            <a:r>
              <a:rPr sz="1050" b="0" i="0" dirty="0">
                <a:solidFill>
                  <a:srgbClr val="64716D"/>
                </a:solidFill>
                <a:latin typeface="Aptos"/>
              </a:rPr>
              <a:t>, </a:t>
            </a:r>
            <a:r>
              <a:rPr sz="1050" b="0" i="0" dirty="0" err="1">
                <a:solidFill>
                  <a:srgbClr val="64716D"/>
                </a:solidFill>
                <a:latin typeface="Aptos"/>
              </a:rPr>
              <a:t>birimlerine </a:t>
            </a:r>
            <a:r>
              <a:rPr sz="1050" b="0" i="0" dirty="0" err="1">
                <a:solidFill>
                  <a:srgbClr val="64716D"/>
                </a:solidFill>
                <a:latin typeface="Aptos"/>
              </a:rPr>
              <a:t>yetkili </a:t>
            </a:r>
            <a:r>
              <a:rPr sz="1050" b="0" i="0" dirty="0">
                <a:solidFill>
                  <a:srgbClr val="64716D"/>
                </a:solidFill>
                <a:latin typeface="Aptos"/>
              </a:rPr>
              <a:t>ve </a:t>
            </a:r>
            <a:r>
              <a:rPr sz="1050" b="0" i="0" dirty="0" err="1">
                <a:solidFill>
                  <a:srgbClr val="64716D"/>
                </a:solidFill>
                <a:latin typeface="Aptos"/>
              </a:rPr>
              <a:t>süreli </a:t>
            </a:r>
            <a:r>
              <a:rPr sz="1050" b="0" i="0" dirty="0" err="1">
                <a:solidFill>
                  <a:srgbClr val="64716D"/>
                </a:solidFill>
                <a:latin typeface="Aptos"/>
              </a:rPr>
              <a:t>erişim hakkı </a:t>
            </a:r>
            <a:r>
              <a:rPr sz="1050" b="0" i="0" dirty="0" err="1">
                <a:solidFill>
                  <a:srgbClr val="64716D"/>
                </a:solidFill>
                <a:latin typeface="Aptos"/>
              </a:rPr>
              <a:t>elde ederler </a:t>
            </a:r>
            <a:r>
              <a:rPr lang="de-DE" sz="1050" b="0" i="0" dirty="0">
                <a:solidFill>
                  <a:srgbClr val="64716D"/>
                </a:solidFill>
                <a:latin typeface="Aptos"/>
              </a:rPr>
              <a:t>– </a:t>
            </a:r>
            <a:r>
              <a:rPr sz="1050" b="0" i="0" dirty="0" err="1">
                <a:solidFill>
                  <a:srgbClr val="64716D"/>
                </a:solidFill>
                <a:latin typeface="Aptos"/>
              </a:rPr>
              <a:t>hakları </a:t>
            </a:r>
            <a:r>
              <a:rPr sz="1050" b="0" i="0" dirty="0" err="1">
                <a:solidFill>
                  <a:srgbClr val="64716D"/>
                </a:solidFill>
                <a:latin typeface="Aptos"/>
              </a:rPr>
              <a:t>açıkça </a:t>
            </a:r>
            <a:r>
              <a:rPr sz="1050" b="0" i="0" dirty="0" err="1">
                <a:solidFill>
                  <a:srgbClr val="64716D"/>
                </a:solidFill>
                <a:latin typeface="Aptos"/>
              </a:rPr>
              <a:t>tanımlanmıştır</a:t>
            </a:r>
            <a:r>
              <a:rPr sz="1050" b="0" i="0" dirty="0">
                <a:solidFill>
                  <a:srgbClr val="64716D"/>
                </a:solidFill>
                <a:latin typeface="Aptos"/>
              </a:rPr>
              <a:t>.</a:t>
            </a:r>
          </a:p>
        </p:txBody>
      </p:sp>
      <p:sp>
        <p:nvSpPr>
          <p:cNvPr id="13" name="Rounded Rectangle 12"/>
          <p:cNvSpPr/>
          <p:nvPr/>
        </p:nvSpPr>
        <p:spPr>
          <a:xfrm>
            <a:off x="640080" y="356616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712464"/>
            <a:ext cx="4869180" cy="736099"/>
          </a:xfrm>
          <a:prstGeom prst="rect">
            <a:avLst/>
          </a:prstGeom>
          <a:noFill/>
        </p:spPr>
        <p:txBody>
          <a:bodyPr wrap="square" lIns="0" tIns="0" rIns="0" bIns="0" anchor="t">
            <a:spAutoFit/>
          </a:bodyPr>
          <a:lstStyle/>
          <a:p>
            <a:r>
              <a:rPr sz="1300" b="1" i="0" dirty="0">
                <a:solidFill>
                  <a:srgbClr val="044F49"/>
                </a:solidFill>
                <a:latin typeface="Aptos"/>
              </a:rPr>
              <a:t>🏢  Şirket içi </a:t>
            </a:r>
            <a:r>
              <a:rPr sz="1300" b="1" i="0" dirty="0" err="1">
                <a:solidFill>
                  <a:srgbClr val="044F49"/>
                </a:solidFill>
                <a:latin typeface="Aptos"/>
              </a:rPr>
              <a:t>işletme ekibi</a:t>
            </a:r>
            <a:endParaRPr sz="1300" b="1" i="0" dirty="0">
              <a:solidFill>
                <a:srgbClr val="044F49"/>
              </a:solidFill>
              <a:latin typeface="Aptos"/>
            </a:endParaRPr>
          </a:p>
          <a:p>
            <a:pPr>
              <a:spcBef>
                <a:spcPts val="400"/>
              </a:spcBef>
            </a:pPr>
            <a:r>
              <a:rPr sz="1050" b="0" i="0" dirty="0">
                <a:solidFill>
                  <a:srgbClr val="64716D"/>
                </a:solidFill>
                <a:latin typeface="Aptos"/>
              </a:rPr>
              <a:t>Ataberk Estate</a:t>
            </a:r>
            <a:r>
              <a:rPr sz="1050" b="0" i="0" dirty="0" err="1">
                <a:solidFill>
                  <a:srgbClr val="64716D"/>
                </a:solidFill>
                <a:latin typeface="Aptos"/>
              </a:rPr>
              <a:t>'te</a:t>
            </a:r>
            <a:r>
              <a:rPr sz="1050" b="0" i="0" dirty="0">
                <a:solidFill>
                  <a:srgbClr val="64716D"/>
                </a:solidFill>
                <a:latin typeface="Aptos"/>
              </a:rPr>
              <a:t> altı rol </a:t>
            </a:r>
            <a:r>
              <a:rPr sz="1050" b="0" i="0" dirty="0">
                <a:solidFill>
                  <a:srgbClr val="64716D"/>
                </a:solidFill>
                <a:latin typeface="Aptos"/>
              </a:rPr>
              <a:t>vardır: Yönetim, </a:t>
            </a:r>
            <a:r>
              <a:rPr sz="1050" b="0" i="0" dirty="0" err="1">
                <a:solidFill>
                  <a:srgbClr val="64716D"/>
                </a:solidFill>
                <a:latin typeface="Aptos"/>
              </a:rPr>
              <a:t>Lokasyon Sorumluları</a:t>
            </a:r>
            <a:r>
              <a:rPr sz="1050" b="0" i="0" dirty="0">
                <a:solidFill>
                  <a:srgbClr val="64716D"/>
                </a:solidFill>
                <a:latin typeface="Aptos"/>
              </a:rPr>
              <a:t>, </a:t>
            </a:r>
            <a:r>
              <a:rPr sz="1050" b="0" i="0" dirty="0" err="1">
                <a:solidFill>
                  <a:srgbClr val="64716D"/>
                </a:solidFill>
                <a:latin typeface="Aptos"/>
              </a:rPr>
              <a:t>Muhasebe</a:t>
            </a:r>
            <a:r>
              <a:rPr sz="1050" b="0" i="0" dirty="0">
                <a:solidFill>
                  <a:srgbClr val="64716D"/>
                </a:solidFill>
                <a:latin typeface="Aptos"/>
              </a:rPr>
              <a:t>, </a:t>
            </a:r>
            <a:r>
              <a:rPr sz="1050" b="0" i="0" dirty="0">
                <a:solidFill>
                  <a:srgbClr val="64716D"/>
                </a:solidFill>
                <a:latin typeface="Aptos"/>
              </a:rPr>
              <a:t>Saha Hizmetleri/Teknik, Güvenlik </a:t>
            </a:r>
            <a:r>
              <a:rPr sz="1050" b="0" i="0" dirty="0" err="1">
                <a:solidFill>
                  <a:srgbClr val="64716D"/>
                </a:solidFill>
                <a:latin typeface="Aptos"/>
              </a:rPr>
              <a:t>ve </a:t>
            </a:r>
            <a:r>
              <a:rPr sz="1050" b="0" i="0" dirty="0" err="1">
                <a:solidFill>
                  <a:srgbClr val="64716D"/>
                </a:solidFill>
                <a:latin typeface="Aptos"/>
              </a:rPr>
              <a:t>Destek/Eğitim </a:t>
            </a:r>
            <a:r>
              <a:rPr lang="de-DE" sz="1050" b="0" i="0" dirty="0">
                <a:solidFill>
                  <a:srgbClr val="64716D"/>
                </a:solidFill>
                <a:latin typeface="Aptos"/>
              </a:rPr>
              <a:t>– </a:t>
            </a:r>
            <a:r>
              <a:rPr sz="1050" b="0" i="0" dirty="0" err="1">
                <a:solidFill>
                  <a:srgbClr val="64716D"/>
                </a:solidFill>
                <a:latin typeface="Aptos"/>
              </a:rPr>
              <a:t>her </a:t>
            </a:r>
            <a:r>
              <a:rPr sz="1050" b="0" i="0" dirty="0" err="1">
                <a:solidFill>
                  <a:srgbClr val="64716D"/>
                </a:solidFill>
                <a:latin typeface="Aptos"/>
              </a:rPr>
              <a:t>birine </a:t>
            </a:r>
            <a:r>
              <a:rPr sz="1050" b="0" i="0" dirty="0" err="1">
                <a:solidFill>
                  <a:srgbClr val="64716D"/>
                </a:solidFill>
                <a:latin typeface="Aptos"/>
              </a:rPr>
              <a:t>tam olarak </a:t>
            </a:r>
            <a:r>
              <a:rPr sz="1050" b="0" i="0" dirty="0" err="1">
                <a:solidFill>
                  <a:srgbClr val="64716D"/>
                </a:solidFill>
                <a:latin typeface="Aptos"/>
              </a:rPr>
              <a:t>gerekli</a:t>
            </a:r>
            <a:r>
              <a:rPr sz="1050" b="0" i="0" dirty="0">
                <a:solidFill>
                  <a:srgbClr val="64716D"/>
                </a:solidFill>
                <a:latin typeface="Aptos"/>
              </a:rPr>
              <a:t> </a:t>
            </a:r>
            <a:r>
              <a:rPr sz="1050" b="0" i="0" dirty="0" err="1">
                <a:solidFill>
                  <a:srgbClr val="64716D"/>
                </a:solidFill>
                <a:latin typeface="Aptos"/>
              </a:rPr>
              <a:t>haklar </a:t>
            </a:r>
            <a:r>
              <a:rPr sz="1050" b="0" i="0" dirty="0" err="1">
                <a:solidFill>
                  <a:srgbClr val="64716D"/>
                </a:solidFill>
                <a:latin typeface="Aptos"/>
              </a:rPr>
              <a:t>verilir</a:t>
            </a:r>
            <a:r>
              <a:rPr sz="1050" b="0" i="0" dirty="0">
                <a:solidFill>
                  <a:srgbClr val="64716D"/>
                </a:solidFill>
                <a:latin typeface="Aptos"/>
              </a:rPr>
              <a:t>.</a:t>
            </a:r>
          </a:p>
        </p:txBody>
      </p:sp>
      <p:sp>
        <p:nvSpPr>
          <p:cNvPr id="15" name="Rounded Rectangle 14"/>
          <p:cNvSpPr/>
          <p:nvPr/>
        </p:nvSpPr>
        <p:spPr>
          <a:xfrm>
            <a:off x="6195060" y="3566160"/>
            <a:ext cx="5326380" cy="169164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712464"/>
            <a:ext cx="4869180" cy="1417320"/>
          </a:xfrm>
          <a:prstGeom prst="rect">
            <a:avLst/>
          </a:prstGeom>
          <a:noFill/>
        </p:spPr>
        <p:txBody>
          <a:bodyPr wrap="square" lIns="0" tIns="0" rIns="0" bIns="0" anchor="t">
            <a:spAutoFit/>
          </a:bodyPr>
          <a:lstStyle/>
          <a:p>
            <a:r>
              <a:rPr sz="1300" b="1" i="0">
                <a:solidFill>
                  <a:srgbClr val="044F49"/>
                </a:solidFill>
                <a:latin typeface="Aptos"/>
              </a:rPr>
              <a:t>🤝  Hizmet Sağlayıcılar ve İlgilenenler</a:t>
            </a:r>
          </a:p>
          <a:p>
            <a:pPr>
              <a:spcBef>
                <a:spcPts val="400"/>
              </a:spcBef>
            </a:pPr>
            <a:r>
              <a:rPr sz="1050" b="0" i="0">
                <a:solidFill>
                  <a:srgbClr val="64716D"/>
                </a:solidFill>
                <a:latin typeface="Aptos"/>
              </a:rPr>
              <a:t>Hizmet sağlayıcılar, Hizmet Masası aracılığıyla sisteme entegre edilir; potansiyel alıcılar ve misafirler, hesap açmadan (kayıt, bildirim) ortak alanları kullanabilir.</a:t>
            </a:r>
          </a:p>
        </p:txBody>
      </p:sp>
      <p:sp>
        <p:nvSpPr>
          <p:cNvPr id="17" name="Rounded Rectangle 16"/>
          <p:cNvSpPr/>
          <p:nvPr/>
        </p:nvSpPr>
        <p:spPr>
          <a:xfrm>
            <a:off x="640080" y="5440680"/>
            <a:ext cx="10881360" cy="7772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440680"/>
            <a:ext cx="54864" cy="77724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568696"/>
            <a:ext cx="10469880" cy="521208"/>
          </a:xfrm>
          <a:prstGeom prst="rect">
            <a:avLst/>
          </a:prstGeom>
          <a:noFill/>
        </p:spPr>
        <p:txBody>
          <a:bodyPr wrap="square" lIns="0" tIns="0" rIns="0" bIns="0" anchor="ctr">
            <a:spAutoFit/>
          </a:bodyPr>
          <a:lstStyle/>
          <a:p>
            <a:r>
              <a:rPr sz="1250" b="1" i="0">
                <a:solidFill>
                  <a:srgbClr val="044F49"/>
                </a:solidFill>
                <a:latin typeface="Aptos"/>
              </a:rPr>
              <a:t>Kasıtlı olarak ele alınmayanlar: </a:t>
            </a:r>
            <a:r>
              <a:rPr sz="1150" b="0" i="0">
                <a:solidFill>
                  <a:srgbClr val="33413D"/>
                </a:solidFill>
                <a:latin typeface="Aptos"/>
              </a:rPr>
              <a:t> somut referans mülklerin dışındaki anonim emlak kitle pazarı ile insan onayı gerektirmeyen her türlü tam otomatik ödeme veya erişim işlemi.</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9</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05</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Ataberk Malikanesi için Faydaları</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869180" cy="1280160"/>
          </a:xfrm>
          <a:prstGeom prst="rect">
            <a:avLst/>
          </a:prstGeom>
          <a:noFill/>
        </p:spPr>
        <p:txBody>
          <a:bodyPr wrap="square" lIns="0" tIns="0" rIns="0" bIns="0" anchor="t">
            <a:spAutoFit/>
          </a:bodyPr>
          <a:lstStyle/>
          <a:p>
            <a:r>
              <a:rPr sz="1300" b="1" i="0">
                <a:solidFill>
                  <a:srgbClr val="044F49"/>
                </a:solidFill>
                <a:latin typeface="Aptos"/>
              </a:rPr>
              <a:t>Tek bir doğru bilgi kaynağı</a:t>
            </a:r>
          </a:p>
          <a:p>
            <a:pPr>
              <a:spcBef>
                <a:spcPts val="400"/>
              </a:spcBef>
            </a:pPr>
            <a:r>
              <a:rPr sz="1050" b="0" i="0">
                <a:solidFill>
                  <a:srgbClr val="64716D"/>
                </a:solidFill>
                <a:latin typeface="Aptos"/>
              </a:rPr>
              <a:t>769 birime kadar kapsayan merkezi, rol tabanlı bir veri tabanı, dağınık Excel listelerinin ve WhatsApp sohbet geçmişlerinin yerini alır. Satış, portföy, finans ve hizmet bir araya getirilmiş tek bir veri setinde.</a:t>
            </a:r>
          </a:p>
        </p:txBody>
      </p:sp>
      <p:sp>
        <p:nvSpPr>
          <p:cNvPr id="11" name="Rounded Rectangle 10"/>
          <p:cNvSpPr/>
          <p:nvPr/>
        </p:nvSpPr>
        <p:spPr>
          <a:xfrm>
            <a:off x="619506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792224"/>
            <a:ext cx="4869180" cy="574516"/>
          </a:xfrm>
          <a:prstGeom prst="rect">
            <a:avLst/>
          </a:prstGeom>
          <a:noFill/>
        </p:spPr>
        <p:txBody>
          <a:bodyPr wrap="square" lIns="0" tIns="0" rIns="0" bIns="0" anchor="t">
            <a:spAutoFit/>
          </a:bodyPr>
          <a:lstStyle/>
          <a:p>
            <a:r>
              <a:rPr sz="1300" b="1" i="0" dirty="0" err="1">
                <a:solidFill>
                  <a:srgbClr val="044F49"/>
                </a:solidFill>
                <a:latin typeface="Aptos"/>
              </a:rPr>
              <a:t>İzlenebilirlik</a:t>
            </a:r>
            <a:endParaRPr sz="1300" b="1" i="0" dirty="0">
              <a:solidFill>
                <a:srgbClr val="044F49"/>
              </a:solidFill>
              <a:latin typeface="Aptos"/>
            </a:endParaRPr>
          </a:p>
          <a:p>
            <a:pPr>
              <a:spcBef>
                <a:spcPts val="400"/>
              </a:spcBef>
            </a:pPr>
            <a:r>
              <a:rPr sz="1050" b="0" i="0" dirty="0" err="1">
                <a:solidFill>
                  <a:srgbClr val="64716D"/>
                </a:solidFill>
                <a:latin typeface="Aptos"/>
              </a:rPr>
              <a:t>Her </a:t>
            </a:r>
            <a:r>
              <a:rPr sz="1050" b="0" i="0" dirty="0">
                <a:solidFill>
                  <a:srgbClr val="64716D"/>
                </a:solidFill>
                <a:latin typeface="Aptos"/>
              </a:rPr>
              <a:t>hassas </a:t>
            </a:r>
            <a:r>
              <a:rPr sz="1050" b="0" i="0" dirty="0" err="1">
                <a:solidFill>
                  <a:srgbClr val="64716D"/>
                </a:solidFill>
                <a:latin typeface="Aptos"/>
              </a:rPr>
              <a:t>işlem, </a:t>
            </a:r>
            <a:r>
              <a:rPr sz="1050" b="0" i="0" dirty="0" err="1">
                <a:solidFill>
                  <a:srgbClr val="64716D"/>
                </a:solidFill>
                <a:latin typeface="Aptos"/>
              </a:rPr>
              <a:t>kullanıcı</a:t>
            </a:r>
            <a:r>
              <a:rPr sz="1050" b="0" i="0" dirty="0">
                <a:solidFill>
                  <a:srgbClr val="64716D"/>
                </a:solidFill>
                <a:latin typeface="Aptos"/>
              </a:rPr>
              <a:t>, rol, </a:t>
            </a:r>
            <a:r>
              <a:rPr sz="1050" b="0" i="0" dirty="0" err="1">
                <a:solidFill>
                  <a:srgbClr val="64716D"/>
                </a:solidFill>
                <a:latin typeface="Aptos"/>
              </a:rPr>
              <a:t>zaman </a:t>
            </a:r>
            <a:r>
              <a:rPr sz="1050" b="0" i="0" dirty="0">
                <a:solidFill>
                  <a:srgbClr val="64716D"/>
                </a:solidFill>
                <a:latin typeface="Aptos"/>
              </a:rPr>
              <a:t>ve neden </a:t>
            </a:r>
            <a:r>
              <a:rPr sz="1050" b="0" i="0" dirty="0" err="1">
                <a:solidFill>
                  <a:srgbClr val="64716D"/>
                </a:solidFill>
                <a:latin typeface="Aptos"/>
              </a:rPr>
              <a:t>bilgileriyle birlikte </a:t>
            </a:r>
            <a:r>
              <a:rPr sz="1050" b="0" i="0" dirty="0" err="1">
                <a:solidFill>
                  <a:srgbClr val="64716D"/>
                </a:solidFill>
                <a:latin typeface="Aptos"/>
              </a:rPr>
              <a:t>kaydedilir</a:t>
            </a:r>
            <a:r>
              <a:rPr lang="de-DE" sz="1050" b="0" i="0" dirty="0">
                <a:solidFill>
                  <a:srgbClr val="64716D"/>
                </a:solidFill>
                <a:latin typeface="Aptos"/>
              </a:rPr>
              <a:t>; </a:t>
            </a:r>
            <a:r>
              <a:rPr sz="1050" b="0" i="0" dirty="0">
                <a:solidFill>
                  <a:srgbClr val="64716D"/>
                </a:solidFill>
                <a:latin typeface="Aptos"/>
              </a:rPr>
              <a:t>bu da </a:t>
            </a:r>
            <a:r>
              <a:rPr sz="1050" b="0" i="0" dirty="0" err="1">
                <a:solidFill>
                  <a:srgbClr val="64716D"/>
                </a:solidFill>
                <a:latin typeface="Aptos"/>
              </a:rPr>
              <a:t>mülk sahipleri </a:t>
            </a:r>
            <a:r>
              <a:rPr sz="1050" b="0" i="0" dirty="0">
                <a:solidFill>
                  <a:srgbClr val="64716D"/>
                </a:solidFill>
                <a:latin typeface="Aptos"/>
              </a:rPr>
              <a:t>ve </a:t>
            </a:r>
            <a:r>
              <a:rPr sz="1050" b="0" i="0" dirty="0" err="1">
                <a:solidFill>
                  <a:srgbClr val="64716D"/>
                </a:solidFill>
                <a:latin typeface="Aptos"/>
              </a:rPr>
              <a:t>denetçiler </a:t>
            </a:r>
            <a:r>
              <a:rPr sz="1050" b="0" i="0" dirty="0" err="1">
                <a:solidFill>
                  <a:srgbClr val="64716D"/>
                </a:solidFill>
                <a:latin typeface="Aptos"/>
              </a:rPr>
              <a:t>nezdinde </a:t>
            </a:r>
            <a:r>
              <a:rPr sz="1050" b="0" i="0" dirty="0" err="1">
                <a:solidFill>
                  <a:srgbClr val="64716D"/>
                </a:solidFill>
                <a:latin typeface="Aptos"/>
              </a:rPr>
              <a:t>güven </a:t>
            </a:r>
            <a:r>
              <a:rPr sz="1050" b="0" i="0" dirty="0" err="1">
                <a:solidFill>
                  <a:srgbClr val="64716D"/>
                </a:solidFill>
                <a:latin typeface="Aptos"/>
              </a:rPr>
              <a:t>yaratır</a:t>
            </a:r>
            <a:r>
              <a:rPr sz="1050" b="0" i="0" dirty="0">
                <a:solidFill>
                  <a:srgbClr val="64716D"/>
                </a:solidFill>
                <a:latin typeface="Aptos"/>
              </a:rPr>
              <a:t>.</a:t>
            </a:r>
          </a:p>
        </p:txBody>
      </p:sp>
      <p:sp>
        <p:nvSpPr>
          <p:cNvPr id="13" name="Rounded Rectangle 12"/>
          <p:cNvSpPr/>
          <p:nvPr/>
        </p:nvSpPr>
        <p:spPr>
          <a:xfrm>
            <a:off x="64008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5304"/>
            <a:ext cx="4869180" cy="736099"/>
          </a:xfrm>
          <a:prstGeom prst="rect">
            <a:avLst/>
          </a:prstGeom>
          <a:noFill/>
        </p:spPr>
        <p:txBody>
          <a:bodyPr wrap="square" lIns="0" tIns="0" rIns="0" bIns="0" anchor="t">
            <a:spAutoFit/>
          </a:bodyPr>
          <a:lstStyle/>
          <a:p>
            <a:r>
              <a:rPr sz="1300" b="1" i="0" dirty="0" err="1">
                <a:solidFill>
                  <a:srgbClr val="044F49"/>
                </a:solidFill>
                <a:latin typeface="Aptos"/>
              </a:rPr>
              <a:t>Daha Düşük </a:t>
            </a:r>
            <a:r>
              <a:rPr sz="1300" b="1" i="0" dirty="0" err="1">
                <a:solidFill>
                  <a:srgbClr val="044F49"/>
                </a:solidFill>
                <a:latin typeface="Aptos"/>
              </a:rPr>
              <a:t>Giriş Engeli</a:t>
            </a:r>
            <a:endParaRPr sz="1300" b="1" i="0" dirty="0">
              <a:solidFill>
                <a:srgbClr val="044F49"/>
              </a:solidFill>
              <a:latin typeface="Aptos"/>
            </a:endParaRPr>
          </a:p>
          <a:p>
            <a:pPr>
              <a:spcBef>
                <a:spcPts val="400"/>
              </a:spcBef>
            </a:pPr>
            <a:r>
              <a:rPr sz="1050" b="0" i="0" dirty="0" err="1">
                <a:solidFill>
                  <a:srgbClr val="64716D"/>
                </a:solidFill>
                <a:latin typeface="Aptos"/>
              </a:rPr>
              <a:t>Halka açık</a:t>
            </a:r>
            <a:r>
              <a:rPr sz="1050" b="0" i="0" dirty="0">
                <a:solidFill>
                  <a:srgbClr val="64716D"/>
                </a:solidFill>
                <a:latin typeface="Aptos"/>
              </a:rPr>
              <a:t> </a:t>
            </a:r>
            <a:r>
              <a:rPr sz="1050" b="0" i="0" dirty="0" err="1">
                <a:solidFill>
                  <a:srgbClr val="64716D"/>
                </a:solidFill>
                <a:latin typeface="Aptos"/>
              </a:rPr>
              <a:t>alan</a:t>
            </a:r>
            <a:r>
              <a:rPr lang="de-DE" sz="1050" b="0" i="0" dirty="0">
                <a:solidFill>
                  <a:srgbClr val="64716D"/>
                </a:solidFill>
                <a:latin typeface="Aptos"/>
              </a:rPr>
              <a:t>, </a:t>
            </a:r>
            <a:r>
              <a:rPr sz="1050" b="0" i="0" dirty="0" err="1">
                <a:solidFill>
                  <a:srgbClr val="64716D"/>
                </a:solidFill>
                <a:latin typeface="Aptos"/>
              </a:rPr>
              <a:t>sistem hesabı </a:t>
            </a:r>
            <a:r>
              <a:rPr sz="1050" b="0" i="0" dirty="0" err="1">
                <a:solidFill>
                  <a:srgbClr val="64716D"/>
                </a:solidFill>
                <a:latin typeface="Aptos"/>
              </a:rPr>
              <a:t>gerektirmeden </a:t>
            </a:r>
            <a:r>
              <a:rPr sz="1050" b="0" i="0" dirty="0" err="1">
                <a:solidFill>
                  <a:srgbClr val="64716D"/>
                </a:solidFill>
                <a:latin typeface="Aptos"/>
              </a:rPr>
              <a:t>doğrulanmış</a:t>
            </a:r>
            <a:r>
              <a:rPr sz="1050" b="0" i="0" dirty="0">
                <a:solidFill>
                  <a:srgbClr val="64716D"/>
                </a:solidFill>
                <a:latin typeface="Aptos"/>
              </a:rPr>
              <a:t>, </a:t>
            </a:r>
            <a:r>
              <a:rPr sz="1050" b="0" i="0" dirty="0" err="1">
                <a:solidFill>
                  <a:srgbClr val="64716D"/>
                </a:solidFill>
                <a:latin typeface="Aptos"/>
              </a:rPr>
              <a:t>çok dilli </a:t>
            </a:r>
            <a:r>
              <a:rPr sz="1050" b="0" i="0" dirty="0" err="1">
                <a:solidFill>
                  <a:srgbClr val="64716D"/>
                </a:solidFill>
                <a:latin typeface="Aptos"/>
              </a:rPr>
              <a:t>kayıt erişimi </a:t>
            </a:r>
            <a:r>
              <a:rPr sz="1050" b="0" i="0" dirty="0" err="1">
                <a:solidFill>
                  <a:srgbClr val="64716D"/>
                </a:solidFill>
                <a:latin typeface="Aptos"/>
              </a:rPr>
              <a:t>sayesinde </a:t>
            </a:r>
            <a:r>
              <a:rPr sz="1050" b="0" i="0" dirty="0" err="1">
                <a:solidFill>
                  <a:srgbClr val="64716D"/>
                </a:solidFill>
                <a:latin typeface="Aptos"/>
              </a:rPr>
              <a:t>uluslararası </a:t>
            </a:r>
            <a:r>
              <a:rPr sz="1050" b="0" i="0" dirty="0" err="1">
                <a:solidFill>
                  <a:srgbClr val="64716D"/>
                </a:solidFill>
                <a:latin typeface="Aptos"/>
              </a:rPr>
              <a:t>mülk sahipleri </a:t>
            </a:r>
            <a:r>
              <a:rPr sz="1050" b="0" i="0" dirty="0">
                <a:solidFill>
                  <a:srgbClr val="64716D"/>
                </a:solidFill>
                <a:latin typeface="Aptos"/>
              </a:rPr>
              <a:t>ve </a:t>
            </a:r>
            <a:r>
              <a:rPr sz="1050" b="0" i="0" dirty="0" err="1">
                <a:solidFill>
                  <a:srgbClr val="64716D"/>
                </a:solidFill>
                <a:latin typeface="Aptos"/>
              </a:rPr>
              <a:t>kiracılar </a:t>
            </a:r>
            <a:r>
              <a:rPr sz="1050" b="0" i="0" dirty="0">
                <a:solidFill>
                  <a:srgbClr val="64716D"/>
                </a:solidFill>
                <a:latin typeface="Aptos"/>
              </a:rPr>
              <a:t>için </a:t>
            </a:r>
            <a:r>
              <a:rPr sz="1050" b="0" i="0" dirty="0" err="1">
                <a:solidFill>
                  <a:srgbClr val="64716D"/>
                </a:solidFill>
                <a:latin typeface="Aptos"/>
              </a:rPr>
              <a:t>engelleri </a:t>
            </a:r>
            <a:r>
              <a:rPr sz="1050" b="0" i="0" dirty="0" err="1">
                <a:solidFill>
                  <a:srgbClr val="64716D"/>
                </a:solidFill>
                <a:latin typeface="Aptos"/>
              </a:rPr>
              <a:t>azaltır</a:t>
            </a:r>
            <a:r>
              <a:rPr sz="1050" b="0" i="0" dirty="0">
                <a:solidFill>
                  <a:srgbClr val="64716D"/>
                </a:solidFill>
                <a:latin typeface="Aptos"/>
              </a:rPr>
              <a:t>.</a:t>
            </a:r>
          </a:p>
        </p:txBody>
      </p:sp>
      <p:sp>
        <p:nvSpPr>
          <p:cNvPr id="15" name="Rounded Rectangle 14"/>
          <p:cNvSpPr/>
          <p:nvPr/>
        </p:nvSpPr>
        <p:spPr>
          <a:xfrm>
            <a:off x="619506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575304"/>
            <a:ext cx="4869180" cy="736099"/>
          </a:xfrm>
          <a:prstGeom prst="rect">
            <a:avLst/>
          </a:prstGeom>
          <a:noFill/>
        </p:spPr>
        <p:txBody>
          <a:bodyPr wrap="square" lIns="0" tIns="0" rIns="0" bIns="0" anchor="t">
            <a:spAutoFit/>
          </a:bodyPr>
          <a:lstStyle/>
          <a:p>
            <a:r>
              <a:rPr sz="1300" b="1" i="0" dirty="0">
                <a:solidFill>
                  <a:srgbClr val="044F49"/>
                </a:solidFill>
                <a:latin typeface="Aptos"/>
              </a:rPr>
              <a:t>AI </a:t>
            </a:r>
            <a:r>
              <a:rPr sz="1300" b="1" i="0" dirty="0" err="1">
                <a:solidFill>
                  <a:srgbClr val="044F49"/>
                </a:solidFill>
                <a:latin typeface="Aptos"/>
              </a:rPr>
              <a:t>ile iş yükünün </a:t>
            </a:r>
            <a:r>
              <a:rPr sz="1300" b="1" i="0" dirty="0" err="1">
                <a:solidFill>
                  <a:srgbClr val="044F49"/>
                </a:solidFill>
                <a:latin typeface="Aptos"/>
              </a:rPr>
              <a:t>hafifletilmesi</a:t>
            </a:r>
          </a:p>
          <a:p>
            <a:pPr>
              <a:spcBef>
                <a:spcPts val="400"/>
              </a:spcBef>
            </a:pPr>
            <a:r>
              <a:rPr sz="1050" b="0" i="0" dirty="0" err="1">
                <a:solidFill>
                  <a:srgbClr val="64716D"/>
                </a:solidFill>
                <a:latin typeface="Aptos"/>
              </a:rPr>
              <a:t>AI katmanı</a:t>
            </a:r>
            <a:r>
              <a:rPr sz="1050" b="0" i="0" dirty="0">
                <a:solidFill>
                  <a:srgbClr val="64716D"/>
                </a:solidFill>
                <a:latin typeface="Aptos"/>
              </a:rPr>
              <a:t>, </a:t>
            </a:r>
            <a:r>
              <a:rPr sz="1050" b="0" i="0" dirty="0">
                <a:solidFill>
                  <a:srgbClr val="64716D"/>
                </a:solidFill>
                <a:latin typeface="Aptos"/>
              </a:rPr>
              <a:t>finansal </a:t>
            </a:r>
            <a:r>
              <a:rPr sz="1050" b="0" i="0" dirty="0" err="1">
                <a:solidFill>
                  <a:srgbClr val="64716D"/>
                </a:solidFill>
                <a:latin typeface="Aptos"/>
              </a:rPr>
              <a:t>veya </a:t>
            </a:r>
            <a:r>
              <a:rPr sz="1050" b="0" i="0" dirty="0" err="1">
                <a:solidFill>
                  <a:srgbClr val="64716D"/>
                </a:solidFill>
                <a:latin typeface="Aptos"/>
              </a:rPr>
              <a:t>erişim kararlarının </a:t>
            </a:r>
            <a:r>
              <a:rPr sz="1050" b="0" i="0" dirty="0" err="1">
                <a:solidFill>
                  <a:srgbClr val="64716D"/>
                </a:solidFill>
                <a:latin typeface="Aptos"/>
              </a:rPr>
              <a:t>kontrolünü</a:t>
            </a:r>
            <a:r>
              <a:rPr sz="1050" b="0" i="0" dirty="0">
                <a:solidFill>
                  <a:srgbClr val="64716D"/>
                </a:solidFill>
                <a:latin typeface="Aptos"/>
              </a:rPr>
              <a:t> elden </a:t>
            </a:r>
            <a:r>
              <a:rPr sz="1050" b="0" i="0" dirty="0" err="1">
                <a:solidFill>
                  <a:srgbClr val="64716D"/>
                </a:solidFill>
                <a:latin typeface="Aptos"/>
              </a:rPr>
              <a:t>çıkarmadan</a:t>
            </a:r>
            <a:r>
              <a:rPr lang="de-DE" sz="1050" b="0" i="0" dirty="0">
                <a:solidFill>
                  <a:srgbClr val="64716D"/>
                </a:solidFill>
                <a:latin typeface="Aptos"/>
              </a:rPr>
              <a:t>, </a:t>
            </a:r>
            <a:r>
              <a:rPr sz="1050" b="0" i="0" dirty="0" err="1">
                <a:solidFill>
                  <a:srgbClr val="64716D"/>
                </a:solidFill>
                <a:latin typeface="Aptos"/>
              </a:rPr>
              <a:t>rutin sorgulamalar </a:t>
            </a:r>
            <a:r>
              <a:rPr sz="1050" b="0" i="0" dirty="0">
                <a:solidFill>
                  <a:srgbClr val="64716D"/>
                </a:solidFill>
                <a:latin typeface="Aptos"/>
              </a:rPr>
              <a:t>ve </a:t>
            </a:r>
            <a:r>
              <a:rPr sz="1050" b="0" i="0" dirty="0" err="1">
                <a:solidFill>
                  <a:srgbClr val="64716D"/>
                </a:solidFill>
                <a:latin typeface="Aptos"/>
              </a:rPr>
              <a:t>önceliklendirme </a:t>
            </a:r>
            <a:r>
              <a:rPr sz="1050" b="0" i="0" dirty="0" err="1">
                <a:solidFill>
                  <a:srgbClr val="64716D"/>
                </a:solidFill>
                <a:latin typeface="Aptos"/>
              </a:rPr>
              <a:t>konusunda </a:t>
            </a:r>
            <a:r>
              <a:rPr sz="1050" b="0" i="0" dirty="0">
                <a:solidFill>
                  <a:srgbClr val="64716D"/>
                </a:solidFill>
                <a:latin typeface="Aptos"/>
              </a:rPr>
              <a:t>yönetim ve </a:t>
            </a:r>
            <a:r>
              <a:rPr sz="1050" b="0" i="0" dirty="0" err="1">
                <a:solidFill>
                  <a:srgbClr val="64716D"/>
                </a:solidFill>
                <a:latin typeface="Aptos"/>
              </a:rPr>
              <a:t>muhasebe birimlerinin </a:t>
            </a:r>
            <a:r>
              <a:rPr sz="1050" b="0" i="0" dirty="0" err="1">
                <a:solidFill>
                  <a:srgbClr val="64716D"/>
                </a:solidFill>
                <a:latin typeface="Aptos"/>
              </a:rPr>
              <a:t>yükünü hafifletir</a:t>
            </a:r>
            <a:r>
              <a:rPr sz="1050" b="0" i="0" dirty="0">
                <a:solidFill>
                  <a:srgbClr val="64716D"/>
                </a:solidFill>
                <a:latin typeface="Aptos"/>
              </a:rPr>
              <a:t>.</a:t>
            </a:r>
          </a:p>
        </p:txBody>
      </p:sp>
      <p:sp>
        <p:nvSpPr>
          <p:cNvPr id="17" name="Rounded Rectangle 16"/>
          <p:cNvSpPr/>
          <p:nvPr/>
        </p:nvSpPr>
        <p:spPr>
          <a:xfrm>
            <a:off x="640080" y="5212080"/>
            <a:ext cx="10881360" cy="10058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212080"/>
            <a:ext cx="54864" cy="10058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530334"/>
            <a:ext cx="10469880" cy="369332"/>
          </a:xfrm>
          <a:prstGeom prst="rect">
            <a:avLst/>
          </a:prstGeom>
          <a:noFill/>
        </p:spPr>
        <p:txBody>
          <a:bodyPr wrap="square" lIns="0" tIns="0" rIns="0" bIns="0" anchor="ctr">
            <a:spAutoFit/>
          </a:bodyPr>
          <a:lstStyle/>
          <a:p>
            <a:r>
              <a:rPr sz="1250" b="1" i="0" dirty="0" err="1">
                <a:solidFill>
                  <a:srgbClr val="044F49"/>
                </a:solidFill>
                <a:latin typeface="Aptos"/>
              </a:rPr>
              <a:t>Stratejik </a:t>
            </a:r>
            <a:r>
              <a:rPr sz="1250" b="1" i="0" dirty="0" err="1">
                <a:solidFill>
                  <a:srgbClr val="044F49"/>
                </a:solidFill>
                <a:latin typeface="Aptos"/>
              </a:rPr>
              <a:t>ek fayda</a:t>
            </a:r>
            <a:r>
              <a:rPr sz="1250" b="1" i="0" dirty="0">
                <a:solidFill>
                  <a:srgbClr val="044F49"/>
                </a:solidFill>
                <a:latin typeface="Aptos"/>
              </a:rPr>
              <a:t>. </a:t>
            </a:r>
            <a:r>
              <a:rPr sz="1150" b="0" i="0" dirty="0" err="1">
                <a:solidFill>
                  <a:srgbClr val="33413D"/>
                </a:solidFill>
                <a:latin typeface="Aptos"/>
              </a:rPr>
              <a:t>Platform</a:t>
            </a:r>
            <a:r>
              <a:rPr sz="1150" b="0" i="0" dirty="0">
                <a:solidFill>
                  <a:srgbClr val="33413D"/>
                </a:solidFill>
                <a:latin typeface="Aptos"/>
              </a:rPr>
              <a:t>, </a:t>
            </a:r>
            <a:r>
              <a:rPr sz="1150" b="0" i="0" dirty="0" err="1">
                <a:solidFill>
                  <a:srgbClr val="33413D"/>
                </a:solidFill>
                <a:latin typeface="Aptos"/>
              </a:rPr>
              <a:t>diğer</a:t>
            </a:r>
            <a:r>
              <a:rPr sz="1150" b="0" i="0" dirty="0">
                <a:solidFill>
                  <a:srgbClr val="33413D"/>
                </a:solidFill>
                <a:latin typeface="Aptos"/>
              </a:rPr>
              <a:t> </a:t>
            </a:r>
            <a:r>
              <a:rPr sz="1150" b="0" i="0" dirty="0" err="1">
                <a:solidFill>
                  <a:srgbClr val="33413D"/>
                </a:solidFill>
                <a:latin typeface="Aptos"/>
              </a:rPr>
              <a:t>şubelere </a:t>
            </a:r>
            <a:r>
              <a:rPr sz="1150" b="0" i="0" dirty="0">
                <a:solidFill>
                  <a:srgbClr val="33413D"/>
                </a:solidFill>
                <a:latin typeface="Aptos"/>
              </a:rPr>
              <a:t>ve </a:t>
            </a:r>
            <a:r>
              <a:rPr sz="1150" b="0" i="0" dirty="0" err="1">
                <a:solidFill>
                  <a:srgbClr val="33413D"/>
                </a:solidFill>
                <a:latin typeface="Aptos"/>
              </a:rPr>
              <a:t>mülklere</a:t>
            </a:r>
            <a:r>
              <a:rPr sz="1150" b="0" i="0" dirty="0">
                <a:solidFill>
                  <a:srgbClr val="33413D"/>
                </a:solidFill>
                <a:latin typeface="Aptos"/>
              </a:rPr>
              <a:t> </a:t>
            </a:r>
            <a:r>
              <a:rPr sz="1150" b="0" i="0" dirty="0" err="1">
                <a:solidFill>
                  <a:srgbClr val="33413D"/>
                </a:solidFill>
                <a:latin typeface="Aptos"/>
              </a:rPr>
              <a:t>de uygulanabilecek </a:t>
            </a:r>
            <a:r>
              <a:rPr sz="1150" b="0" i="0" dirty="0" err="1">
                <a:solidFill>
                  <a:srgbClr val="33413D"/>
                </a:solidFill>
                <a:latin typeface="Aptos"/>
              </a:rPr>
              <a:t>şekilde</a:t>
            </a:r>
            <a:r>
              <a:rPr sz="1150" b="0" i="0" dirty="0">
                <a:solidFill>
                  <a:srgbClr val="33413D"/>
                </a:solidFill>
                <a:latin typeface="Aptos"/>
              </a:rPr>
              <a:t> </a:t>
            </a:r>
            <a:r>
              <a:rPr sz="1150" b="0" i="0" dirty="0" err="1">
                <a:solidFill>
                  <a:srgbClr val="33413D"/>
                </a:solidFill>
                <a:latin typeface="Aptos"/>
              </a:rPr>
              <a:t>tasarlanmıştır</a:t>
            </a:r>
            <a:r>
              <a:rPr lang="de-DE" sz="1150" b="0" i="0" dirty="0">
                <a:solidFill>
                  <a:srgbClr val="33413D"/>
                </a:solidFill>
                <a:latin typeface="Aptos"/>
              </a:rPr>
              <a:t>;</a:t>
            </a:r>
            <a:r>
              <a:rPr sz="1150" b="0" i="0" dirty="0" err="1">
                <a:solidFill>
                  <a:srgbClr val="33413D"/>
                </a:solidFill>
                <a:latin typeface="Aptos"/>
              </a:rPr>
              <a:t> </a:t>
            </a:r>
            <a:r>
              <a:rPr sz="1150" b="0" i="0" dirty="0" err="1">
                <a:solidFill>
                  <a:srgbClr val="33413D"/>
                </a:solidFill>
                <a:latin typeface="Aptos"/>
              </a:rPr>
              <a:t>bu</a:t>
            </a:r>
            <a:r>
              <a:rPr sz="1150" b="0" i="0" dirty="0">
                <a:solidFill>
                  <a:srgbClr val="33413D"/>
                </a:solidFill>
                <a:latin typeface="Aptos"/>
              </a:rPr>
              <a:t>, </a:t>
            </a:r>
            <a:r>
              <a:rPr sz="1150" b="0" i="0" dirty="0" err="1">
                <a:solidFill>
                  <a:srgbClr val="33413D"/>
                </a:solidFill>
                <a:latin typeface="Aptos"/>
              </a:rPr>
              <a:t>Ataberk </a:t>
            </a:r>
            <a:r>
              <a:rPr sz="1150" b="0" i="0" dirty="0">
                <a:solidFill>
                  <a:srgbClr val="33413D"/>
                </a:solidFill>
                <a:latin typeface="Aptos"/>
              </a:rPr>
              <a:t>Estate’in </a:t>
            </a:r>
            <a:r>
              <a:rPr sz="1150" b="0" i="0" dirty="0" err="1">
                <a:solidFill>
                  <a:srgbClr val="33413D"/>
                </a:solidFill>
                <a:latin typeface="Aptos"/>
              </a:rPr>
              <a:t>dijital</a:t>
            </a:r>
            <a:r>
              <a:rPr sz="1150" b="0" i="0" dirty="0">
                <a:solidFill>
                  <a:srgbClr val="33413D"/>
                </a:solidFill>
                <a:latin typeface="Aptos"/>
              </a:rPr>
              <a:t> </a:t>
            </a:r>
            <a:r>
              <a:rPr sz="1150" b="0" i="0" dirty="0" err="1">
                <a:solidFill>
                  <a:srgbClr val="33413D"/>
                </a:solidFill>
                <a:latin typeface="Aptos"/>
              </a:rPr>
              <a:t>operasyonlarını </a:t>
            </a:r>
            <a:r>
              <a:rPr sz="1150" b="0" i="0" dirty="0">
                <a:solidFill>
                  <a:srgbClr val="33413D"/>
                </a:solidFill>
                <a:latin typeface="Aptos"/>
              </a:rPr>
              <a:t>New Level Premium’</a:t>
            </a:r>
            <a:r>
              <a:rPr sz="1150" b="0" i="0" dirty="0" err="1">
                <a:solidFill>
                  <a:srgbClr val="33413D"/>
                </a:solidFill>
                <a:latin typeface="Aptos"/>
              </a:rPr>
              <a:t>un ötesine </a:t>
            </a:r>
            <a:r>
              <a:rPr sz="1150" b="0" i="0" dirty="0" err="1">
                <a:solidFill>
                  <a:srgbClr val="33413D"/>
                </a:solidFill>
                <a:latin typeface="Aptos"/>
              </a:rPr>
              <a:t>genişletmek </a:t>
            </a:r>
            <a:r>
              <a:rPr sz="1150" b="0" i="0" dirty="0" err="1">
                <a:solidFill>
                  <a:srgbClr val="33413D"/>
                </a:solidFill>
                <a:latin typeface="Aptos"/>
              </a:rPr>
              <a:t>istemesi </a:t>
            </a:r>
            <a:r>
              <a:rPr sz="1150" b="0" i="0" dirty="0" err="1">
                <a:solidFill>
                  <a:srgbClr val="33413D"/>
                </a:solidFill>
                <a:latin typeface="Aptos"/>
              </a:rPr>
              <a:t>durumunda </a:t>
            </a:r>
            <a:r>
              <a:rPr sz="1150" b="0" i="0" dirty="0" err="1">
                <a:solidFill>
                  <a:srgbClr val="33413D"/>
                </a:solidFill>
                <a:latin typeface="Aptos"/>
              </a:rPr>
              <a:t>sağlam </a:t>
            </a:r>
            <a:r>
              <a:rPr sz="1150" b="0" i="0" dirty="0" err="1">
                <a:solidFill>
                  <a:srgbClr val="33413D"/>
                </a:solidFill>
                <a:latin typeface="Aptos"/>
              </a:rPr>
              <a:t>bir </a:t>
            </a:r>
            <a:r>
              <a:rPr sz="1150" b="0" i="0" dirty="0" err="1">
                <a:solidFill>
                  <a:srgbClr val="33413D"/>
                </a:solidFill>
                <a:latin typeface="Aptos"/>
              </a:rPr>
              <a:t>temel </a:t>
            </a:r>
            <a:r>
              <a:rPr sz="1150" b="0" i="0" dirty="0" err="1">
                <a:solidFill>
                  <a:srgbClr val="33413D"/>
                </a:solidFill>
                <a:latin typeface="Aptos"/>
              </a:rPr>
              <a:t>oluşturur</a:t>
            </a:r>
            <a:r>
              <a:rPr sz="1150" b="0" i="0" dirty="0">
                <a:solidFill>
                  <a:srgbClr val="33413D"/>
                </a:solidFill>
                <a:latin typeface="Aptos"/>
              </a:rPr>
              <a:t>.</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10</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ividerbg.jp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aberk_logo_transparent.png"/>
          <p:cNvPicPr>
            <a:picLocks noChangeAspect="1"/>
          </p:cNvPicPr>
          <p:nvPr/>
        </p:nvPicPr>
        <p:blipFill>
          <a:blip r:embed="rId3"/>
          <a:stretch>
            <a:fillRect/>
          </a:stretch>
        </p:blipFill>
        <p:spPr>
          <a:xfrm>
            <a:off x="10104120" y="473659"/>
            <a:ext cx="1298448" cy="259689"/>
          </a:xfrm>
          <a:prstGeom prst="rect">
            <a:avLst/>
          </a:prstGeom>
        </p:spPr>
      </p:pic>
      <p:sp>
        <p:nvSpPr>
          <p:cNvPr id="6" name="TextBox 5"/>
          <p:cNvSpPr txBox="1"/>
          <p:nvPr/>
        </p:nvSpPr>
        <p:spPr>
          <a:xfrm>
            <a:off x="822960" y="2286000"/>
            <a:ext cx="10058400" cy="457200"/>
          </a:xfrm>
          <a:prstGeom prst="rect">
            <a:avLst/>
          </a:prstGeom>
          <a:noFill/>
        </p:spPr>
        <p:txBody>
          <a:bodyPr wrap="square" lIns="0" tIns="0" rIns="0" bIns="0" anchor="t">
            <a:spAutoFit/>
          </a:bodyPr>
          <a:lstStyle/>
          <a:p>
            <a:r>
              <a:rPr sz="1300" b="1" i="0">
                <a:solidFill>
                  <a:srgbClr val="E2B75D"/>
                </a:solidFill>
                <a:latin typeface="Aptos"/>
              </a:rPr>
              <a:t>BÖLÜM 06</a:t>
            </a:r>
          </a:p>
        </p:txBody>
      </p:sp>
      <p:sp>
        <p:nvSpPr>
          <p:cNvPr id="7" name="TextBox 6"/>
          <p:cNvSpPr txBox="1"/>
          <p:nvPr/>
        </p:nvSpPr>
        <p:spPr>
          <a:xfrm>
            <a:off x="822960" y="2697480"/>
            <a:ext cx="10515600" cy="523220"/>
          </a:xfrm>
          <a:prstGeom prst="rect">
            <a:avLst/>
          </a:prstGeom>
          <a:noFill/>
        </p:spPr>
        <p:txBody>
          <a:bodyPr wrap="square" lIns="0" tIns="0" rIns="0" bIns="0" anchor="t">
            <a:spAutoFit/>
          </a:bodyPr>
          <a:lstStyle/>
          <a:p>
            <a:r>
              <a:rPr sz="3400" b="1" i="0" dirty="0" err="1">
                <a:solidFill>
                  <a:srgbClr val="FFFFFF"/>
                </a:solidFill>
                <a:latin typeface="Aptos"/>
              </a:rPr>
              <a:t>İşlev Kapsamı </a:t>
            </a:r>
            <a:r>
              <a:rPr lang="de-DE" sz="3400" b="1" i="0" dirty="0">
                <a:solidFill>
                  <a:srgbClr val="FFFFFF"/>
                </a:solidFill>
                <a:latin typeface="Aptos"/>
              </a:rPr>
              <a:t>-</a:t>
            </a:r>
            <a:r>
              <a:rPr sz="3400" b="1" i="0" dirty="0">
                <a:solidFill>
                  <a:srgbClr val="FFFFFF"/>
                </a:solidFill>
                <a:latin typeface="Aptos"/>
              </a:rPr>
              <a:t> 1Çatı'nın </a:t>
            </a:r>
            <a:r>
              <a:rPr sz="3400" b="1" i="0" dirty="0" err="1">
                <a:solidFill>
                  <a:srgbClr val="FFFFFF"/>
                </a:solidFill>
                <a:latin typeface="Aptos"/>
              </a:rPr>
              <a:t>sundukları</a:t>
            </a:r>
            <a:endParaRPr sz="3400" b="1" i="0" dirty="0">
              <a:solidFill>
                <a:srgbClr val="FFFFFF"/>
              </a:solidFill>
              <a:latin typeface="Aptos"/>
            </a:endParaRPr>
          </a:p>
        </p:txBody>
      </p:sp>
      <p:sp>
        <p:nvSpPr>
          <p:cNvPr id="8" name="TextBox 7"/>
          <p:cNvSpPr txBox="1"/>
          <p:nvPr/>
        </p:nvSpPr>
        <p:spPr>
          <a:xfrm>
            <a:off x="822960" y="3840480"/>
            <a:ext cx="9601200" cy="1097280"/>
          </a:xfrm>
          <a:prstGeom prst="rect">
            <a:avLst/>
          </a:prstGeom>
          <a:noFill/>
        </p:spPr>
        <p:txBody>
          <a:bodyPr wrap="square" lIns="0" tIns="0" rIns="0" bIns="0" anchor="t">
            <a:spAutoFit/>
          </a:bodyPr>
          <a:lstStyle/>
          <a:p>
            <a:r>
              <a:rPr sz="1300" b="0" i="0">
                <a:solidFill>
                  <a:srgbClr val="CDE7E1"/>
                </a:solidFill>
                <a:latin typeface="Aptos"/>
              </a:rPr>
              <a:t>Geliştirilen tüm işlev alanları ve güncel durumları. »Kullanılabilir« = demo sürümünde tam olarak kullanılabilir; »Kısmen« = Görünüm hazır, aktif veri girişi/uygulama ise üretim sürümünde sağlanacaktır.</a:t>
            </a:r>
          </a:p>
        </p:txBody>
      </p:sp>
      <p:sp>
        <p:nvSpPr>
          <p:cNvPr id="9" name="TextBox 8"/>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0" name="TextBox 9"/>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11</a:t>
            </a:r>
          </a:p>
        </p:txBody>
      </p:sp>
      <p:pic>
        <p:nvPicPr>
          <p:cNvPr id="11" name="Picture 10" descr="logo.png"/>
          <p:cNvPicPr>
            <a:picLocks noChangeAspect="1"/>
          </p:cNvPicPr>
          <p:nvPr/>
        </p:nvPicPr>
        <p:blipFill>
          <a:blip r:embed="rId4"/>
          <a:stretch>
            <a:fillRect/>
          </a:stretch>
        </p:blipFill>
        <p:spPr>
          <a:xfrm>
            <a:off x="10744200" y="6382512"/>
            <a:ext cx="310896" cy="310896"/>
          </a:xfrm>
          <a:prstGeom prst="rect">
            <a:avLst/>
          </a:prstGeom>
        </p:spPr>
      </p:pic>
    </p:spTree>
  </p:cSld>
  <p:clrMapOvr>
    <a:masterClrMapping/>
  </p:clrMapOvr>
</p:sld>
</file>

<file path=ppt/slides/slide13.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İŞLEV KAPSAMI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Erişim, Roller ve Güvenlik</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83664"/>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İşlev</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Rol Tabanlı Erişim</a:t>
                      </a:r>
                    </a:p>
                  </a:txBody>
                  <a:tcPr marL="73152" marR="73152" marT="36576" marB="36576" anchor="ctr">
                    <a:solidFill>
                      <a:srgbClr val="FFFFFF"/>
                    </a:solidFill>
                  </a:tcPr>
                </a:tc>
                <a:tc>
                  <a:txBody>
                    <a:bodyPr/>
                    <a:lstStyle/>
                    <a:p>
                      <a:r>
                        <a:rPr sz="1050" b="0" i="0">
                          <a:solidFill>
                            <a:srgbClr val="33413D"/>
                          </a:solidFill>
                          <a:latin typeface="Aptos"/>
                        </a:rPr>
                        <a:t>Ayrıntılı hak düzeylerine sahip altı rol; her rol, yalnızca kendi işiyle ilgili alanları görebilir.</a:t>
                      </a:r>
                    </a:p>
                  </a:txBody>
                  <a:tcPr marL="73152" marR="73152" marT="36576" marB="36576" anchor="ctr">
                    <a:solidFill>
                      <a:srgbClr val="FFFFFF"/>
                    </a:solidFill>
                  </a:tcPr>
                </a:tc>
                <a:tc>
                  <a:txBody>
                    <a:bodyPr/>
                    <a:lstStyle/>
                    <a:p>
                      <a:pPr algn="ctr"/>
                      <a:r>
                        <a:rPr sz="1000" b="1" i="0">
                          <a:solidFill>
                            <a:srgbClr val="044F49"/>
                          </a:solidFill>
                          <a:latin typeface="Aptos"/>
                        </a:rPr>
                        <a:t>Canlı</a:t>
                      </a:r>
                    </a:p>
                  </a:txBody>
                  <a:tcPr marL="73152" marR="73152" marT="36576" marB="36576" anchor="ctr">
                    <a:solidFill>
                      <a:srgbClr val="D3E9E7"/>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Çift erişim denetimi</a:t>
                      </a:r>
                    </a:p>
                  </a:txBody>
                  <a:tcPr marL="73152" marR="73152" marT="36576" marB="36576" anchor="ctr">
                    <a:solidFill>
                      <a:srgbClr val="F1F5F4"/>
                    </a:solidFill>
                  </a:tcPr>
                </a:tc>
                <a:tc>
                  <a:txBody>
                    <a:bodyPr/>
                    <a:lstStyle/>
                    <a:p>
                      <a:r>
                        <a:rPr sz="1050" b="0" i="0" dirty="0">
                          <a:solidFill>
                            <a:srgbClr val="33413D"/>
                          </a:solidFill>
                          <a:latin typeface="Aptos"/>
                        </a:rPr>
                        <a:t>Yetkiler, </a:t>
                      </a:r>
                      <a:r>
                        <a:rPr sz="1050" b="0" i="0" dirty="0" err="1">
                          <a:solidFill>
                            <a:srgbClr val="33413D"/>
                          </a:solidFill>
                          <a:latin typeface="Aptos"/>
                        </a:rPr>
                        <a:t>uygulamada </a:t>
                      </a:r>
                      <a:r>
                        <a:rPr sz="1050" b="0" i="0" dirty="0">
                          <a:solidFill>
                            <a:srgbClr val="33413D"/>
                          </a:solidFill>
                          <a:latin typeface="Aptos"/>
                        </a:rPr>
                        <a:t>ve verit</a:t>
                      </a:r>
                      <a:r>
                        <a:rPr sz="1050" b="0" i="0" dirty="0" err="1">
                          <a:solidFill>
                            <a:srgbClr val="33413D"/>
                          </a:solidFill>
                          <a:latin typeface="Aptos"/>
                        </a:rPr>
                        <a:t>aban</a:t>
                      </a:r>
                      <a:r>
                        <a:rPr sz="1050" b="0" i="0" dirty="0">
                          <a:solidFill>
                            <a:srgbClr val="33413D"/>
                          </a:solidFill>
                          <a:latin typeface="Aptos"/>
                        </a:rPr>
                        <a:t>ında </a:t>
                      </a:r>
                      <a:r>
                        <a:rPr sz="1050" b="0" i="0" dirty="0" err="1">
                          <a:solidFill>
                            <a:srgbClr val="33413D"/>
                          </a:solidFill>
                          <a:latin typeface="Aptos"/>
                        </a:rPr>
                        <a:t>uygulanır</a:t>
                      </a:r>
                      <a:r>
                        <a:rPr lang="de-DE" sz="1050" b="0" i="0" dirty="0">
                          <a:solidFill>
                            <a:srgbClr val="33413D"/>
                          </a:solidFill>
                          <a:latin typeface="Aptos"/>
                        </a:rPr>
                        <a:t>; </a:t>
                      </a:r>
                      <a:r>
                        <a:rPr sz="1050" b="0" i="0" dirty="0" err="1">
                          <a:solidFill>
                            <a:srgbClr val="33413D"/>
                          </a:solidFill>
                          <a:latin typeface="Aptos"/>
                        </a:rPr>
                        <a:t>sadece </a:t>
                      </a:r>
                      <a:r>
                        <a:rPr sz="1050" b="0" i="0" dirty="0" err="1">
                          <a:solidFill>
                            <a:srgbClr val="33413D"/>
                          </a:solidFill>
                          <a:latin typeface="Aptos"/>
                        </a:rPr>
                        <a:t>yüzeysel olarak </a:t>
                      </a:r>
                      <a:r>
                        <a:rPr sz="1050" b="0" i="0" dirty="0" err="1">
                          <a:solidFill>
                            <a:srgbClr val="33413D"/>
                          </a:solidFill>
                          <a:latin typeface="Aptos"/>
                        </a:rPr>
                        <a:t>gizlenmez</a:t>
                      </a:r>
                      <a:r>
                        <a:rPr sz="1050" b="0" i="0" dirty="0">
                          <a:solidFill>
                            <a:srgbClr val="33413D"/>
                          </a:solidFill>
                          <a:latin typeface="Aptos"/>
                        </a:rPr>
                        <a:t>.</a:t>
                      </a:r>
                    </a:p>
                  </a:txBody>
                  <a:tcPr marL="73152" marR="73152" marT="36576" marB="36576" anchor="ctr">
                    <a:solidFill>
                      <a:srgbClr val="F1F5F4"/>
                    </a:solidFill>
                  </a:tcPr>
                </a:tc>
                <a:tc>
                  <a:txBody>
                    <a:bodyPr/>
                    <a:lstStyle/>
                    <a:p>
                      <a:pPr algn="ctr"/>
                      <a:r>
                        <a:rPr sz="1000" b="1" i="0">
                          <a:solidFill>
                            <a:srgbClr val="044F49"/>
                          </a:solidFill>
                          <a:latin typeface="Aptos"/>
                        </a:rPr>
                        <a:t>Canlı</a:t>
                      </a:r>
                    </a:p>
                  </a:txBody>
                  <a:tcPr marL="73152" marR="73152" marT="36576" marB="36576" anchor="ctr">
                    <a:solidFill>
                      <a:srgbClr val="D3E9E7"/>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Eksiksiz günlük kaydı</a:t>
                      </a:r>
                    </a:p>
                  </a:txBody>
                  <a:tcPr marL="73152" marR="73152" marT="36576" marB="36576" anchor="ctr">
                    <a:solidFill>
                      <a:srgbClr val="FFFFFF"/>
                    </a:solidFill>
                  </a:tcPr>
                </a:tc>
                <a:tc>
                  <a:txBody>
                    <a:bodyPr/>
                    <a:lstStyle/>
                    <a:p>
                      <a:r>
                        <a:rPr sz="1050" b="0" i="0">
                          <a:solidFill>
                            <a:srgbClr val="33413D"/>
                          </a:solidFill>
                          <a:latin typeface="Aptos"/>
                        </a:rPr>
                        <a:t>Hassas işlemler, kullanıcı, rol, zaman, neden ve durum bilgileriyle birlikte denetime uygun şekilde kaydedilir.</a:t>
                      </a:r>
                    </a:p>
                  </a:txBody>
                  <a:tcPr marL="73152" marR="73152" marT="36576" marB="36576" anchor="ctr">
                    <a:solidFill>
                      <a:srgbClr val="FFFFFF"/>
                    </a:solidFill>
                  </a:tcPr>
                </a:tc>
                <a:tc>
                  <a:txBody>
                    <a:bodyPr/>
                    <a:lstStyle/>
                    <a:p>
                      <a:pPr algn="ctr"/>
                      <a:r>
                        <a:rPr sz="1000" b="1" i="0">
                          <a:solidFill>
                            <a:srgbClr val="044F49"/>
                          </a:solidFill>
                          <a:latin typeface="Aptos"/>
                        </a:rPr>
                        <a:t>Kullanılabilir</a:t>
                      </a:r>
                    </a:p>
                  </a:txBody>
                  <a:tcPr marL="73152" marR="73152" marT="36576" marB="36576" anchor="ctr">
                    <a:solidFill>
                      <a:srgbClr val="DAE9E8"/>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Tek Tıklamayla Demo Erişimi</a:t>
                      </a:r>
                    </a:p>
                  </a:txBody>
                  <a:tcPr marL="73152" marR="73152" marT="36576" marB="36576" anchor="ctr">
                    <a:solidFill>
                      <a:srgbClr val="F1F5F4"/>
                    </a:solidFill>
                  </a:tcPr>
                </a:tc>
                <a:tc>
                  <a:txBody>
                    <a:bodyPr/>
                    <a:lstStyle/>
                    <a:p>
                      <a:r>
                        <a:rPr sz="1050" b="0" i="0">
                          <a:solidFill>
                            <a:srgbClr val="33413D"/>
                          </a:solidFill>
                          <a:latin typeface="Aptos"/>
                        </a:rPr>
                        <a:t>Şifresiz sunum erişimi; üretim ortamında varsayılan olarak engellenmiştir.</a:t>
                      </a:r>
                    </a:p>
                  </a:txBody>
                  <a:tcPr marL="73152" marR="73152" marT="36576" marB="36576" anchor="ctr">
                    <a:solidFill>
                      <a:srgbClr val="F1F5F4"/>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12</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4.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İŞLEV KAPSAMI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Portföy ve Konut Yönetimi</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5623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İşlev</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Daire Matrisi</a:t>
                      </a:r>
                    </a:p>
                  </a:txBody>
                  <a:tcPr marL="73152" marR="73152" marT="36576" marB="36576" anchor="ctr">
                    <a:solidFill>
                      <a:srgbClr val="FFFFFF"/>
                    </a:solidFill>
                  </a:tcPr>
                </a:tc>
                <a:tc>
                  <a:txBody>
                    <a:bodyPr/>
                    <a:lstStyle/>
                    <a:p>
                      <a:r>
                        <a:rPr sz="1050" b="0" i="0" dirty="0">
                          <a:solidFill>
                            <a:srgbClr val="33413D"/>
                          </a:solidFill>
                          <a:latin typeface="Aptos"/>
                        </a:rPr>
                        <a:t>Blok, numara, </a:t>
                      </a:r>
                      <a:r>
                        <a:rPr sz="1050" b="0" i="0" dirty="0" err="1">
                          <a:solidFill>
                            <a:srgbClr val="33413D"/>
                          </a:solidFill>
                          <a:latin typeface="Aptos"/>
                        </a:rPr>
                        <a:t>malik</a:t>
                      </a:r>
                      <a:r>
                        <a:rPr sz="1050" b="0" i="0" dirty="0">
                          <a:solidFill>
                            <a:srgbClr val="33413D"/>
                          </a:solidFill>
                          <a:latin typeface="Aptos"/>
                        </a:rPr>
                        <a:t>, </a:t>
                      </a:r>
                      <a:r>
                        <a:rPr sz="1050" b="0" i="0" dirty="0" err="1">
                          <a:solidFill>
                            <a:srgbClr val="33413D"/>
                          </a:solidFill>
                          <a:latin typeface="Aptos"/>
                        </a:rPr>
                        <a:t>sakin</a:t>
                      </a:r>
                      <a:r>
                        <a:rPr sz="1050" b="0" i="0" dirty="0">
                          <a:solidFill>
                            <a:srgbClr val="33413D"/>
                          </a:solidFill>
                          <a:latin typeface="Aptos"/>
                        </a:rPr>
                        <a:t>, fiyat, </a:t>
                      </a:r>
                      <a:r>
                        <a:rPr sz="1050" b="0" i="0" dirty="0" err="1">
                          <a:solidFill>
                            <a:srgbClr val="33413D"/>
                          </a:solidFill>
                          <a:latin typeface="Aptos"/>
                        </a:rPr>
                        <a:t>borç durumu</a:t>
                      </a:r>
                      <a:r>
                        <a:rPr sz="1050" b="0" i="0" dirty="0">
                          <a:solidFill>
                            <a:srgbClr val="33413D"/>
                          </a:solidFill>
                          <a:latin typeface="Aptos"/>
                        </a:rPr>
                        <a:t>, </a:t>
                      </a:r>
                      <a:r>
                        <a:rPr sz="1050" b="0" i="0" dirty="0" err="1">
                          <a:solidFill>
                            <a:srgbClr val="33413D"/>
                          </a:solidFill>
                          <a:latin typeface="Aptos"/>
                        </a:rPr>
                        <a:t>belgeler</a:t>
                      </a:r>
                      <a:r>
                        <a:rPr sz="1050" b="0" i="0" dirty="0">
                          <a:solidFill>
                            <a:srgbClr val="33413D"/>
                          </a:solidFill>
                          <a:latin typeface="Aptos"/>
                        </a:rPr>
                        <a:t>, hizmet ve </a:t>
                      </a:r>
                      <a:r>
                        <a:rPr sz="1050" b="0" i="0" dirty="0" err="1">
                          <a:solidFill>
                            <a:srgbClr val="33413D"/>
                          </a:solidFill>
                          <a:latin typeface="Aptos"/>
                        </a:rPr>
                        <a:t>erişim durumu </a:t>
                      </a:r>
                      <a:r>
                        <a:rPr sz="1050" b="0" i="0" dirty="0" err="1">
                          <a:solidFill>
                            <a:srgbClr val="33413D"/>
                          </a:solidFill>
                          <a:latin typeface="Aptos"/>
                        </a:rPr>
                        <a:t>bilgilerini içeren </a:t>
                      </a:r>
                      <a:r>
                        <a:rPr sz="1050" b="0" i="0" dirty="0" err="1">
                          <a:solidFill>
                            <a:srgbClr val="33413D"/>
                          </a:solidFill>
                          <a:latin typeface="Aptos"/>
                        </a:rPr>
                        <a:t>tüm </a:t>
                      </a:r>
                      <a:r>
                        <a:rPr sz="1050" b="0" i="0" dirty="0" err="1">
                          <a:solidFill>
                            <a:srgbClr val="33413D"/>
                          </a:solidFill>
                          <a:latin typeface="Aptos"/>
                        </a:rPr>
                        <a:t>birimlerin </a:t>
                      </a:r>
                      <a:r>
                        <a:rPr sz="1050" b="0" i="0" dirty="0" err="1">
                          <a:solidFill>
                            <a:srgbClr val="33413D"/>
                          </a:solidFill>
                          <a:latin typeface="Aptos"/>
                        </a:rPr>
                        <a:t>merkezi </a:t>
                      </a:r>
                      <a:r>
                        <a:rPr sz="1050" b="0" i="0" dirty="0" err="1">
                          <a:solidFill>
                            <a:srgbClr val="33413D"/>
                          </a:solidFill>
                          <a:latin typeface="Aptos"/>
                        </a:rPr>
                        <a:t>genel görünümü </a:t>
                      </a:r>
                      <a:r>
                        <a:rPr lang="de-DE" sz="1050" b="0" i="0" dirty="0">
                          <a:solidFill>
                            <a:srgbClr val="33413D"/>
                          </a:solidFill>
                          <a:latin typeface="Aptos"/>
                        </a:rPr>
                        <a:t>– </a:t>
                      </a:r>
                      <a:r>
                        <a:rPr sz="1050" b="0" i="0" dirty="0" err="1">
                          <a:solidFill>
                            <a:srgbClr val="33413D"/>
                          </a:solidFill>
                          <a:latin typeface="Aptos"/>
                        </a:rPr>
                        <a:t>arama </a:t>
                      </a:r>
                      <a:r>
                        <a:rPr sz="1050" b="0" i="0" dirty="0">
                          <a:solidFill>
                            <a:srgbClr val="33413D"/>
                          </a:solidFill>
                          <a:latin typeface="Aptos"/>
                        </a:rPr>
                        <a:t>ve </a:t>
                      </a:r>
                      <a:r>
                        <a:rPr sz="1050" b="0" i="0" dirty="0" err="1">
                          <a:solidFill>
                            <a:srgbClr val="33413D"/>
                          </a:solidFill>
                          <a:latin typeface="Aptos"/>
                        </a:rPr>
                        <a:t>filtreleme yapılabilir</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Portföy Yapısı</a:t>
                      </a:r>
                    </a:p>
                  </a:txBody>
                  <a:tcPr marL="73152" marR="73152" marT="36576" marB="36576" anchor="ctr">
                    <a:solidFill>
                      <a:srgbClr val="F1F5F4"/>
                    </a:solidFill>
                  </a:tcPr>
                </a:tc>
                <a:tc>
                  <a:txBody>
                    <a:bodyPr/>
                    <a:lstStyle/>
                    <a:p>
                      <a:r>
                        <a:rPr sz="1050" b="0" i="0">
                          <a:solidFill>
                            <a:srgbClr val="33413D"/>
                          </a:solidFill>
                          <a:latin typeface="Aptos"/>
                        </a:rPr>
                        <a:t>Gerçek 769 birimlik veri setiyle birlikte, Konum → Blok → Kat → Daire şeklindeki eksiksiz model.</a:t>
                      </a:r>
                    </a:p>
                  </a:txBody>
                  <a:tcPr marL="73152" marR="73152" marT="36576" marB="36576" anchor="ctr">
                    <a:solidFill>
                      <a:srgbClr val="F1F5F4"/>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Satış ve Fiyat Durumu</a:t>
                      </a:r>
                    </a:p>
                  </a:txBody>
                  <a:tcPr marL="73152" marR="73152" marT="36576" marB="36576" anchor="ctr">
                    <a:solidFill>
                      <a:srgbClr val="FFFFFF"/>
                    </a:solidFill>
                  </a:tcPr>
                </a:tc>
                <a:tc>
                  <a:txBody>
                    <a:bodyPr/>
                    <a:lstStyle/>
                    <a:p>
                      <a:r>
                        <a:rPr sz="1050" b="0" i="0" dirty="0">
                          <a:solidFill>
                            <a:srgbClr val="33413D"/>
                          </a:solidFill>
                          <a:latin typeface="Aptos"/>
                        </a:rPr>
                        <a:t>Her birim için </a:t>
                      </a:r>
                      <a:r>
                        <a:rPr sz="1050" b="0" i="0" dirty="0" err="1">
                          <a:solidFill>
                            <a:srgbClr val="33413D"/>
                          </a:solidFill>
                          <a:latin typeface="Aptos"/>
                        </a:rPr>
                        <a:t>satış durumu</a:t>
                      </a:r>
                      <a:r>
                        <a:rPr sz="1050" b="0" i="0" dirty="0">
                          <a:solidFill>
                            <a:srgbClr val="33413D"/>
                          </a:solidFill>
                          <a:latin typeface="Aptos"/>
                        </a:rPr>
                        <a:t>, </a:t>
                      </a:r>
                      <a:r>
                        <a:rPr sz="1050" b="0" i="0" dirty="0" err="1">
                          <a:solidFill>
                            <a:srgbClr val="33413D"/>
                          </a:solidFill>
                          <a:latin typeface="Aptos"/>
                        </a:rPr>
                        <a:t>liste fiyatı </a:t>
                      </a:r>
                      <a:r>
                        <a:rPr sz="1050" b="0" i="0" dirty="0">
                          <a:solidFill>
                            <a:srgbClr val="33413D"/>
                          </a:solidFill>
                          <a:latin typeface="Aptos"/>
                        </a:rPr>
                        <a:t>ve </a:t>
                      </a:r>
                      <a:r>
                        <a:rPr sz="1050" b="0" i="0" dirty="0" err="1">
                          <a:solidFill>
                            <a:srgbClr val="33413D"/>
                          </a:solidFill>
                          <a:latin typeface="Aptos"/>
                        </a:rPr>
                        <a:t>fiyat kaynağı </a:t>
                      </a:r>
                      <a:r>
                        <a:rPr lang="de-DE" sz="1050" b="0" i="0" dirty="0">
                          <a:solidFill>
                            <a:srgbClr val="33413D"/>
                          </a:solidFill>
                          <a:latin typeface="Aptos"/>
                        </a:rPr>
                        <a:t>- </a:t>
                      </a:r>
                      <a:r>
                        <a:rPr sz="1050" b="0" i="0" dirty="0" err="1">
                          <a:solidFill>
                            <a:srgbClr val="33413D"/>
                          </a:solidFill>
                          <a:latin typeface="Aptos"/>
                        </a:rPr>
                        <a:t>gerçek</a:t>
                      </a:r>
                      <a:r>
                        <a:rPr sz="1050" b="0" i="0" dirty="0">
                          <a:solidFill>
                            <a:srgbClr val="33413D"/>
                          </a:solidFill>
                          <a:latin typeface="Aptos"/>
                        </a:rPr>
                        <a:t> </a:t>
                      </a:r>
                      <a:r>
                        <a:rPr sz="1050" b="0" i="0" dirty="0" err="1">
                          <a:solidFill>
                            <a:srgbClr val="33413D"/>
                          </a:solidFill>
                          <a:latin typeface="Aptos"/>
                        </a:rPr>
                        <a:t>fiyat</a:t>
                      </a:r>
                      <a:r>
                        <a:rPr sz="1050" b="0" i="0" dirty="0">
                          <a:solidFill>
                            <a:srgbClr val="33413D"/>
                          </a:solidFill>
                          <a:latin typeface="Aptos"/>
                        </a:rPr>
                        <a:t> listesine dayalı olarak</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Veri İçe Aktarma ve Denetimi</a:t>
                      </a:r>
                    </a:p>
                  </a:txBody>
                  <a:tcPr marL="73152" marR="73152" marT="36576" marB="36576" anchor="ctr">
                    <a:solidFill>
                      <a:srgbClr val="F1F5F4"/>
                    </a:solidFill>
                  </a:tcPr>
                </a:tc>
                <a:tc>
                  <a:txBody>
                    <a:bodyPr/>
                    <a:lstStyle/>
                    <a:p>
                      <a:r>
                        <a:rPr sz="1050" b="0" i="0">
                          <a:solidFill>
                            <a:srgbClr val="33413D"/>
                          </a:solidFill>
                          <a:latin typeface="Aptos"/>
                        </a:rPr>
                        <a:t>Veri içe aktarma sırasında doğrulama ve kalite göstergesi (satırlar, uyarılar, onay).</a:t>
                      </a:r>
                    </a:p>
                  </a:txBody>
                  <a:tcPr marL="73152" marR="73152" marT="36576" marB="36576" anchor="ctr">
                    <a:solidFill>
                      <a:srgbClr val="F1F5F4"/>
                    </a:solidFill>
                  </a:tcPr>
                </a:tc>
                <a:tc>
                  <a:txBody>
                    <a:bodyPr/>
                    <a:lstStyle/>
                    <a:p>
                      <a:pPr algn="ctr"/>
                      <a:r>
                        <a:rPr sz="1000" b="1" i="0">
                          <a:solidFill>
                            <a:srgbClr val="7A5410"/>
                          </a:solidFill>
                          <a:latin typeface="Aptos"/>
                        </a:rPr>
                        <a:t>Kısmen</a:t>
                      </a:r>
                    </a:p>
                  </a:txBody>
                  <a:tcPr marL="73152" marR="73152" marT="36576" marB="36576" anchor="ctr">
                    <a:solidFill>
                      <a:srgbClr val="F4EBDD"/>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13</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5.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İŞLEV KAPSAMI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Finans ve Katkı Payları</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2276856"/>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İşlev</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Hesaplar ve Bakiye Özeti</a:t>
                      </a:r>
                    </a:p>
                  </a:txBody>
                  <a:tcPr marL="73152" marR="73152" marT="36576" marB="36576" anchor="ctr">
                    <a:solidFill>
                      <a:srgbClr val="FFFFFF"/>
                    </a:solidFill>
                  </a:tcPr>
                </a:tc>
                <a:tc>
                  <a:txBody>
                    <a:bodyPr/>
                    <a:lstStyle/>
                    <a:p>
                      <a:r>
                        <a:rPr sz="1050" b="0" i="0">
                          <a:solidFill>
                            <a:srgbClr val="33413D"/>
                          </a:solidFill>
                          <a:latin typeface="Aptos"/>
                        </a:rPr>
                        <a:t>Açık bakiyeler, vadesi geçmiş tutarlar, birim ve kişi bazında katkı payı ve ödeme durumu, borç vadesi bilgisi.</a:t>
                      </a:r>
                    </a:p>
                  </a:txBody>
                  <a:tcPr marL="73152" marR="73152" marT="36576" marB="36576" anchor="ctr">
                    <a:solidFill>
                      <a:srgbClr val="FFFFFF"/>
                    </a:solidFill>
                  </a:tcPr>
                </a:tc>
                <a:tc>
                  <a:txBody>
                    <a:bodyPr/>
                    <a:lstStyle/>
                    <a:p>
                      <a:pPr algn="ctr"/>
                      <a:r>
                        <a:rPr sz="1000" b="1" i="0">
                          <a:solidFill>
                            <a:srgbClr val="044F49"/>
                          </a:solidFill>
                          <a:latin typeface="Aptos"/>
                        </a:rPr>
                        <a:t>Kullanılabilir</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Değiştirilemez Kayıtlar</a:t>
                      </a:r>
                    </a:p>
                  </a:txBody>
                  <a:tcPr marL="73152" marR="73152" marT="36576" marB="36576" anchor="ctr">
                    <a:solidFill>
                      <a:srgbClr val="F1F5F4"/>
                    </a:solidFill>
                  </a:tcPr>
                </a:tc>
                <a:tc>
                  <a:txBody>
                    <a:bodyPr/>
                    <a:lstStyle/>
                    <a:p>
                      <a:r>
                        <a:rPr sz="1050" b="0" i="0" dirty="0" err="1">
                          <a:solidFill>
                            <a:srgbClr val="33413D"/>
                          </a:solidFill>
                          <a:latin typeface="Aptos"/>
                        </a:rPr>
                        <a:t>Bir kez </a:t>
                      </a:r>
                      <a:r>
                        <a:rPr sz="1050" b="0" i="0" dirty="0" err="1">
                          <a:solidFill>
                            <a:srgbClr val="33413D"/>
                          </a:solidFill>
                          <a:latin typeface="Aptos"/>
                        </a:rPr>
                        <a:t>kaydedilen </a:t>
                      </a:r>
                      <a:r>
                        <a:rPr sz="1050" b="0" i="0" dirty="0" err="1">
                          <a:solidFill>
                            <a:srgbClr val="33413D"/>
                          </a:solidFill>
                          <a:latin typeface="Aptos"/>
                        </a:rPr>
                        <a:t>finansal kayıtlar </a:t>
                      </a:r>
                      <a:r>
                        <a:rPr sz="1050" b="0" i="0" dirty="0" err="1">
                          <a:solidFill>
                            <a:srgbClr val="33413D"/>
                          </a:solidFill>
                          <a:latin typeface="Aptos"/>
                        </a:rPr>
                        <a:t>artık</a:t>
                      </a:r>
                      <a:r>
                        <a:rPr sz="1050" b="0" i="0" dirty="0">
                          <a:solidFill>
                            <a:srgbClr val="33413D"/>
                          </a:solidFill>
                          <a:latin typeface="Aptos"/>
                        </a:rPr>
                        <a:t> </a:t>
                      </a:r>
                      <a:r>
                        <a:rPr sz="1050" b="0" i="0" dirty="0" err="1">
                          <a:solidFill>
                            <a:srgbClr val="33413D"/>
                          </a:solidFill>
                          <a:latin typeface="Aptos"/>
                        </a:rPr>
                        <a:t>değiştiril</a:t>
                      </a:r>
                      <a:r>
                        <a:rPr sz="1050" b="0" i="0" dirty="0" err="1">
                          <a:solidFill>
                            <a:srgbClr val="33413D"/>
                          </a:solidFill>
                          <a:latin typeface="Aptos"/>
                        </a:rPr>
                        <a:t>emez </a:t>
                      </a:r>
                      <a:r>
                        <a:rPr lang="de-DE" sz="1050" b="0" i="0" dirty="0">
                          <a:solidFill>
                            <a:srgbClr val="33413D"/>
                          </a:solidFill>
                          <a:latin typeface="Aptos"/>
                        </a:rPr>
                        <a:t>– </a:t>
                      </a:r>
                      <a:r>
                        <a:rPr sz="1050" b="0" i="0" dirty="0" err="1">
                          <a:solidFill>
                            <a:srgbClr val="33413D"/>
                          </a:solidFill>
                          <a:latin typeface="Aptos"/>
                        </a:rPr>
                        <a:t>merkezi </a:t>
                      </a:r>
                      <a:r>
                        <a:rPr sz="1050" b="0" i="0" dirty="0" err="1">
                          <a:solidFill>
                            <a:srgbClr val="33413D"/>
                          </a:solidFill>
                          <a:latin typeface="Aptos"/>
                        </a:rPr>
                        <a:t>bir </a:t>
                      </a:r>
                      <a:r>
                        <a:rPr sz="1050" b="0" i="0" dirty="0" err="1">
                          <a:solidFill>
                            <a:srgbClr val="33413D"/>
                          </a:solidFill>
                          <a:latin typeface="Aptos"/>
                        </a:rPr>
                        <a:t>muhasebe </a:t>
                      </a:r>
                      <a:r>
                        <a:rPr sz="1050" b="0" i="0" dirty="0">
                          <a:solidFill>
                            <a:srgbClr val="33413D"/>
                          </a:solidFill>
                          <a:latin typeface="Aptos"/>
                        </a:rPr>
                        <a:t>güvenliği.</a:t>
                      </a:r>
                    </a:p>
                  </a:txBody>
                  <a:tcPr marL="73152" marR="73152" marT="36576" marB="36576" anchor="ctr">
                    <a:solidFill>
                      <a:srgbClr val="F1F5F4"/>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Ödeme ve Depozito Kontrolü</a:t>
                      </a:r>
                    </a:p>
                  </a:txBody>
                  <a:tcPr marL="73152" marR="73152" marT="36576" marB="36576" anchor="ctr">
                    <a:solidFill>
                      <a:srgbClr val="FFFFFF"/>
                    </a:solidFill>
                  </a:tcPr>
                </a:tc>
                <a:tc>
                  <a:txBody>
                    <a:bodyPr/>
                    <a:lstStyle/>
                    <a:p>
                      <a:r>
                        <a:rPr sz="1050" b="0" i="0">
                          <a:solidFill>
                            <a:srgbClr val="33413D"/>
                          </a:solidFill>
                          <a:latin typeface="Aptos"/>
                        </a:rPr>
                        <a:t>Ödeme planları, depozito kararları ve banka mutabakatı için kontrol merkezi.</a:t>
                      </a:r>
                    </a:p>
                  </a:txBody>
                  <a:tcPr marL="73152" marR="73152" marT="36576" marB="36576" anchor="ctr">
                    <a:solidFill>
                      <a:srgbClr val="FFFFFF"/>
                    </a:solidFill>
                  </a:tcPr>
                </a:tc>
                <a:tc>
                  <a:txBody>
                    <a:bodyPr/>
                    <a:lstStyle/>
                    <a:p>
                      <a:pPr algn="ctr"/>
                      <a:r>
                        <a:rPr sz="1000" b="1" i="0">
                          <a:solidFill>
                            <a:srgbClr val="7A5410"/>
                          </a:solidFill>
                          <a:latin typeface="Aptos"/>
                        </a:rPr>
                        <a:t>Kısmen</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Borçlu Kısıtlamaları</a:t>
                      </a:r>
                    </a:p>
                  </a:txBody>
                  <a:tcPr marL="73152" marR="73152" marT="36576" marB="36576" anchor="ctr">
                    <a:solidFill>
                      <a:srgbClr val="F1F5F4"/>
                    </a:solidFill>
                  </a:tcPr>
                </a:tc>
                <a:tc>
                  <a:txBody>
                    <a:bodyPr/>
                    <a:lstStyle/>
                    <a:p>
                      <a:r>
                        <a:rPr sz="1050" b="0" i="0" dirty="0" err="1">
                          <a:solidFill>
                            <a:srgbClr val="33413D"/>
                          </a:solidFill>
                          <a:latin typeface="Aptos"/>
                        </a:rPr>
                        <a:t>Ödenmemiş </a:t>
                      </a:r>
                      <a:r>
                        <a:rPr sz="1050" b="0" i="0" dirty="0" err="1">
                          <a:solidFill>
                            <a:srgbClr val="33413D"/>
                          </a:solidFill>
                          <a:latin typeface="Aptos"/>
                        </a:rPr>
                        <a:t>borçlara</a:t>
                      </a:r>
                      <a:r>
                        <a:rPr sz="1050" b="0" i="0" dirty="0" err="1">
                          <a:solidFill>
                            <a:srgbClr val="33413D"/>
                          </a:solidFill>
                          <a:latin typeface="Aptos"/>
                        </a:rPr>
                        <a:t> ilişkin </a:t>
                      </a:r>
                      <a:r>
                        <a:rPr sz="1050" b="0" i="0" dirty="0" err="1">
                          <a:solidFill>
                            <a:srgbClr val="33413D"/>
                          </a:solidFill>
                          <a:latin typeface="Aptos"/>
                        </a:rPr>
                        <a:t>kısıtlamaların </a:t>
                      </a:r>
                      <a:r>
                        <a:rPr sz="1050" b="0" i="0" dirty="0" err="1">
                          <a:solidFill>
                            <a:srgbClr val="33413D"/>
                          </a:solidFill>
                          <a:latin typeface="Aptos"/>
                        </a:rPr>
                        <a:t>tespiti </a:t>
                      </a:r>
                      <a:r>
                        <a:rPr sz="1050" b="0" i="0" dirty="0">
                          <a:solidFill>
                            <a:srgbClr val="33413D"/>
                          </a:solidFill>
                          <a:latin typeface="Aptos"/>
                        </a:rPr>
                        <a:t>ve </a:t>
                      </a:r>
                      <a:r>
                        <a:rPr sz="1050" b="0" i="0" dirty="0" err="1">
                          <a:solidFill>
                            <a:srgbClr val="33413D"/>
                          </a:solidFill>
                          <a:latin typeface="Aptos"/>
                        </a:rPr>
                        <a:t>önerilmesi </a:t>
                      </a:r>
                      <a:r>
                        <a:rPr lang="de-DE" sz="1050" b="0" i="0" dirty="0">
                          <a:solidFill>
                            <a:srgbClr val="33413D"/>
                          </a:solidFill>
                          <a:latin typeface="Aptos"/>
                        </a:rPr>
                        <a:t>– </a:t>
                      </a:r>
                      <a:r>
                        <a:rPr sz="1050" b="0" i="0" dirty="0" err="1">
                          <a:solidFill>
                            <a:srgbClr val="33413D"/>
                          </a:solidFill>
                          <a:latin typeface="Aptos"/>
                        </a:rPr>
                        <a:t>zorunlu </a:t>
                      </a:r>
                      <a:r>
                        <a:rPr sz="1050" b="0" i="0" dirty="0" err="1">
                          <a:solidFill>
                            <a:srgbClr val="33413D"/>
                          </a:solidFill>
                          <a:latin typeface="Aptos"/>
                        </a:rPr>
                        <a:t>insan </a:t>
                      </a:r>
                      <a:r>
                        <a:rPr sz="1050" b="0" i="0" dirty="0" err="1">
                          <a:solidFill>
                            <a:srgbClr val="33413D"/>
                          </a:solidFill>
                          <a:latin typeface="Aptos"/>
                        </a:rPr>
                        <a:t>onayı </a:t>
                      </a:r>
                      <a:r>
                        <a:rPr sz="1050" b="0" i="0" dirty="0" err="1">
                          <a:solidFill>
                            <a:srgbClr val="33413D"/>
                          </a:solidFill>
                          <a:latin typeface="Aptos"/>
                        </a:rPr>
                        <a:t>ile</a:t>
                      </a:r>
                      <a:r>
                        <a:rPr sz="1050" b="0" i="0" dirty="0">
                          <a:solidFill>
                            <a:srgbClr val="33413D"/>
                          </a:solidFill>
                          <a:latin typeface="Aptos"/>
                        </a:rPr>
                        <a:t>.</a:t>
                      </a:r>
                    </a:p>
                  </a:txBody>
                  <a:tcPr marL="73152" marR="73152" marT="36576" marB="36576" anchor="ctr">
                    <a:solidFill>
                      <a:srgbClr val="F1F5F4"/>
                    </a:solidFill>
                  </a:tcPr>
                </a:tc>
                <a:tc>
                  <a:txBody>
                    <a:bodyPr/>
                    <a:lstStyle/>
                    <a:p>
                      <a:pPr algn="ctr"/>
                      <a:r>
                        <a:rPr sz="1000" b="1" i="0">
                          <a:solidFill>
                            <a:srgbClr val="7A5410"/>
                          </a:solidFill>
                          <a:latin typeface="Aptos"/>
                        </a:rPr>
                        <a:t>Kısmen</a:t>
                      </a:r>
                    </a:p>
                  </a:txBody>
                  <a:tcPr marL="73152" marR="73152" marT="36576" marB="36576" anchor="ctr">
                    <a:solidFill>
                      <a:srgbClr val="F4EBDD"/>
                    </a:solidFill>
                  </a:tcPr>
                </a:tc>
                <a:extLst>
                  <a:ext uri="{0D108BD9-81ED-4DB2-BD59-A6C34878D82A}">
                    <a16:rowId xmlns:a16="http://schemas.microsoft.com/office/drawing/2014/main" val="10004"/>
                  </a:ext>
                </a:extLst>
              </a:tr>
              <a:tr h="365760">
                <a:tc>
                  <a:txBody>
                    <a:bodyPr/>
                    <a:lstStyle/>
                    <a:p>
                      <a:r>
                        <a:rPr sz="1050" b="1" i="0">
                          <a:solidFill>
                            <a:srgbClr val="101820"/>
                          </a:solidFill>
                          <a:latin typeface="Aptos"/>
                        </a:rPr>
                        <a:t>Yeni kayıt oluşturma</a:t>
                      </a:r>
                    </a:p>
                  </a:txBody>
                  <a:tcPr marL="73152" marR="73152" marT="36576" marB="36576" anchor="ctr">
                    <a:solidFill>
                      <a:srgbClr val="FFFFFF"/>
                    </a:solidFill>
                  </a:tcPr>
                </a:tc>
                <a:tc>
                  <a:txBody>
                    <a:bodyPr/>
                    <a:lstStyle/>
                    <a:p>
                      <a:r>
                        <a:rPr sz="1050" b="0" i="0">
                          <a:solidFill>
                            <a:srgbClr val="33413D"/>
                          </a:solidFill>
                          <a:latin typeface="Aptos"/>
                        </a:rPr>
                        <a:t>Sistemde yeni ödemelerin/kayıtların aktif olarak oluşturulması.</a:t>
                      </a:r>
                    </a:p>
                  </a:txBody>
                  <a:tcPr marL="73152" marR="73152" marT="36576" marB="36576" anchor="ctr">
                    <a:solidFill>
                      <a:srgbClr val="FFFFFF"/>
                    </a:solidFill>
                  </a:tcPr>
                </a:tc>
                <a:tc>
                  <a:txBody>
                    <a:bodyPr/>
                    <a:lstStyle/>
                    <a:p>
                      <a:pPr algn="ctr"/>
                      <a:r>
                        <a:rPr sz="1000" b="1" i="0">
                          <a:solidFill>
                            <a:srgbClr val="4B5652"/>
                          </a:solidFill>
                          <a:latin typeface="Aptos"/>
                        </a:rPr>
                        <a:t>Hazırlık aşamasında</a:t>
                      </a:r>
                    </a:p>
                  </a:txBody>
                  <a:tcPr marL="73152" marR="73152" marT="36576" marB="36576" anchor="ctr">
                    <a:solidFill>
                      <a:srgbClr val="EAECEB"/>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14</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6.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İŞLEV KAPSAMI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Hizmet, Görevler ve Saha Hizmetleri</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5623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İşlev</a:t>
                      </a: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Hizmet Kataloğu</a:t>
                      </a:r>
                    </a:p>
                  </a:txBody>
                  <a:tcPr marL="73152" marR="73152" marT="36576" marB="36576" anchor="ctr">
                    <a:solidFill>
                      <a:srgbClr val="FFFFFF"/>
                    </a:solidFill>
                  </a:tcPr>
                </a:tc>
                <a:tc>
                  <a:txBody>
                    <a:bodyPr/>
                    <a:lstStyle/>
                    <a:p>
                      <a:r>
                        <a:rPr sz="1050" b="0" i="0">
                          <a:solidFill>
                            <a:srgbClr val="33413D"/>
                          </a:solidFill>
                          <a:latin typeface="Aptos"/>
                        </a:rPr>
                        <a:t>Fiyat, işlem süresi (SLA), borç politikası ve sorumlu ekip ile birlikte hizmetler.</a:t>
                      </a:r>
                    </a:p>
                  </a:txBody>
                  <a:tcPr marL="73152" marR="73152" marT="36576" marB="36576" anchor="ctr">
                    <a:solidFill>
                      <a:srgbClr val="FFFFFF"/>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Hizmet Biletleri ve SLA</a:t>
                      </a:r>
                    </a:p>
                  </a:txBody>
                  <a:tcPr marL="73152" marR="73152" marT="36576" marB="36576" anchor="ctr">
                    <a:solidFill>
                      <a:srgbClr val="F1F5F4"/>
                    </a:solidFill>
                  </a:tcPr>
                </a:tc>
                <a:tc>
                  <a:txBody>
                    <a:bodyPr/>
                    <a:lstStyle/>
                    <a:p>
                      <a:r>
                        <a:rPr sz="1050" b="0" i="0">
                          <a:solidFill>
                            <a:srgbClr val="33413D"/>
                          </a:solidFill>
                          <a:latin typeface="Aptos"/>
                        </a:rPr>
                        <a:t>Öncelik, durum, SLA ve sorumlu kişiye göre bilet özeti; onay kuyruğu üzerinden yeni bilet oluşturma.</a:t>
                      </a:r>
                    </a:p>
                  </a:txBody>
                  <a:tcPr marL="73152" marR="73152" marT="36576" marB="36576" anchor="ctr">
                    <a:solidFill>
                      <a:srgbClr val="F1F5F4"/>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Saha/Görev Panosu</a:t>
                      </a:r>
                    </a:p>
                  </a:txBody>
                  <a:tcPr marL="73152" marR="73152" marT="36576" marB="36576" anchor="ctr">
                    <a:solidFill>
                      <a:srgbClr val="FFFFFF"/>
                    </a:solidFill>
                  </a:tcPr>
                </a:tc>
                <a:tc>
                  <a:txBody>
                    <a:bodyPr/>
                    <a:lstStyle/>
                    <a:p>
                      <a:r>
                        <a:rPr sz="1050" b="0" i="0">
                          <a:solidFill>
                            <a:srgbClr val="33413D"/>
                          </a:solidFill>
                          <a:latin typeface="Aptos"/>
                        </a:rPr>
                        <a:t>Zaman aralığı, kontrol listesi ve tamamlanma derecesi içeren saha hizmetleri görevleri.</a:t>
                      </a:r>
                    </a:p>
                  </a:txBody>
                  <a:tcPr marL="73152" marR="73152" marT="36576" marB="36576" anchor="ctr">
                    <a:solidFill>
                      <a:srgbClr val="FFFFFF"/>
                    </a:solidFill>
                  </a:tcPr>
                </a:tc>
                <a:tc>
                  <a:txBody>
                    <a:bodyPr/>
                    <a:lstStyle/>
                    <a:p>
                      <a:pPr algn="ctr"/>
                      <a:r>
                        <a:rPr sz="1000" b="1" i="0">
                          <a:solidFill>
                            <a:srgbClr val="7A5410"/>
                          </a:solidFill>
                          <a:latin typeface="Aptos"/>
                        </a:rPr>
                        <a:t>Kısmen</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Fotoğraf/video kanıtı</a:t>
                      </a:r>
                    </a:p>
                  </a:txBody>
                  <a:tcPr marL="73152" marR="73152" marT="36576" marB="36576" anchor="ctr">
                    <a:solidFill>
                      <a:srgbClr val="F1F5F4"/>
                    </a:solidFill>
                  </a:tcPr>
                </a:tc>
                <a:tc>
                  <a:txBody>
                    <a:bodyPr/>
                    <a:lstStyle/>
                    <a:p>
                      <a:r>
                        <a:rPr sz="1050" b="0" i="0">
                          <a:solidFill>
                            <a:srgbClr val="33413D"/>
                          </a:solidFill>
                          <a:latin typeface="Aptos"/>
                        </a:rPr>
                        <a:t>Saha ekibi tarafından servis siparişlerine ilişkin resim/video kanıtlarının yüklenmesi.</a:t>
                      </a:r>
                    </a:p>
                  </a:txBody>
                  <a:tcPr marL="73152" marR="73152" marT="36576" marB="36576" anchor="ctr">
                    <a:solidFill>
                      <a:srgbClr val="F1F5F4"/>
                    </a:solidFill>
                  </a:tcPr>
                </a:tc>
                <a:tc>
                  <a:txBody>
                    <a:bodyPr/>
                    <a:lstStyle/>
                    <a:p>
                      <a:pPr algn="ctr"/>
                      <a:r>
                        <a:rPr sz="1000" b="1" i="0">
                          <a:solidFill>
                            <a:srgbClr val="4B5652"/>
                          </a:solidFill>
                          <a:latin typeface="Aptos"/>
                        </a:rPr>
                        <a:t>Hazırlık aşamasında</a:t>
                      </a:r>
                    </a:p>
                  </a:txBody>
                  <a:tcPr marL="73152" marR="73152" marT="36576" marB="36576" anchor="ctr">
                    <a:solidFill>
                      <a:srgbClr val="EAECEB"/>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15</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7.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ÖZELLİKLER</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Rezervasyon ve Kiralama</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49047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İşlev</a:t>
                      </a: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Doluluk ve Rezervasyon Özeti</a:t>
                      </a:r>
                    </a:p>
                  </a:txBody>
                  <a:tcPr marL="73152" marR="73152" marT="36576" marB="36576" anchor="ctr">
                    <a:solidFill>
                      <a:srgbClr val="FFFFFF"/>
                    </a:solidFill>
                  </a:tcPr>
                </a:tc>
                <a:tc>
                  <a:txBody>
                    <a:bodyPr/>
                    <a:lstStyle/>
                    <a:p>
                      <a:r>
                        <a:rPr sz="1050" b="0" i="0">
                          <a:solidFill>
                            <a:srgbClr val="33413D"/>
                          </a:solidFill>
                          <a:latin typeface="Aptos"/>
                        </a:rPr>
                        <a:t>Check-in/check-out, depozito, erişim ve temizlik durumlarını içeren rezervasyonların genel görünümü.</a:t>
                      </a:r>
                    </a:p>
                  </a:txBody>
                  <a:tcPr marL="73152" marR="73152" marT="36576" marB="36576" anchor="ctr">
                    <a:solidFill>
                      <a:srgbClr val="FFFFFF"/>
                    </a:solidFill>
                  </a:tcPr>
                </a:tc>
                <a:tc>
                  <a:txBody>
                    <a:bodyPr/>
                    <a:lstStyle/>
                    <a:p>
                      <a:pPr algn="ctr"/>
                      <a:r>
                        <a:rPr sz="1000" b="1" i="0">
                          <a:solidFill>
                            <a:srgbClr val="7A5410"/>
                          </a:solidFill>
                          <a:latin typeface="Aptos"/>
                        </a:rPr>
                        <a:t>Kısmen</a:t>
                      </a:r>
                    </a:p>
                  </a:txBody>
                  <a:tcPr marL="73152" marR="73152" marT="36576" marB="36576" anchor="ctr">
                    <a:solidFill>
                      <a:srgbClr val="F4EBDD"/>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Giriş Hazırlığı ve Teslimat</a:t>
                      </a:r>
                    </a:p>
                  </a:txBody>
                  <a:tcPr marL="73152" marR="73152" marT="36576" marB="36576" anchor="ctr">
                    <a:solidFill>
                      <a:srgbClr val="F1F5F4"/>
                    </a:solidFill>
                  </a:tcPr>
                </a:tc>
                <a:tc>
                  <a:txBody>
                    <a:bodyPr/>
                    <a:lstStyle/>
                    <a:p>
                      <a:r>
                        <a:rPr sz="1050" b="0" i="0">
                          <a:solidFill>
                            <a:srgbClr val="33413D"/>
                          </a:solidFill>
                          <a:latin typeface="Aptos"/>
                        </a:rPr>
                        <a:t>Hazırlık panosu (kimlik, ödeme, temizlik, erişim, karşılama) ve çıkış/teslimat görevleri.</a:t>
                      </a:r>
                    </a:p>
                  </a:txBody>
                  <a:tcPr marL="73152" marR="73152" marT="36576" marB="36576" anchor="ctr">
                    <a:solidFill>
                      <a:srgbClr val="F1F5F4"/>
                    </a:solidFill>
                  </a:tcPr>
                </a:tc>
                <a:tc>
                  <a:txBody>
                    <a:bodyPr/>
                    <a:lstStyle/>
                    <a:p>
                      <a:pPr algn="ctr"/>
                      <a:r>
                        <a:rPr sz="1000" b="1" i="0">
                          <a:solidFill>
                            <a:srgbClr val="7A5410"/>
                          </a:solidFill>
                          <a:latin typeface="Aptos"/>
                        </a:rPr>
                        <a:t>Kısmen</a:t>
                      </a:r>
                    </a:p>
                  </a:txBody>
                  <a:tcPr marL="73152" marR="73152" marT="36576" marB="36576" anchor="ctr">
                    <a:solidFill>
                      <a:srgbClr val="F4EBDD"/>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Yeni rezervasyon oluşturma</a:t>
                      </a:r>
                    </a:p>
                  </a:txBody>
                  <a:tcPr marL="73152" marR="73152" marT="36576" marB="36576" anchor="ctr">
                    <a:solidFill>
                      <a:srgbClr val="FFFFFF"/>
                    </a:solidFill>
                  </a:tcPr>
                </a:tc>
                <a:tc>
                  <a:txBody>
                    <a:bodyPr/>
                    <a:lstStyle/>
                    <a:p>
                      <a:r>
                        <a:rPr sz="1050" b="0" i="0">
                          <a:solidFill>
                            <a:srgbClr val="33413D"/>
                          </a:solidFill>
                          <a:latin typeface="Aptos"/>
                        </a:rPr>
                        <a:t>Sistemde yeni bir rezervasyon oluşturma.</a:t>
                      </a:r>
                    </a:p>
                  </a:txBody>
                  <a:tcPr marL="73152" marR="73152" marT="36576" marB="36576" anchor="ctr">
                    <a:solidFill>
                      <a:srgbClr val="FFFFFF"/>
                    </a:solidFill>
                  </a:tcPr>
                </a:tc>
                <a:tc>
                  <a:txBody>
                    <a:bodyPr/>
                    <a:lstStyle/>
                    <a:p>
                      <a:pPr algn="ctr"/>
                      <a:r>
                        <a:rPr sz="1000" b="1" i="0">
                          <a:solidFill>
                            <a:srgbClr val="4B5652"/>
                          </a:solidFill>
                          <a:latin typeface="Aptos"/>
                        </a:rPr>
                        <a:t>Hazırlık aşamasında</a:t>
                      </a:r>
                    </a:p>
                  </a:txBody>
                  <a:tcPr marL="73152" marR="73152" marT="36576" marB="36576" anchor="ctr">
                    <a:solidFill>
                      <a:srgbClr val="EAECEB"/>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16</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8.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İŞLEV KAPSAMI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İletişim ve Belgeler</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83664"/>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İşlev</a:t>
                      </a: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Mesaj Kutusu</a:t>
                      </a:r>
                    </a:p>
                  </a:txBody>
                  <a:tcPr marL="73152" marR="73152" marT="36576" marB="36576" anchor="ctr">
                    <a:solidFill>
                      <a:srgbClr val="FFFFFF"/>
                    </a:solidFill>
                  </a:tcPr>
                </a:tc>
                <a:tc>
                  <a:txBody>
                    <a:bodyPr/>
                    <a:lstStyle/>
                    <a:p>
                      <a:r>
                        <a:rPr sz="1050" b="0" i="0">
                          <a:solidFill>
                            <a:srgbClr val="33413D"/>
                          </a:solidFill>
                          <a:latin typeface="Aptos"/>
                        </a:rPr>
                        <a:t>Tüm kanallardaki (WhatsApp, Portal, E-posta, SMS) konuşmaların rol tabanlı özeti, dört dilde şablon kütüphanesi ile.</a:t>
                      </a:r>
                    </a:p>
                  </a:txBody>
                  <a:tcPr marL="73152" marR="73152" marT="36576" marB="36576" anchor="ctr">
                    <a:solidFill>
                      <a:srgbClr val="FFFFFF"/>
                    </a:solidFill>
                  </a:tcPr>
                </a:tc>
                <a:tc>
                  <a:txBody>
                    <a:bodyPr/>
                    <a:lstStyle/>
                    <a:p>
                      <a:pPr algn="ctr"/>
                      <a:r>
                        <a:rPr sz="1000" b="1" i="0">
                          <a:solidFill>
                            <a:srgbClr val="7A5410"/>
                          </a:solidFill>
                          <a:latin typeface="Aptos"/>
                        </a:rPr>
                        <a:t>Kısmen</a:t>
                      </a:r>
                    </a:p>
                  </a:txBody>
                  <a:tcPr marL="73152" marR="73152" marT="36576" marB="36576" anchor="ctr">
                    <a:solidFill>
                      <a:srgbClr val="F4EBDD"/>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Belge Kasası</a:t>
                      </a:r>
                    </a:p>
                  </a:txBody>
                  <a:tcPr marL="73152" marR="73152" marT="36576" marB="36576" anchor="ctr">
                    <a:solidFill>
                      <a:srgbClr val="F1F5F4"/>
                    </a:solidFill>
                  </a:tcPr>
                </a:tc>
                <a:tc>
                  <a:txBody>
                    <a:bodyPr/>
                    <a:lstStyle/>
                    <a:p>
                      <a:r>
                        <a:rPr sz="1050" b="0" i="0">
                          <a:solidFill>
                            <a:srgbClr val="33413D"/>
                          </a:solidFill>
                          <a:latin typeface="Aptos"/>
                        </a:rPr>
                        <a:t>Birim/kişi/kategori bazında, durum, saklama kuralı ve yetki kontrolü içeren belgeler (ör. TAPU, KYC, sözleşmeler).</a:t>
                      </a:r>
                    </a:p>
                  </a:txBody>
                  <a:tcPr marL="73152" marR="73152" marT="36576" marB="36576" anchor="ctr">
                    <a:solidFill>
                      <a:srgbClr val="F1F5F4"/>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Güvenli belge yükleme</a:t>
                      </a:r>
                    </a:p>
                  </a:txBody>
                  <a:tcPr marL="73152" marR="73152" marT="36576" marB="36576" anchor="ctr">
                    <a:solidFill>
                      <a:srgbClr val="FFFFFF"/>
                    </a:solidFill>
                  </a:tcPr>
                </a:tc>
                <a:tc>
                  <a:txBody>
                    <a:bodyPr/>
                    <a:lstStyle/>
                    <a:p>
                      <a:r>
                        <a:rPr sz="1050" b="0" i="0">
                          <a:solidFill>
                            <a:srgbClr val="33413D"/>
                          </a:solidFill>
                          <a:latin typeface="Aptos"/>
                        </a:rPr>
                        <a:t>Tür/boyut kontrolü ve sağlama toplamı ile yükleme; onaylandıktan sonra üretime yönelik depolama etkinleştirilebilir.</a:t>
                      </a:r>
                    </a:p>
                  </a:txBody>
                  <a:tcPr marL="73152" marR="73152" marT="36576" marB="36576" anchor="ctr">
                    <a:solidFill>
                      <a:srgbClr val="FFFFFF"/>
                    </a:solidFill>
                  </a:tcPr>
                </a:tc>
                <a:tc>
                  <a:txBody>
                    <a:bodyPr/>
                    <a:lstStyle/>
                    <a:p>
                      <a:pPr algn="ctr"/>
                      <a:r>
                        <a:rPr sz="1000" b="1" i="0">
                          <a:solidFill>
                            <a:srgbClr val="7A5410"/>
                          </a:solidFill>
                          <a:latin typeface="Aptos"/>
                        </a:rPr>
                        <a:t>Kısmen</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Canlı gönderim (SMS/E-posta/Push)</a:t>
                      </a:r>
                    </a:p>
                  </a:txBody>
                  <a:tcPr marL="73152" marR="73152" marT="36576" marB="36576" anchor="ctr">
                    <a:solidFill>
                      <a:srgbClr val="F1F5F4"/>
                    </a:solidFill>
                  </a:tcPr>
                </a:tc>
                <a:tc>
                  <a:txBody>
                    <a:bodyPr/>
                    <a:lstStyle/>
                    <a:p>
                      <a:r>
                        <a:rPr sz="1050" b="0" i="0">
                          <a:solidFill>
                            <a:srgbClr val="33413D"/>
                          </a:solidFill>
                          <a:latin typeface="Aptos"/>
                        </a:rPr>
                        <a:t>Harici sağlayıcılar aracılığıyla gerçek mesaj gönderimi.</a:t>
                      </a:r>
                    </a:p>
                  </a:txBody>
                  <a:tcPr marL="73152" marR="73152" marT="36576" marB="36576" anchor="ctr">
                    <a:solidFill>
                      <a:srgbClr val="F1F5F4"/>
                    </a:solidFill>
                  </a:tcPr>
                </a:tc>
                <a:tc>
                  <a:txBody>
                    <a:bodyPr/>
                    <a:lstStyle/>
                    <a:p>
                      <a:pPr algn="ctr"/>
                      <a:r>
                        <a:rPr sz="1000" b="1" i="0">
                          <a:solidFill>
                            <a:srgbClr val="4B5652"/>
                          </a:solidFill>
                          <a:latin typeface="Aptos"/>
                        </a:rPr>
                        <a:t>Hazırlık aşamasında</a:t>
                      </a:r>
                    </a:p>
                  </a:txBody>
                  <a:tcPr marL="73152" marR="73152" marT="36576" marB="36576" anchor="ctr">
                    <a:solidFill>
                      <a:srgbClr val="EAECEB"/>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17</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19.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İŞLEV KAPSAMI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Raporlar, Kontrol Paneli ve Uyumluluk</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49047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İşlev</a:t>
                      </a: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Canlı Kontrol Paneli</a:t>
                      </a:r>
                    </a:p>
                  </a:txBody>
                  <a:tcPr marL="73152" marR="73152" marT="36576" marB="36576" anchor="ctr">
                    <a:solidFill>
                      <a:srgbClr val="FFFFFF"/>
                    </a:solidFill>
                  </a:tcPr>
                </a:tc>
                <a:tc>
                  <a:txBody>
                    <a:bodyPr/>
                    <a:lstStyle/>
                    <a:p>
                      <a:r>
                        <a:rPr sz="1050" b="0" i="0">
                          <a:solidFill>
                            <a:srgbClr val="33413D"/>
                          </a:solidFill>
                          <a:latin typeface="Aptos"/>
                        </a:rPr>
                        <a:t>Birimler, ödenmemiş borçlar, biletler ve rezervasyonlara ilişkin otomatik olarak güncellenen göstergeler (yönetim/sorumlular için).</a:t>
                      </a:r>
                    </a:p>
                  </a:txBody>
                  <a:tcPr marL="73152" marR="73152" marT="36576" marB="36576" anchor="ctr">
                    <a:solidFill>
                      <a:srgbClr val="FFFFFF"/>
                    </a:solidFill>
                  </a:tcPr>
                </a:tc>
                <a:tc>
                  <a:txBody>
                    <a:bodyPr/>
                    <a:lstStyle/>
                    <a:p>
                      <a:pPr algn="ctr"/>
                      <a:r>
                        <a:rPr sz="1000" b="1" i="0">
                          <a:solidFill>
                            <a:srgbClr val="044F49"/>
                          </a:solidFill>
                          <a:latin typeface="Aptos"/>
                        </a:rPr>
                        <a:t>Kullanılabilir</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Rapor Merkezi</a:t>
                      </a:r>
                    </a:p>
                  </a:txBody>
                  <a:tcPr marL="73152" marR="73152" marT="36576" marB="36576" anchor="ctr">
                    <a:solidFill>
                      <a:srgbClr val="F1F5F4"/>
                    </a:solidFill>
                  </a:tcPr>
                </a:tc>
                <a:tc>
                  <a:txBody>
                    <a:bodyPr/>
                    <a:lstStyle/>
                    <a:p>
                      <a:r>
                        <a:rPr sz="1050" b="0" i="0">
                          <a:solidFill>
                            <a:srgbClr val="33413D"/>
                          </a:solidFill>
                          <a:latin typeface="Aptos"/>
                        </a:rPr>
                        <a:t>Grafikler ve dışa aktarma paylaşımı içeren yönetim, finans, hizmet ve erişim raporları.</a:t>
                      </a:r>
                    </a:p>
                  </a:txBody>
                  <a:tcPr marL="73152" marR="73152" marT="36576" marB="36576" anchor="ctr">
                    <a:solidFill>
                      <a:srgbClr val="F1F5F4"/>
                    </a:solidFill>
                  </a:tcPr>
                </a:tc>
                <a:tc>
                  <a:txBody>
                    <a:bodyPr/>
                    <a:lstStyle/>
                    <a:p>
                      <a:pPr algn="ctr"/>
                      <a:r>
                        <a:rPr sz="1000" b="1" i="0">
                          <a:solidFill>
                            <a:srgbClr val="044F49"/>
                          </a:solidFill>
                          <a:latin typeface="Aptos"/>
                        </a:rPr>
                        <a:t>Kullanılabilir</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Erişim ve Uyumluluk</a:t>
                      </a:r>
                    </a:p>
                  </a:txBody>
                  <a:tcPr marL="73152" marR="73152" marT="36576" marB="36576" anchor="ctr">
                    <a:solidFill>
                      <a:srgbClr val="FFFFFF"/>
                    </a:solidFill>
                  </a:tcPr>
                </a:tc>
                <a:tc>
                  <a:txBody>
                    <a:bodyPr/>
                    <a:lstStyle/>
                    <a:p>
                      <a:r>
                        <a:rPr sz="1050" b="0" i="0">
                          <a:solidFill>
                            <a:srgbClr val="33413D"/>
                          </a:solidFill>
                          <a:latin typeface="Aptos"/>
                        </a:rPr>
                        <a:t>Satış için kısıtlı birimler, erişim bölgeleri ve alıcı uygunluk ön değerlendirmesine genel bakış.</a:t>
                      </a:r>
                    </a:p>
                  </a:txBody>
                  <a:tcPr marL="73152" marR="73152" marT="36576" marB="36576" anchor="ctr">
                    <a:solidFill>
                      <a:srgbClr val="FFFFFF"/>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18</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0.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ÖZELLİKLER</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New Level Premium </a:t>
            </a:r>
            <a:r>
              <a:rPr lang="de-DE" sz="2700" b="1" i="0" dirty="0">
                <a:solidFill>
                  <a:srgbClr val="044F49"/>
                </a:solidFill>
                <a:latin typeface="Aptos"/>
              </a:rPr>
              <a:t>- </a:t>
            </a:r>
            <a:r>
              <a:rPr sz="2700" b="1" i="0" dirty="0" err="1">
                <a:solidFill>
                  <a:srgbClr val="044F49"/>
                </a:solidFill>
                <a:latin typeface="Aptos"/>
              </a:rPr>
              <a:t>genel </a:t>
            </a:r>
            <a:r>
              <a:rPr sz="2700" b="1" i="0" dirty="0" err="1">
                <a:solidFill>
                  <a:srgbClr val="044F49"/>
                </a:solidFill>
                <a:latin typeface="Aptos"/>
              </a:rPr>
              <a:t>alan</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2276856"/>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İşlev</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Halka açık açılış sayfası</a:t>
                      </a:r>
                    </a:p>
                  </a:txBody>
                  <a:tcPr marL="73152" marR="73152" marT="36576" marB="36576" anchor="ctr">
                    <a:solidFill>
                      <a:srgbClr val="FFFFFF"/>
                    </a:solidFill>
                  </a:tcPr>
                </a:tc>
                <a:tc>
                  <a:txBody>
                    <a:bodyPr/>
                    <a:lstStyle/>
                    <a:p>
                      <a:r>
                        <a:rPr sz="1050" b="0" i="0">
                          <a:solidFill>
                            <a:srgbClr val="33413D"/>
                          </a:solidFill>
                          <a:latin typeface="Aptos"/>
                        </a:rPr>
                        <a:t>Kanıtlanmış pazarlama yöntemlerine göre oluşturulmuş, ilgilenen kişileri kayıt yapmaya yönlendiren çok dilli proje sayfası.</a:t>
                      </a:r>
                    </a:p>
                  </a:txBody>
                  <a:tcPr marL="73152" marR="73152" marT="36576" marB="36576" anchor="ctr">
                    <a:solidFill>
                      <a:srgbClr val="FFFFFF"/>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Hesapsız kayıt</a:t>
                      </a:r>
                    </a:p>
                  </a:txBody>
                  <a:tcPr marL="73152" marR="73152" marT="36576" marB="36576" anchor="ctr">
                    <a:solidFill>
                      <a:srgbClr val="F1F5F4"/>
                    </a:solidFill>
                  </a:tcPr>
                </a:tc>
                <a:tc>
                  <a:txBody>
                    <a:bodyPr/>
                    <a:lstStyle/>
                    <a:p>
                      <a:r>
                        <a:rPr sz="1050" b="0" i="0">
                          <a:solidFill>
                            <a:srgbClr val="33413D"/>
                          </a:solidFill>
                          <a:latin typeface="Aptos"/>
                        </a:rPr>
                        <a:t>Hesap açmadan malik, kiracı veya çalışan olarak başvuru; iç roller kesinlikle hariç tutulur.</a:t>
                      </a:r>
                    </a:p>
                  </a:txBody>
                  <a:tcPr marL="73152" marR="73152" marT="36576" marB="36576" anchor="ctr">
                    <a:solidFill>
                      <a:srgbClr val="F1F5F4"/>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Halka açık bildirim kanalı</a:t>
                      </a:r>
                    </a:p>
                  </a:txBody>
                  <a:tcPr marL="73152" marR="73152" marT="36576" marB="36576" anchor="ctr">
                    <a:solidFill>
                      <a:srgbClr val="FFFFFF"/>
                    </a:solidFill>
                  </a:tcPr>
                </a:tc>
                <a:tc>
                  <a:txBody>
                    <a:bodyPr/>
                    <a:lstStyle/>
                    <a:p>
                      <a:r>
                        <a:rPr sz="1050" b="0" i="0" dirty="0">
                          <a:solidFill>
                            <a:srgbClr val="33413D"/>
                          </a:solidFill>
                          <a:latin typeface="Aptos"/>
                        </a:rPr>
                        <a:t>Herkes </a:t>
                      </a:r>
                      <a:r>
                        <a:rPr sz="1050" b="0" i="0" dirty="0" err="1">
                          <a:solidFill>
                            <a:srgbClr val="33413D"/>
                          </a:solidFill>
                          <a:latin typeface="Aptos"/>
                        </a:rPr>
                        <a:t>hesap </a:t>
                      </a:r>
                      <a:r>
                        <a:rPr sz="1050" b="0" i="0" dirty="0" err="1">
                          <a:solidFill>
                            <a:srgbClr val="33413D"/>
                          </a:solidFill>
                          <a:latin typeface="Aptos"/>
                        </a:rPr>
                        <a:t>açmadan </a:t>
                      </a:r>
                      <a:r>
                        <a:rPr sz="1050" b="0" i="0" dirty="0" err="1">
                          <a:solidFill>
                            <a:srgbClr val="33413D"/>
                          </a:solidFill>
                          <a:latin typeface="Aptos"/>
                        </a:rPr>
                        <a:t>bir </a:t>
                      </a:r>
                      <a:r>
                        <a:rPr sz="1050" b="0" i="0" dirty="0" err="1">
                          <a:solidFill>
                            <a:srgbClr val="33413D"/>
                          </a:solidFill>
                          <a:latin typeface="Aptos"/>
                        </a:rPr>
                        <a:t>sorunu </a:t>
                      </a:r>
                      <a:r>
                        <a:rPr sz="1050" b="0" i="0" dirty="0" err="1">
                          <a:solidFill>
                            <a:srgbClr val="33413D"/>
                          </a:solidFill>
                          <a:latin typeface="Aptos"/>
                        </a:rPr>
                        <a:t>bildirebilir </a:t>
                      </a:r>
                      <a:r>
                        <a:rPr lang="de-DE" sz="1050" b="0" i="0" dirty="0">
                          <a:solidFill>
                            <a:srgbClr val="33413D"/>
                          </a:solidFill>
                          <a:latin typeface="Aptos"/>
                        </a:rPr>
                        <a:t>– </a:t>
                      </a:r>
                      <a:r>
                        <a:rPr sz="1050" b="0" i="0" dirty="0" err="1">
                          <a:solidFill>
                            <a:srgbClr val="33413D"/>
                          </a:solidFill>
                          <a:latin typeface="Aptos"/>
                        </a:rPr>
                        <a:t>yalnızca </a:t>
                      </a:r>
                      <a:r>
                        <a:rPr sz="1050" b="0" i="0" dirty="0" err="1">
                          <a:solidFill>
                            <a:srgbClr val="33413D"/>
                          </a:solidFill>
                          <a:latin typeface="Aptos"/>
                        </a:rPr>
                        <a:t>bildirim amaçlıdır</a:t>
                      </a:r>
                      <a:r>
                        <a:rPr sz="1050" b="0" i="0" dirty="0">
                          <a:solidFill>
                            <a:srgbClr val="33413D"/>
                          </a:solidFill>
                          <a:latin typeface="Aptos"/>
                        </a:rPr>
                        <a:t>, </a:t>
                      </a:r>
                      <a:r>
                        <a:rPr sz="1050" b="0" i="0" dirty="0" err="1">
                          <a:solidFill>
                            <a:srgbClr val="33413D"/>
                          </a:solidFill>
                          <a:latin typeface="Aptos"/>
                        </a:rPr>
                        <a:t>iç </a:t>
                      </a:r>
                      <a:r>
                        <a:rPr sz="1050" b="0" i="0" dirty="0" err="1">
                          <a:solidFill>
                            <a:srgbClr val="33413D"/>
                          </a:solidFill>
                          <a:latin typeface="Aptos"/>
                        </a:rPr>
                        <a:t>veriler </a:t>
                      </a:r>
                      <a:r>
                        <a:rPr sz="1050" b="0" i="0" dirty="0" err="1">
                          <a:solidFill>
                            <a:srgbClr val="33413D"/>
                          </a:solidFill>
                          <a:latin typeface="Aptos"/>
                        </a:rPr>
                        <a:t>geri </a:t>
                      </a:r>
                      <a:r>
                        <a:rPr sz="1050" b="0" i="0" dirty="0" err="1">
                          <a:solidFill>
                            <a:srgbClr val="33413D"/>
                          </a:solidFill>
                          <a:latin typeface="Aptos"/>
                        </a:rPr>
                        <a:t>gönderilmez</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Kullanılabilir</a:t>
                      </a:r>
                    </a:p>
                  </a:txBody>
                  <a:tcPr marL="73152" marR="73152" marT="36576" marB="36576" anchor="ctr">
                    <a:solidFill>
                      <a:srgbClr val="DAE9E8"/>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Yerinde QR posteri</a:t>
                      </a:r>
                    </a:p>
                  </a:txBody>
                  <a:tcPr marL="73152" marR="73152" marT="36576" marB="36576" anchor="ctr">
                    <a:solidFill>
                      <a:srgbClr val="F1F5F4"/>
                    </a:solidFill>
                  </a:tcPr>
                </a:tc>
                <a:tc>
                  <a:txBody>
                    <a:bodyPr/>
                    <a:lstStyle/>
                    <a:p>
                      <a:r>
                        <a:rPr sz="1050" b="0" i="0">
                          <a:solidFill>
                            <a:srgbClr val="33413D"/>
                          </a:solidFill>
                          <a:latin typeface="Aptos"/>
                        </a:rPr>
                        <a:t>Doğrudan bildirim formuna yönlendiren, baskıya hazır QR kodlu afiş.</a:t>
                      </a:r>
                    </a:p>
                  </a:txBody>
                  <a:tcPr marL="73152" marR="73152" marT="36576" marB="36576" anchor="ctr">
                    <a:solidFill>
                      <a:srgbClr val="F1F5F4"/>
                    </a:solidFill>
                  </a:tcPr>
                </a:tc>
                <a:tc>
                  <a:txBody>
                    <a:bodyPr/>
                    <a:lstStyle/>
                    <a:p>
                      <a:pPr algn="ctr"/>
                      <a:r>
                        <a:rPr sz="1000" b="1" i="0">
                          <a:solidFill>
                            <a:srgbClr val="044F49"/>
                          </a:solidFill>
                          <a:latin typeface="Aptos"/>
                        </a:rPr>
                        <a:t>Canlı</a:t>
                      </a:r>
                    </a:p>
                  </a:txBody>
                  <a:tcPr marL="73152" marR="73152" marT="36576" marB="36576" anchor="ctr">
                    <a:solidFill>
                      <a:srgbClr val="D3E9E7"/>
                    </a:solidFill>
                  </a:tcPr>
                </a:tc>
                <a:extLst>
                  <a:ext uri="{0D108BD9-81ED-4DB2-BD59-A6C34878D82A}">
                    <a16:rowId xmlns:a16="http://schemas.microsoft.com/office/drawing/2014/main" val="10004"/>
                  </a:ext>
                </a:extLst>
              </a:tr>
              <a:tr h="365760">
                <a:tc>
                  <a:txBody>
                    <a:bodyPr/>
                    <a:lstStyle/>
                    <a:p>
                      <a:r>
                        <a:rPr sz="1050" b="1" i="0">
                          <a:solidFill>
                            <a:srgbClr val="101820"/>
                          </a:solidFill>
                          <a:latin typeface="Aptos"/>
                        </a:rPr>
                        <a:t>Kiracılara zaman sınırlı erişim</a:t>
                      </a:r>
                    </a:p>
                  </a:txBody>
                  <a:tcPr marL="73152" marR="73152" marT="36576" marB="36576" anchor="ctr">
                    <a:solidFill>
                      <a:srgbClr val="FFFFFF"/>
                    </a:solidFill>
                  </a:tcPr>
                </a:tc>
                <a:tc>
                  <a:txBody>
                    <a:bodyPr/>
                    <a:lstStyle/>
                    <a:p>
                      <a:r>
                        <a:rPr sz="1050" b="0" i="0">
                          <a:solidFill>
                            <a:srgbClr val="33413D"/>
                          </a:solidFill>
                          <a:latin typeface="Aptos"/>
                        </a:rPr>
                        <a:t>Mülk sahibi tarafından desteklenen, belirli bir kapsamda kiracılar için süreli erişim davetiyeleri.</a:t>
                      </a:r>
                    </a:p>
                  </a:txBody>
                  <a:tcPr marL="73152" marR="73152" marT="36576" marB="36576" anchor="ctr">
                    <a:solidFill>
                      <a:srgbClr val="FFFFFF"/>
                    </a:solidFill>
                  </a:tcPr>
                </a:tc>
                <a:tc>
                  <a:txBody>
                    <a:bodyPr/>
                    <a:lstStyle/>
                    <a:p>
                      <a:pPr algn="ctr"/>
                      <a:r>
                        <a:rPr sz="1000" b="1" i="0">
                          <a:solidFill>
                            <a:srgbClr val="7A5410"/>
                          </a:solidFill>
                          <a:latin typeface="Aptos"/>
                        </a:rPr>
                        <a:t>Kısmen</a:t>
                      </a:r>
                    </a:p>
                  </a:txBody>
                  <a:tcPr marL="73152" marR="73152" marT="36576" marB="36576" anchor="ctr">
                    <a:solidFill>
                      <a:srgbClr val="F4EBDD"/>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19</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1.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İŞLEV KAPSAMI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AI Asistanları</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545336"/>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İşlev</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Dahili İşletim Asistanı</a:t>
                      </a:r>
                    </a:p>
                  </a:txBody>
                  <a:tcPr marL="73152" marR="73152" marT="36576" marB="36576" anchor="ctr">
                    <a:solidFill>
                      <a:srgbClr val="FFFFFF"/>
                    </a:solidFill>
                  </a:tcPr>
                </a:tc>
                <a:tc>
                  <a:txBody>
                    <a:bodyPr/>
                    <a:lstStyle/>
                    <a:p>
                      <a:r>
                        <a:rPr sz="1050" b="0" i="0" dirty="0">
                          <a:solidFill>
                            <a:srgbClr val="33413D"/>
                          </a:solidFill>
                          <a:latin typeface="Aptos"/>
                        </a:rPr>
                        <a:t>Portalda </a:t>
                      </a:r>
                      <a:r>
                        <a:rPr sz="1050" b="0" i="0" dirty="0" err="1">
                          <a:solidFill>
                            <a:srgbClr val="33413D"/>
                          </a:solidFill>
                          <a:latin typeface="Aptos"/>
                        </a:rPr>
                        <a:t>özetler</a:t>
                      </a:r>
                      <a:r>
                        <a:rPr sz="1050" b="0" i="0" dirty="0">
                          <a:solidFill>
                            <a:srgbClr val="33413D"/>
                          </a:solidFill>
                          <a:latin typeface="Aptos"/>
                        </a:rPr>
                        <a:t>, </a:t>
                      </a:r>
                      <a:r>
                        <a:rPr sz="1050" b="0" i="0" dirty="0" err="1">
                          <a:solidFill>
                            <a:srgbClr val="33413D"/>
                          </a:solidFill>
                          <a:latin typeface="Aptos"/>
                        </a:rPr>
                        <a:t>öncelikler </a:t>
                      </a:r>
                      <a:r>
                        <a:rPr sz="1050" b="0" i="0" dirty="0">
                          <a:solidFill>
                            <a:srgbClr val="33413D"/>
                          </a:solidFill>
                          <a:latin typeface="Aptos"/>
                        </a:rPr>
                        <a:t>ve </a:t>
                      </a:r>
                      <a:r>
                        <a:rPr sz="1050" b="0" i="0" dirty="0" err="1">
                          <a:solidFill>
                            <a:srgbClr val="33413D"/>
                          </a:solidFill>
                          <a:latin typeface="Aptos"/>
                        </a:rPr>
                        <a:t>metin taslakları </a:t>
                      </a:r>
                      <a:r>
                        <a:rPr sz="1050" b="0" i="0" dirty="0">
                          <a:solidFill>
                            <a:srgbClr val="33413D"/>
                          </a:solidFill>
                          <a:latin typeface="Aptos"/>
                        </a:rPr>
                        <a:t>için </a:t>
                      </a:r>
                      <a:r>
                        <a:rPr sz="1050" b="0" i="0" dirty="0" err="1">
                          <a:solidFill>
                            <a:srgbClr val="33413D"/>
                          </a:solidFill>
                          <a:latin typeface="Aptos"/>
                        </a:rPr>
                        <a:t>rol tabanlı </a:t>
                      </a:r>
                      <a:r>
                        <a:rPr sz="1050" b="0" i="0" dirty="0" err="1">
                          <a:solidFill>
                            <a:srgbClr val="33413D"/>
                          </a:solidFill>
                          <a:latin typeface="Aptos"/>
                        </a:rPr>
                        <a:t>asistan </a:t>
                      </a:r>
                      <a:r>
                        <a:rPr lang="de-DE" sz="1050" b="0" i="0" dirty="0">
                          <a:solidFill>
                            <a:srgbClr val="33413D"/>
                          </a:solidFill>
                          <a:latin typeface="Aptos"/>
                        </a:rPr>
                        <a:t>– </a:t>
                      </a:r>
                      <a:r>
                        <a:rPr sz="1050" b="0" i="0" dirty="0" err="1">
                          <a:solidFill>
                            <a:srgbClr val="33413D"/>
                          </a:solidFill>
                          <a:latin typeface="Aptos"/>
                        </a:rPr>
                        <a:t>hiçbir zaman </a:t>
                      </a:r>
                      <a:r>
                        <a:rPr sz="1050" b="0" i="0" dirty="0" err="1">
                          <a:solidFill>
                            <a:srgbClr val="33413D"/>
                          </a:solidFill>
                          <a:latin typeface="Aptos"/>
                        </a:rPr>
                        <a:t>kendi başına </a:t>
                      </a:r>
                      <a:r>
                        <a:rPr sz="1050" b="0" i="0" dirty="0">
                          <a:solidFill>
                            <a:srgbClr val="33413D"/>
                          </a:solidFill>
                          <a:latin typeface="Aptos"/>
                        </a:rPr>
                        <a:t>hassas </a:t>
                      </a:r>
                      <a:r>
                        <a:rPr sz="1050" b="0" i="0" dirty="0" err="1">
                          <a:solidFill>
                            <a:srgbClr val="33413D"/>
                          </a:solidFill>
                          <a:latin typeface="Aptos"/>
                        </a:rPr>
                        <a:t>işlemler </a:t>
                      </a:r>
                      <a:r>
                        <a:rPr sz="1050" b="0" i="0" dirty="0" err="1">
                          <a:solidFill>
                            <a:srgbClr val="33413D"/>
                          </a:solidFill>
                          <a:latin typeface="Aptos"/>
                        </a:rPr>
                        <a:t>gerçekleştirmez.</a:t>
                      </a:r>
                      <a:endParaRPr sz="1050" b="0" i="0" dirty="0">
                        <a:solidFill>
                          <a:srgbClr val="33413D"/>
                        </a:solidFill>
                        <a:latin typeface="Aptos"/>
                      </a:endParaRPr>
                    </a:p>
                  </a:txBody>
                  <a:tcPr marL="73152" marR="73152" marT="36576" marB="36576" anchor="ctr">
                    <a:solidFill>
                      <a:srgbClr val="FFFFFF"/>
                    </a:solidFill>
                  </a:tcPr>
                </a:tc>
                <a:tc>
                  <a:txBody>
                    <a:bodyPr/>
                    <a:lstStyle/>
                    <a:p>
                      <a:pPr algn="ctr"/>
                      <a:r>
                        <a:rPr sz="1000" b="1" i="0">
                          <a:solidFill>
                            <a:srgbClr val="044F49"/>
                          </a:solidFill>
                          <a:latin typeface="Aptos"/>
                        </a:rPr>
                        <a:t>Kullanılabilir</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Genel Concierge</a:t>
                      </a:r>
                    </a:p>
                  </a:txBody>
                  <a:tcPr marL="73152" marR="73152" marT="36576" marB="36576" anchor="ctr">
                    <a:solidFill>
                      <a:srgbClr val="F1F5F4"/>
                    </a:solidFill>
                  </a:tcPr>
                </a:tc>
                <a:tc>
                  <a:txBody>
                    <a:bodyPr/>
                    <a:lstStyle/>
                    <a:p>
                      <a:r>
                        <a:rPr sz="1050" b="0" i="0">
                          <a:solidFill>
                            <a:srgbClr val="33413D"/>
                          </a:solidFill>
                          <a:latin typeface="Aptos"/>
                        </a:rPr>
                        <a:t>Açılış sayfasında, ilgilenen kişilere eşlik eden ve kayıt işlemlerini yönlendiren asistan; iç verilere kasıtlı olarak erişimi yoktur.</a:t>
                      </a:r>
                    </a:p>
                  </a:txBody>
                  <a:tcPr marL="73152" marR="73152" marT="36576" marB="36576" anchor="ctr">
                    <a:solidFill>
                      <a:srgbClr val="F1F5F4"/>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Her iki asistanın bağlantısı</a:t>
                      </a:r>
                    </a:p>
                  </a:txBody>
                  <a:tcPr marL="73152" marR="73152" marT="36576" marB="36576" anchor="ctr">
                    <a:solidFill>
                      <a:srgbClr val="FFFFFF"/>
                    </a:solidFill>
                  </a:tcPr>
                </a:tc>
                <a:tc>
                  <a:txBody>
                    <a:bodyPr/>
                    <a:lstStyle/>
                    <a:p>
                      <a:r>
                        <a:rPr sz="1050" b="0" i="0">
                          <a:solidFill>
                            <a:srgbClr val="33413D"/>
                          </a:solidFill>
                          <a:latin typeface="Aptos"/>
                        </a:rPr>
                        <a:t>Genel konsiyerj, potansiyel müşterilerin sorularından elde edilen anonimleştirilmiş konuları iç sisteme geri gönderir.</a:t>
                      </a:r>
                    </a:p>
                  </a:txBody>
                  <a:tcPr marL="73152" marR="73152" marT="36576" marB="36576" anchor="ctr">
                    <a:solidFill>
                      <a:srgbClr val="FFFFFF"/>
                    </a:solidFill>
                  </a:tcPr>
                </a:tc>
                <a:tc>
                  <a:txBody>
                    <a:bodyPr/>
                    <a:lstStyle/>
                    <a:p>
                      <a:pPr algn="ctr"/>
                      <a:r>
                        <a:rPr sz="1000" b="1" i="0">
                          <a:solidFill>
                            <a:srgbClr val="044F49"/>
                          </a:solidFill>
                          <a:latin typeface="Aptos"/>
                        </a:rPr>
                        <a:t>Mevcut</a:t>
                      </a:r>
                    </a:p>
                  </a:txBody>
                  <a:tcPr marL="73152" marR="73152" marT="36576" marB="36576" anchor="ctr">
                    <a:solidFill>
                      <a:srgbClr val="DAE9E8"/>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20</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2.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06 · İŞLEV KAPSAMI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Platformun Temelleri</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600200"/>
          <a:ext cx="10881358" cy="1856232"/>
        </p:xfrm>
        <a:graphic>
          <a:graphicData uri="http://schemas.openxmlformats.org/drawingml/2006/table">
            <a:tbl>
              <a:tblPr>
                <a:tableStyleId>{5C22544A-7EE6-4342-B048-85BDC9FD1C3A}</a:tableStyleId>
              </a:tblPr>
              <a:tblGrid>
                <a:gridCol w="2829153">
                  <a:extLst>
                    <a:ext uri="{9D8B030D-6E8A-4147-A177-3AD203B41FA5}">
                      <a16:colId xmlns:a16="http://schemas.microsoft.com/office/drawing/2014/main" val="20000"/>
                    </a:ext>
                  </a:extLst>
                </a:gridCol>
                <a:gridCol w="6093561">
                  <a:extLst>
                    <a:ext uri="{9D8B030D-6E8A-4147-A177-3AD203B41FA5}">
                      <a16:colId xmlns:a16="http://schemas.microsoft.com/office/drawing/2014/main" val="20001"/>
                    </a:ext>
                  </a:extLst>
                </a:gridCol>
                <a:gridCol w="1958644">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İşlev</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Açıklama</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50" b="1" i="0">
                          <a:solidFill>
                            <a:srgbClr val="101820"/>
                          </a:solidFill>
                          <a:latin typeface="Aptos"/>
                        </a:rPr>
                        <a:t>Çok Dilli</a:t>
                      </a:r>
                    </a:p>
                  </a:txBody>
                  <a:tcPr marL="73152" marR="73152" marT="36576" marB="36576" anchor="ctr">
                    <a:solidFill>
                      <a:srgbClr val="FFFFFF"/>
                    </a:solidFill>
                  </a:tcPr>
                </a:tc>
                <a:tc>
                  <a:txBody>
                    <a:bodyPr/>
                    <a:lstStyle/>
                    <a:p>
                      <a:r>
                        <a:rPr sz="1050" b="0" i="0" dirty="0" err="1">
                          <a:solidFill>
                            <a:srgbClr val="33413D"/>
                          </a:solidFill>
                          <a:latin typeface="Aptos"/>
                        </a:rPr>
                        <a:t>İçerik </a:t>
                      </a:r>
                      <a:r>
                        <a:rPr sz="1050" b="0" i="0" dirty="0" err="1">
                          <a:solidFill>
                            <a:srgbClr val="33413D"/>
                          </a:solidFill>
                          <a:latin typeface="Aptos"/>
                        </a:rPr>
                        <a:t>ve </a:t>
                      </a:r>
                      <a:r>
                        <a:rPr sz="1050" b="0" i="0" dirty="0" err="1">
                          <a:solidFill>
                            <a:srgbClr val="33413D"/>
                          </a:solidFill>
                          <a:latin typeface="Aptos"/>
                        </a:rPr>
                        <a:t>arayüz</a:t>
                      </a:r>
                      <a:r>
                        <a:rPr sz="1050" b="0" i="0" dirty="0">
                          <a:solidFill>
                            <a:srgbClr val="33413D"/>
                          </a:solidFill>
                          <a:latin typeface="Aptos"/>
                        </a:rPr>
                        <a:t> açısından </a:t>
                      </a:r>
                      <a:r>
                        <a:rPr sz="1050" b="0" i="0" dirty="0" err="1">
                          <a:solidFill>
                            <a:srgbClr val="33413D"/>
                          </a:solidFill>
                          <a:latin typeface="Aptos"/>
                        </a:rPr>
                        <a:t>tamamen </a:t>
                      </a:r>
                      <a:r>
                        <a:rPr sz="1050" b="0" i="0" dirty="0" err="1">
                          <a:solidFill>
                            <a:srgbClr val="33413D"/>
                          </a:solidFill>
                          <a:latin typeface="Aptos"/>
                        </a:rPr>
                        <a:t>Türkçe</a:t>
                      </a:r>
                      <a:r>
                        <a:rPr sz="1050" b="0" i="0" dirty="0">
                          <a:solidFill>
                            <a:srgbClr val="33413D"/>
                          </a:solidFill>
                          <a:latin typeface="Aptos"/>
                        </a:rPr>
                        <a:t>, İngilizce, Almanca ve </a:t>
                      </a:r>
                      <a:r>
                        <a:rPr sz="1050" b="0" i="0" dirty="0" err="1">
                          <a:solidFill>
                            <a:srgbClr val="33413D"/>
                          </a:solidFill>
                          <a:latin typeface="Aptos"/>
                        </a:rPr>
                        <a:t>Rusça </a:t>
                      </a:r>
                      <a:r>
                        <a:rPr sz="1050" b="0" i="0" dirty="0">
                          <a:solidFill>
                            <a:srgbClr val="33413D"/>
                          </a:solidFill>
                          <a:latin typeface="Aptos"/>
                        </a:rPr>
                        <a:t>olarak mevcuttur</a:t>
                      </a:r>
                      <a:r>
                        <a:rPr sz="1050" b="0" i="0" dirty="0">
                          <a:solidFill>
                            <a:srgbClr val="33413D"/>
                          </a:solidFill>
                          <a:latin typeface="Aptos"/>
                        </a:rPr>
                        <a:t>.</a:t>
                      </a:r>
                    </a:p>
                  </a:txBody>
                  <a:tcPr marL="73152" marR="73152" marT="36576" marB="36576" anchor="ctr">
                    <a:solidFill>
                      <a:srgbClr val="FFFFFF"/>
                    </a:solidFill>
                  </a:tcPr>
                </a:tc>
                <a:tc>
                  <a:txBody>
                    <a:bodyPr/>
                    <a:lstStyle/>
                    <a:p>
                      <a:pPr algn="ctr"/>
                      <a:r>
                        <a:rPr sz="1000" b="1" i="0">
                          <a:solidFill>
                            <a:srgbClr val="044F49"/>
                          </a:solidFill>
                          <a:latin typeface="Aptos"/>
                        </a:rPr>
                        <a:t>Canlı</a:t>
                      </a:r>
                    </a:p>
                  </a:txBody>
                  <a:tcPr marL="73152" marR="73152" marT="36576" marB="36576" anchor="ctr">
                    <a:solidFill>
                      <a:srgbClr val="D3E9E7"/>
                    </a:solidFill>
                  </a:tcPr>
                </a:tc>
                <a:extLst>
                  <a:ext uri="{0D108BD9-81ED-4DB2-BD59-A6C34878D82A}">
                    <a16:rowId xmlns:a16="http://schemas.microsoft.com/office/drawing/2014/main" val="10001"/>
                  </a:ext>
                </a:extLst>
              </a:tr>
              <a:tr h="365760">
                <a:tc>
                  <a:txBody>
                    <a:bodyPr/>
                    <a:lstStyle/>
                    <a:p>
                      <a:r>
                        <a:rPr sz="1050" b="1" i="0">
                          <a:solidFill>
                            <a:srgbClr val="101820"/>
                          </a:solidFill>
                          <a:latin typeface="Aptos"/>
                        </a:rPr>
                        <a:t>Yüklenebilir web uygulaması (PWA)</a:t>
                      </a:r>
                    </a:p>
                  </a:txBody>
                  <a:tcPr marL="73152" marR="73152" marT="36576" marB="36576" anchor="ctr">
                    <a:solidFill>
                      <a:srgbClr val="F1F5F4"/>
                    </a:solidFill>
                  </a:tcPr>
                </a:tc>
                <a:tc>
                  <a:txBody>
                    <a:bodyPr/>
                    <a:lstStyle/>
                    <a:p>
                      <a:r>
                        <a:rPr sz="1050" b="0" i="0">
                          <a:solidFill>
                            <a:srgbClr val="33413D"/>
                          </a:solidFill>
                          <a:latin typeface="Aptos"/>
                        </a:rPr>
                        <a:t>App Store'a gerek olmadan her cihaza yüklenebilir; temel yapı, zayıf bağlantı koşullarında da çalışır.</a:t>
                      </a:r>
                    </a:p>
                  </a:txBody>
                  <a:tcPr marL="73152" marR="73152" marT="36576" marB="36576" anchor="ctr">
                    <a:solidFill>
                      <a:srgbClr val="F1F5F4"/>
                    </a:solidFill>
                  </a:tcPr>
                </a:tc>
                <a:tc>
                  <a:txBody>
                    <a:bodyPr/>
                    <a:lstStyle/>
                    <a:p>
                      <a:pPr algn="ctr"/>
                      <a:r>
                        <a:rPr sz="1000" b="1" i="0">
                          <a:solidFill>
                            <a:srgbClr val="044F49"/>
                          </a:solidFill>
                          <a:latin typeface="Aptos"/>
                        </a:rPr>
                        <a:t>Canlı</a:t>
                      </a:r>
                    </a:p>
                  </a:txBody>
                  <a:tcPr marL="73152" marR="73152" marT="36576" marB="36576" anchor="ctr">
                    <a:solidFill>
                      <a:srgbClr val="D3E9E7"/>
                    </a:solidFill>
                  </a:tcPr>
                </a:tc>
                <a:extLst>
                  <a:ext uri="{0D108BD9-81ED-4DB2-BD59-A6C34878D82A}">
                    <a16:rowId xmlns:a16="http://schemas.microsoft.com/office/drawing/2014/main" val="10002"/>
                  </a:ext>
                </a:extLst>
              </a:tr>
              <a:tr h="365760">
                <a:tc>
                  <a:txBody>
                    <a:bodyPr/>
                    <a:lstStyle/>
                    <a:p>
                      <a:r>
                        <a:rPr sz="1050" b="1" i="0">
                          <a:solidFill>
                            <a:srgbClr val="101820"/>
                          </a:solidFill>
                          <a:latin typeface="Aptos"/>
                        </a:rPr>
                        <a:t>Açık/Koyu Mod ve Kurumsal Kimlik Tasarımı</a:t>
                      </a:r>
                    </a:p>
                  </a:txBody>
                  <a:tcPr marL="73152" marR="73152" marT="36576" marB="36576" anchor="ctr">
                    <a:solidFill>
                      <a:srgbClr val="FFFFFF"/>
                    </a:solidFill>
                  </a:tcPr>
                </a:tc>
                <a:tc>
                  <a:txBody>
                    <a:bodyPr/>
                    <a:lstStyle/>
                    <a:p>
                      <a:r>
                        <a:rPr sz="1050" b="0" i="0">
                          <a:solidFill>
                            <a:srgbClr val="33413D"/>
                          </a:solidFill>
                          <a:latin typeface="Aptos"/>
                        </a:rPr>
                        <a:t>Portal içinde Açık/Koyu mod geçişi ile markanızın renklerine uygun tutarlı tasarım.</a:t>
                      </a:r>
                    </a:p>
                  </a:txBody>
                  <a:tcPr marL="73152" marR="73152" marT="36576" marB="36576" anchor="ctr">
                    <a:solidFill>
                      <a:srgbClr val="FFFFFF"/>
                    </a:solidFill>
                  </a:tcPr>
                </a:tc>
                <a:tc>
                  <a:txBody>
                    <a:bodyPr/>
                    <a:lstStyle/>
                    <a:p>
                      <a:pPr algn="ctr"/>
                      <a:r>
                        <a:rPr sz="1000" b="1" i="0">
                          <a:solidFill>
                            <a:srgbClr val="044F49"/>
                          </a:solidFill>
                          <a:latin typeface="Aptos"/>
                        </a:rPr>
                        <a:t>Canlı</a:t>
                      </a:r>
                    </a:p>
                  </a:txBody>
                  <a:tcPr marL="73152" marR="73152" marT="36576" marB="36576" anchor="ctr">
                    <a:solidFill>
                      <a:srgbClr val="D3E9E7"/>
                    </a:solidFill>
                  </a:tcPr>
                </a:tc>
                <a:extLst>
                  <a:ext uri="{0D108BD9-81ED-4DB2-BD59-A6C34878D82A}">
                    <a16:rowId xmlns:a16="http://schemas.microsoft.com/office/drawing/2014/main" val="10003"/>
                  </a:ext>
                </a:extLst>
              </a:tr>
              <a:tr h="365760">
                <a:tc>
                  <a:txBody>
                    <a:bodyPr/>
                    <a:lstStyle/>
                    <a:p>
                      <a:r>
                        <a:rPr sz="1050" b="1" i="0">
                          <a:solidFill>
                            <a:srgbClr val="101820"/>
                          </a:solidFill>
                          <a:latin typeface="Aptos"/>
                        </a:rPr>
                        <a:t>Çevrimdışı Çalışma Alanı ve Push</a:t>
                      </a:r>
                    </a:p>
                  </a:txBody>
                  <a:tcPr marL="73152" marR="73152" marT="36576" marB="36576" anchor="ctr">
                    <a:solidFill>
                      <a:srgbClr val="F1F5F4"/>
                    </a:solidFill>
                  </a:tcPr>
                </a:tc>
                <a:tc>
                  <a:txBody>
                    <a:bodyPr/>
                    <a:lstStyle/>
                    <a:p>
                      <a:r>
                        <a:rPr sz="1050" b="0" i="0">
                          <a:solidFill>
                            <a:srgbClr val="33413D"/>
                          </a:solidFill>
                          <a:latin typeface="Aptos"/>
                        </a:rPr>
                        <a:t>Saha ekibi için çevrimdışı iş kuyruğu; verimli çevrimdışı senkronizasyon ve anlık bildirimler.</a:t>
                      </a:r>
                    </a:p>
                  </a:txBody>
                  <a:tcPr marL="73152" marR="73152" marT="36576" marB="36576" anchor="ctr">
                    <a:solidFill>
                      <a:srgbClr val="F1F5F4"/>
                    </a:solidFill>
                  </a:tcPr>
                </a:tc>
                <a:tc>
                  <a:txBody>
                    <a:bodyPr/>
                    <a:lstStyle/>
                    <a:p>
                      <a:pPr algn="ctr"/>
                      <a:r>
                        <a:rPr sz="1000" b="1" i="0">
                          <a:solidFill>
                            <a:srgbClr val="4B5652"/>
                          </a:solidFill>
                          <a:latin typeface="Aptos"/>
                        </a:rPr>
                        <a:t>Hazırlık aşamasında</a:t>
                      </a:r>
                    </a:p>
                  </a:txBody>
                  <a:tcPr marL="73152" marR="73152" marT="36576" marB="36576" anchor="ctr">
                    <a:solidFill>
                      <a:srgbClr val="EAECEB"/>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21</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3.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07</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İhtiyaçlarınızın Karşılanması (1/2)</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463040"/>
          <a:ext cx="10881360" cy="4023360"/>
        </p:xfrm>
        <a:graphic>
          <a:graphicData uri="http://schemas.openxmlformats.org/drawingml/2006/table">
            <a:tbl>
              <a:tblPr>
                <a:tableStyleId>{5C22544A-7EE6-4342-B048-85BDC9FD1C3A}</a:tableStyleId>
              </a:tblPr>
              <a:tblGrid>
                <a:gridCol w="4352544">
                  <a:extLst>
                    <a:ext uri="{9D8B030D-6E8A-4147-A177-3AD203B41FA5}">
                      <a16:colId xmlns:a16="http://schemas.microsoft.com/office/drawing/2014/main" val="20000"/>
                    </a:ext>
                  </a:extLst>
                </a:gridCol>
                <a:gridCol w="1632204">
                  <a:extLst>
                    <a:ext uri="{9D8B030D-6E8A-4147-A177-3AD203B41FA5}">
                      <a16:colId xmlns:a16="http://schemas.microsoft.com/office/drawing/2014/main" val="20001"/>
                    </a:ext>
                  </a:extLst>
                </a:gridCol>
                <a:gridCol w="4896612">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Gereksiniminiz</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tc>
                  <a:txBody>
                    <a:bodyPr/>
                    <a:lstStyle/>
                    <a:p>
                      <a:r>
                        <a:rPr sz="1050" b="1" i="0">
                          <a:solidFill>
                            <a:srgbClr val="FFFFFF"/>
                          </a:solidFill>
                          <a:latin typeface="Aptos"/>
                        </a:rPr>
                        <a:t>Not</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950" b="1" i="0">
                          <a:solidFill>
                            <a:srgbClr val="101820"/>
                          </a:solidFill>
                          <a:latin typeface="Aptos"/>
                        </a:rPr>
                        <a:t>769 daire için merkezi platform</a:t>
                      </a:r>
                    </a:p>
                  </a:txBody>
                  <a:tcPr marL="73152" marR="73152" marT="36576" marB="36576" anchor="ctr">
                    <a:solidFill>
                      <a:srgbClr val="FFFFFF"/>
                    </a:solidFill>
                  </a:tcPr>
                </a:tc>
                <a:tc>
                  <a:txBody>
                    <a:bodyPr/>
                    <a:lstStyle/>
                    <a:p>
                      <a:pPr algn="ctr"/>
                      <a:r>
                        <a:rPr sz="900" b="1" i="0">
                          <a:solidFill>
                            <a:srgbClr val="044F49"/>
                          </a:solidFill>
                          <a:latin typeface="Aptos"/>
                        </a:rPr>
                        <a:t>Tamamlandı</a:t>
                      </a:r>
                    </a:p>
                  </a:txBody>
                  <a:tcPr marL="73152" marR="73152" marT="36576" marB="36576" anchor="ctr">
                    <a:solidFill>
                      <a:srgbClr val="DAE9E8"/>
                    </a:solidFill>
                  </a:tcPr>
                </a:tc>
                <a:tc>
                  <a:txBody>
                    <a:bodyPr/>
                    <a:lstStyle/>
                    <a:p>
                      <a:r>
                        <a:rPr sz="950" b="0" i="0">
                          <a:solidFill>
                            <a:srgbClr val="33413D"/>
                          </a:solidFill>
                          <a:latin typeface="Aptos"/>
                        </a:rPr>
                        <a:t>Gerçek referans veri seti kullanılarak hayata geçirildi.</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950" b="1" i="0">
                          <a:solidFill>
                            <a:srgbClr val="101820"/>
                          </a:solidFill>
                          <a:latin typeface="Aptos"/>
                        </a:rPr>
                        <a:t>Temel: Konum → Blok → Daire, İlişkiler</a:t>
                      </a:r>
                    </a:p>
                  </a:txBody>
                  <a:tcPr marL="73152" marR="73152" marT="36576" marB="36576" anchor="ctr">
                    <a:solidFill>
                      <a:srgbClr val="F1F5F4"/>
                    </a:solidFill>
                  </a:tcPr>
                </a:tc>
                <a:tc>
                  <a:txBody>
                    <a:bodyPr/>
                    <a:lstStyle/>
                    <a:p>
                      <a:pPr algn="ctr"/>
                      <a:r>
                        <a:rPr sz="900" b="1" i="0">
                          <a:solidFill>
                            <a:srgbClr val="044F49"/>
                          </a:solidFill>
                          <a:latin typeface="Aptos"/>
                        </a:rPr>
                        <a:t>Tam</a:t>
                      </a:r>
                    </a:p>
                  </a:txBody>
                  <a:tcPr marL="73152" marR="73152" marT="36576" marB="36576" anchor="ctr">
                    <a:solidFill>
                      <a:srgbClr val="DAE9E8"/>
                    </a:solidFill>
                  </a:tcPr>
                </a:tc>
                <a:tc>
                  <a:txBody>
                    <a:bodyPr/>
                    <a:lstStyle/>
                    <a:p>
                      <a:r>
                        <a:rPr sz="950" b="0" i="0">
                          <a:solidFill>
                            <a:srgbClr val="33413D"/>
                          </a:solidFill>
                          <a:latin typeface="Aptos"/>
                        </a:rPr>
                        <a:t>Yetki ve veri güvenliği içeren eksiksiz veri modeli.</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950" b="1" i="0">
                          <a:solidFill>
                            <a:srgbClr val="101820"/>
                          </a:solidFill>
                          <a:latin typeface="Aptos"/>
                        </a:rPr>
                        <a:t>Finans modülü (hesaplar, bakiyeler, faturalandırma, tahsilat, depozito)</a:t>
                      </a:r>
                    </a:p>
                  </a:txBody>
                  <a:tcPr marL="73152" marR="73152" marT="36576" marB="36576" anchor="ctr">
                    <a:solidFill>
                      <a:srgbClr val="FFFFFF"/>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Hesaplar ve bakiyeler eksiksiz; aktif kayıt/otomatik mahsup hazırlık aşamasında.</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950" b="1" i="0">
                          <a:solidFill>
                            <a:srgbClr val="101820"/>
                          </a:solidFill>
                          <a:latin typeface="Aptos"/>
                        </a:rPr>
                        <a:t>Operasyonlar (Görevler, Hizmetler, Personel)</a:t>
                      </a:r>
                    </a:p>
                  </a:txBody>
                  <a:tcPr marL="73152" marR="73152" marT="36576" marB="36576" anchor="ctr">
                    <a:solidFill>
                      <a:srgbClr val="F1F5F4"/>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Görevler ve hizmetler mevcut; depo yönetimi MVP'den sonra isteğe bağlıydı.</a:t>
                      </a:r>
                    </a:p>
                  </a:txBody>
                  <a:tcPr marL="73152" marR="73152" marT="36576" marB="36576" anchor="ctr">
                    <a:solidFill>
                      <a:srgbClr val="F1F5F4"/>
                    </a:solidFill>
                  </a:tcPr>
                </a:tc>
                <a:extLst>
                  <a:ext uri="{0D108BD9-81ED-4DB2-BD59-A6C34878D82A}">
                    <a16:rowId xmlns:a16="http://schemas.microsoft.com/office/drawing/2014/main" val="10004"/>
                  </a:ext>
                </a:extLst>
              </a:tr>
              <a:tr h="365760">
                <a:tc>
                  <a:txBody>
                    <a:bodyPr/>
                    <a:lstStyle/>
                    <a:p>
                      <a:r>
                        <a:rPr sz="950" b="1" i="0">
                          <a:solidFill>
                            <a:srgbClr val="101820"/>
                          </a:solidFill>
                          <a:latin typeface="Aptos"/>
                        </a:rPr>
                        <a:t>Kullanıcı Arayüzleri: Web Paneli ve Mobil Uygulama</a:t>
                      </a:r>
                    </a:p>
                  </a:txBody>
                  <a:tcPr marL="73152" marR="73152" marT="36576" marB="36576" anchor="ctr">
                    <a:solidFill>
                      <a:srgbClr val="FFFFFF"/>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Web paneli tam olarak kullanılabilir; mobil versiyon, yerel uygulama yerine yüklenebilir web uygulaması (PWA) olarak sunulur.</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r>
                        <a:rPr sz="950" b="1" i="0">
                          <a:solidFill>
                            <a:srgbClr val="101820"/>
                          </a:solidFill>
                          <a:latin typeface="Aptos"/>
                        </a:rPr>
                        <a:t>Belirli yetkilere sahip altı kullanıcı rolü</a:t>
                      </a:r>
                    </a:p>
                  </a:txBody>
                  <a:tcPr marL="73152" marR="73152" marT="36576" marB="36576" anchor="ctr">
                    <a:solidFill>
                      <a:srgbClr val="F1F5F4"/>
                    </a:solidFill>
                  </a:tcPr>
                </a:tc>
                <a:tc>
                  <a:txBody>
                    <a:bodyPr/>
                    <a:lstStyle/>
                    <a:p>
                      <a:pPr algn="ctr"/>
                      <a:r>
                        <a:rPr sz="900" b="1" i="0">
                          <a:solidFill>
                            <a:srgbClr val="044F49"/>
                          </a:solidFill>
                          <a:latin typeface="Aptos"/>
                        </a:rPr>
                        <a:t>Tam</a:t>
                      </a:r>
                    </a:p>
                  </a:txBody>
                  <a:tcPr marL="73152" marR="73152" marT="36576" marB="36576" anchor="ctr">
                    <a:solidFill>
                      <a:srgbClr val="DAE9E8"/>
                    </a:solidFill>
                  </a:tcPr>
                </a:tc>
                <a:tc>
                  <a:txBody>
                    <a:bodyPr/>
                    <a:lstStyle/>
                    <a:p>
                      <a:r>
                        <a:rPr sz="950" b="0" i="0">
                          <a:solidFill>
                            <a:srgbClr val="33413D"/>
                          </a:solidFill>
                          <a:latin typeface="Aptos"/>
                        </a:rPr>
                        <a:t>Uygulanmış ve talep edilenden daha ayrıntılı bir şekilde sınıflandırılmıştır.</a:t>
                      </a:r>
                    </a:p>
                  </a:txBody>
                  <a:tcPr marL="73152" marR="73152" marT="36576" marB="36576" anchor="ctr">
                    <a:solidFill>
                      <a:srgbClr val="F1F5F4"/>
                    </a:solidFill>
                  </a:tcPr>
                </a:tc>
                <a:extLst>
                  <a:ext uri="{0D108BD9-81ED-4DB2-BD59-A6C34878D82A}">
                    <a16:rowId xmlns:a16="http://schemas.microsoft.com/office/drawing/2014/main" val="10006"/>
                  </a:ext>
                </a:extLst>
              </a:tr>
              <a:tr h="365760">
                <a:tc>
                  <a:txBody>
                    <a:bodyPr/>
                    <a:lstStyle/>
                    <a:p>
                      <a:r>
                        <a:rPr sz="950" b="1" i="0">
                          <a:solidFill>
                            <a:srgbClr val="101820"/>
                          </a:solidFill>
                          <a:latin typeface="Aptos"/>
                        </a:rPr>
                        <a:t>Temel veriler: Daire, kullanıcı, hesap, işlem, hizmet, görev, kayıt, depozito</a:t>
                      </a:r>
                    </a:p>
                  </a:txBody>
                  <a:tcPr marL="73152" marR="73152" marT="36576" marB="36576" anchor="ctr">
                    <a:solidFill>
                      <a:srgbClr val="FFFFFF"/>
                    </a:solidFill>
                  </a:tcPr>
                </a:tc>
                <a:tc>
                  <a:txBody>
                    <a:bodyPr/>
                    <a:lstStyle/>
                    <a:p>
                      <a:pPr algn="ctr"/>
                      <a:r>
                        <a:rPr sz="900" b="1" i="0">
                          <a:solidFill>
                            <a:srgbClr val="044F49"/>
                          </a:solidFill>
                          <a:latin typeface="Aptos"/>
                        </a:rPr>
                        <a:t>Tam</a:t>
                      </a:r>
                    </a:p>
                  </a:txBody>
                  <a:tcPr marL="73152" marR="73152" marT="36576" marB="36576" anchor="ctr">
                    <a:solidFill>
                      <a:srgbClr val="DAE9E8"/>
                    </a:solidFill>
                  </a:tcPr>
                </a:tc>
                <a:tc>
                  <a:txBody>
                    <a:bodyPr/>
                    <a:lstStyle/>
                    <a:p>
                      <a:r>
                        <a:rPr sz="950" b="0" i="0">
                          <a:solidFill>
                            <a:srgbClr val="33413D"/>
                          </a:solidFill>
                          <a:latin typeface="Aptos"/>
                        </a:rPr>
                        <a:t>Tüm veri modelleri mevcut ve arayüzde görülebilir.</a:t>
                      </a:r>
                    </a:p>
                  </a:txBody>
                  <a:tcPr marL="73152" marR="73152" marT="36576" marB="36576" anchor="ctr">
                    <a:solidFill>
                      <a:srgbClr val="FFFFFF"/>
                    </a:solidFill>
                  </a:tcPr>
                </a:tc>
                <a:extLst>
                  <a:ext uri="{0D108BD9-81ED-4DB2-BD59-A6C34878D82A}">
                    <a16:rowId xmlns:a16="http://schemas.microsoft.com/office/drawing/2014/main" val="10007"/>
                  </a:ext>
                </a:extLst>
              </a:tr>
              <a:tr h="365760">
                <a:tc>
                  <a:txBody>
                    <a:bodyPr/>
                    <a:lstStyle/>
                    <a:p>
                      <a:r>
                        <a:rPr sz="950" b="1" i="0">
                          <a:solidFill>
                            <a:srgbClr val="101820"/>
                          </a:solidFill>
                          <a:latin typeface="Aptos"/>
                        </a:rPr>
                        <a:t>Mali kurallar (borç durumunda hizmeti reddetme, kirayı mahsup etme, depozitoyu dondurma/iade etme)</a:t>
                      </a:r>
                    </a:p>
                  </a:txBody>
                  <a:tcPr marL="73152" marR="73152" marT="36576" marB="36576" anchor="ctr">
                    <a:solidFill>
                      <a:srgbClr val="F1F5F4"/>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Onaylı tanıma ve öneri mevcut; otomatik uygulama hazırlık aşamasında.</a:t>
                      </a:r>
                    </a:p>
                  </a:txBody>
                  <a:tcPr marL="73152" marR="73152" marT="36576" marB="36576" anchor="ctr">
                    <a:solidFill>
                      <a:srgbClr val="F1F5F4"/>
                    </a:solidFill>
                  </a:tcPr>
                </a:tc>
                <a:extLst>
                  <a:ext uri="{0D108BD9-81ED-4DB2-BD59-A6C34878D82A}">
                    <a16:rowId xmlns:a16="http://schemas.microsoft.com/office/drawing/2014/main" val="10008"/>
                  </a:ext>
                </a:extLst>
              </a:tr>
              <a:tr h="365760">
                <a:tc>
                  <a:txBody>
                    <a:bodyPr/>
                    <a:lstStyle/>
                    <a:p>
                      <a:r>
                        <a:rPr sz="950" b="1" i="0">
                          <a:solidFill>
                            <a:srgbClr val="101820"/>
                          </a:solidFill>
                          <a:latin typeface="Aptos"/>
                        </a:rPr>
                        <a:t>Borçlarla ilgili kısıtlamalar (hesap kaydı/kart/hizmeti dondurma)</a:t>
                      </a:r>
                    </a:p>
                  </a:txBody>
                  <a:tcPr marL="73152" marR="73152" marT="36576" marB="36576" anchor="ctr">
                    <a:solidFill>
                      <a:srgbClr val="FFFFFF"/>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Öneri mevcut; yasal onay alındıktan sonra fiili uygulama.</a:t>
                      </a:r>
                    </a:p>
                  </a:txBody>
                  <a:tcPr marL="73152" marR="73152" marT="36576" marB="36576" anchor="ctr">
                    <a:solidFill>
                      <a:srgbClr val="FFFFFF"/>
                    </a:solidFill>
                  </a:tcPr>
                </a:tc>
                <a:extLst>
                  <a:ext uri="{0D108BD9-81ED-4DB2-BD59-A6C34878D82A}">
                    <a16:rowId xmlns:a16="http://schemas.microsoft.com/office/drawing/2014/main" val="10009"/>
                  </a:ext>
                </a:extLst>
              </a:tr>
              <a:tr h="365760">
                <a:tc>
                  <a:txBody>
                    <a:bodyPr/>
                    <a:lstStyle/>
                    <a:p>
                      <a:r>
                        <a:rPr sz="950" b="1" i="0">
                          <a:solidFill>
                            <a:srgbClr val="101820"/>
                          </a:solidFill>
                          <a:latin typeface="Aptos"/>
                        </a:rPr>
                        <a:t>Hizmet yönetimi: Katalog ve süreç</a:t>
                      </a:r>
                    </a:p>
                  </a:txBody>
                  <a:tcPr marL="73152" marR="73152" marT="36576" marB="36576" anchor="ctr">
                    <a:solidFill>
                      <a:srgbClr val="F1F5F4"/>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Katalog tamamlandı; kesintisiz sipariş süreci hazırlık aşamasında.</a:t>
                      </a:r>
                    </a:p>
                  </a:txBody>
                  <a:tcPr marL="73152" marR="73152" marT="36576" marB="36576" anchor="ctr">
                    <a:solidFill>
                      <a:srgbClr val="F1F5F4"/>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22</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4.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07</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İhtiyaçlarınızın Karşılanması (2/2)</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463040"/>
          <a:ext cx="10881360" cy="4023360"/>
        </p:xfrm>
        <a:graphic>
          <a:graphicData uri="http://schemas.openxmlformats.org/drawingml/2006/table">
            <a:tbl>
              <a:tblPr>
                <a:tableStyleId>{5C22544A-7EE6-4342-B048-85BDC9FD1C3A}</a:tableStyleId>
              </a:tblPr>
              <a:tblGrid>
                <a:gridCol w="4352544">
                  <a:extLst>
                    <a:ext uri="{9D8B030D-6E8A-4147-A177-3AD203B41FA5}">
                      <a16:colId xmlns:a16="http://schemas.microsoft.com/office/drawing/2014/main" val="20000"/>
                    </a:ext>
                  </a:extLst>
                </a:gridCol>
                <a:gridCol w="1632204">
                  <a:extLst>
                    <a:ext uri="{9D8B030D-6E8A-4147-A177-3AD203B41FA5}">
                      <a16:colId xmlns:a16="http://schemas.microsoft.com/office/drawing/2014/main" val="20001"/>
                    </a:ext>
                  </a:extLst>
                </a:gridCol>
                <a:gridCol w="4896612">
                  <a:extLst>
                    <a:ext uri="{9D8B030D-6E8A-4147-A177-3AD203B41FA5}">
                      <a16:colId xmlns:a16="http://schemas.microsoft.com/office/drawing/2014/main" val="20002"/>
                    </a:ext>
                  </a:extLst>
                </a:gridCol>
              </a:tblGrid>
              <a:tr h="365760">
                <a:tc>
                  <a:txBody>
                    <a:bodyPr/>
                    <a:lstStyle/>
                    <a:p>
                      <a:r>
                        <a:rPr sz="1050" b="1" i="0">
                          <a:solidFill>
                            <a:srgbClr val="FFFFFF"/>
                          </a:solidFill>
                          <a:latin typeface="Aptos"/>
                        </a:rPr>
                        <a:t>Gereksiniminiz</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tc>
                  <a:txBody>
                    <a:bodyPr/>
                    <a:lstStyle/>
                    <a:p>
                      <a:r>
                        <a:rPr sz="1050" b="1" i="0">
                          <a:solidFill>
                            <a:srgbClr val="FFFFFF"/>
                          </a:solidFill>
                          <a:latin typeface="Aptos"/>
                        </a:rPr>
                        <a:t>Not</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950" b="1" i="0">
                          <a:solidFill>
                            <a:srgbClr val="101820"/>
                          </a:solidFill>
                          <a:latin typeface="Aptos"/>
                        </a:rPr>
                        <a:t>Görev Yönetimi (Oluşturma, Atama, SLA, Fotoğraf/Video Raporu)</a:t>
                      </a:r>
                    </a:p>
                  </a:txBody>
                  <a:tcPr marL="73152" marR="73152" marT="36576" marB="36576" anchor="ctr">
                    <a:solidFill>
                      <a:srgbClr val="FFFFFF"/>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Oluşturma ve SLA mevcut; Fotoğraf/video raporu hazırlık aşamasında.</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950" b="1" i="0">
                          <a:solidFill>
                            <a:srgbClr val="101820"/>
                          </a:solidFill>
                          <a:latin typeface="Aptos"/>
                        </a:rPr>
                        <a:t>Kiralama ve Rezervasyon (Takvim, Rezervasyon Oluşturma, Ödeme Kontrolü)</a:t>
                      </a:r>
                    </a:p>
                  </a:txBody>
                  <a:tcPr marL="73152" marR="73152" marT="36576" marB="36576" anchor="ctr">
                    <a:solidFill>
                      <a:srgbClr val="F1F5F4"/>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Genel Bakış ve Panolar mevcut; Rezervasyon Oluşturma hazırlık aşamasında.</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950" b="1" i="0">
                          <a:solidFill>
                            <a:srgbClr val="101820"/>
                          </a:solidFill>
                          <a:latin typeface="Aptos"/>
                        </a:rPr>
                        <a:t>İletişim (Sohbet, Takım Sohbeti, Push Bildirimi/E-posta/SMS)</a:t>
                      </a:r>
                    </a:p>
                  </a:txBody>
                  <a:tcPr marL="73152" marR="73152" marT="36576" marB="36576" anchor="ctr">
                    <a:solidFill>
                      <a:srgbClr val="FFFFFF"/>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Tam arayüz ve şablonlar; sağlayıcının onayıyla canlı gönderim.</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950" b="1" i="0">
                          <a:solidFill>
                            <a:srgbClr val="101820"/>
                          </a:solidFill>
                          <a:latin typeface="Aptos"/>
                        </a:rPr>
                        <a:t>Mobil Uygulama (Giriş, Bakiye, Ödeme, Sohbet, Belgeler)</a:t>
                      </a:r>
                    </a:p>
                  </a:txBody>
                  <a:tcPr marL="73152" marR="73152" marT="36576" marB="36576" anchor="ctr">
                    <a:solidFill>
                      <a:srgbClr val="F1F5F4"/>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Tarayıcı üzerinden yüklenebilir web uygulaması olarak sunulur; Push özelliği hazırlık aşamasındadır.</a:t>
                      </a:r>
                    </a:p>
                  </a:txBody>
                  <a:tcPr marL="73152" marR="73152" marT="36576" marB="36576" anchor="ctr">
                    <a:solidFill>
                      <a:srgbClr val="F1F5F4"/>
                    </a:solidFill>
                  </a:tcPr>
                </a:tc>
                <a:extLst>
                  <a:ext uri="{0D108BD9-81ED-4DB2-BD59-A6C34878D82A}">
                    <a16:rowId xmlns:a16="http://schemas.microsoft.com/office/drawing/2014/main" val="10004"/>
                  </a:ext>
                </a:extLst>
              </a:tr>
              <a:tr h="365760">
                <a:tc>
                  <a:txBody>
                    <a:bodyPr/>
                    <a:lstStyle/>
                    <a:p>
                      <a:r>
                        <a:rPr sz="950" b="1" i="0">
                          <a:solidFill>
                            <a:srgbClr val="101820"/>
                          </a:solidFill>
                          <a:latin typeface="Aptos"/>
                        </a:rPr>
                        <a:t>Entegrasyonlar (Ödeme/Bankalar, Kimlik, Erişim, Kameralar)</a:t>
                      </a:r>
                    </a:p>
                  </a:txBody>
                  <a:tcPr marL="73152" marR="73152" marT="36576" marB="36576" anchor="ctr">
                    <a:solidFill>
                      <a:srgbClr val="FFFFFF"/>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Tam sağlayıcı listesi hazırlandı; sağlayıcı seçimi sonrasında canlı bağlantı sağlanacak.</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r>
                        <a:rPr sz="950" b="1" i="0">
                          <a:solidFill>
                            <a:srgbClr val="101820"/>
                          </a:solidFill>
                          <a:latin typeface="Aptos"/>
                        </a:rPr>
                        <a:t>Zorunlu senaryolar (hizmet talebi, taşınma, taşınma çıkışı, ödeme gecikmesi)</a:t>
                      </a:r>
                    </a:p>
                  </a:txBody>
                  <a:tcPr marL="73152" marR="73152" marT="36576" marB="36576" anchor="ctr">
                    <a:solidFill>
                      <a:srgbClr val="F1F5F4"/>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Tespit, onay ve protokol mantığı mevcut; uygulama hazırlığı devam ediyor.</a:t>
                      </a:r>
                    </a:p>
                  </a:txBody>
                  <a:tcPr marL="73152" marR="73152" marT="36576" marB="36576" anchor="ctr">
                    <a:solidFill>
                      <a:srgbClr val="F1F5F4"/>
                    </a:solidFill>
                  </a:tcPr>
                </a:tc>
                <a:extLst>
                  <a:ext uri="{0D108BD9-81ED-4DB2-BD59-A6C34878D82A}">
                    <a16:rowId xmlns:a16="http://schemas.microsoft.com/office/drawing/2014/main" val="10006"/>
                  </a:ext>
                </a:extLst>
              </a:tr>
              <a:tr h="365760">
                <a:tc>
                  <a:txBody>
                    <a:bodyPr/>
                    <a:lstStyle/>
                    <a:p>
                      <a:r>
                        <a:rPr sz="950" b="1" i="0">
                          <a:solidFill>
                            <a:srgbClr val="101820"/>
                          </a:solidFill>
                          <a:latin typeface="Aptos"/>
                        </a:rPr>
                        <a:t>Raporlama (Finans, Borçlar, Hizmetler, Personel, Nakit Akışı)</a:t>
                      </a:r>
                    </a:p>
                  </a:txBody>
                  <a:tcPr marL="73152" marR="73152" marT="36576" marB="36576" anchor="ctr">
                    <a:solidFill>
                      <a:srgbClr val="FFFFFF"/>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Finans/borç/hizmet raporları mevcut; personel raporu ve günlük nakit akışı genişletme aşamasında.</a:t>
                      </a:r>
                    </a:p>
                  </a:txBody>
                  <a:tcPr marL="73152" marR="73152" marT="36576" marB="36576" anchor="ctr">
                    <a:solidFill>
                      <a:srgbClr val="FFFFFF"/>
                    </a:solidFill>
                  </a:tcPr>
                </a:tc>
                <a:extLst>
                  <a:ext uri="{0D108BD9-81ED-4DB2-BD59-A6C34878D82A}">
                    <a16:rowId xmlns:a16="http://schemas.microsoft.com/office/drawing/2014/main" val="10007"/>
                  </a:ext>
                </a:extLst>
              </a:tr>
              <a:tr h="365760">
                <a:tc>
                  <a:txBody>
                    <a:bodyPr/>
                    <a:lstStyle/>
                    <a:p>
                      <a:r>
                        <a:rPr sz="950" b="1" i="0">
                          <a:solidFill>
                            <a:srgbClr val="101820"/>
                          </a:solidFill>
                          <a:latin typeface="Aptos"/>
                        </a:rPr>
                        <a:t>Kontrol paneli (gelirler, giderler, borçlar, görevler, KPI)</a:t>
                      </a:r>
                    </a:p>
                  </a:txBody>
                  <a:tcPr marL="73152" marR="73152" marT="36576" marB="36576" anchor="ctr">
                    <a:solidFill>
                      <a:srgbClr val="F1F5F4"/>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Borçlar/Görevler/KPI'lar gerçek zamanlı olarak görüntülenebilir; Gelir/Gider göstergeleri geliştirme aşamasındadır.</a:t>
                      </a:r>
                    </a:p>
                  </a:txBody>
                  <a:tcPr marL="73152" marR="73152" marT="36576" marB="36576" anchor="ctr">
                    <a:solidFill>
                      <a:srgbClr val="F1F5F4"/>
                    </a:solidFill>
                  </a:tcPr>
                </a:tc>
                <a:extLst>
                  <a:ext uri="{0D108BD9-81ED-4DB2-BD59-A6C34878D82A}">
                    <a16:rowId xmlns:a16="http://schemas.microsoft.com/office/drawing/2014/main" val="10008"/>
                  </a:ext>
                </a:extLst>
              </a:tr>
              <a:tr h="365760">
                <a:tc>
                  <a:txBody>
                    <a:bodyPr/>
                    <a:lstStyle/>
                    <a:p>
                      <a:r>
                        <a:rPr sz="950" b="1" i="0">
                          <a:solidFill>
                            <a:srgbClr val="101820"/>
                          </a:solidFill>
                          <a:latin typeface="Aptos"/>
                        </a:rPr>
                        <a:t>Sistem gereksinimleri (API öncelikli, roller, günlük kaydı, ölçeklenebilirlik)</a:t>
                      </a:r>
                    </a:p>
                  </a:txBody>
                  <a:tcPr marL="73152" marR="73152" marT="36576" marB="36576" anchor="ctr">
                    <a:solidFill>
                      <a:srgbClr val="FFFFFF"/>
                    </a:solidFill>
                  </a:tcPr>
                </a:tc>
                <a:tc>
                  <a:txBody>
                    <a:bodyPr/>
                    <a:lstStyle/>
                    <a:p>
                      <a:pPr algn="ctr"/>
                      <a:r>
                        <a:rPr sz="900" b="1" i="0">
                          <a:solidFill>
                            <a:srgbClr val="044F49"/>
                          </a:solidFill>
                          <a:latin typeface="Aptos"/>
                        </a:rPr>
                        <a:t>Tam</a:t>
                      </a:r>
                    </a:p>
                  </a:txBody>
                  <a:tcPr marL="73152" marR="73152" marT="36576" marB="36576" anchor="ctr">
                    <a:solidFill>
                      <a:srgbClr val="DAE9E8"/>
                    </a:solidFill>
                  </a:tcPr>
                </a:tc>
                <a:tc>
                  <a:txBody>
                    <a:bodyPr/>
                    <a:lstStyle/>
                    <a:p>
                      <a:r>
                        <a:rPr sz="950" b="0" i="0">
                          <a:solidFill>
                            <a:srgbClr val="33413D"/>
                          </a:solidFill>
                          <a:latin typeface="Aptos"/>
                        </a:rPr>
                        <a:t>Roller, veri güvenliği ve günlük kaydı, üretim ortamına yakın şekilde hayata geçirildi.</a:t>
                      </a:r>
                    </a:p>
                  </a:txBody>
                  <a:tcPr marL="73152" marR="73152" marT="36576" marB="36576" anchor="ctr">
                    <a:solidFill>
                      <a:srgbClr val="FFFFFF"/>
                    </a:solidFill>
                  </a:tcPr>
                </a:tc>
                <a:extLst>
                  <a:ext uri="{0D108BD9-81ED-4DB2-BD59-A6C34878D82A}">
                    <a16:rowId xmlns:a16="http://schemas.microsoft.com/office/drawing/2014/main" val="10009"/>
                  </a:ext>
                </a:extLst>
              </a:tr>
              <a:tr h="365760">
                <a:tc>
                  <a:txBody>
                    <a:bodyPr/>
                    <a:lstStyle/>
                    <a:p>
                      <a:r>
                        <a:rPr sz="950" b="1" i="0">
                          <a:solidFill>
                            <a:srgbClr val="101820"/>
                          </a:solidFill>
                          <a:latin typeface="Aptos"/>
                        </a:rPr>
                        <a:t>MVP (Çekirdek, Finans, Hizmetler + Görevler, basit Mobil Uygulama)</a:t>
                      </a:r>
                    </a:p>
                  </a:txBody>
                  <a:tcPr marL="73152" marR="73152" marT="36576" marB="36576" anchor="ctr">
                    <a:solidFill>
                      <a:srgbClr val="F1F5F4"/>
                    </a:solidFill>
                  </a:tcPr>
                </a:tc>
                <a:tc>
                  <a:txBody>
                    <a:bodyPr/>
                    <a:lstStyle/>
                    <a:p>
                      <a:pPr algn="ctr"/>
                      <a:r>
                        <a:rPr sz="900" b="1" i="0">
                          <a:solidFill>
                            <a:srgbClr val="7A5410"/>
                          </a:solidFill>
                          <a:latin typeface="Aptos"/>
                        </a:rPr>
                        <a:t>Kısmen</a:t>
                      </a:r>
                    </a:p>
                  </a:txBody>
                  <a:tcPr marL="73152" marR="73152" marT="36576" marB="36576" anchor="ctr">
                    <a:solidFill>
                      <a:srgbClr val="F4EBDD"/>
                    </a:solidFill>
                  </a:tcPr>
                </a:tc>
                <a:tc>
                  <a:txBody>
                    <a:bodyPr/>
                    <a:lstStyle/>
                    <a:p>
                      <a:r>
                        <a:rPr sz="950" b="0" i="0">
                          <a:solidFill>
                            <a:srgbClr val="33413D"/>
                          </a:solidFill>
                          <a:latin typeface="Aptos"/>
                        </a:rPr>
                        <a:t>Tüm MVP bileşenleri mevcut; bazı veri girişi işlevleri geliştirme aşamasında.</a:t>
                      </a:r>
                    </a:p>
                  </a:txBody>
                  <a:tcPr marL="73152" marR="73152" marT="36576" marB="36576" anchor="ctr">
                    <a:solidFill>
                      <a:srgbClr val="F1F5F4"/>
                    </a:solidFill>
                  </a:tcPr>
                </a:tc>
                <a:extLst>
                  <a:ext uri="{0D108BD9-81ED-4DB2-BD59-A6C34878D82A}">
                    <a16:rowId xmlns:a16="http://schemas.microsoft.com/office/drawing/2014/main" val="10010"/>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23</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07 · AYAR</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err="1">
                <a:solidFill>
                  <a:srgbClr val="044F49"/>
                </a:solidFill>
                <a:latin typeface="Aptos"/>
              </a:rPr>
              <a:t>Tekrarlanan </a:t>
            </a:r>
            <a:r>
              <a:rPr sz="2700" b="1" i="0" dirty="0">
                <a:solidFill>
                  <a:srgbClr val="044F49"/>
                </a:solidFill>
                <a:latin typeface="Aptos"/>
              </a:rPr>
              <a:t>desen </a:t>
            </a:r>
            <a:r>
              <a:rPr lang="de-DE" sz="2700" b="1" i="0" dirty="0">
                <a:solidFill>
                  <a:srgbClr val="044F49"/>
                </a:solidFill>
                <a:latin typeface="Aptos"/>
              </a:rPr>
              <a:t>– </a:t>
            </a:r>
            <a:r>
              <a:rPr sz="2700" b="1" i="0" dirty="0">
                <a:solidFill>
                  <a:srgbClr val="044F49"/>
                </a:solidFill>
                <a:latin typeface="Aptos"/>
              </a:rPr>
              <a:t>ve </a:t>
            </a:r>
            <a:r>
              <a:rPr sz="2700" b="1" i="0" dirty="0">
                <a:solidFill>
                  <a:srgbClr val="044F49"/>
                </a:solidFill>
                <a:latin typeface="Aptos"/>
              </a:rPr>
              <a:t>bunun </a:t>
            </a:r>
            <a:r>
              <a:rPr sz="2700" b="1" i="0" dirty="0" err="1">
                <a:solidFill>
                  <a:srgbClr val="044F49"/>
                </a:solidFill>
                <a:latin typeface="Aptos"/>
              </a:rPr>
              <a:t>bir </a:t>
            </a:r>
            <a:r>
              <a:rPr sz="2700" b="1" i="0" dirty="0">
                <a:solidFill>
                  <a:srgbClr val="044F49"/>
                </a:solidFill>
                <a:latin typeface="Aptos"/>
              </a:rPr>
              <a:t>kusur </a:t>
            </a:r>
            <a:r>
              <a:rPr sz="2700" b="1" i="0" dirty="0" err="1">
                <a:solidFill>
                  <a:srgbClr val="044F49"/>
                </a:solidFill>
                <a:latin typeface="Aptos"/>
              </a:rPr>
              <a:t>olmadığı </a:t>
            </a:r>
            <a:r>
              <a:rPr sz="2700" b="1" i="0" dirty="0" err="1">
                <a:solidFill>
                  <a:srgbClr val="044F49"/>
                </a:solidFill>
                <a:latin typeface="Aptos"/>
              </a:rPr>
              <a:t>nedenleri</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920240"/>
            <a:ext cx="10881360" cy="23774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920240"/>
            <a:ext cx="54864" cy="23774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47322"/>
            <a:ext cx="10469880" cy="723275"/>
          </a:xfrm>
          <a:prstGeom prst="rect">
            <a:avLst/>
          </a:prstGeom>
          <a:noFill/>
        </p:spPr>
        <p:txBody>
          <a:bodyPr wrap="square" lIns="0" tIns="0" rIns="0" bIns="0" anchor="ctr">
            <a:spAutoFit/>
          </a:bodyPr>
          <a:lstStyle/>
          <a:p>
            <a:r>
              <a:rPr sz="1250" b="1" i="0" dirty="0" err="1">
                <a:solidFill>
                  <a:srgbClr val="044F49"/>
                </a:solidFill>
                <a:latin typeface="Aptos"/>
              </a:rPr>
              <a:t>Bildirim </a:t>
            </a:r>
            <a:r>
              <a:rPr sz="1250" b="1" i="0" dirty="0">
                <a:solidFill>
                  <a:srgbClr val="044F49"/>
                </a:solidFill>
                <a:latin typeface="Aptos"/>
              </a:rPr>
              <a:t>ve </a:t>
            </a:r>
            <a:r>
              <a:rPr sz="1250" b="1" i="0" dirty="0" err="1">
                <a:solidFill>
                  <a:srgbClr val="044F49"/>
                </a:solidFill>
                <a:latin typeface="Aptos"/>
              </a:rPr>
              <a:t>öneri </a:t>
            </a:r>
            <a:r>
              <a:rPr sz="1250" b="1" i="0" dirty="0">
                <a:solidFill>
                  <a:srgbClr val="044F49"/>
                </a:solidFill>
                <a:latin typeface="Aptos"/>
              </a:rPr>
              <a:t>evet </a:t>
            </a:r>
            <a:r>
              <a:rPr lang="de-DE" sz="1250" b="1" i="0" dirty="0">
                <a:solidFill>
                  <a:srgbClr val="044F49"/>
                </a:solidFill>
                <a:latin typeface="Aptos"/>
              </a:rPr>
              <a:t>– </a:t>
            </a:r>
            <a:r>
              <a:rPr sz="1250" b="1" i="0" dirty="0" err="1">
                <a:solidFill>
                  <a:srgbClr val="044F49"/>
                </a:solidFill>
                <a:latin typeface="Aptos"/>
              </a:rPr>
              <a:t>otomatik </a:t>
            </a:r>
            <a:r>
              <a:rPr sz="1250" b="1" i="0" dirty="0" err="1">
                <a:solidFill>
                  <a:srgbClr val="044F49"/>
                </a:solidFill>
                <a:latin typeface="Aptos"/>
              </a:rPr>
              <a:t>işlem</a:t>
            </a:r>
            <a:r>
              <a:rPr sz="1250" b="1" i="0" dirty="0">
                <a:solidFill>
                  <a:srgbClr val="044F49"/>
                </a:solidFill>
                <a:latin typeface="Aptos"/>
              </a:rPr>
              <a:t>, </a:t>
            </a:r>
            <a:r>
              <a:rPr sz="1250" b="1" i="0" dirty="0" err="1">
                <a:solidFill>
                  <a:srgbClr val="044F49"/>
                </a:solidFill>
                <a:latin typeface="Aptos"/>
              </a:rPr>
              <a:t>onaylandıktan sonra </a:t>
            </a:r>
            <a:r>
              <a:rPr sz="1250" b="1" i="0" dirty="0" err="1">
                <a:solidFill>
                  <a:srgbClr val="044F49"/>
                </a:solidFill>
                <a:latin typeface="Aptos"/>
              </a:rPr>
              <a:t>bilinçli olarak </a:t>
            </a:r>
            <a:r>
              <a:rPr sz="1250" b="1" i="0" dirty="0" err="1">
                <a:solidFill>
                  <a:srgbClr val="044F49"/>
                </a:solidFill>
                <a:latin typeface="Aptos"/>
              </a:rPr>
              <a:t>gerçekleştirilir</a:t>
            </a:r>
            <a:r>
              <a:rPr sz="1250" b="1" i="0" dirty="0">
                <a:solidFill>
                  <a:srgbClr val="044F49"/>
                </a:solidFill>
                <a:latin typeface="Aptos"/>
              </a:rPr>
              <a:t>. </a:t>
            </a:r>
            <a:r>
              <a:rPr sz="1150" b="0" i="0" dirty="0">
                <a:solidFill>
                  <a:srgbClr val="33413D"/>
                </a:solidFill>
                <a:latin typeface="Aptos"/>
              </a:rPr>
              <a:t> »Kısmen« </a:t>
            </a:r>
            <a:r>
              <a:rPr sz="1150" b="0" i="0" dirty="0" err="1">
                <a:solidFill>
                  <a:srgbClr val="33413D"/>
                </a:solidFill>
                <a:latin typeface="Aptos"/>
              </a:rPr>
              <a:t>olarak </a:t>
            </a:r>
            <a:r>
              <a:rPr sz="1150" b="0" i="0" dirty="0" err="1">
                <a:solidFill>
                  <a:srgbClr val="33413D"/>
                </a:solidFill>
                <a:latin typeface="Aptos"/>
              </a:rPr>
              <a:t>işaretlenen </a:t>
            </a:r>
            <a:r>
              <a:rPr sz="1150" b="0" i="0" dirty="0" err="1">
                <a:solidFill>
                  <a:srgbClr val="33413D"/>
                </a:solidFill>
                <a:latin typeface="Aptos"/>
              </a:rPr>
              <a:t>maddelerde de </a:t>
            </a:r>
            <a:r>
              <a:rPr sz="1150" b="0" i="0" dirty="0" err="1">
                <a:solidFill>
                  <a:srgbClr val="33413D"/>
                </a:solidFill>
                <a:latin typeface="Aptos"/>
              </a:rPr>
              <a:t>baştan sona </a:t>
            </a:r>
            <a:r>
              <a:rPr sz="1150" b="0" i="0" dirty="0" err="1">
                <a:solidFill>
                  <a:srgbClr val="33413D"/>
                </a:solidFill>
                <a:latin typeface="Aptos"/>
              </a:rPr>
              <a:t>aynı </a:t>
            </a:r>
            <a:r>
              <a:rPr sz="1150" b="0" i="0" dirty="0" err="1">
                <a:solidFill>
                  <a:srgbClr val="33413D"/>
                </a:solidFill>
                <a:latin typeface="Aptos"/>
              </a:rPr>
              <a:t>ilke </a:t>
            </a:r>
            <a:r>
              <a:rPr sz="1150" b="0" i="0" dirty="0">
                <a:solidFill>
                  <a:srgbClr val="33413D"/>
                </a:solidFill>
                <a:latin typeface="Aptos"/>
              </a:rPr>
              <a:t>geçerlidir: </a:t>
            </a:r>
            <a:r>
              <a:rPr sz="1150" b="0" i="0" dirty="0" err="1">
                <a:solidFill>
                  <a:srgbClr val="33413D"/>
                </a:solidFill>
                <a:latin typeface="Aptos"/>
              </a:rPr>
              <a:t>Bildirim </a:t>
            </a:r>
            <a:r>
              <a:rPr sz="1150" b="0" i="0" dirty="0">
                <a:solidFill>
                  <a:srgbClr val="33413D"/>
                </a:solidFill>
                <a:latin typeface="Aptos"/>
              </a:rPr>
              <a:t>ve </a:t>
            </a:r>
            <a:r>
              <a:rPr sz="1150" b="0" i="0" dirty="0" err="1">
                <a:solidFill>
                  <a:srgbClr val="33413D"/>
                </a:solidFill>
                <a:latin typeface="Aptos"/>
              </a:rPr>
              <a:t>öneri </a:t>
            </a:r>
            <a:r>
              <a:rPr sz="1150" b="0" i="0" dirty="0" err="1">
                <a:solidFill>
                  <a:srgbClr val="33413D"/>
                </a:solidFill>
                <a:latin typeface="Aptos"/>
              </a:rPr>
              <a:t>mevcuttur</a:t>
            </a:r>
            <a:r>
              <a:rPr sz="1150" b="0" i="0" dirty="0">
                <a:solidFill>
                  <a:srgbClr val="33413D"/>
                </a:solidFill>
                <a:latin typeface="Aptos"/>
              </a:rPr>
              <a:t>; </a:t>
            </a:r>
            <a:r>
              <a:rPr sz="1150" b="0" i="0" dirty="0" err="1">
                <a:solidFill>
                  <a:srgbClr val="33413D"/>
                </a:solidFill>
                <a:latin typeface="Aptos"/>
              </a:rPr>
              <a:t>otomatik</a:t>
            </a:r>
            <a:r>
              <a:rPr sz="1150" b="0" i="0" dirty="0">
                <a:solidFill>
                  <a:srgbClr val="33413D"/>
                </a:solidFill>
                <a:latin typeface="Aptos"/>
              </a:rPr>
              <a:t> </a:t>
            </a:r>
            <a:r>
              <a:rPr sz="1150" b="0" i="0" dirty="0" err="1">
                <a:solidFill>
                  <a:srgbClr val="33413D"/>
                </a:solidFill>
                <a:latin typeface="Aptos"/>
              </a:rPr>
              <a:t>işlem </a:t>
            </a:r>
            <a:r>
              <a:rPr sz="1150" b="0" i="0" dirty="0">
                <a:solidFill>
                  <a:srgbClr val="33413D"/>
                </a:solidFill>
                <a:latin typeface="Aptos"/>
              </a:rPr>
              <a:t>(</a:t>
            </a:r>
            <a:r>
              <a:rPr sz="1150" b="0" i="0" dirty="0" err="1">
                <a:solidFill>
                  <a:srgbClr val="33413D"/>
                </a:solidFill>
                <a:latin typeface="Aptos"/>
              </a:rPr>
              <a:t>kayıt</a:t>
            </a:r>
            <a:r>
              <a:rPr sz="1150" b="0" i="0" dirty="0">
                <a:solidFill>
                  <a:srgbClr val="33413D"/>
                </a:solidFill>
                <a:latin typeface="Aptos"/>
              </a:rPr>
              <a:t>, </a:t>
            </a:r>
            <a:r>
              <a:rPr sz="1150" b="0" i="0" dirty="0" err="1">
                <a:solidFill>
                  <a:srgbClr val="33413D"/>
                </a:solidFill>
                <a:latin typeface="Aptos"/>
              </a:rPr>
              <a:t>bloke etme</a:t>
            </a:r>
            <a:r>
              <a:rPr sz="1150" b="0" i="0" dirty="0">
                <a:solidFill>
                  <a:srgbClr val="33413D"/>
                </a:solidFill>
                <a:latin typeface="Aptos"/>
              </a:rPr>
              <a:t>, </a:t>
            </a:r>
            <a:r>
              <a:rPr sz="1150" b="0" i="0" dirty="0" err="1">
                <a:solidFill>
                  <a:srgbClr val="33413D"/>
                </a:solidFill>
                <a:latin typeface="Aptos"/>
              </a:rPr>
              <a:t>gönderim</a:t>
            </a:r>
            <a:r>
              <a:rPr sz="1150" b="0" i="0" dirty="0">
                <a:solidFill>
                  <a:srgbClr val="33413D"/>
                </a:solidFill>
                <a:latin typeface="Aptos"/>
              </a:rPr>
              <a:t>, </a:t>
            </a:r>
            <a:r>
              <a:rPr sz="1150" b="0" i="0" dirty="0" err="1">
                <a:solidFill>
                  <a:srgbClr val="33413D"/>
                </a:solidFill>
                <a:latin typeface="Aptos"/>
              </a:rPr>
              <a:t>faturalandırma</a:t>
            </a:r>
            <a:r>
              <a:rPr sz="1150" b="0" i="0" dirty="0">
                <a:solidFill>
                  <a:srgbClr val="33413D"/>
                </a:solidFill>
                <a:latin typeface="Aptos"/>
              </a:rPr>
              <a:t>) </a:t>
            </a:r>
            <a:r>
              <a:rPr sz="1150" b="0" i="0" dirty="0" err="1">
                <a:solidFill>
                  <a:srgbClr val="33413D"/>
                </a:solidFill>
                <a:latin typeface="Aptos"/>
              </a:rPr>
              <a:t>bilinçli olarak </a:t>
            </a:r>
            <a:r>
              <a:rPr sz="1150" b="0" i="0" dirty="0">
                <a:solidFill>
                  <a:srgbClr val="33413D"/>
                </a:solidFill>
                <a:latin typeface="Aptos"/>
              </a:rPr>
              <a:t>ancak </a:t>
            </a:r>
            <a:r>
              <a:rPr sz="1150" b="0" i="0" dirty="0" err="1">
                <a:solidFill>
                  <a:srgbClr val="33413D"/>
                </a:solidFill>
                <a:latin typeface="Aptos"/>
              </a:rPr>
              <a:t>onaylandıktan sonra </a:t>
            </a:r>
            <a:r>
              <a:rPr sz="1150" b="0" i="0" dirty="0" err="1">
                <a:solidFill>
                  <a:srgbClr val="33413D"/>
                </a:solidFill>
                <a:latin typeface="Aptos"/>
              </a:rPr>
              <a:t>gerçekleştirilir</a:t>
            </a:r>
            <a:r>
              <a:rPr sz="1150" b="0" i="0" dirty="0">
                <a:solidFill>
                  <a:srgbClr val="33413D"/>
                </a:solidFill>
                <a:latin typeface="Aptos"/>
              </a:rPr>
              <a:t>. Bu </a:t>
            </a:r>
            <a:r>
              <a:rPr sz="1150" b="0" i="0" dirty="0" err="1">
                <a:solidFill>
                  <a:srgbClr val="33413D"/>
                </a:solidFill>
                <a:latin typeface="Aptos"/>
              </a:rPr>
              <a:t>rastgele </a:t>
            </a:r>
            <a:r>
              <a:rPr sz="1150" b="0" i="0" dirty="0" err="1">
                <a:solidFill>
                  <a:srgbClr val="33413D"/>
                </a:solidFill>
                <a:latin typeface="Aptos"/>
              </a:rPr>
              <a:t>bir boşluk </a:t>
            </a:r>
            <a:r>
              <a:rPr sz="1150" b="0" i="0" dirty="0" err="1">
                <a:solidFill>
                  <a:srgbClr val="33413D"/>
                </a:solidFill>
                <a:latin typeface="Aptos"/>
              </a:rPr>
              <a:t>değil, </a:t>
            </a:r>
            <a:r>
              <a:rPr sz="1150" b="0" i="0" dirty="0">
                <a:solidFill>
                  <a:srgbClr val="33413D"/>
                </a:solidFill>
                <a:latin typeface="Aptos"/>
              </a:rPr>
              <a:t>“sistem </a:t>
            </a:r>
            <a:r>
              <a:rPr sz="1150" b="0" i="0" dirty="0" err="1">
                <a:solidFill>
                  <a:srgbClr val="33413D"/>
                </a:solidFill>
                <a:latin typeface="Aptos"/>
              </a:rPr>
              <a:t>hazırlar</a:t>
            </a:r>
            <a:r>
              <a:rPr sz="1150" b="0" i="0" dirty="0">
                <a:solidFill>
                  <a:srgbClr val="33413D"/>
                </a:solidFill>
                <a:latin typeface="Aptos"/>
              </a:rPr>
              <a:t>, </a:t>
            </a:r>
            <a:r>
              <a:rPr sz="1150" b="0" i="0" dirty="0">
                <a:solidFill>
                  <a:srgbClr val="33413D"/>
                </a:solidFill>
                <a:latin typeface="Aptos"/>
              </a:rPr>
              <a:t>insan </a:t>
            </a:r>
            <a:r>
              <a:rPr sz="1150" b="0" i="0" dirty="0" err="1">
                <a:solidFill>
                  <a:srgbClr val="33413D"/>
                </a:solidFill>
                <a:latin typeface="Aptos"/>
              </a:rPr>
              <a:t>karar </a:t>
            </a:r>
            <a:r>
              <a:rPr sz="1150" b="0" i="0" dirty="0">
                <a:solidFill>
                  <a:srgbClr val="33413D"/>
                </a:solidFill>
                <a:latin typeface="Aptos"/>
              </a:rPr>
              <a:t>verir” </a:t>
            </a:r>
            <a:r>
              <a:rPr sz="1150" b="0" i="0" dirty="0" err="1">
                <a:solidFill>
                  <a:srgbClr val="33413D"/>
                </a:solidFill>
                <a:latin typeface="Aptos"/>
              </a:rPr>
              <a:t>temel ilkesinin </a:t>
            </a:r>
            <a:r>
              <a:rPr sz="1150" b="0" i="0" dirty="0" err="1">
                <a:solidFill>
                  <a:srgbClr val="33413D"/>
                </a:solidFill>
                <a:latin typeface="Aptos"/>
              </a:rPr>
              <a:t>tutarlı </a:t>
            </a:r>
            <a:r>
              <a:rPr sz="1150" b="0" i="0" dirty="0" err="1">
                <a:solidFill>
                  <a:srgbClr val="33413D"/>
                </a:solidFill>
                <a:latin typeface="Aptos"/>
              </a:rPr>
              <a:t>bir şekilde </a:t>
            </a:r>
            <a:r>
              <a:rPr sz="1150" b="0" i="0" dirty="0" err="1">
                <a:solidFill>
                  <a:srgbClr val="33413D"/>
                </a:solidFill>
                <a:latin typeface="Aptos"/>
              </a:rPr>
              <a:t>uygulanmasıdır</a:t>
            </a:r>
            <a:r>
              <a:rPr sz="1150" b="0" i="0" dirty="0">
                <a:solidFill>
                  <a:srgbClr val="33413D"/>
                </a:solidFill>
                <a:latin typeface="Aptos"/>
              </a:rPr>
              <a:t>. </a:t>
            </a:r>
            <a:r>
              <a:rPr sz="1150" b="0" i="0" dirty="0" err="1">
                <a:solidFill>
                  <a:srgbClr val="33413D"/>
                </a:solidFill>
                <a:latin typeface="Aptos"/>
              </a:rPr>
              <a:t>Üretim</a:t>
            </a:r>
            <a:r>
              <a:rPr sz="1150" b="0" i="0" dirty="0">
                <a:solidFill>
                  <a:srgbClr val="33413D"/>
                </a:solidFill>
                <a:latin typeface="Aptos"/>
              </a:rPr>
              <a:t> ortamında </a:t>
            </a:r>
            <a:r>
              <a:rPr sz="1150" b="0" i="0" dirty="0" err="1">
                <a:solidFill>
                  <a:srgbClr val="33413D"/>
                </a:solidFill>
                <a:latin typeface="Aptos"/>
              </a:rPr>
              <a:t>bu </a:t>
            </a:r>
            <a:r>
              <a:rPr sz="1150" b="0" i="0" dirty="0" err="1">
                <a:solidFill>
                  <a:srgbClr val="33413D"/>
                </a:solidFill>
                <a:latin typeface="Aptos"/>
              </a:rPr>
              <a:t>yürütme adımları </a:t>
            </a:r>
            <a:r>
              <a:rPr sz="1150" b="0" i="0" dirty="0" err="1">
                <a:solidFill>
                  <a:srgbClr val="33413D"/>
                </a:solidFill>
                <a:latin typeface="Aptos"/>
              </a:rPr>
              <a:t>hedefli </a:t>
            </a:r>
            <a:r>
              <a:rPr sz="1150" b="0" i="0" dirty="0">
                <a:solidFill>
                  <a:srgbClr val="33413D"/>
                </a:solidFill>
                <a:latin typeface="Aptos"/>
              </a:rPr>
              <a:t>ve </a:t>
            </a:r>
            <a:r>
              <a:rPr sz="1150" b="0" i="0" dirty="0" err="1">
                <a:solidFill>
                  <a:srgbClr val="33413D"/>
                </a:solidFill>
                <a:latin typeface="Aptos"/>
              </a:rPr>
              <a:t>kontrollü bir şekilde </a:t>
            </a:r>
            <a:r>
              <a:rPr sz="1150" b="0" i="0" dirty="0" err="1">
                <a:solidFill>
                  <a:srgbClr val="33413D"/>
                </a:solidFill>
                <a:latin typeface="Aptos"/>
              </a:rPr>
              <a:t>etkinleştirilir</a:t>
            </a:r>
            <a:r>
              <a:rPr sz="1150" b="0" i="0" dirty="0">
                <a:solidFill>
                  <a:srgbClr val="33413D"/>
                </a:solidFill>
                <a:latin typeface="Aptos"/>
              </a:rPr>
              <a:t>.</a:t>
            </a:r>
          </a:p>
        </p:txBody>
      </p:sp>
      <p:sp>
        <p:nvSpPr>
          <p:cNvPr id="12" name="Rounded Rectangle 11"/>
          <p:cNvSpPr/>
          <p:nvPr/>
        </p:nvSpPr>
        <p:spPr>
          <a:xfrm>
            <a:off x="640080" y="4663440"/>
            <a:ext cx="1417320" cy="292608"/>
          </a:xfrm>
          <a:prstGeom prst="roundRect">
            <a:avLst>
              <a:gd name="adj" fmla="val 50000"/>
            </a:avLst>
          </a:prstGeom>
          <a:solidFill>
            <a:srgbClr val="D3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681728"/>
            <a:ext cx="1417320" cy="256032"/>
          </a:xfrm>
          <a:prstGeom prst="rect">
            <a:avLst/>
          </a:prstGeom>
          <a:noFill/>
        </p:spPr>
        <p:txBody>
          <a:bodyPr wrap="square" lIns="0" tIns="0" rIns="0" bIns="0" anchor="ctr">
            <a:spAutoFit/>
          </a:bodyPr>
          <a:lstStyle/>
          <a:p>
            <a:pPr algn="ctr"/>
            <a:r>
              <a:rPr sz="950" b="1" i="0">
                <a:solidFill>
                  <a:srgbClr val="044F49"/>
                </a:solidFill>
                <a:latin typeface="Aptos"/>
              </a:rPr>
              <a:t>Canlı</a:t>
            </a:r>
          </a:p>
        </p:txBody>
      </p:sp>
      <p:sp>
        <p:nvSpPr>
          <p:cNvPr id="14" name="TextBox 13"/>
          <p:cNvSpPr txBox="1"/>
          <p:nvPr/>
        </p:nvSpPr>
        <p:spPr>
          <a:xfrm>
            <a:off x="2112264" y="4681728"/>
            <a:ext cx="1280160" cy="256032"/>
          </a:xfrm>
          <a:prstGeom prst="rect">
            <a:avLst/>
          </a:prstGeom>
          <a:noFill/>
        </p:spPr>
        <p:txBody>
          <a:bodyPr wrap="square" lIns="0" tIns="0" rIns="0" bIns="0" anchor="ctr">
            <a:spAutoFit/>
          </a:bodyPr>
          <a:lstStyle/>
          <a:p>
            <a:r>
              <a:rPr sz="850" b="0" i="0">
                <a:solidFill>
                  <a:srgbClr val="64716D"/>
                </a:solidFill>
                <a:latin typeface="Aptos"/>
              </a:rPr>
              <a:t>sürekli kullanılabilir</a:t>
            </a:r>
          </a:p>
        </p:txBody>
      </p:sp>
      <p:sp>
        <p:nvSpPr>
          <p:cNvPr id="15" name="Rounded Rectangle 14"/>
          <p:cNvSpPr/>
          <p:nvPr/>
        </p:nvSpPr>
        <p:spPr>
          <a:xfrm>
            <a:off x="3429000" y="4663440"/>
            <a:ext cx="1417320" cy="292608"/>
          </a:xfrm>
          <a:prstGeom prst="roundRect">
            <a:avLst>
              <a:gd name="adj" fmla="val 50000"/>
            </a:avLst>
          </a:prstGeom>
          <a:solidFill>
            <a:srgbClr val="DAE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29000" y="4681728"/>
            <a:ext cx="1417320" cy="256032"/>
          </a:xfrm>
          <a:prstGeom prst="rect">
            <a:avLst/>
          </a:prstGeom>
          <a:noFill/>
        </p:spPr>
        <p:txBody>
          <a:bodyPr wrap="square" lIns="0" tIns="0" rIns="0" bIns="0" anchor="ctr">
            <a:spAutoFit/>
          </a:bodyPr>
          <a:lstStyle/>
          <a:p>
            <a:pPr algn="ctr"/>
            <a:r>
              <a:rPr sz="950" b="1" i="0">
                <a:solidFill>
                  <a:srgbClr val="044F49"/>
                </a:solidFill>
                <a:latin typeface="Aptos"/>
              </a:rPr>
              <a:t>Mevcut</a:t>
            </a:r>
          </a:p>
        </p:txBody>
      </p:sp>
      <p:sp>
        <p:nvSpPr>
          <p:cNvPr id="17" name="TextBox 16"/>
          <p:cNvSpPr txBox="1"/>
          <p:nvPr/>
        </p:nvSpPr>
        <p:spPr>
          <a:xfrm>
            <a:off x="4901184" y="4681728"/>
            <a:ext cx="1280160" cy="256032"/>
          </a:xfrm>
          <a:prstGeom prst="rect">
            <a:avLst/>
          </a:prstGeom>
          <a:noFill/>
        </p:spPr>
        <p:txBody>
          <a:bodyPr wrap="square" lIns="0" tIns="0" rIns="0" bIns="0" anchor="ctr">
            <a:spAutoFit/>
          </a:bodyPr>
          <a:lstStyle/>
          <a:p>
            <a:r>
              <a:rPr sz="850" b="0" i="0">
                <a:solidFill>
                  <a:srgbClr val="64716D"/>
                </a:solidFill>
                <a:latin typeface="Aptos"/>
              </a:rPr>
              <a:t>tamamen kullanılabilir</a:t>
            </a:r>
          </a:p>
        </p:txBody>
      </p:sp>
      <p:sp>
        <p:nvSpPr>
          <p:cNvPr id="18" name="Rounded Rectangle 17"/>
          <p:cNvSpPr/>
          <p:nvPr/>
        </p:nvSpPr>
        <p:spPr>
          <a:xfrm>
            <a:off x="6217920" y="4663440"/>
            <a:ext cx="1417320" cy="292608"/>
          </a:xfrm>
          <a:prstGeom prst="roundRect">
            <a:avLst>
              <a:gd name="adj" fmla="val 50000"/>
            </a:avLst>
          </a:prstGeom>
          <a:solidFill>
            <a:srgbClr val="F4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0" y="4681728"/>
            <a:ext cx="1417320" cy="256032"/>
          </a:xfrm>
          <a:prstGeom prst="rect">
            <a:avLst/>
          </a:prstGeom>
          <a:noFill/>
        </p:spPr>
        <p:txBody>
          <a:bodyPr wrap="square" lIns="0" tIns="0" rIns="0" bIns="0" anchor="ctr">
            <a:spAutoFit/>
          </a:bodyPr>
          <a:lstStyle/>
          <a:p>
            <a:pPr algn="ctr"/>
            <a:r>
              <a:rPr sz="950" b="1" i="0">
                <a:solidFill>
                  <a:srgbClr val="7A5410"/>
                </a:solidFill>
                <a:latin typeface="Aptos"/>
              </a:rPr>
              <a:t>Kısmen</a:t>
            </a:r>
          </a:p>
        </p:txBody>
      </p:sp>
      <p:sp>
        <p:nvSpPr>
          <p:cNvPr id="20" name="TextBox 19"/>
          <p:cNvSpPr txBox="1"/>
          <p:nvPr/>
        </p:nvSpPr>
        <p:spPr>
          <a:xfrm>
            <a:off x="7690104" y="4681728"/>
            <a:ext cx="1280160" cy="256032"/>
          </a:xfrm>
          <a:prstGeom prst="rect">
            <a:avLst/>
          </a:prstGeom>
          <a:noFill/>
        </p:spPr>
        <p:txBody>
          <a:bodyPr wrap="square" lIns="0" tIns="0" rIns="0" bIns="0" anchor="ctr">
            <a:spAutoFit/>
          </a:bodyPr>
          <a:lstStyle/>
          <a:p>
            <a:r>
              <a:rPr sz="850" b="0" i="0">
                <a:solidFill>
                  <a:srgbClr val="64716D"/>
                </a:solidFill>
                <a:latin typeface="Aptos"/>
              </a:rPr>
              <a:t>Görünüm mevcut, tam sürüm yakında</a:t>
            </a:r>
          </a:p>
        </p:txBody>
      </p:sp>
      <p:sp>
        <p:nvSpPr>
          <p:cNvPr id="21" name="Rounded Rectangle 20"/>
          <p:cNvSpPr/>
          <p:nvPr/>
        </p:nvSpPr>
        <p:spPr>
          <a:xfrm>
            <a:off x="9006840" y="4663440"/>
            <a:ext cx="1417320" cy="292608"/>
          </a:xfrm>
          <a:prstGeom prst="roundRect">
            <a:avLst>
              <a:gd name="adj" fmla="val 50000"/>
            </a:avLst>
          </a:prstGeom>
          <a:solidFill>
            <a:srgbClr val="EA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006840" y="4681728"/>
            <a:ext cx="1417320" cy="256032"/>
          </a:xfrm>
          <a:prstGeom prst="rect">
            <a:avLst/>
          </a:prstGeom>
          <a:noFill/>
        </p:spPr>
        <p:txBody>
          <a:bodyPr wrap="square" lIns="0" tIns="0" rIns="0" bIns="0" anchor="ctr">
            <a:spAutoFit/>
          </a:bodyPr>
          <a:lstStyle/>
          <a:p>
            <a:pPr algn="ctr"/>
            <a:r>
              <a:rPr sz="950" b="1" i="0">
                <a:solidFill>
                  <a:srgbClr val="4B5652"/>
                </a:solidFill>
                <a:latin typeface="Aptos"/>
              </a:rPr>
              <a:t>Hazırlık aşamasında</a:t>
            </a:r>
          </a:p>
        </p:txBody>
      </p:sp>
      <p:sp>
        <p:nvSpPr>
          <p:cNvPr id="23" name="TextBox 22"/>
          <p:cNvSpPr txBox="1"/>
          <p:nvPr/>
        </p:nvSpPr>
        <p:spPr>
          <a:xfrm>
            <a:off x="10479024" y="4681728"/>
            <a:ext cx="1280160" cy="256032"/>
          </a:xfrm>
          <a:prstGeom prst="rect">
            <a:avLst/>
          </a:prstGeom>
          <a:noFill/>
        </p:spPr>
        <p:txBody>
          <a:bodyPr wrap="square" lIns="0" tIns="0" rIns="0" bIns="0" anchor="ctr">
            <a:spAutoFit/>
          </a:bodyPr>
          <a:lstStyle/>
          <a:p>
            <a:r>
              <a:rPr sz="850" b="0" i="0">
                <a:solidFill>
                  <a:srgbClr val="64716D"/>
                </a:solidFill>
                <a:latin typeface="Aptos"/>
              </a:rPr>
              <a:t>Bir sonraki geliştirme aşaması</a:t>
            </a:r>
          </a:p>
        </p:txBody>
      </p:sp>
      <p:sp>
        <p:nvSpPr>
          <p:cNvPr id="24" name="TextBox 2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Emlak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25" name="TextBox 2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24</a:t>
            </a:r>
          </a:p>
        </p:txBody>
      </p:sp>
      <p:pic>
        <p:nvPicPr>
          <p:cNvPr id="26" name="Picture 2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08</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Demo </a:t>
            </a:r>
            <a:r>
              <a:rPr lang="de-DE" sz="2700" b="1" i="0" dirty="0">
                <a:solidFill>
                  <a:srgbClr val="044F49"/>
                </a:solidFill>
                <a:latin typeface="Aptos"/>
              </a:rPr>
              <a:t>- </a:t>
            </a:r>
            <a:r>
              <a:rPr sz="2700" b="1" i="0" dirty="0">
                <a:solidFill>
                  <a:srgbClr val="044F49"/>
                </a:solidFill>
                <a:latin typeface="Aptos"/>
              </a:rPr>
              <a:t>Amaç ve </a:t>
            </a:r>
            <a:r>
              <a:rPr sz="2700" b="1" i="0" dirty="0" err="1">
                <a:solidFill>
                  <a:srgbClr val="044F49"/>
                </a:solidFill>
                <a:latin typeface="Aptos"/>
              </a:rPr>
              <a:t>Kapsam</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508760"/>
            <a:ext cx="10881360" cy="369332"/>
          </a:xfrm>
          <a:prstGeom prst="rect">
            <a:avLst/>
          </a:prstGeom>
          <a:noFill/>
        </p:spPr>
        <p:txBody>
          <a:bodyPr wrap="square" lIns="0" tIns="0" rIns="0" bIns="0" anchor="t">
            <a:spAutoFit/>
          </a:bodyPr>
          <a:lstStyle/>
          <a:p>
            <a:pPr>
              <a:spcAft>
                <a:spcPts val="600"/>
              </a:spcAft>
            </a:pPr>
            <a:r>
              <a:rPr sz="1200" i="0" dirty="0" err="1">
                <a:solidFill>
                  <a:srgbClr val="33413D"/>
                </a:solidFill>
                <a:latin typeface="Aptos"/>
              </a:rPr>
              <a:t>Mevcut</a:t>
            </a:r>
            <a:r>
              <a:rPr sz="1200" i="0" dirty="0">
                <a:solidFill>
                  <a:srgbClr val="33413D"/>
                </a:solidFill>
                <a:latin typeface="Aptos"/>
              </a:rPr>
              <a:t> </a:t>
            </a:r>
            <a:r>
              <a:rPr sz="1200" i="0" dirty="0">
                <a:solidFill>
                  <a:srgbClr val="33413D"/>
                </a:solidFill>
                <a:latin typeface="Aptos"/>
              </a:rPr>
              <a:t>durum, </a:t>
            </a:r>
            <a:r>
              <a:rPr sz="1200" i="0" dirty="0" err="1">
                <a:solidFill>
                  <a:srgbClr val="33413D"/>
                </a:solidFill>
                <a:latin typeface="Aptos"/>
              </a:rPr>
              <a:t>tamamen </a:t>
            </a:r>
            <a:r>
              <a:rPr sz="1200" i="0" dirty="0" err="1">
                <a:solidFill>
                  <a:srgbClr val="33413D"/>
                </a:solidFill>
                <a:latin typeface="Aptos"/>
              </a:rPr>
              <a:t>kullanıma hazır </a:t>
            </a:r>
            <a:r>
              <a:rPr sz="1200" i="0" dirty="0" err="1">
                <a:solidFill>
                  <a:srgbClr val="33413D"/>
                </a:solidFill>
                <a:latin typeface="Aptos"/>
              </a:rPr>
              <a:t>bir </a:t>
            </a:r>
            <a:r>
              <a:rPr sz="1200" i="0" dirty="0" err="1">
                <a:solidFill>
                  <a:srgbClr val="33413D"/>
                </a:solidFill>
                <a:latin typeface="Aptos"/>
              </a:rPr>
              <a:t>tanıtım </a:t>
            </a:r>
            <a:r>
              <a:rPr sz="1200" i="0" dirty="0" err="1">
                <a:solidFill>
                  <a:srgbClr val="33413D"/>
                </a:solidFill>
                <a:latin typeface="Aptos"/>
              </a:rPr>
              <a:t>ortamıdır </a:t>
            </a:r>
            <a:r>
              <a:rPr lang="de-DE" sz="1200" i="0" dirty="0">
                <a:solidFill>
                  <a:srgbClr val="33413D"/>
                </a:solidFill>
                <a:latin typeface="Aptos"/>
              </a:rPr>
              <a:t>– </a:t>
            </a:r>
            <a:r>
              <a:rPr sz="1200" i="0" dirty="0" err="1">
                <a:solidFill>
                  <a:srgbClr val="33413D"/>
                </a:solidFill>
                <a:latin typeface="Aptos"/>
              </a:rPr>
              <a:t>değerlendirmeniz</a:t>
            </a:r>
            <a:r>
              <a:rPr sz="1200" i="0" dirty="0">
                <a:solidFill>
                  <a:srgbClr val="33413D"/>
                </a:solidFill>
                <a:latin typeface="Aptos"/>
              </a:rPr>
              <a:t>, </a:t>
            </a:r>
            <a:r>
              <a:rPr sz="1200" i="0" dirty="0" err="1">
                <a:solidFill>
                  <a:srgbClr val="33413D"/>
                </a:solidFill>
                <a:latin typeface="Aptos"/>
              </a:rPr>
              <a:t>paydaş sunumlarınız </a:t>
            </a:r>
            <a:r>
              <a:rPr sz="1200" i="0" dirty="0">
                <a:solidFill>
                  <a:srgbClr val="33413D"/>
                </a:solidFill>
                <a:latin typeface="Aptos"/>
              </a:rPr>
              <a:t>ve </a:t>
            </a:r>
            <a:r>
              <a:rPr sz="1200" i="0" dirty="0">
                <a:solidFill>
                  <a:srgbClr val="33413D"/>
                </a:solidFill>
                <a:latin typeface="Aptos"/>
              </a:rPr>
              <a:t>ekibinizin </a:t>
            </a:r>
            <a:r>
              <a:rPr sz="1200" i="0" dirty="0" err="1">
                <a:solidFill>
                  <a:srgbClr val="33413D"/>
                </a:solidFill>
                <a:latin typeface="Aptos"/>
              </a:rPr>
              <a:t>ilk </a:t>
            </a:r>
            <a:r>
              <a:rPr sz="1200" i="0" dirty="0" err="1">
                <a:solidFill>
                  <a:srgbClr val="33413D"/>
                </a:solidFill>
                <a:latin typeface="Aptos"/>
              </a:rPr>
              <a:t>tepkileri </a:t>
            </a:r>
            <a:r>
              <a:rPr sz="1200" i="0" dirty="0">
                <a:solidFill>
                  <a:srgbClr val="33413D"/>
                </a:solidFill>
                <a:latin typeface="Aptos"/>
              </a:rPr>
              <a:t>için</a:t>
            </a:r>
            <a:r>
              <a:rPr sz="1200" i="0" dirty="0">
                <a:solidFill>
                  <a:srgbClr val="33413D"/>
                </a:solidFill>
                <a:latin typeface="Aptos"/>
              </a:rPr>
              <a:t>.</a:t>
            </a:r>
          </a:p>
        </p:txBody>
      </p:sp>
      <p:sp>
        <p:nvSpPr>
          <p:cNvPr id="10" name="Rounded Rectangle 9"/>
          <p:cNvSpPr/>
          <p:nvPr/>
        </p:nvSpPr>
        <p:spPr>
          <a:xfrm>
            <a:off x="640080" y="2148840"/>
            <a:ext cx="5257800" cy="3200400"/>
          </a:xfrm>
          <a:prstGeom prst="roundRect">
            <a:avLst>
              <a:gd name="adj" fmla="val 5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331720"/>
            <a:ext cx="4745736" cy="1946687"/>
          </a:xfrm>
          <a:prstGeom prst="rect">
            <a:avLst/>
          </a:prstGeom>
          <a:noFill/>
        </p:spPr>
        <p:txBody>
          <a:bodyPr wrap="square" lIns="0" tIns="0" rIns="0" bIns="0" anchor="t">
            <a:spAutoFit/>
          </a:bodyPr>
          <a:lstStyle/>
          <a:p>
            <a:r>
              <a:rPr sz="1350" b="1" i="0" dirty="0">
                <a:solidFill>
                  <a:srgbClr val="044F49"/>
                </a:solidFill>
                <a:latin typeface="Aptos"/>
              </a:rPr>
              <a:t>Demo'da neler </a:t>
            </a:r>
            <a:r>
              <a:rPr sz="1350" b="1" i="0" dirty="0" err="1">
                <a:solidFill>
                  <a:srgbClr val="044F49"/>
                </a:solidFill>
                <a:latin typeface="Aptos"/>
              </a:rPr>
              <a:t>gösteriliyor</a:t>
            </a:r>
            <a:endParaRPr sz="1350" b="1" i="0" dirty="0">
              <a:solidFill>
                <a:srgbClr val="044F49"/>
              </a:solidFill>
              <a:latin typeface="Aptos"/>
            </a:endParaRPr>
          </a:p>
          <a:p>
            <a:pPr>
              <a:spcBef>
                <a:spcPts val="600"/>
              </a:spcBef>
            </a:pPr>
            <a:r>
              <a:rPr sz="1100" b="0" i="0" dirty="0">
                <a:solidFill>
                  <a:srgbClr val="33413D"/>
                </a:solidFill>
                <a:latin typeface="Aptos"/>
              </a:rPr>
              <a:t>• </a:t>
            </a:r>
            <a:r>
              <a:rPr sz="1100" b="0" i="0" dirty="0" err="1">
                <a:solidFill>
                  <a:srgbClr val="33413D"/>
                </a:solidFill>
                <a:latin typeface="Aptos"/>
              </a:rPr>
              <a:t> Tüm</a:t>
            </a:r>
            <a:r>
              <a:rPr sz="1100" b="0" i="0" dirty="0">
                <a:solidFill>
                  <a:srgbClr val="33413D"/>
                </a:solidFill>
                <a:latin typeface="Aptos"/>
              </a:rPr>
              <a:t> </a:t>
            </a:r>
            <a:r>
              <a:rPr sz="1100" b="0" i="0" dirty="0" err="1">
                <a:solidFill>
                  <a:srgbClr val="33413D"/>
                </a:solidFill>
                <a:latin typeface="Aptos"/>
              </a:rPr>
              <a:t>işlevler </a:t>
            </a:r>
            <a:r>
              <a:rPr lang="de-DE" sz="1100" b="0" i="0" dirty="0">
                <a:solidFill>
                  <a:srgbClr val="33413D"/>
                </a:solidFill>
                <a:latin typeface="Aptos"/>
              </a:rPr>
              <a:t>- </a:t>
            </a:r>
            <a:r>
              <a:rPr sz="1100" b="0" i="0" dirty="0" err="1">
                <a:solidFill>
                  <a:srgbClr val="33413D"/>
                </a:solidFill>
                <a:latin typeface="Aptos"/>
              </a:rPr>
              <a:t>altı </a:t>
            </a:r>
            <a:r>
              <a:rPr sz="1100" b="0" i="0" dirty="0">
                <a:solidFill>
                  <a:srgbClr val="33413D"/>
                </a:solidFill>
                <a:latin typeface="Aptos"/>
              </a:rPr>
              <a:t>rolün</a:t>
            </a:r>
            <a:r>
              <a:rPr sz="1100" b="0" i="0" dirty="0">
                <a:solidFill>
                  <a:srgbClr val="33413D"/>
                </a:solidFill>
                <a:latin typeface="Aptos"/>
              </a:rPr>
              <a:t> </a:t>
            </a:r>
            <a:r>
              <a:rPr sz="1100" b="0" i="0" dirty="0" err="1">
                <a:solidFill>
                  <a:srgbClr val="33413D"/>
                </a:solidFill>
                <a:latin typeface="Aptos"/>
              </a:rPr>
              <a:t>tamamında </a:t>
            </a:r>
            <a:r>
              <a:rPr sz="1100" b="0" i="0" dirty="0">
                <a:solidFill>
                  <a:srgbClr val="33413D"/>
                </a:solidFill>
                <a:latin typeface="Aptos"/>
              </a:rPr>
              <a:t>ve dört dilde </a:t>
            </a:r>
            <a:r>
              <a:rPr sz="1100" b="0" i="0" dirty="0" err="1">
                <a:solidFill>
                  <a:srgbClr val="33413D"/>
                </a:solidFill>
                <a:latin typeface="Aptos"/>
              </a:rPr>
              <a:t>tıklanarak incelenebilir</a:t>
            </a:r>
            <a:r>
              <a:rPr sz="1100" b="0" i="0" dirty="0">
                <a:solidFill>
                  <a:srgbClr val="33413D"/>
                </a:solidFill>
                <a:latin typeface="Aptos"/>
              </a:rPr>
              <a:t>.</a:t>
            </a:r>
          </a:p>
          <a:p>
            <a:pPr>
              <a:spcBef>
                <a:spcPts val="600"/>
              </a:spcBef>
            </a:pPr>
            <a:r>
              <a:rPr sz="1100" b="0" i="0" dirty="0">
                <a:solidFill>
                  <a:srgbClr val="33413D"/>
                </a:solidFill>
                <a:latin typeface="Aptos"/>
              </a:rPr>
              <a:t>• </a:t>
            </a:r>
            <a:r>
              <a:rPr sz="1100" b="0" i="0" dirty="0" err="1">
                <a:solidFill>
                  <a:srgbClr val="33413D"/>
                </a:solidFill>
                <a:latin typeface="Aptos"/>
              </a:rPr>
              <a:t> Gerçek</a:t>
            </a:r>
            <a:r>
              <a:rPr sz="1100" b="0" i="0" dirty="0">
                <a:solidFill>
                  <a:srgbClr val="33413D"/>
                </a:solidFill>
                <a:latin typeface="Aptos"/>
              </a:rPr>
              <a:t> 769 birimlik portföyü</a:t>
            </a:r>
            <a:r>
              <a:rPr sz="1100" b="0" i="0" dirty="0">
                <a:solidFill>
                  <a:srgbClr val="33413D"/>
                </a:solidFill>
                <a:latin typeface="Aptos"/>
              </a:rPr>
              <a:t> temel alan </a:t>
            </a:r>
            <a:r>
              <a:rPr sz="1100" b="0" i="0" dirty="0" err="1">
                <a:solidFill>
                  <a:srgbClr val="33413D"/>
                </a:solidFill>
                <a:latin typeface="Aptos"/>
              </a:rPr>
              <a:t>gerçekçi </a:t>
            </a:r>
            <a:r>
              <a:rPr sz="1100" b="0" i="0" dirty="0" err="1">
                <a:solidFill>
                  <a:srgbClr val="33413D"/>
                </a:solidFill>
                <a:latin typeface="Aptos"/>
              </a:rPr>
              <a:t>örnek veriler </a:t>
            </a:r>
            <a:r>
              <a:rPr sz="1100" b="0" i="0" dirty="0">
                <a:solidFill>
                  <a:srgbClr val="33413D"/>
                </a:solidFill>
                <a:latin typeface="Aptos"/>
              </a:rPr>
              <a:t>(</a:t>
            </a:r>
            <a:r>
              <a:rPr sz="1100" b="0" i="0" dirty="0" err="1">
                <a:solidFill>
                  <a:srgbClr val="33413D"/>
                </a:solidFill>
                <a:latin typeface="Aptos"/>
              </a:rPr>
              <a:t>fiyat listesi</a:t>
            </a:r>
            <a:r>
              <a:rPr sz="1100" b="0" i="0" dirty="0">
                <a:solidFill>
                  <a:srgbClr val="33413D"/>
                </a:solidFill>
                <a:latin typeface="Aptos"/>
              </a:rPr>
              <a:t>, </a:t>
            </a:r>
            <a:r>
              <a:rPr sz="1100" b="0" i="0" dirty="0" err="1">
                <a:solidFill>
                  <a:srgbClr val="33413D"/>
                </a:solidFill>
                <a:latin typeface="Aptos"/>
              </a:rPr>
              <a:t>blok yapısı</a:t>
            </a:r>
            <a:r>
              <a:rPr sz="1100" b="0" i="0" dirty="0">
                <a:solidFill>
                  <a:srgbClr val="33413D"/>
                </a:solidFill>
                <a:latin typeface="Aptos"/>
              </a:rPr>
              <a:t>).</a:t>
            </a:r>
          </a:p>
          <a:p>
            <a:pPr>
              <a:spcBef>
                <a:spcPts val="600"/>
              </a:spcBef>
            </a:pPr>
            <a:r>
              <a:rPr sz="1100" b="0" i="0" dirty="0">
                <a:solidFill>
                  <a:srgbClr val="33413D"/>
                </a:solidFill>
                <a:latin typeface="Aptos"/>
              </a:rPr>
              <a:t>• </a:t>
            </a:r>
            <a:r>
              <a:rPr sz="1100" b="0" i="0" dirty="0" err="1">
                <a:solidFill>
                  <a:srgbClr val="33413D"/>
                </a:solidFill>
                <a:latin typeface="Aptos"/>
              </a:rPr>
              <a:t> Kayıt</a:t>
            </a:r>
            <a:r>
              <a:rPr sz="1100" b="0" i="0" dirty="0">
                <a:solidFill>
                  <a:srgbClr val="33413D"/>
                </a:solidFill>
                <a:latin typeface="Aptos"/>
              </a:rPr>
              <a:t>, </a:t>
            </a:r>
            <a:r>
              <a:rPr sz="1100" b="0" i="0" dirty="0" err="1">
                <a:solidFill>
                  <a:srgbClr val="33413D"/>
                </a:solidFill>
                <a:latin typeface="Aptos"/>
              </a:rPr>
              <a:t>bildirim kanalı </a:t>
            </a:r>
            <a:r>
              <a:rPr sz="1100" b="0" i="0" dirty="0">
                <a:solidFill>
                  <a:srgbClr val="33413D"/>
                </a:solidFill>
                <a:latin typeface="Aptos"/>
              </a:rPr>
              <a:t>ve QR posteri </a:t>
            </a:r>
            <a:r>
              <a:rPr sz="1100" b="0" i="0" dirty="0" err="1">
                <a:solidFill>
                  <a:srgbClr val="33413D"/>
                </a:solidFill>
                <a:latin typeface="Aptos"/>
              </a:rPr>
              <a:t>içeren </a:t>
            </a:r>
            <a:r>
              <a:rPr sz="1100" b="0" i="0" dirty="0" err="1">
                <a:solidFill>
                  <a:srgbClr val="33413D"/>
                </a:solidFill>
                <a:latin typeface="Aptos"/>
              </a:rPr>
              <a:t>halka açık</a:t>
            </a:r>
            <a:r>
              <a:rPr sz="1100" b="0" i="0" dirty="0">
                <a:solidFill>
                  <a:srgbClr val="33413D"/>
                </a:solidFill>
                <a:latin typeface="Aptos"/>
              </a:rPr>
              <a:t> </a:t>
            </a:r>
            <a:r>
              <a:rPr sz="1100" b="0" i="0" dirty="0" err="1">
                <a:solidFill>
                  <a:srgbClr val="33413D"/>
                </a:solidFill>
                <a:latin typeface="Aptos"/>
              </a:rPr>
              <a:t>alan </a:t>
            </a:r>
            <a:r>
              <a:rPr lang="de-DE" sz="1100" b="0" i="0" dirty="0">
                <a:solidFill>
                  <a:srgbClr val="33413D"/>
                </a:solidFill>
                <a:latin typeface="Aptos"/>
              </a:rPr>
              <a:t>– </a:t>
            </a:r>
            <a:r>
              <a:rPr sz="1100" b="0" i="0" dirty="0">
                <a:solidFill>
                  <a:srgbClr val="33413D"/>
                </a:solidFill>
                <a:latin typeface="Aptos"/>
              </a:rPr>
              <a:t>oturum açmaya </a:t>
            </a:r>
            <a:r>
              <a:rPr sz="1100" b="0" i="0" dirty="0" err="1">
                <a:solidFill>
                  <a:srgbClr val="33413D"/>
                </a:solidFill>
                <a:latin typeface="Aptos"/>
              </a:rPr>
              <a:t>gerek yok</a:t>
            </a:r>
            <a:r>
              <a:rPr sz="1100" b="0" i="0" dirty="0">
                <a:solidFill>
                  <a:srgbClr val="33413D"/>
                </a:solidFill>
                <a:latin typeface="Aptos"/>
              </a:rPr>
              <a:t>.</a:t>
            </a:r>
          </a:p>
          <a:p>
            <a:pPr>
              <a:spcBef>
                <a:spcPts val="600"/>
              </a:spcBef>
            </a:pPr>
            <a:r>
              <a:rPr sz="1100" b="0" i="0" dirty="0">
                <a:solidFill>
                  <a:srgbClr val="33413D"/>
                </a:solidFill>
                <a:latin typeface="Aptos"/>
              </a:rPr>
              <a:t>• </a:t>
            </a:r>
            <a:r>
              <a:rPr sz="1100" b="0" i="0" dirty="0" err="1">
                <a:solidFill>
                  <a:srgbClr val="33413D"/>
                </a:solidFill>
                <a:latin typeface="Aptos"/>
              </a:rPr>
              <a:t> Her iki </a:t>
            </a:r>
            <a:r>
              <a:rPr sz="1100" b="0" i="0" dirty="0" err="1">
                <a:solidFill>
                  <a:srgbClr val="33413D"/>
                </a:solidFill>
                <a:latin typeface="Aptos"/>
              </a:rPr>
              <a:t>AI asistanı </a:t>
            </a:r>
            <a:r>
              <a:rPr sz="1100" b="0" i="0" dirty="0" err="1">
                <a:solidFill>
                  <a:srgbClr val="33413D"/>
                </a:solidFill>
                <a:latin typeface="Aptos"/>
              </a:rPr>
              <a:t>da </a:t>
            </a:r>
            <a:r>
              <a:rPr sz="1100" b="0" i="0" dirty="0">
                <a:solidFill>
                  <a:srgbClr val="33413D"/>
                </a:solidFill>
                <a:latin typeface="Aptos"/>
              </a:rPr>
              <a:t>çalışır durumda.</a:t>
            </a:r>
          </a:p>
          <a:p>
            <a:pPr>
              <a:spcBef>
                <a:spcPts val="600"/>
              </a:spcBef>
            </a:pPr>
            <a:r>
              <a:rPr sz="1100" b="0" i="0" dirty="0">
                <a:solidFill>
                  <a:srgbClr val="33413D"/>
                </a:solidFill>
                <a:latin typeface="Aptos"/>
              </a:rPr>
              <a:t>• </a:t>
            </a:r>
            <a:r>
              <a:rPr sz="1100" b="0" i="0" dirty="0" err="1">
                <a:solidFill>
                  <a:srgbClr val="33413D"/>
                </a:solidFill>
                <a:latin typeface="Aptos"/>
              </a:rPr>
              <a:t> Hızlı </a:t>
            </a:r>
            <a:r>
              <a:rPr sz="1100" b="0" i="0" dirty="0" err="1">
                <a:solidFill>
                  <a:srgbClr val="33413D"/>
                </a:solidFill>
                <a:latin typeface="Aptos"/>
              </a:rPr>
              <a:t>tanıtımlar </a:t>
            </a:r>
            <a:r>
              <a:rPr sz="1100" b="0" i="0" dirty="0">
                <a:solidFill>
                  <a:srgbClr val="33413D"/>
                </a:solidFill>
                <a:latin typeface="Aptos"/>
              </a:rPr>
              <a:t>için </a:t>
            </a:r>
            <a:r>
              <a:rPr sz="1100" b="0" i="0" dirty="0" err="1">
                <a:solidFill>
                  <a:srgbClr val="33413D"/>
                </a:solidFill>
                <a:latin typeface="Aptos"/>
              </a:rPr>
              <a:t>şifresiz, </a:t>
            </a:r>
            <a:r>
              <a:rPr sz="1100" b="0" i="0" dirty="0" err="1">
                <a:solidFill>
                  <a:srgbClr val="33413D"/>
                </a:solidFill>
                <a:latin typeface="Aptos"/>
              </a:rPr>
              <a:t>tek tıklamayla </a:t>
            </a:r>
            <a:r>
              <a:rPr sz="1100" b="0" i="0" dirty="0" err="1">
                <a:solidFill>
                  <a:srgbClr val="33413D"/>
                </a:solidFill>
                <a:latin typeface="Aptos"/>
              </a:rPr>
              <a:t>erişim</a:t>
            </a:r>
            <a:r>
              <a:rPr sz="1100" b="0" i="0" dirty="0">
                <a:solidFill>
                  <a:srgbClr val="33413D"/>
                </a:solidFill>
                <a:latin typeface="Aptos"/>
              </a:rPr>
              <a:t>.</a:t>
            </a:r>
          </a:p>
        </p:txBody>
      </p:sp>
      <p:sp>
        <p:nvSpPr>
          <p:cNvPr id="12" name="Rounded Rectangle 11"/>
          <p:cNvSpPr/>
          <p:nvPr/>
        </p:nvSpPr>
        <p:spPr>
          <a:xfrm>
            <a:off x="6263640" y="2148840"/>
            <a:ext cx="5257800" cy="3200400"/>
          </a:xfrm>
          <a:prstGeom prst="roundRect">
            <a:avLst>
              <a:gd name="adj" fmla="val 5000"/>
            </a:avLst>
          </a:prstGeom>
          <a:solidFill>
            <a:srgbClr val="FBF4EA"/>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19672" y="2331720"/>
            <a:ext cx="4745736" cy="1608133"/>
          </a:xfrm>
          <a:prstGeom prst="rect">
            <a:avLst/>
          </a:prstGeom>
          <a:noFill/>
        </p:spPr>
        <p:txBody>
          <a:bodyPr wrap="square" lIns="0" tIns="0" rIns="0" bIns="0" anchor="t">
            <a:spAutoFit/>
          </a:bodyPr>
          <a:lstStyle/>
          <a:p>
            <a:r>
              <a:rPr sz="1350" b="1" i="0" dirty="0">
                <a:solidFill>
                  <a:srgbClr val="7A5410"/>
                </a:solidFill>
                <a:latin typeface="Aptos"/>
              </a:rPr>
              <a:t>Gösterinin </a:t>
            </a:r>
            <a:r>
              <a:rPr sz="1350" b="1" i="0" dirty="0" err="1">
                <a:solidFill>
                  <a:srgbClr val="7A5410"/>
                </a:solidFill>
                <a:latin typeface="Aptos"/>
              </a:rPr>
              <a:t>şu anda </a:t>
            </a:r>
            <a:r>
              <a:rPr sz="1350" b="1" i="0" dirty="0" err="1">
                <a:solidFill>
                  <a:srgbClr val="7A5410"/>
                </a:solidFill>
                <a:latin typeface="Aptos"/>
              </a:rPr>
              <a:t>kasıtlı olarak </a:t>
            </a:r>
            <a:r>
              <a:rPr sz="1350" b="1" i="0" dirty="0">
                <a:solidFill>
                  <a:srgbClr val="7A5410"/>
                </a:solidFill>
                <a:latin typeface="Aptos"/>
              </a:rPr>
              <a:t>yapmadığı </a:t>
            </a:r>
            <a:r>
              <a:rPr sz="1350" b="1" i="0" dirty="0">
                <a:solidFill>
                  <a:srgbClr val="7A5410"/>
                </a:solidFill>
                <a:latin typeface="Aptos"/>
              </a:rPr>
              <a:t>şey</a:t>
            </a:r>
          </a:p>
          <a:p>
            <a:pPr>
              <a:spcBef>
                <a:spcPts val="600"/>
              </a:spcBef>
            </a:pPr>
            <a:r>
              <a:rPr sz="1100" b="0" i="0" dirty="0" err="1">
                <a:solidFill>
                  <a:srgbClr val="33413D"/>
                </a:solidFill>
                <a:latin typeface="Aptos"/>
              </a:rPr>
              <a:t>• </a:t>
            </a:r>
            <a:r>
              <a:rPr sz="1100" b="0" i="0" dirty="0" err="1">
                <a:solidFill>
                  <a:srgbClr val="33413D"/>
                </a:solidFill>
                <a:latin typeface="Aptos"/>
              </a:rPr>
              <a:t> Gerçek </a:t>
            </a:r>
            <a:r>
              <a:rPr sz="1100" b="0" i="0" dirty="0" err="1">
                <a:solidFill>
                  <a:srgbClr val="33413D"/>
                </a:solidFill>
                <a:latin typeface="Aptos"/>
              </a:rPr>
              <a:t>ödemeler </a:t>
            </a:r>
            <a:r>
              <a:rPr sz="1100" b="0" i="0" dirty="0" err="1">
                <a:solidFill>
                  <a:srgbClr val="33413D"/>
                </a:solidFill>
                <a:latin typeface="Aptos"/>
              </a:rPr>
              <a:t>kaydedilmiyor </a:t>
            </a:r>
            <a:r>
              <a:rPr sz="1100" b="0" i="0" dirty="0">
                <a:solidFill>
                  <a:srgbClr val="33413D"/>
                </a:solidFill>
                <a:latin typeface="Aptos"/>
              </a:rPr>
              <a:t>ve </a:t>
            </a:r>
            <a:r>
              <a:rPr sz="1100" b="0" i="0" dirty="0" err="1">
                <a:solidFill>
                  <a:srgbClr val="33413D"/>
                </a:solidFill>
                <a:latin typeface="Aptos"/>
              </a:rPr>
              <a:t>hesaplardan </a:t>
            </a:r>
            <a:r>
              <a:rPr sz="1100" b="0" i="0" dirty="0" err="1">
                <a:solidFill>
                  <a:srgbClr val="33413D"/>
                </a:solidFill>
                <a:latin typeface="Aptos"/>
              </a:rPr>
              <a:t>para çekilmiyor</a:t>
            </a:r>
            <a:r>
              <a:rPr sz="1100" b="0" i="0" dirty="0">
                <a:solidFill>
                  <a:srgbClr val="33413D"/>
                </a:solidFill>
                <a:latin typeface="Aptos"/>
              </a:rPr>
              <a:t>.</a:t>
            </a:r>
          </a:p>
          <a:p>
            <a:pPr>
              <a:spcBef>
                <a:spcPts val="600"/>
              </a:spcBef>
            </a:pPr>
            <a:r>
              <a:rPr sz="1100" b="0" i="0" dirty="0">
                <a:solidFill>
                  <a:srgbClr val="33413D"/>
                </a:solidFill>
                <a:latin typeface="Aptos"/>
              </a:rPr>
              <a:t>• </a:t>
            </a:r>
            <a:r>
              <a:rPr sz="1100" b="0" i="0" dirty="0" err="1">
                <a:solidFill>
                  <a:srgbClr val="33413D"/>
                </a:solidFill>
                <a:latin typeface="Aptos"/>
              </a:rPr>
              <a:t> Hiçbir </a:t>
            </a:r>
            <a:r>
              <a:rPr sz="1100" b="0" i="0" dirty="0" err="1">
                <a:solidFill>
                  <a:srgbClr val="33413D"/>
                </a:solidFill>
                <a:latin typeface="Aptos"/>
              </a:rPr>
              <a:t>erişim </a:t>
            </a:r>
            <a:r>
              <a:rPr sz="1100" b="0" i="0" dirty="0">
                <a:solidFill>
                  <a:srgbClr val="33413D"/>
                </a:solidFill>
                <a:latin typeface="Aptos"/>
              </a:rPr>
              <a:t>gerçek anlamda </a:t>
            </a:r>
            <a:r>
              <a:rPr sz="1100" b="0" i="0" dirty="0" err="1">
                <a:solidFill>
                  <a:srgbClr val="33413D"/>
                </a:solidFill>
                <a:latin typeface="Aptos"/>
              </a:rPr>
              <a:t>engellenmiyor </a:t>
            </a:r>
            <a:r>
              <a:rPr sz="1100" b="0" i="0" dirty="0" err="1">
                <a:solidFill>
                  <a:srgbClr val="33413D"/>
                </a:solidFill>
                <a:latin typeface="Aptos"/>
              </a:rPr>
              <a:t>veya </a:t>
            </a:r>
            <a:r>
              <a:rPr sz="1100" b="0" i="0" dirty="0" err="1">
                <a:solidFill>
                  <a:srgbClr val="33413D"/>
                </a:solidFill>
                <a:latin typeface="Aptos"/>
              </a:rPr>
              <a:t>serbest bırakılmıyor</a:t>
            </a:r>
            <a:r>
              <a:rPr sz="1100" b="0" i="0" dirty="0">
                <a:solidFill>
                  <a:srgbClr val="33413D"/>
                </a:solidFill>
                <a:latin typeface="Aptos"/>
              </a:rPr>
              <a:t>.</a:t>
            </a:r>
          </a:p>
          <a:p>
            <a:pPr>
              <a:spcBef>
                <a:spcPts val="600"/>
              </a:spcBef>
            </a:pPr>
            <a:r>
              <a:rPr sz="1100" b="0" i="0" dirty="0">
                <a:solidFill>
                  <a:srgbClr val="33413D"/>
                </a:solidFill>
                <a:latin typeface="Aptos"/>
              </a:rPr>
              <a:t>• </a:t>
            </a:r>
            <a:r>
              <a:rPr sz="1100" b="0" i="0" dirty="0">
                <a:solidFill>
                  <a:srgbClr val="33413D"/>
                </a:solidFill>
                <a:latin typeface="Aptos"/>
              </a:rPr>
              <a:t> Müşterilere </a:t>
            </a:r>
            <a:r>
              <a:rPr sz="1100" b="0" i="0" dirty="0" err="1">
                <a:solidFill>
                  <a:srgbClr val="33413D"/>
                </a:solidFill>
                <a:latin typeface="Aptos"/>
              </a:rPr>
              <a:t>gerçek anlamda </a:t>
            </a:r>
            <a:r>
              <a:rPr sz="1100" b="0" i="0" dirty="0" err="1">
                <a:solidFill>
                  <a:srgbClr val="33413D"/>
                </a:solidFill>
                <a:latin typeface="Aptos"/>
              </a:rPr>
              <a:t>herhangi bir </a:t>
            </a:r>
            <a:r>
              <a:rPr sz="1100" b="0" i="0" dirty="0" err="1">
                <a:solidFill>
                  <a:srgbClr val="33413D"/>
                </a:solidFill>
                <a:latin typeface="Aptos"/>
              </a:rPr>
              <a:t>mesaj </a:t>
            </a:r>
            <a:r>
              <a:rPr sz="1100" b="0" i="0" dirty="0" err="1">
                <a:solidFill>
                  <a:srgbClr val="33413D"/>
                </a:solidFill>
                <a:latin typeface="Aptos"/>
              </a:rPr>
              <a:t>gönderilmez</a:t>
            </a:r>
            <a:r>
              <a:rPr sz="1100" b="0" i="0" dirty="0">
                <a:solidFill>
                  <a:srgbClr val="33413D"/>
                </a:solidFill>
                <a:latin typeface="Aptos"/>
              </a:rPr>
              <a:t>.</a:t>
            </a:r>
          </a:p>
          <a:p>
            <a:pPr>
              <a:spcBef>
                <a:spcPts val="600"/>
              </a:spcBef>
            </a:pPr>
            <a:r>
              <a:rPr sz="1100" b="0" i="0" dirty="0">
                <a:solidFill>
                  <a:srgbClr val="33413D"/>
                </a:solidFill>
                <a:latin typeface="Aptos"/>
              </a:rPr>
              <a:t>• </a:t>
            </a:r>
            <a:r>
              <a:rPr sz="1100" b="0" i="0" dirty="0" err="1">
                <a:solidFill>
                  <a:srgbClr val="33413D"/>
                </a:solidFill>
                <a:latin typeface="Aptos"/>
              </a:rPr>
              <a:t> Yetkili makam</a:t>
            </a:r>
            <a:r>
              <a:rPr sz="1100" b="0" i="0" dirty="0">
                <a:solidFill>
                  <a:srgbClr val="33413D"/>
                </a:solidFill>
                <a:latin typeface="Aptos"/>
              </a:rPr>
              <a:t>lara </a:t>
            </a:r>
            <a:r>
              <a:rPr sz="1100" b="0" i="0" dirty="0" err="1">
                <a:solidFill>
                  <a:srgbClr val="33413D"/>
                </a:solidFill>
                <a:latin typeface="Aptos"/>
              </a:rPr>
              <a:t>herhangi bir </a:t>
            </a:r>
            <a:r>
              <a:rPr sz="1100" b="0" i="0" dirty="0" err="1">
                <a:solidFill>
                  <a:srgbClr val="33413D"/>
                </a:solidFill>
                <a:latin typeface="Aptos"/>
              </a:rPr>
              <a:t>bildirimde </a:t>
            </a:r>
            <a:r>
              <a:rPr sz="1100" b="0" i="0" dirty="0" err="1">
                <a:solidFill>
                  <a:srgbClr val="33413D"/>
                </a:solidFill>
                <a:latin typeface="Aptos"/>
              </a:rPr>
              <a:t>bulunul</a:t>
            </a:r>
            <a:r>
              <a:rPr sz="1100" b="0" i="0" dirty="0" err="1">
                <a:solidFill>
                  <a:srgbClr val="33413D"/>
                </a:solidFill>
                <a:latin typeface="Aptos"/>
              </a:rPr>
              <a:t>maz</a:t>
            </a:r>
            <a:r>
              <a:rPr sz="1100" b="0" i="0" dirty="0">
                <a:solidFill>
                  <a:srgbClr val="33413D"/>
                </a:solidFill>
                <a:latin typeface="Aptos"/>
              </a:rPr>
              <a:t>.</a:t>
            </a:r>
          </a:p>
          <a:p>
            <a:pPr>
              <a:spcBef>
                <a:spcPts val="600"/>
              </a:spcBef>
            </a:pPr>
            <a:r>
              <a:rPr sz="1100" b="0" i="0" dirty="0">
                <a:solidFill>
                  <a:srgbClr val="33413D"/>
                </a:solidFill>
                <a:latin typeface="Aptos"/>
              </a:rPr>
              <a:t>•  Yapay zeka </a:t>
            </a:r>
            <a:r>
              <a:rPr sz="1100" b="0" i="0" dirty="0" err="1">
                <a:solidFill>
                  <a:srgbClr val="33413D"/>
                </a:solidFill>
                <a:latin typeface="Aptos"/>
              </a:rPr>
              <a:t>özerk </a:t>
            </a:r>
            <a:r>
              <a:rPr sz="1100" b="0" i="0" dirty="0" err="1">
                <a:solidFill>
                  <a:srgbClr val="33413D"/>
                </a:solidFill>
                <a:latin typeface="Aptos"/>
              </a:rPr>
              <a:t>kararlar </a:t>
            </a:r>
            <a:r>
              <a:rPr sz="1100" b="0" i="0" dirty="0" err="1">
                <a:solidFill>
                  <a:srgbClr val="33413D"/>
                </a:solidFill>
                <a:latin typeface="Aptos"/>
              </a:rPr>
              <a:t>almaz</a:t>
            </a:r>
            <a:r>
              <a:rPr lang="de-DE" sz="1100" b="0" i="0" dirty="0">
                <a:solidFill>
                  <a:srgbClr val="33413D"/>
                </a:solidFill>
                <a:latin typeface="Aptos"/>
              </a:rPr>
              <a:t>; </a:t>
            </a:r>
            <a:r>
              <a:rPr sz="1100" b="0" i="0" dirty="0" err="1">
                <a:solidFill>
                  <a:srgbClr val="33413D"/>
                </a:solidFill>
                <a:latin typeface="Aptos"/>
              </a:rPr>
              <a:t>sadece </a:t>
            </a:r>
            <a:r>
              <a:rPr sz="1100" b="0" i="0" dirty="0" err="1">
                <a:solidFill>
                  <a:srgbClr val="33413D"/>
                </a:solidFill>
                <a:latin typeface="Aptos"/>
              </a:rPr>
              <a:t>öneride bulunur </a:t>
            </a:r>
            <a:r>
              <a:rPr sz="1100" b="0" i="0" dirty="0">
                <a:solidFill>
                  <a:srgbClr val="33413D"/>
                </a:solidFill>
                <a:latin typeface="Aptos"/>
              </a:rPr>
              <a:t>ve </a:t>
            </a:r>
            <a:r>
              <a:rPr sz="1100" b="0" i="0" dirty="0" err="1">
                <a:solidFill>
                  <a:srgbClr val="33413D"/>
                </a:solidFill>
                <a:latin typeface="Aptos"/>
              </a:rPr>
              <a:t>onay </a:t>
            </a:r>
            <a:r>
              <a:rPr sz="1100" b="0" i="0" dirty="0" err="1">
                <a:solidFill>
                  <a:srgbClr val="33413D"/>
                </a:solidFill>
                <a:latin typeface="Aptos"/>
              </a:rPr>
              <a:t>için </a:t>
            </a:r>
            <a:r>
              <a:rPr sz="1100" b="0" i="0" dirty="0" err="1">
                <a:solidFill>
                  <a:srgbClr val="33413D"/>
                </a:solidFill>
                <a:latin typeface="Aptos"/>
              </a:rPr>
              <a:t>sunar</a:t>
            </a:r>
            <a:r>
              <a:rPr sz="1100" b="0" i="0" dirty="0">
                <a:solidFill>
                  <a:srgbClr val="33413D"/>
                </a:solidFill>
                <a:latin typeface="Aptos"/>
              </a:rPr>
              <a:t>.</a:t>
            </a:r>
          </a:p>
        </p:txBody>
      </p:sp>
      <p:sp>
        <p:nvSpPr>
          <p:cNvPr id="14" name="TextBox 1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adına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5" name="TextBox 1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25</a:t>
            </a:r>
          </a:p>
        </p:txBody>
      </p:sp>
      <p:pic>
        <p:nvPicPr>
          <p:cNvPr id="16" name="Picture 1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08 · SUNUM</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Her sunum için önemli</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2011680"/>
            <a:ext cx="10881360" cy="219456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011680"/>
            <a:ext cx="54864" cy="219456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47322"/>
            <a:ext cx="10469880" cy="723275"/>
          </a:xfrm>
          <a:prstGeom prst="rect">
            <a:avLst/>
          </a:prstGeom>
          <a:noFill/>
        </p:spPr>
        <p:txBody>
          <a:bodyPr wrap="square" lIns="0" tIns="0" rIns="0" bIns="0" anchor="ctr">
            <a:spAutoFit/>
          </a:bodyPr>
          <a:lstStyle/>
          <a:p>
            <a:r>
              <a:rPr sz="1250" b="1" i="0" dirty="0" err="1">
                <a:solidFill>
                  <a:srgbClr val="044F49"/>
                </a:solidFill>
                <a:latin typeface="Aptos"/>
              </a:rPr>
              <a:t>Görsel</a:t>
            </a:r>
            <a:r>
              <a:rPr sz="1250" b="1" i="0" dirty="0">
                <a:solidFill>
                  <a:srgbClr val="044F49"/>
                </a:solidFill>
                <a:latin typeface="Aptos"/>
              </a:rPr>
              <a:t> </a:t>
            </a:r>
            <a:r>
              <a:rPr sz="1250" b="1" i="0" dirty="0">
                <a:solidFill>
                  <a:srgbClr val="044F49"/>
                </a:solidFill>
                <a:latin typeface="Aptos"/>
              </a:rPr>
              <a:t>etki </a:t>
            </a:r>
            <a:r>
              <a:rPr sz="1250" b="1" i="0" dirty="0" err="1">
                <a:solidFill>
                  <a:srgbClr val="044F49"/>
                </a:solidFill>
                <a:latin typeface="Aptos"/>
              </a:rPr>
              <a:t>her yerde </a:t>
            </a:r>
            <a:r>
              <a:rPr sz="1250" b="1" i="0" dirty="0" err="1">
                <a:solidFill>
                  <a:srgbClr val="044F49"/>
                </a:solidFill>
                <a:latin typeface="Aptos"/>
              </a:rPr>
              <a:t>aynı derecede </a:t>
            </a:r>
            <a:r>
              <a:rPr sz="1250" b="1" i="0" dirty="0">
                <a:solidFill>
                  <a:srgbClr val="044F49"/>
                </a:solidFill>
                <a:latin typeface="Aptos"/>
              </a:rPr>
              <a:t>güçlüdür </a:t>
            </a:r>
            <a:r>
              <a:rPr lang="de-DE" sz="1250" b="1" i="0" dirty="0">
                <a:solidFill>
                  <a:srgbClr val="044F49"/>
                </a:solidFill>
                <a:latin typeface="Aptos"/>
              </a:rPr>
              <a:t>— </a:t>
            </a:r>
            <a:r>
              <a:rPr sz="1250" b="1" i="0" dirty="0" err="1">
                <a:solidFill>
                  <a:srgbClr val="044F49"/>
                </a:solidFill>
                <a:latin typeface="Aptos"/>
              </a:rPr>
              <a:t>farkı </a:t>
            </a:r>
            <a:r>
              <a:rPr sz="1250" b="1" i="0" dirty="0" err="1">
                <a:solidFill>
                  <a:srgbClr val="044F49"/>
                </a:solidFill>
                <a:latin typeface="Aptos"/>
              </a:rPr>
              <a:t>yaratan</a:t>
            </a:r>
            <a:r>
              <a:rPr sz="1250" b="1" i="0" dirty="0">
                <a:solidFill>
                  <a:srgbClr val="044F49"/>
                </a:solidFill>
                <a:latin typeface="Aptos"/>
              </a:rPr>
              <a:t> şey durumdur</a:t>
            </a:r>
            <a:r>
              <a:rPr sz="1250" b="1" i="0" dirty="0">
                <a:solidFill>
                  <a:srgbClr val="044F49"/>
                </a:solidFill>
                <a:latin typeface="Aptos"/>
              </a:rPr>
              <a:t>.  </a:t>
            </a:r>
            <a:r>
              <a:rPr sz="1150" b="0" i="0" dirty="0" err="1">
                <a:solidFill>
                  <a:srgbClr val="33413D"/>
                </a:solidFill>
                <a:latin typeface="Aptos"/>
              </a:rPr>
              <a:t>Bir</a:t>
            </a:r>
            <a:r>
              <a:rPr sz="1150" b="0" i="0" dirty="0">
                <a:solidFill>
                  <a:srgbClr val="33413D"/>
                </a:solidFill>
                <a:latin typeface="Aptos"/>
              </a:rPr>
              <a:t> </a:t>
            </a:r>
            <a:r>
              <a:rPr sz="1150" b="0" i="0" dirty="0" err="1">
                <a:solidFill>
                  <a:srgbClr val="33413D"/>
                </a:solidFill>
                <a:latin typeface="Aptos"/>
              </a:rPr>
              <a:t>sunumda </a:t>
            </a:r>
            <a:r>
              <a:rPr sz="1150" b="0" i="0" dirty="0" err="1">
                <a:solidFill>
                  <a:srgbClr val="33413D"/>
                </a:solidFill>
                <a:latin typeface="Aptos"/>
              </a:rPr>
              <a:t>her </a:t>
            </a:r>
            <a:r>
              <a:rPr sz="1150" b="0" i="0" dirty="0" err="1">
                <a:solidFill>
                  <a:srgbClr val="33413D"/>
                </a:solidFill>
                <a:latin typeface="Aptos"/>
              </a:rPr>
              <a:t>alan </a:t>
            </a:r>
            <a:r>
              <a:rPr sz="1150" b="0" i="0" dirty="0" err="1">
                <a:solidFill>
                  <a:srgbClr val="33413D"/>
                </a:solidFill>
                <a:latin typeface="Aptos"/>
              </a:rPr>
              <a:t>aynı derecede </a:t>
            </a:r>
            <a:r>
              <a:rPr sz="1150" b="0" i="0" dirty="0" err="1">
                <a:solidFill>
                  <a:srgbClr val="33413D"/>
                </a:solidFill>
                <a:latin typeface="Aptos"/>
              </a:rPr>
              <a:t>ikna edici </a:t>
            </a:r>
            <a:r>
              <a:rPr sz="1150" b="0" i="0" dirty="0" err="1">
                <a:solidFill>
                  <a:srgbClr val="33413D"/>
                </a:solidFill>
                <a:latin typeface="Aptos"/>
              </a:rPr>
              <a:t>görünür</a:t>
            </a:r>
            <a:r>
              <a:rPr sz="1150" b="0" i="0" dirty="0">
                <a:solidFill>
                  <a:srgbClr val="33413D"/>
                </a:solidFill>
                <a:latin typeface="Aptos"/>
              </a:rPr>
              <a:t>: </a:t>
            </a:r>
            <a:r>
              <a:rPr sz="1150" b="0" i="0" dirty="0" err="1">
                <a:solidFill>
                  <a:srgbClr val="33413D"/>
                </a:solidFill>
                <a:latin typeface="Aptos"/>
              </a:rPr>
              <a:t>Tamamen </a:t>
            </a:r>
            <a:r>
              <a:rPr sz="1150" b="0" i="0" dirty="0" err="1">
                <a:solidFill>
                  <a:srgbClr val="33413D"/>
                </a:solidFill>
                <a:latin typeface="Aptos"/>
              </a:rPr>
              <a:t>tasarlanmış </a:t>
            </a:r>
            <a:r>
              <a:rPr sz="1150" b="0" i="0" dirty="0">
                <a:solidFill>
                  <a:srgbClr val="33413D"/>
                </a:solidFill>
                <a:latin typeface="Aptos"/>
              </a:rPr>
              <a:t>bir </a:t>
            </a:r>
            <a:r>
              <a:rPr sz="1150" b="0" i="0" dirty="0" err="1">
                <a:solidFill>
                  <a:srgbClr val="33413D"/>
                </a:solidFill>
                <a:latin typeface="Aptos"/>
              </a:rPr>
              <a:t>sayfa</a:t>
            </a:r>
            <a:r>
              <a:rPr sz="1150" b="0" i="0" dirty="0">
                <a:solidFill>
                  <a:srgbClr val="33413D"/>
                </a:solidFill>
                <a:latin typeface="Aptos"/>
              </a:rPr>
              <a:t>, </a:t>
            </a:r>
            <a:r>
              <a:rPr sz="1150" b="0" i="0" dirty="0" err="1">
                <a:solidFill>
                  <a:srgbClr val="33413D"/>
                </a:solidFill>
                <a:latin typeface="Aptos"/>
              </a:rPr>
              <a:t>arkasında </a:t>
            </a:r>
            <a:r>
              <a:rPr sz="1150" b="0" i="0" dirty="0" err="1">
                <a:solidFill>
                  <a:srgbClr val="33413D"/>
                </a:solidFill>
                <a:latin typeface="Aptos"/>
              </a:rPr>
              <a:t>gerçek </a:t>
            </a:r>
            <a:r>
              <a:rPr sz="1150" b="0" i="0" dirty="0" err="1">
                <a:solidFill>
                  <a:srgbClr val="33413D"/>
                </a:solidFill>
                <a:latin typeface="Aptos"/>
              </a:rPr>
              <a:t>canlı veriler </a:t>
            </a:r>
            <a:r>
              <a:rPr sz="1150" b="0" i="0" dirty="0" err="1">
                <a:solidFill>
                  <a:srgbClr val="33413D"/>
                </a:solidFill>
                <a:latin typeface="Aptos"/>
              </a:rPr>
              <a:t>mi yoksa </a:t>
            </a:r>
            <a:r>
              <a:rPr sz="1150" b="0" i="0" dirty="0" err="1">
                <a:solidFill>
                  <a:srgbClr val="33413D"/>
                </a:solidFill>
                <a:latin typeface="Aptos"/>
              </a:rPr>
              <a:t>örnek veriler </a:t>
            </a:r>
            <a:r>
              <a:rPr sz="1150" b="0" i="0" dirty="0" err="1">
                <a:solidFill>
                  <a:srgbClr val="33413D"/>
                </a:solidFill>
                <a:latin typeface="Aptos"/>
              </a:rPr>
              <a:t>mi olduğu </a:t>
            </a:r>
            <a:r>
              <a:rPr sz="1150" b="0" i="0" dirty="0" err="1">
                <a:solidFill>
                  <a:srgbClr val="33413D"/>
                </a:solidFill>
                <a:latin typeface="Aptos"/>
              </a:rPr>
              <a:t>fark etmeksizin </a:t>
            </a:r>
            <a:r>
              <a:rPr sz="1150" b="0" i="0" dirty="0" err="1">
                <a:solidFill>
                  <a:srgbClr val="33413D"/>
                </a:solidFill>
                <a:latin typeface="Aptos"/>
              </a:rPr>
              <a:t>aynı </a:t>
            </a:r>
            <a:r>
              <a:rPr sz="1150" b="0" i="0" dirty="0" err="1">
                <a:solidFill>
                  <a:srgbClr val="33413D"/>
                </a:solidFill>
                <a:latin typeface="Aptos"/>
              </a:rPr>
              <a:t>görünür</a:t>
            </a:r>
            <a:r>
              <a:rPr sz="1150" b="0" i="0" dirty="0">
                <a:solidFill>
                  <a:srgbClr val="33413D"/>
                </a:solidFill>
                <a:latin typeface="Aptos"/>
              </a:rPr>
              <a:t>. </a:t>
            </a:r>
            <a:r>
              <a:rPr sz="1150" b="0" i="0" dirty="0" err="1">
                <a:solidFill>
                  <a:srgbClr val="33413D"/>
                </a:solidFill>
                <a:latin typeface="Aptos"/>
              </a:rPr>
              <a:t>Bu nedenle</a:t>
            </a:r>
            <a:r>
              <a:rPr lang="de-DE" sz="1150" b="0" i="0" dirty="0">
                <a:solidFill>
                  <a:srgbClr val="33413D"/>
                </a:solidFill>
                <a:latin typeface="Aptos"/>
              </a:rPr>
              <a:t>,</a:t>
            </a:r>
            <a:r>
              <a:rPr sz="1150" b="0" i="0" dirty="0">
                <a:solidFill>
                  <a:srgbClr val="33413D"/>
                </a:solidFill>
                <a:latin typeface="Aptos"/>
              </a:rPr>
              <a:t> 6. ve 7.</a:t>
            </a:r>
            <a:r>
              <a:rPr sz="1150" b="0" i="0" dirty="0" err="1">
                <a:solidFill>
                  <a:srgbClr val="33413D"/>
                </a:solidFill>
                <a:latin typeface="Aptos"/>
              </a:rPr>
              <a:t> bölümlerdeki </a:t>
            </a:r>
            <a:r>
              <a:rPr sz="1150" b="0" i="0" dirty="0" err="1">
                <a:solidFill>
                  <a:srgbClr val="33413D"/>
                </a:solidFill>
                <a:latin typeface="Aptos"/>
              </a:rPr>
              <a:t>durum göstergesi </a:t>
            </a:r>
            <a:r>
              <a:rPr sz="1150" b="0" i="0" dirty="0">
                <a:solidFill>
                  <a:srgbClr val="33413D"/>
                </a:solidFill>
                <a:latin typeface="Aptos"/>
              </a:rPr>
              <a:t>çok </a:t>
            </a:r>
            <a:r>
              <a:rPr sz="1150" b="0" i="0" dirty="0" err="1">
                <a:solidFill>
                  <a:srgbClr val="33413D"/>
                </a:solidFill>
                <a:latin typeface="Aptos"/>
              </a:rPr>
              <a:t>önemlidir</a:t>
            </a:r>
            <a:r>
              <a:rPr lang="de-DE" sz="1150" b="0" i="0" dirty="0">
                <a:solidFill>
                  <a:srgbClr val="33413D"/>
                </a:solidFill>
                <a:latin typeface="Aptos"/>
              </a:rPr>
              <a:t>; </a:t>
            </a:r>
            <a:r>
              <a:rPr sz="1150" b="0" i="0" dirty="0">
                <a:solidFill>
                  <a:srgbClr val="33413D"/>
                </a:solidFill>
                <a:latin typeface="Aptos"/>
              </a:rPr>
              <a:t>bu gösterge</a:t>
            </a:r>
            <a:r>
              <a:rPr sz="1150" b="0" i="0" dirty="0">
                <a:solidFill>
                  <a:srgbClr val="33413D"/>
                </a:solidFill>
                <a:latin typeface="Aptos"/>
              </a:rPr>
              <a:t>, </a:t>
            </a:r>
            <a:r>
              <a:rPr sz="1150" b="0" i="0" dirty="0" err="1">
                <a:solidFill>
                  <a:srgbClr val="33413D"/>
                </a:solidFill>
                <a:latin typeface="Aptos"/>
              </a:rPr>
              <a:t>beklentilerin </a:t>
            </a:r>
            <a:r>
              <a:rPr sz="1150" b="0" i="0" dirty="0" err="1">
                <a:solidFill>
                  <a:srgbClr val="33413D"/>
                </a:solidFill>
                <a:latin typeface="Aptos"/>
              </a:rPr>
              <a:t>gerçek</a:t>
            </a:r>
            <a:r>
              <a:rPr sz="1150" b="0" i="0" dirty="0">
                <a:solidFill>
                  <a:srgbClr val="33413D"/>
                </a:solidFill>
                <a:latin typeface="Aptos"/>
              </a:rPr>
              <a:t> </a:t>
            </a:r>
            <a:r>
              <a:rPr sz="1150" b="0" i="0" dirty="0">
                <a:solidFill>
                  <a:srgbClr val="33413D"/>
                </a:solidFill>
                <a:latin typeface="Aptos"/>
              </a:rPr>
              <a:t>duruma </a:t>
            </a:r>
            <a:r>
              <a:rPr sz="1150" b="0" i="0" dirty="0" err="1">
                <a:solidFill>
                  <a:srgbClr val="33413D"/>
                </a:solidFill>
                <a:latin typeface="Aptos"/>
              </a:rPr>
              <a:t>dayandığından </a:t>
            </a:r>
            <a:r>
              <a:rPr sz="1150" b="0" i="0" dirty="0" err="1">
                <a:solidFill>
                  <a:srgbClr val="33413D"/>
                </a:solidFill>
                <a:latin typeface="Aptos"/>
              </a:rPr>
              <a:t>emin </a:t>
            </a:r>
            <a:r>
              <a:rPr sz="1150" b="0" i="0" dirty="0" err="1">
                <a:solidFill>
                  <a:srgbClr val="33413D"/>
                </a:solidFill>
                <a:latin typeface="Aptos"/>
              </a:rPr>
              <a:t>olur</a:t>
            </a:r>
            <a:r>
              <a:rPr sz="1150" b="0" i="0" dirty="0">
                <a:solidFill>
                  <a:srgbClr val="33413D"/>
                </a:solidFill>
                <a:latin typeface="Aptos"/>
              </a:rPr>
              <a:t>. </a:t>
            </a:r>
            <a:r>
              <a:rPr sz="1150" b="0" i="0" dirty="0" err="1">
                <a:solidFill>
                  <a:srgbClr val="33413D"/>
                </a:solidFill>
                <a:latin typeface="Aptos"/>
              </a:rPr>
              <a:t>Canlı işletime </a:t>
            </a:r>
            <a:r>
              <a:rPr sz="1150" b="0" i="0" dirty="0" err="1">
                <a:solidFill>
                  <a:srgbClr val="33413D"/>
                </a:solidFill>
                <a:latin typeface="Aptos"/>
              </a:rPr>
              <a:t>geçiş</a:t>
            </a:r>
            <a:r>
              <a:rPr sz="1150" b="0" i="0" dirty="0">
                <a:solidFill>
                  <a:srgbClr val="33413D"/>
                </a:solidFill>
                <a:latin typeface="Aptos"/>
              </a:rPr>
              <a:t> için</a:t>
            </a:r>
            <a:r>
              <a:rPr sz="1150" b="0" i="0" dirty="0">
                <a:solidFill>
                  <a:srgbClr val="33413D"/>
                </a:solidFill>
                <a:latin typeface="Aptos"/>
              </a:rPr>
              <a:t> 9.</a:t>
            </a:r>
            <a:r>
              <a:rPr sz="1150" b="0" i="0" dirty="0" err="1">
                <a:solidFill>
                  <a:srgbClr val="33413D"/>
                </a:solidFill>
                <a:latin typeface="Aptos"/>
              </a:rPr>
              <a:t> bölümdeki </a:t>
            </a:r>
            <a:r>
              <a:rPr sz="1150" b="0" i="0" dirty="0" err="1">
                <a:solidFill>
                  <a:srgbClr val="33413D"/>
                </a:solidFill>
                <a:latin typeface="Aptos"/>
              </a:rPr>
              <a:t>adımların </a:t>
            </a:r>
            <a:r>
              <a:rPr sz="1150" b="0" i="0" dirty="0" err="1">
                <a:solidFill>
                  <a:srgbClr val="33413D"/>
                </a:solidFill>
                <a:latin typeface="Aptos"/>
              </a:rPr>
              <a:t>uygulanması gerekir</a:t>
            </a:r>
            <a:r>
              <a:rPr sz="1150" b="0" i="0" dirty="0">
                <a:solidFill>
                  <a:srgbClr val="33413D"/>
                </a:solidFill>
                <a:latin typeface="Aptos"/>
              </a:rPr>
              <a:t>.</a:t>
            </a:r>
          </a:p>
        </p:txBody>
      </p:sp>
      <p:sp>
        <p:nvSpPr>
          <p:cNvPr id="12" name="TextBox 11"/>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adına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3" name="TextBox 12"/>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26</a:t>
            </a:r>
          </a:p>
        </p:txBody>
      </p:sp>
      <p:pic>
        <p:nvPicPr>
          <p:cNvPr id="14" name="Picture 13"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09</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Sonraki Adımlar (1/2)</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554480"/>
            <a:ext cx="10881360" cy="1234440"/>
          </a:xfrm>
          <a:prstGeom prst="roundRect">
            <a:avLst>
              <a:gd name="adj" fmla="val 5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554480"/>
            <a:ext cx="54864" cy="123444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691640"/>
            <a:ext cx="10332720" cy="589905"/>
          </a:xfrm>
          <a:prstGeom prst="rect">
            <a:avLst/>
          </a:prstGeom>
          <a:noFill/>
        </p:spPr>
        <p:txBody>
          <a:bodyPr wrap="square" lIns="0" tIns="0" rIns="0" bIns="0" anchor="t">
            <a:spAutoFit/>
          </a:bodyPr>
          <a:lstStyle/>
          <a:p>
            <a:r>
              <a:rPr sz="1300" b="1" i="0" dirty="0">
                <a:solidFill>
                  <a:srgbClr val="044F49"/>
                </a:solidFill>
                <a:latin typeface="Aptos"/>
              </a:rPr>
              <a:t>Adım 1 </a:t>
            </a:r>
            <a:r>
              <a:rPr lang="de-DE" sz="1300" b="1" i="0" dirty="0">
                <a:solidFill>
                  <a:srgbClr val="044F49"/>
                </a:solidFill>
                <a:latin typeface="Aptos"/>
              </a:rPr>
              <a:t>- </a:t>
            </a:r>
            <a:r>
              <a:rPr sz="1300" b="1" i="0" dirty="0">
                <a:solidFill>
                  <a:srgbClr val="044F49"/>
                </a:solidFill>
                <a:latin typeface="Aptos"/>
              </a:rPr>
              <a:t>Hızlı ve </a:t>
            </a:r>
            <a:r>
              <a:rPr sz="1300" b="1" i="0" dirty="0" err="1">
                <a:solidFill>
                  <a:srgbClr val="044F49"/>
                </a:solidFill>
                <a:latin typeface="Aptos"/>
              </a:rPr>
              <a:t>gözle görülür </a:t>
            </a:r>
            <a:r>
              <a:rPr sz="1300" b="1" i="0" dirty="0" err="1">
                <a:solidFill>
                  <a:srgbClr val="044F49"/>
                </a:solidFill>
                <a:latin typeface="Aptos"/>
              </a:rPr>
              <a:t>ilerlemeler </a:t>
            </a:r>
            <a:r>
              <a:rPr sz="1300" b="1" i="0" dirty="0">
                <a:solidFill>
                  <a:srgbClr val="044F49"/>
                </a:solidFill>
                <a:latin typeface="Aptos"/>
              </a:rPr>
              <a:t>(</a:t>
            </a:r>
            <a:r>
              <a:rPr sz="1300" b="1" i="0" dirty="0">
                <a:solidFill>
                  <a:srgbClr val="044F49"/>
                </a:solidFill>
                <a:latin typeface="Aptos"/>
              </a:rPr>
              <a:t>dış kaynaklara </a:t>
            </a:r>
            <a:r>
              <a:rPr sz="1300" b="1" i="0" dirty="0" err="1">
                <a:solidFill>
                  <a:srgbClr val="044F49"/>
                </a:solidFill>
                <a:latin typeface="Aptos"/>
              </a:rPr>
              <a:t>bağımlı </a:t>
            </a:r>
            <a:r>
              <a:rPr sz="1300" b="1" i="0" dirty="0" err="1">
                <a:solidFill>
                  <a:srgbClr val="044F49"/>
                </a:solidFill>
                <a:latin typeface="Aptos"/>
              </a:rPr>
              <a:t>olmadan</a:t>
            </a:r>
            <a:r>
              <a:rPr sz="1300" b="1" i="0" dirty="0">
                <a:solidFill>
                  <a:srgbClr val="044F49"/>
                </a:solidFill>
                <a:latin typeface="Aptos"/>
              </a:rPr>
              <a:t>)</a:t>
            </a:r>
          </a:p>
          <a:p>
            <a:pPr>
              <a:spcBef>
                <a:spcPts val="400"/>
              </a:spcBef>
            </a:pPr>
            <a:r>
              <a:rPr sz="1100" b="0" i="0" dirty="0" err="1">
                <a:solidFill>
                  <a:srgbClr val="33413D"/>
                </a:solidFill>
                <a:latin typeface="Aptos"/>
              </a:rPr>
              <a:t>Mevcut</a:t>
            </a:r>
            <a:r>
              <a:rPr sz="1100" b="0" i="0" dirty="0">
                <a:solidFill>
                  <a:srgbClr val="33413D"/>
                </a:solidFill>
                <a:latin typeface="Aptos"/>
              </a:rPr>
              <a:t> </a:t>
            </a:r>
            <a:r>
              <a:rPr sz="1100" b="0" i="0" dirty="0" err="1">
                <a:solidFill>
                  <a:srgbClr val="33413D"/>
                </a:solidFill>
                <a:latin typeface="Aptos"/>
              </a:rPr>
              <a:t>canlı veri bağlantısına </a:t>
            </a:r>
            <a:r>
              <a:rPr sz="1100" b="0" i="0" dirty="0" err="1">
                <a:solidFill>
                  <a:srgbClr val="33413D"/>
                </a:solidFill>
                <a:latin typeface="Aptos"/>
              </a:rPr>
              <a:t>birden fazla </a:t>
            </a:r>
            <a:r>
              <a:rPr sz="1100" b="0" i="0" dirty="0">
                <a:solidFill>
                  <a:srgbClr val="33413D"/>
                </a:solidFill>
                <a:latin typeface="Aptos"/>
              </a:rPr>
              <a:t>değerlendirme ve </a:t>
            </a:r>
            <a:r>
              <a:rPr sz="1100" b="0" i="0" dirty="0" err="1">
                <a:solidFill>
                  <a:srgbClr val="33413D"/>
                </a:solidFill>
                <a:latin typeface="Aptos"/>
              </a:rPr>
              <a:t>genel bakış sayfası </a:t>
            </a:r>
            <a:r>
              <a:rPr sz="1100" b="0" i="0" dirty="0">
                <a:solidFill>
                  <a:srgbClr val="33413D"/>
                </a:solidFill>
                <a:latin typeface="Aptos"/>
              </a:rPr>
              <a:t>(</a:t>
            </a:r>
            <a:r>
              <a:rPr sz="1100" b="0" i="0" dirty="0">
                <a:solidFill>
                  <a:srgbClr val="33413D"/>
                </a:solidFill>
                <a:latin typeface="Aptos"/>
              </a:rPr>
              <a:t>konut matrisi, </a:t>
            </a:r>
            <a:r>
              <a:rPr sz="1100" b="0" i="0" dirty="0" err="1">
                <a:solidFill>
                  <a:srgbClr val="33413D"/>
                </a:solidFill>
                <a:latin typeface="Aptos"/>
              </a:rPr>
              <a:t>finansal genel bakış</a:t>
            </a:r>
            <a:r>
              <a:rPr sz="1100" b="0" i="0" dirty="0">
                <a:solidFill>
                  <a:srgbClr val="33413D"/>
                </a:solidFill>
                <a:latin typeface="Aptos"/>
              </a:rPr>
              <a:t>, </a:t>
            </a:r>
            <a:r>
              <a:rPr sz="1100" b="0" i="0" dirty="0" err="1">
                <a:solidFill>
                  <a:srgbClr val="33413D"/>
                </a:solidFill>
                <a:latin typeface="Aptos"/>
              </a:rPr>
              <a:t>raporlar</a:t>
            </a:r>
            <a:r>
              <a:rPr sz="1100" b="0" i="0" dirty="0">
                <a:solidFill>
                  <a:srgbClr val="33413D"/>
                </a:solidFill>
                <a:latin typeface="Aptos"/>
              </a:rPr>
              <a:t>) </a:t>
            </a:r>
            <a:r>
              <a:rPr sz="1100" b="0" i="0" dirty="0" err="1">
                <a:solidFill>
                  <a:srgbClr val="33413D"/>
                </a:solidFill>
                <a:latin typeface="Aptos"/>
              </a:rPr>
              <a:t>ekleyin</a:t>
            </a:r>
            <a:r>
              <a:rPr sz="1100" b="0" i="0" dirty="0">
                <a:solidFill>
                  <a:srgbClr val="33413D"/>
                </a:solidFill>
                <a:latin typeface="Aptos"/>
              </a:rPr>
              <a:t>. </a:t>
            </a:r>
            <a:r>
              <a:rPr sz="1100" b="0" i="0" dirty="0" err="1">
                <a:solidFill>
                  <a:srgbClr val="33413D"/>
                </a:solidFill>
                <a:latin typeface="Aptos"/>
              </a:rPr>
              <a:t>Teknik</a:t>
            </a:r>
            <a:r>
              <a:rPr sz="1100" b="0" i="0" dirty="0">
                <a:solidFill>
                  <a:srgbClr val="33413D"/>
                </a:solidFill>
                <a:latin typeface="Aptos"/>
              </a:rPr>
              <a:t> </a:t>
            </a:r>
            <a:r>
              <a:rPr sz="1100" b="0" i="0" dirty="0" err="1">
                <a:solidFill>
                  <a:srgbClr val="33413D"/>
                </a:solidFill>
                <a:latin typeface="Aptos"/>
              </a:rPr>
              <a:t>altyapı </a:t>
            </a:r>
            <a:r>
              <a:rPr sz="1100" b="0" i="0" dirty="0" err="1">
                <a:solidFill>
                  <a:srgbClr val="33413D"/>
                </a:solidFill>
                <a:latin typeface="Aptos"/>
              </a:rPr>
              <a:t>hazırdır</a:t>
            </a:r>
            <a:r>
              <a:rPr lang="de-DE" sz="1100" b="0" i="0" dirty="0">
                <a:solidFill>
                  <a:srgbClr val="33413D"/>
                </a:solidFill>
                <a:latin typeface="Aptos"/>
              </a:rPr>
              <a:t>; </a:t>
            </a:r>
            <a:r>
              <a:rPr sz="1100" b="0" i="0" dirty="0">
                <a:solidFill>
                  <a:srgbClr val="33413D"/>
                </a:solidFill>
                <a:latin typeface="Aptos"/>
              </a:rPr>
              <a:t>burada </a:t>
            </a:r>
            <a:r>
              <a:rPr sz="1100" b="0" i="0" dirty="0">
                <a:solidFill>
                  <a:srgbClr val="33413D"/>
                </a:solidFill>
                <a:latin typeface="Aptos"/>
              </a:rPr>
              <a:t>önemli olan </a:t>
            </a:r>
            <a:r>
              <a:rPr sz="1100" b="0" i="0" dirty="0" err="1">
                <a:solidFill>
                  <a:srgbClr val="33413D"/>
                </a:solidFill>
                <a:latin typeface="Aptos"/>
              </a:rPr>
              <a:t>bağlantı kurmaktır</a:t>
            </a:r>
            <a:r>
              <a:rPr sz="1100" b="0" i="0" dirty="0">
                <a:solidFill>
                  <a:srgbClr val="33413D"/>
                </a:solidFill>
                <a:latin typeface="Aptos"/>
              </a:rPr>
              <a:t>, </a:t>
            </a:r>
            <a:r>
              <a:rPr sz="1100" b="0" i="0" dirty="0" err="1">
                <a:solidFill>
                  <a:srgbClr val="33413D"/>
                </a:solidFill>
                <a:latin typeface="Aptos"/>
              </a:rPr>
              <a:t>yeni bir geliştirme</a:t>
            </a:r>
            <a:r>
              <a:rPr sz="1100" b="0" i="0" dirty="0">
                <a:solidFill>
                  <a:srgbClr val="33413D"/>
                </a:solidFill>
                <a:latin typeface="Aptos"/>
              </a:rPr>
              <a:t> yapmak değil</a:t>
            </a:r>
            <a:r>
              <a:rPr sz="1100" b="0" i="0" dirty="0">
                <a:solidFill>
                  <a:srgbClr val="33413D"/>
                </a:solidFill>
                <a:latin typeface="Aptos"/>
              </a:rPr>
              <a:t>. </a:t>
            </a:r>
            <a:r>
              <a:rPr sz="1100" b="0" i="0" dirty="0" err="1">
                <a:solidFill>
                  <a:srgbClr val="33413D"/>
                </a:solidFill>
                <a:latin typeface="Aptos"/>
              </a:rPr>
              <a:t>Sonuç</a:t>
            </a:r>
            <a:r>
              <a:rPr sz="1100" b="0" i="0" dirty="0">
                <a:solidFill>
                  <a:srgbClr val="33413D"/>
                </a:solidFill>
                <a:latin typeface="Aptos"/>
              </a:rPr>
              <a:t>: </a:t>
            </a:r>
            <a:r>
              <a:rPr sz="1100" b="0" i="0" dirty="0" err="1">
                <a:solidFill>
                  <a:srgbClr val="33413D"/>
                </a:solidFill>
                <a:latin typeface="Aptos"/>
              </a:rPr>
              <a:t>az </a:t>
            </a:r>
            <a:r>
              <a:rPr sz="1100" b="0" i="0" dirty="0" err="1">
                <a:solidFill>
                  <a:srgbClr val="33413D"/>
                </a:solidFill>
                <a:latin typeface="Aptos"/>
              </a:rPr>
              <a:t>çabayla </a:t>
            </a:r>
            <a:r>
              <a:rPr sz="1100" b="0" i="0" dirty="0" err="1">
                <a:solidFill>
                  <a:srgbClr val="33413D"/>
                </a:solidFill>
                <a:latin typeface="Aptos"/>
              </a:rPr>
              <a:t>hissedilir derecede </a:t>
            </a:r>
            <a:r>
              <a:rPr sz="1100" b="0" i="0" dirty="0" err="1">
                <a:solidFill>
                  <a:srgbClr val="33413D"/>
                </a:solidFill>
                <a:latin typeface="Aptos"/>
              </a:rPr>
              <a:t>daha fazla </a:t>
            </a:r>
            <a:r>
              <a:rPr sz="1100" b="0" i="0" dirty="0" err="1">
                <a:solidFill>
                  <a:srgbClr val="33413D"/>
                </a:solidFill>
                <a:latin typeface="Aptos"/>
              </a:rPr>
              <a:t>gerçek </a:t>
            </a:r>
            <a:r>
              <a:rPr sz="1100" b="0" i="0" dirty="0" err="1">
                <a:solidFill>
                  <a:srgbClr val="33413D"/>
                </a:solidFill>
                <a:latin typeface="Aptos"/>
              </a:rPr>
              <a:t>canlı veri</a:t>
            </a:r>
            <a:r>
              <a:rPr sz="1100" b="0" i="0" dirty="0">
                <a:solidFill>
                  <a:srgbClr val="33413D"/>
                </a:solidFill>
                <a:latin typeface="Aptos"/>
              </a:rPr>
              <a:t>.</a:t>
            </a:r>
          </a:p>
        </p:txBody>
      </p:sp>
      <p:sp>
        <p:nvSpPr>
          <p:cNvPr id="12" name="Rounded Rectangle 11"/>
          <p:cNvSpPr/>
          <p:nvPr/>
        </p:nvSpPr>
        <p:spPr>
          <a:xfrm>
            <a:off x="640080" y="2971800"/>
            <a:ext cx="10881360" cy="2331720"/>
          </a:xfrm>
          <a:prstGeom prst="roundRect">
            <a:avLst>
              <a:gd name="adj" fmla="val 5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2971800"/>
            <a:ext cx="54864" cy="233172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108960"/>
            <a:ext cx="10332720" cy="1133644"/>
          </a:xfrm>
          <a:prstGeom prst="rect">
            <a:avLst/>
          </a:prstGeom>
          <a:noFill/>
        </p:spPr>
        <p:txBody>
          <a:bodyPr wrap="square" lIns="0" tIns="0" rIns="0" bIns="0" anchor="t">
            <a:spAutoFit/>
          </a:bodyPr>
          <a:lstStyle/>
          <a:p>
            <a:r>
              <a:rPr sz="1300" b="1" i="0" dirty="0">
                <a:solidFill>
                  <a:srgbClr val="044F49"/>
                </a:solidFill>
                <a:latin typeface="Aptos"/>
              </a:rPr>
              <a:t>Adım 2 </a:t>
            </a:r>
            <a:r>
              <a:rPr lang="de-DE" sz="1300" b="1" i="0" dirty="0">
                <a:solidFill>
                  <a:srgbClr val="044F49"/>
                </a:solidFill>
                <a:latin typeface="Aptos"/>
              </a:rPr>
              <a:t>- </a:t>
            </a:r>
            <a:r>
              <a:rPr sz="1300" b="1" i="0" dirty="0" err="1">
                <a:solidFill>
                  <a:srgbClr val="044F49"/>
                </a:solidFill>
                <a:latin typeface="Aptos"/>
              </a:rPr>
              <a:t>Günlük </a:t>
            </a:r>
            <a:r>
              <a:rPr sz="1300" b="1" i="0" dirty="0" err="1">
                <a:solidFill>
                  <a:srgbClr val="044F49"/>
                </a:solidFill>
                <a:latin typeface="Aptos"/>
              </a:rPr>
              <a:t>operasyonlar</a:t>
            </a:r>
            <a:r>
              <a:rPr sz="1300" b="1" i="0" dirty="0">
                <a:solidFill>
                  <a:srgbClr val="044F49"/>
                </a:solidFill>
                <a:latin typeface="Aptos"/>
              </a:rPr>
              <a:t> için </a:t>
            </a:r>
            <a:r>
              <a:rPr sz="1300" b="1" i="0" dirty="0" err="1">
                <a:solidFill>
                  <a:srgbClr val="044F49"/>
                </a:solidFill>
                <a:latin typeface="Aptos"/>
              </a:rPr>
              <a:t>temel işlevleri </a:t>
            </a:r>
            <a:r>
              <a:rPr sz="1300" b="1" i="0" dirty="0" err="1">
                <a:solidFill>
                  <a:srgbClr val="044F49"/>
                </a:solidFill>
                <a:latin typeface="Aptos"/>
              </a:rPr>
              <a:t>tamamlamak</a:t>
            </a:r>
            <a:endParaRPr sz="1300" b="1" i="0" dirty="0">
              <a:solidFill>
                <a:srgbClr val="044F49"/>
              </a:solidFill>
              <a:latin typeface="Aptos"/>
            </a:endParaRPr>
          </a:p>
          <a:p>
            <a:pPr>
              <a:spcBef>
                <a:spcPts val="500"/>
              </a:spcBef>
            </a:pPr>
            <a:r>
              <a:rPr sz="1100" b="0" i="0" dirty="0">
                <a:solidFill>
                  <a:srgbClr val="33413D"/>
                </a:solidFill>
                <a:latin typeface="Aptos"/>
              </a:rPr>
              <a:t>• </a:t>
            </a:r>
            <a:r>
              <a:rPr sz="1100" b="0" i="0" dirty="0" err="1">
                <a:solidFill>
                  <a:srgbClr val="33413D"/>
                </a:solidFill>
                <a:latin typeface="Aptos"/>
              </a:rPr>
              <a:t> Rezervasyon/rezervasyon </a:t>
            </a:r>
            <a:r>
              <a:rPr sz="1100" b="0" i="0" dirty="0" err="1">
                <a:solidFill>
                  <a:srgbClr val="33413D"/>
                </a:solidFill>
                <a:latin typeface="Aptos"/>
              </a:rPr>
              <a:t>oluşturma </a:t>
            </a:r>
            <a:r>
              <a:rPr lang="de-DE" sz="1100" b="0" i="0" dirty="0">
                <a:solidFill>
                  <a:srgbClr val="33413D"/>
                </a:solidFill>
                <a:latin typeface="Aptos"/>
              </a:rPr>
              <a:t>- </a:t>
            </a:r>
            <a:r>
              <a:rPr sz="1100" b="0" i="0" dirty="0" err="1">
                <a:solidFill>
                  <a:srgbClr val="33413D"/>
                </a:solidFill>
                <a:latin typeface="Aptos"/>
              </a:rPr>
              <a:t>kiralama</a:t>
            </a:r>
            <a:r>
              <a:rPr sz="1100" b="0" i="0" dirty="0">
                <a:solidFill>
                  <a:srgbClr val="33413D"/>
                </a:solidFill>
                <a:latin typeface="Aptos"/>
              </a:rPr>
              <a:t> için </a:t>
            </a:r>
            <a:r>
              <a:rPr sz="1100" b="0" i="0" dirty="0" err="1">
                <a:solidFill>
                  <a:srgbClr val="33413D"/>
                </a:solidFill>
                <a:latin typeface="Aptos"/>
              </a:rPr>
              <a:t>talep</a:t>
            </a:r>
            <a:r>
              <a:rPr sz="1100" b="0" i="0" dirty="0">
                <a:solidFill>
                  <a:srgbClr val="33413D"/>
                </a:solidFill>
                <a:latin typeface="Aptos"/>
              </a:rPr>
              <a:t> ettiğiniz </a:t>
            </a:r>
            <a:r>
              <a:rPr sz="1100" b="0" i="0" dirty="0" err="1">
                <a:solidFill>
                  <a:srgbClr val="33413D"/>
                </a:solidFill>
                <a:latin typeface="Aptos"/>
              </a:rPr>
              <a:t>temel işlev</a:t>
            </a:r>
            <a:r>
              <a:rPr sz="1100" b="0" i="0" dirty="0">
                <a:solidFill>
                  <a:srgbClr val="33413D"/>
                </a:solidFill>
                <a:latin typeface="Aptos"/>
              </a:rPr>
              <a:t>.</a:t>
            </a:r>
          </a:p>
          <a:p>
            <a:pPr>
              <a:spcBef>
                <a:spcPts val="500"/>
              </a:spcBef>
            </a:pPr>
            <a:r>
              <a:rPr sz="1100" b="0" i="0" dirty="0">
                <a:solidFill>
                  <a:srgbClr val="33413D"/>
                </a:solidFill>
                <a:latin typeface="Aptos"/>
              </a:rPr>
              <a:t>• </a:t>
            </a:r>
            <a:r>
              <a:rPr sz="1100" b="0" i="0" dirty="0" err="1">
                <a:solidFill>
                  <a:srgbClr val="33413D"/>
                </a:solidFill>
                <a:latin typeface="Aptos"/>
              </a:rPr>
              <a:t> Finansal kayıt </a:t>
            </a:r>
            <a:r>
              <a:rPr sz="1100" b="0" i="0" dirty="0" err="1">
                <a:solidFill>
                  <a:srgbClr val="33413D"/>
                </a:solidFill>
                <a:latin typeface="Aptos"/>
              </a:rPr>
              <a:t>girmek </a:t>
            </a:r>
            <a:r>
              <a:rPr lang="de-DE" sz="1100" b="0" i="0" dirty="0">
                <a:solidFill>
                  <a:srgbClr val="33413D"/>
                </a:solidFill>
                <a:latin typeface="Aptos"/>
              </a:rPr>
              <a:t>– </a:t>
            </a:r>
            <a:r>
              <a:rPr sz="1100" b="0" i="0" dirty="0" err="1">
                <a:solidFill>
                  <a:srgbClr val="33413D"/>
                </a:solidFill>
                <a:latin typeface="Aptos"/>
              </a:rPr>
              <a:t>mevcut </a:t>
            </a:r>
            <a:r>
              <a:rPr sz="1100" b="0" i="0" dirty="0" err="1">
                <a:solidFill>
                  <a:srgbClr val="33413D"/>
                </a:solidFill>
                <a:latin typeface="Aptos"/>
              </a:rPr>
              <a:t>değişmezlik </a:t>
            </a:r>
            <a:r>
              <a:rPr sz="1100" b="0" i="0" dirty="0">
                <a:solidFill>
                  <a:srgbClr val="33413D"/>
                </a:solidFill>
                <a:latin typeface="Aptos"/>
              </a:rPr>
              <a:t>güvencesi </a:t>
            </a:r>
            <a:r>
              <a:rPr sz="1100" b="0" i="0" dirty="0" err="1">
                <a:solidFill>
                  <a:srgbClr val="33413D"/>
                </a:solidFill>
                <a:latin typeface="Aptos"/>
              </a:rPr>
              <a:t>ile </a:t>
            </a:r>
            <a:r>
              <a:rPr sz="1100" b="0" i="0" dirty="0" err="1">
                <a:solidFill>
                  <a:srgbClr val="33413D"/>
                </a:solidFill>
                <a:latin typeface="Aptos"/>
              </a:rPr>
              <a:t>korunur</a:t>
            </a:r>
            <a:r>
              <a:rPr sz="1100" b="0" i="0" dirty="0">
                <a:solidFill>
                  <a:srgbClr val="33413D"/>
                </a:solidFill>
                <a:latin typeface="Aptos"/>
              </a:rPr>
              <a:t>.</a:t>
            </a:r>
          </a:p>
          <a:p>
            <a:pPr>
              <a:spcBef>
                <a:spcPts val="500"/>
              </a:spcBef>
            </a:pPr>
            <a:r>
              <a:rPr sz="1100" b="0" i="0" dirty="0">
                <a:solidFill>
                  <a:srgbClr val="33413D"/>
                </a:solidFill>
                <a:latin typeface="Aptos"/>
              </a:rPr>
              <a:t>• </a:t>
            </a:r>
            <a:r>
              <a:rPr sz="1100" b="0" i="0" dirty="0" err="1">
                <a:solidFill>
                  <a:srgbClr val="33413D"/>
                </a:solidFill>
                <a:latin typeface="Aptos"/>
              </a:rPr>
              <a:t> Saha</a:t>
            </a:r>
            <a:r>
              <a:rPr sz="1100" b="0" i="0" dirty="0">
                <a:solidFill>
                  <a:srgbClr val="33413D"/>
                </a:solidFill>
                <a:latin typeface="Aptos"/>
              </a:rPr>
              <a:t> ekibi </a:t>
            </a:r>
            <a:r>
              <a:rPr sz="1100" b="0" i="0" dirty="0" err="1">
                <a:solidFill>
                  <a:srgbClr val="33413D"/>
                </a:solidFill>
                <a:latin typeface="Aptos"/>
              </a:rPr>
              <a:t>tarafından gerçekleştirilen </a:t>
            </a:r>
            <a:r>
              <a:rPr sz="1100" b="0" i="0" dirty="0" err="1">
                <a:solidFill>
                  <a:srgbClr val="33413D"/>
                </a:solidFill>
                <a:latin typeface="Aptos"/>
              </a:rPr>
              <a:t>servis siparişleri</a:t>
            </a:r>
            <a:r>
              <a:rPr sz="1100" b="0" i="0" dirty="0">
                <a:solidFill>
                  <a:srgbClr val="33413D"/>
                </a:solidFill>
                <a:latin typeface="Aptos"/>
              </a:rPr>
              <a:t> için </a:t>
            </a:r>
            <a:r>
              <a:rPr sz="1100" b="0" i="0" dirty="0" err="1">
                <a:solidFill>
                  <a:srgbClr val="33413D"/>
                </a:solidFill>
                <a:latin typeface="Aptos"/>
              </a:rPr>
              <a:t>fotoğraf/video kanıtı</a:t>
            </a:r>
            <a:r>
              <a:rPr sz="1100" b="0" i="0" dirty="0">
                <a:solidFill>
                  <a:srgbClr val="33413D"/>
                </a:solidFill>
                <a:latin typeface="Aptos"/>
              </a:rPr>
              <a:t>.</a:t>
            </a:r>
          </a:p>
          <a:p>
            <a:pPr>
              <a:spcBef>
                <a:spcPts val="500"/>
              </a:spcBef>
            </a:pPr>
            <a:r>
              <a:rPr sz="1100" b="0" i="0" dirty="0">
                <a:solidFill>
                  <a:srgbClr val="33413D"/>
                </a:solidFill>
                <a:latin typeface="Aptos"/>
              </a:rPr>
              <a:t>• </a:t>
            </a:r>
            <a:r>
              <a:rPr sz="1100" b="0" i="0" dirty="0" err="1">
                <a:solidFill>
                  <a:srgbClr val="33413D"/>
                </a:solidFill>
                <a:latin typeface="Aptos"/>
              </a:rPr>
              <a:t> Kamuya açık alandan </a:t>
            </a:r>
            <a:r>
              <a:rPr sz="1100" b="0" i="0" dirty="0" err="1">
                <a:solidFill>
                  <a:srgbClr val="33413D"/>
                </a:solidFill>
                <a:latin typeface="Aptos"/>
              </a:rPr>
              <a:t>gelen </a:t>
            </a:r>
            <a:r>
              <a:rPr sz="1100" b="0" i="0" dirty="0" err="1">
                <a:solidFill>
                  <a:srgbClr val="33413D"/>
                </a:solidFill>
                <a:latin typeface="Aptos"/>
              </a:rPr>
              <a:t>kayıtlar </a:t>
            </a:r>
            <a:r>
              <a:rPr sz="1100" b="0" i="0" dirty="0">
                <a:solidFill>
                  <a:srgbClr val="33413D"/>
                </a:solidFill>
                <a:latin typeface="Aptos"/>
              </a:rPr>
              <a:t>ve </a:t>
            </a:r>
            <a:r>
              <a:rPr sz="1100" b="0" i="0" dirty="0" err="1">
                <a:solidFill>
                  <a:srgbClr val="33413D"/>
                </a:solidFill>
                <a:latin typeface="Aptos"/>
              </a:rPr>
              <a:t>bildirimler </a:t>
            </a:r>
            <a:r>
              <a:rPr sz="1100" b="0" i="0" dirty="0">
                <a:solidFill>
                  <a:srgbClr val="33413D"/>
                </a:solidFill>
                <a:latin typeface="Aptos"/>
              </a:rPr>
              <a:t>için </a:t>
            </a:r>
            <a:r>
              <a:rPr sz="1100" b="0" i="0" dirty="0" err="1">
                <a:solidFill>
                  <a:srgbClr val="33413D"/>
                </a:solidFill>
                <a:latin typeface="Aptos"/>
              </a:rPr>
              <a:t>işlem özeti</a:t>
            </a:r>
            <a:r>
              <a:rPr sz="1100" b="0" i="0" dirty="0">
                <a:solidFill>
                  <a:srgbClr val="33413D"/>
                </a:solidFill>
                <a:latin typeface="Aptos"/>
              </a:rPr>
              <a:t>; </a:t>
            </a:r>
            <a:r>
              <a:rPr sz="1100" b="0" i="0" dirty="0" err="1">
                <a:solidFill>
                  <a:srgbClr val="33413D"/>
                </a:solidFill>
                <a:latin typeface="Aptos"/>
              </a:rPr>
              <a:t>onaylama </a:t>
            </a:r>
            <a:r>
              <a:rPr sz="1100" b="0" i="0" dirty="0">
                <a:solidFill>
                  <a:srgbClr val="33413D"/>
                </a:solidFill>
                <a:latin typeface="Aptos"/>
              </a:rPr>
              <a:t>ve </a:t>
            </a:r>
            <a:r>
              <a:rPr sz="1100" b="0" i="0" dirty="0" err="1">
                <a:solidFill>
                  <a:srgbClr val="33413D"/>
                </a:solidFill>
                <a:latin typeface="Aptos"/>
              </a:rPr>
              <a:t>hesap </a:t>
            </a:r>
            <a:r>
              <a:rPr sz="1100" b="0" i="0" dirty="0">
                <a:solidFill>
                  <a:srgbClr val="33413D"/>
                </a:solidFill>
                <a:latin typeface="Aptos"/>
              </a:rPr>
              <a:t>veya bilet </a:t>
            </a:r>
            <a:r>
              <a:rPr sz="1100" b="0" i="0" dirty="0">
                <a:solidFill>
                  <a:srgbClr val="33413D"/>
                </a:solidFill>
                <a:latin typeface="Aptos"/>
              </a:rPr>
              <a:t>haline </a:t>
            </a:r>
            <a:r>
              <a:rPr sz="1100" b="0" i="0" dirty="0" err="1">
                <a:solidFill>
                  <a:srgbClr val="33413D"/>
                </a:solidFill>
                <a:latin typeface="Aptos"/>
              </a:rPr>
              <a:t>dönüştürme işlemleri </a:t>
            </a:r>
            <a:r>
              <a:rPr sz="1100" b="0" i="0" dirty="0" err="1">
                <a:solidFill>
                  <a:srgbClr val="33413D"/>
                </a:solidFill>
                <a:latin typeface="Aptos"/>
              </a:rPr>
              <a:t>dahil</a:t>
            </a:r>
            <a:r>
              <a:rPr sz="1100" b="0" i="0" dirty="0">
                <a:solidFill>
                  <a:srgbClr val="33413D"/>
                </a:solidFill>
                <a:latin typeface="Aptos"/>
              </a:rPr>
              <a:t>.</a:t>
            </a:r>
          </a:p>
        </p:txBody>
      </p:sp>
      <p:sp>
        <p:nvSpPr>
          <p:cNvPr id="15" name="TextBox 14"/>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6" name="TextBox 15"/>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27</a:t>
            </a:r>
          </a:p>
        </p:txBody>
      </p:sp>
      <p:pic>
        <p:nvPicPr>
          <p:cNvPr id="17" name="Picture 16"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29.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09 · SONRAKİ ADIMLAR</a:t>
            </a:r>
          </a:p>
        </p:txBody>
      </p:sp>
      <p:sp>
        <p:nvSpPr>
          <p:cNvPr id="4" name="TextBox 3"/>
          <p:cNvSpPr txBox="1"/>
          <p:nvPr/>
        </p:nvSpPr>
        <p:spPr>
          <a:xfrm>
            <a:off x="640080" y="658368"/>
            <a:ext cx="10881360" cy="415498"/>
          </a:xfrm>
          <a:prstGeom prst="rect">
            <a:avLst/>
          </a:prstGeom>
          <a:noFill/>
        </p:spPr>
        <p:txBody>
          <a:bodyPr wrap="square" lIns="0" tIns="0" rIns="0" bIns="0" anchor="t">
            <a:spAutoFit/>
          </a:bodyPr>
          <a:lstStyle/>
          <a:p>
            <a:r>
              <a:rPr sz="2700" b="1" i="0" dirty="0">
                <a:solidFill>
                  <a:srgbClr val="044F49"/>
                </a:solidFill>
                <a:latin typeface="Aptos"/>
              </a:rPr>
              <a:t>3. Adım </a:t>
            </a:r>
            <a:r>
              <a:rPr lang="de-DE" sz="2700" b="1" i="0" dirty="0">
                <a:solidFill>
                  <a:srgbClr val="044F49"/>
                </a:solidFill>
                <a:latin typeface="Aptos"/>
              </a:rPr>
              <a:t>- </a:t>
            </a:r>
            <a:r>
              <a:rPr sz="2700" b="1" i="0" dirty="0" err="1">
                <a:solidFill>
                  <a:srgbClr val="044F49"/>
                </a:solidFill>
                <a:latin typeface="Aptos"/>
              </a:rPr>
              <a:t>Sizin Tarafınızdan Alınacak </a:t>
            </a:r>
            <a:r>
              <a:rPr sz="2700" b="1" i="0" dirty="0" err="1">
                <a:solidFill>
                  <a:srgbClr val="044F49"/>
                </a:solidFill>
                <a:latin typeface="Aptos"/>
              </a:rPr>
              <a:t>Onaylar </a:t>
            </a:r>
            <a:r>
              <a:rPr sz="2700" b="1" i="0" dirty="0">
                <a:solidFill>
                  <a:srgbClr val="044F49"/>
                </a:solidFill>
                <a:latin typeface="Aptos"/>
              </a:rPr>
              <a:t>ve </a:t>
            </a:r>
            <a:r>
              <a:rPr sz="2700" b="1" i="0" dirty="0" err="1">
                <a:solidFill>
                  <a:srgbClr val="044F49"/>
                </a:solidFill>
                <a:latin typeface="Aptos"/>
              </a:rPr>
              <a:t>Kararlar</a:t>
            </a:r>
            <a:endParaRPr sz="2700" b="1" i="0" dirty="0">
              <a:solidFill>
                <a:srgbClr val="044F49"/>
              </a:solidFill>
              <a:latin typeface="Aptos"/>
            </a:endParaRP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TextBox 8"/>
          <p:cNvSpPr txBox="1"/>
          <p:nvPr/>
        </p:nvSpPr>
        <p:spPr>
          <a:xfrm>
            <a:off x="640080" y="1463040"/>
            <a:ext cx="10881360" cy="502920"/>
          </a:xfrm>
          <a:prstGeom prst="rect">
            <a:avLst/>
          </a:prstGeom>
          <a:noFill/>
        </p:spPr>
        <p:txBody>
          <a:bodyPr wrap="square" lIns="0" tIns="0" rIns="0" bIns="0" anchor="t">
            <a:spAutoFit/>
          </a:bodyPr>
          <a:lstStyle/>
          <a:p>
            <a:pPr>
              <a:spcAft>
                <a:spcPts val="600"/>
              </a:spcAft>
            </a:pPr>
            <a:r>
              <a:rPr sz="1100" i="0">
                <a:solidFill>
                  <a:srgbClr val="33413D"/>
                </a:solidFill>
                <a:latin typeface="Aptos"/>
              </a:rPr>
              <a:t>Bu hususlar geliştirme hızına bağlı değildir ve erken bir aşamada paralel olarak başlatılmalıdır:</a:t>
            </a:r>
          </a:p>
        </p:txBody>
      </p:sp>
      <p:graphicFrame>
        <p:nvGraphicFramePr>
          <p:cNvPr id="10" name="Table 9"/>
          <p:cNvGraphicFramePr>
            <a:graphicFrameLocks noGrp="1"/>
          </p:cNvGraphicFramePr>
          <p:nvPr/>
        </p:nvGraphicFramePr>
        <p:xfrm>
          <a:off x="640080" y="1965960"/>
          <a:ext cx="10881359" cy="2926080"/>
        </p:xfrm>
        <a:graphic>
          <a:graphicData uri="http://schemas.openxmlformats.org/drawingml/2006/table">
            <a:tbl>
              <a:tblPr>
                <a:tableStyleId>{5C22544A-7EE6-4342-B048-85BDC9FD1C3A}</a:tableStyleId>
              </a:tblPr>
              <a:tblGrid>
                <a:gridCol w="3482035">
                  <a:extLst>
                    <a:ext uri="{9D8B030D-6E8A-4147-A177-3AD203B41FA5}">
                      <a16:colId xmlns:a16="http://schemas.microsoft.com/office/drawing/2014/main" val="20000"/>
                    </a:ext>
                  </a:extLst>
                </a:gridCol>
                <a:gridCol w="7399324">
                  <a:extLst>
                    <a:ext uri="{9D8B030D-6E8A-4147-A177-3AD203B41FA5}">
                      <a16:colId xmlns:a16="http://schemas.microsoft.com/office/drawing/2014/main" val="20001"/>
                    </a:ext>
                  </a:extLst>
                </a:gridCol>
              </a:tblGrid>
              <a:tr h="365760">
                <a:tc>
                  <a:txBody>
                    <a:bodyPr/>
                    <a:lstStyle/>
                    <a:p>
                      <a:r>
                        <a:rPr sz="1050" b="1" i="0">
                          <a:solidFill>
                            <a:srgbClr val="FFFFFF"/>
                          </a:solidFill>
                          <a:latin typeface="Aptos"/>
                        </a:rPr>
                        <a:t>Konu</a:t>
                      </a:r>
                    </a:p>
                  </a:txBody>
                  <a:tcPr marL="73152" marR="73152" marT="36576" marB="36576" anchor="ctr">
                    <a:solidFill>
                      <a:srgbClr val="066B63"/>
                    </a:solidFill>
                  </a:tcPr>
                </a:tc>
                <a:tc>
                  <a:txBody>
                    <a:bodyPr/>
                    <a:lstStyle/>
                    <a:p>
                      <a:r>
                        <a:rPr sz="1050" b="1" i="0">
                          <a:solidFill>
                            <a:srgbClr val="FFFFFF"/>
                          </a:solidFill>
                          <a:latin typeface="Aptos"/>
                        </a:rPr>
                        <a:t>Gerekli Karar / Onay</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00" b="1" i="0">
                          <a:solidFill>
                            <a:srgbClr val="101820"/>
                          </a:solidFill>
                          <a:latin typeface="Aptos"/>
                        </a:rPr>
                        <a:t>Üretim Veritabanı ve Barındırma</a:t>
                      </a:r>
                    </a:p>
                  </a:txBody>
                  <a:tcPr marL="73152" marR="73152" marT="36576" marB="36576" anchor="ctr">
                    <a:solidFill>
                      <a:srgbClr val="FFFFFF"/>
                    </a:solidFill>
                  </a:tcPr>
                </a:tc>
                <a:tc>
                  <a:txBody>
                    <a:bodyPr/>
                    <a:lstStyle/>
                    <a:p>
                      <a:r>
                        <a:rPr sz="1000" b="0" i="0">
                          <a:solidFill>
                            <a:srgbClr val="33413D"/>
                          </a:solidFill>
                          <a:latin typeface="Aptos"/>
                        </a:rPr>
                        <a:t>Üretim ortamı, bölge, yedekleme kuralı ve üretim işletimi için bütçenin onaylanması.</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r>
                        <a:rPr sz="1000" b="1" i="0">
                          <a:solidFill>
                            <a:srgbClr val="101820"/>
                          </a:solidFill>
                          <a:latin typeface="Aptos"/>
                        </a:rPr>
                        <a:t>Ödeme ve banka entegrasyonu</a:t>
                      </a:r>
                    </a:p>
                  </a:txBody>
                  <a:tcPr marL="73152" marR="73152" marT="36576" marB="36576" anchor="ctr">
                    <a:solidFill>
                      <a:srgbClr val="F1F5F4"/>
                    </a:solidFill>
                  </a:tcPr>
                </a:tc>
                <a:tc>
                  <a:txBody>
                    <a:bodyPr/>
                    <a:lstStyle/>
                    <a:p>
                      <a:r>
                        <a:rPr sz="1000" b="0" i="0">
                          <a:solidFill>
                            <a:srgbClr val="33413D"/>
                          </a:solidFill>
                          <a:latin typeface="Aptos"/>
                        </a:rPr>
                        <a:t>Sağlayıcı seçimi veya banka/havale iş akışının onaylanması.</a:t>
                      </a:r>
                    </a:p>
                  </a:txBody>
                  <a:tcPr marL="73152" marR="73152" marT="36576" marB="36576" anchor="ctr">
                    <a:solidFill>
                      <a:srgbClr val="F1F5F4"/>
                    </a:solidFill>
                  </a:tcPr>
                </a:tc>
                <a:extLst>
                  <a:ext uri="{0D108BD9-81ED-4DB2-BD59-A6C34878D82A}">
                    <a16:rowId xmlns:a16="http://schemas.microsoft.com/office/drawing/2014/main" val="10002"/>
                  </a:ext>
                </a:extLst>
              </a:tr>
              <a:tr h="365760">
                <a:tc>
                  <a:txBody>
                    <a:bodyPr/>
                    <a:lstStyle/>
                    <a:p>
                      <a:r>
                        <a:rPr sz="1000" b="1" i="0">
                          <a:solidFill>
                            <a:srgbClr val="101820"/>
                          </a:solidFill>
                          <a:latin typeface="Aptos"/>
                        </a:rPr>
                        <a:t>İletişim kanalları</a:t>
                      </a:r>
                    </a:p>
                  </a:txBody>
                  <a:tcPr marL="73152" marR="73152" marT="36576" marB="36576" anchor="ctr">
                    <a:solidFill>
                      <a:srgbClr val="FFFFFF"/>
                    </a:solidFill>
                  </a:tcPr>
                </a:tc>
                <a:tc>
                  <a:txBody>
                    <a:bodyPr/>
                    <a:lstStyle/>
                    <a:p>
                      <a:r>
                        <a:rPr sz="1000" b="0" i="0">
                          <a:solidFill>
                            <a:srgbClr val="33413D"/>
                          </a:solidFill>
                          <a:latin typeface="Aptos"/>
                        </a:rPr>
                        <a:t>SMS, e-posta ve push bildirimleri için sağlayıcı seçimi; WhatsApp Business doğrulaması (1–6 hafta sürer).</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r>
                        <a:rPr sz="1000" b="1" i="0">
                          <a:solidFill>
                            <a:srgbClr val="101820"/>
                          </a:solidFill>
                          <a:latin typeface="Aptos"/>
                        </a:rPr>
                        <a:t>Erişim sistemi</a:t>
                      </a:r>
                    </a:p>
                  </a:txBody>
                  <a:tcPr marL="73152" marR="73152" marT="36576" marB="36576" anchor="ctr">
                    <a:solidFill>
                      <a:srgbClr val="F1F5F4"/>
                    </a:solidFill>
                  </a:tcPr>
                </a:tc>
                <a:tc>
                  <a:txBody>
                    <a:bodyPr/>
                    <a:lstStyle/>
                    <a:p>
                      <a:r>
                        <a:rPr sz="1000" b="0" i="0">
                          <a:solidFill>
                            <a:srgbClr val="33413D"/>
                          </a:solidFill>
                          <a:latin typeface="Aptos"/>
                        </a:rPr>
                        <a:t>Donanımın yerinde envanterinin çıkarılması ve erişim işlemlerine ilişkin yasal sınırlamalar.</a:t>
                      </a:r>
                    </a:p>
                  </a:txBody>
                  <a:tcPr marL="73152" marR="73152" marT="36576" marB="36576" anchor="ctr">
                    <a:solidFill>
                      <a:srgbClr val="F1F5F4"/>
                    </a:solidFill>
                  </a:tcPr>
                </a:tc>
                <a:extLst>
                  <a:ext uri="{0D108BD9-81ED-4DB2-BD59-A6C34878D82A}">
                    <a16:rowId xmlns:a16="http://schemas.microsoft.com/office/drawing/2014/main" val="10004"/>
                  </a:ext>
                </a:extLst>
              </a:tr>
              <a:tr h="365760">
                <a:tc>
                  <a:txBody>
                    <a:bodyPr/>
                    <a:lstStyle/>
                    <a:p>
                      <a:r>
                        <a:rPr sz="1000" b="1" i="0">
                          <a:solidFill>
                            <a:srgbClr val="101820"/>
                          </a:solidFill>
                          <a:latin typeface="Aptos"/>
                        </a:rPr>
                        <a:t>Kimlik Doğrulama</a:t>
                      </a:r>
                    </a:p>
                  </a:txBody>
                  <a:tcPr marL="73152" marR="73152" marT="36576" marB="36576" anchor="ctr">
                    <a:solidFill>
                      <a:srgbClr val="FFFFFF"/>
                    </a:solidFill>
                  </a:tcPr>
                </a:tc>
                <a:tc>
                  <a:txBody>
                    <a:bodyPr/>
                    <a:lstStyle/>
                    <a:p>
                      <a:r>
                        <a:rPr sz="1000" b="0" i="0">
                          <a:solidFill>
                            <a:srgbClr val="33413D"/>
                          </a:solidFill>
                          <a:latin typeface="Aptos"/>
                        </a:rPr>
                        <a:t>Sahip/Kiracı kaydı sırasında doğrulama için bir doğrulama hizmetinin seçimi.</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r>
                        <a:rPr sz="1000" b="1" i="0">
                          <a:solidFill>
                            <a:srgbClr val="101820"/>
                          </a:solidFill>
                          <a:latin typeface="Aptos"/>
                        </a:rPr>
                        <a:t>Yasal Onaylar</a:t>
                      </a:r>
                    </a:p>
                  </a:txBody>
                  <a:tcPr marL="73152" marR="73152" marT="36576" marB="36576" anchor="ctr">
                    <a:solidFill>
                      <a:srgbClr val="F1F5F4"/>
                    </a:solidFill>
                  </a:tcPr>
                </a:tc>
                <a:tc>
                  <a:txBody>
                    <a:bodyPr/>
                    <a:lstStyle/>
                    <a:p>
                      <a:r>
                        <a:rPr sz="1000" b="0" i="0">
                          <a:solidFill>
                            <a:srgbClr val="33413D"/>
                          </a:solidFill>
                          <a:latin typeface="Aptos"/>
                        </a:rPr>
                        <a:t>Borçlu kısıtlamaları, teminatlar ve bildirim yükümlülükleri konusunda teknik onay.</a:t>
                      </a:r>
                    </a:p>
                  </a:txBody>
                  <a:tcPr marL="73152" marR="73152" marT="36576" marB="36576" anchor="ctr">
                    <a:solidFill>
                      <a:srgbClr val="F1F5F4"/>
                    </a:solidFill>
                  </a:tcPr>
                </a:tc>
                <a:extLst>
                  <a:ext uri="{0D108BD9-81ED-4DB2-BD59-A6C34878D82A}">
                    <a16:rowId xmlns:a16="http://schemas.microsoft.com/office/drawing/2014/main" val="10006"/>
                  </a:ext>
                </a:extLst>
              </a:tr>
              <a:tr h="365760">
                <a:tc>
                  <a:txBody>
                    <a:bodyPr/>
                    <a:lstStyle/>
                    <a:p>
                      <a:r>
                        <a:rPr sz="1000" b="1" i="0">
                          <a:solidFill>
                            <a:srgbClr val="101820"/>
                          </a:solidFill>
                          <a:latin typeface="Aptos"/>
                        </a:rPr>
                        <a:t>Kabul Testi (UAT)</a:t>
                      </a:r>
                    </a:p>
                  </a:txBody>
                  <a:tcPr marL="73152" marR="73152" marT="36576" marB="36576" anchor="ctr">
                    <a:solidFill>
                      <a:srgbClr val="FFFFFF"/>
                    </a:solidFill>
                  </a:tcPr>
                </a:tc>
                <a:tc>
                  <a:txBody>
                    <a:bodyPr/>
                    <a:lstStyle/>
                    <a:p>
                      <a:r>
                        <a:rPr sz="1000" b="0" i="0">
                          <a:solidFill>
                            <a:srgbClr val="33413D"/>
                          </a:solidFill>
                          <a:latin typeface="Aptos"/>
                        </a:rPr>
                        <a:t>Canlıya geçmeden önce gerçek verilerle ortak test ve resmi kabul.</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11" name="Rounded Rectangle 10"/>
          <p:cNvSpPr/>
          <p:nvPr/>
        </p:nvSpPr>
        <p:spPr>
          <a:xfrm>
            <a:off x="640080" y="5806440"/>
            <a:ext cx="10881360" cy="4572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5806440"/>
            <a:ext cx="54864" cy="457200"/>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 y="5934456"/>
            <a:ext cx="10469880" cy="201168"/>
          </a:xfrm>
          <a:prstGeom prst="rect">
            <a:avLst/>
          </a:prstGeom>
          <a:noFill/>
        </p:spPr>
        <p:txBody>
          <a:bodyPr wrap="square" lIns="0" tIns="0" rIns="0" bIns="0" anchor="ctr">
            <a:spAutoFit/>
          </a:bodyPr>
          <a:lstStyle/>
          <a:p>
            <a:r>
              <a:rPr sz="1250" b="1" i="0">
                <a:solidFill>
                  <a:srgbClr val="044F49"/>
                </a:solidFill>
                <a:latin typeface="Aptos"/>
              </a:rPr>
              <a:t>Öneri: </a:t>
            </a:r>
            <a:r>
              <a:rPr sz="1150" b="0" i="0">
                <a:solidFill>
                  <a:srgbClr val="33413D"/>
                </a:solidFill>
                <a:latin typeface="Aptos"/>
              </a:rPr>
              <a:t>Önce 1. Adım (en büyük etki, en az çaba); Rezervasyon girişine öncelik verin; 3. Adımı bağımsız olarak paralel olarak başlatın.</a:t>
            </a:r>
          </a:p>
        </p:txBody>
      </p:sp>
      <p:sp>
        <p:nvSpPr>
          <p:cNvPr id="14" name="TextBox 13"/>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5" name="TextBox 14"/>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28</a:t>
            </a:r>
          </a:p>
        </p:txBody>
      </p:sp>
      <p:pic>
        <p:nvPicPr>
          <p:cNvPr id="16" name="Picture 15"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0.xml><?xml version="1.0" encoding="utf-8"?>
<p:sld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10</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Uygulama Planı ve Zaman Çizelgesi</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graphicFrame>
        <p:nvGraphicFramePr>
          <p:cNvPr id="9" name="Table 8"/>
          <p:cNvGraphicFramePr>
            <a:graphicFrameLocks noGrp="1"/>
          </p:cNvGraphicFramePr>
          <p:nvPr/>
        </p:nvGraphicFramePr>
        <p:xfrm>
          <a:off x="640080" y="1554480"/>
          <a:ext cx="10881359" cy="2938272"/>
        </p:xfrm>
        <a:graphic>
          <a:graphicData uri="http://schemas.openxmlformats.org/drawingml/2006/table">
            <a:tbl>
              <a:tblPr>
                <a:tableStyleId>{5C22544A-7EE6-4342-B048-85BDC9FD1C3A}</a:tableStyleId>
              </a:tblPr>
              <a:tblGrid>
                <a:gridCol w="3046780">
                  <a:extLst>
                    <a:ext uri="{9D8B030D-6E8A-4147-A177-3AD203B41FA5}">
                      <a16:colId xmlns:a16="http://schemas.microsoft.com/office/drawing/2014/main" val="20000"/>
                    </a:ext>
                  </a:extLst>
                </a:gridCol>
                <a:gridCol w="5658307">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65760">
                <a:tc>
                  <a:txBody>
                    <a:bodyPr/>
                    <a:lstStyle/>
                    <a:p>
                      <a:r>
                        <a:rPr sz="1050" b="1" i="0" dirty="0" err="1">
                          <a:solidFill>
                            <a:srgbClr val="FFFFFF"/>
                          </a:solidFill>
                          <a:latin typeface="Aptos"/>
                        </a:rPr>
                        <a:t>Geliştirme Aşaması</a:t>
                      </a:r>
                      <a:endParaRPr sz="1050" b="1" i="0" dirty="0">
                        <a:solidFill>
                          <a:srgbClr val="FFFFFF"/>
                        </a:solidFill>
                        <a:latin typeface="Aptos"/>
                      </a:endParaRPr>
                    </a:p>
                  </a:txBody>
                  <a:tcPr marL="73152" marR="73152" marT="36576" marB="36576" anchor="ctr">
                    <a:solidFill>
                      <a:srgbClr val="066B63"/>
                    </a:solidFill>
                  </a:tcPr>
                </a:tc>
                <a:tc>
                  <a:txBody>
                    <a:bodyPr/>
                    <a:lstStyle/>
                    <a:p>
                      <a:r>
                        <a:rPr sz="1050" b="1" i="0">
                          <a:solidFill>
                            <a:srgbClr val="FFFFFF"/>
                          </a:solidFill>
                          <a:latin typeface="Aptos"/>
                        </a:rPr>
                        <a:t>İçerik</a:t>
                      </a:r>
                    </a:p>
                  </a:txBody>
                  <a:tcPr marL="73152" marR="73152" marT="36576" marB="36576" anchor="ctr">
                    <a:solidFill>
                      <a:srgbClr val="066B63"/>
                    </a:solidFill>
                  </a:tcPr>
                </a:tc>
                <a:tc>
                  <a:txBody>
                    <a:bodyPr/>
                    <a:lstStyle/>
                    <a:p>
                      <a:r>
                        <a:rPr sz="1050" b="1" i="0">
                          <a:solidFill>
                            <a:srgbClr val="FFFFFF"/>
                          </a:solidFill>
                          <a:latin typeface="Aptos"/>
                        </a:rPr>
                        <a:t>Durum</a:t>
                      </a:r>
                    </a:p>
                  </a:txBody>
                  <a:tcPr marL="73152" marR="73152" marT="36576" marB="36576" anchor="ctr">
                    <a:solidFill>
                      <a:srgbClr val="066B63"/>
                    </a:solidFill>
                  </a:tcPr>
                </a:tc>
                <a:extLst>
                  <a:ext uri="{0D108BD9-81ED-4DB2-BD59-A6C34878D82A}">
                    <a16:rowId xmlns:a16="http://schemas.microsoft.com/office/drawing/2014/main" val="10000"/>
                  </a:ext>
                </a:extLst>
              </a:tr>
              <a:tr h="365760">
                <a:tc>
                  <a:txBody>
                    <a:bodyPr/>
                    <a:lstStyle/>
                    <a:p>
                      <a:r>
                        <a:rPr sz="1000" b="1" i="0">
                          <a:solidFill>
                            <a:srgbClr val="101820"/>
                          </a:solidFill>
                          <a:latin typeface="Aptos"/>
                        </a:rPr>
                        <a:t>Temel (Operasyon, Finans, Hizmet)</a:t>
                      </a:r>
                    </a:p>
                  </a:txBody>
                  <a:tcPr marL="73152" marR="73152" marT="36576" marB="36576" anchor="ctr">
                    <a:solidFill>
                      <a:srgbClr val="FFFFFF"/>
                    </a:solidFill>
                  </a:tcPr>
                </a:tc>
                <a:tc>
                  <a:txBody>
                    <a:bodyPr/>
                    <a:lstStyle/>
                    <a:p>
                      <a:r>
                        <a:rPr sz="1000" b="0" i="0">
                          <a:solidFill>
                            <a:srgbClr val="33413D"/>
                          </a:solidFill>
                          <a:latin typeface="Aptos"/>
                        </a:rPr>
                        <a:t>Erişim ve Roller, Portföy, Kullanıcı Yönetimi, Finans, Ödeme/Borçlu Kontroller, Hizmet Kataloğu, Görevler/SLA.</a:t>
                      </a:r>
                    </a:p>
                  </a:txBody>
                  <a:tcPr marL="73152" marR="73152" marT="36576" marB="36576" anchor="ctr">
                    <a:solidFill>
                      <a:srgbClr val="FFFFFF"/>
                    </a:solidFill>
                  </a:tcPr>
                </a:tc>
                <a:tc>
                  <a:txBody>
                    <a:bodyPr/>
                    <a:lstStyle/>
                    <a:p>
                      <a:pPr algn="ctr"/>
                      <a:r>
                        <a:rPr sz="950" b="1" i="0">
                          <a:solidFill>
                            <a:srgbClr val="044F49"/>
                          </a:solidFill>
                          <a:latin typeface="Aptos"/>
                        </a:rPr>
                        <a:t>Tamamlandı (Demo)</a:t>
                      </a:r>
                    </a:p>
                  </a:txBody>
                  <a:tcPr marL="73152" marR="73152" marT="36576" marB="36576" anchor="ctr">
                    <a:solidFill>
                      <a:srgbClr val="DAE9E8"/>
                    </a:solidFill>
                  </a:tcPr>
                </a:tc>
                <a:extLst>
                  <a:ext uri="{0D108BD9-81ED-4DB2-BD59-A6C34878D82A}">
                    <a16:rowId xmlns:a16="http://schemas.microsoft.com/office/drawing/2014/main" val="10001"/>
                  </a:ext>
                </a:extLst>
              </a:tr>
              <a:tr h="365760">
                <a:tc>
                  <a:txBody>
                    <a:bodyPr/>
                    <a:lstStyle/>
                    <a:p>
                      <a:r>
                        <a:rPr sz="1000" b="1" i="0" dirty="0">
                          <a:solidFill>
                            <a:srgbClr val="101820"/>
                          </a:solidFill>
                          <a:latin typeface="Aptos"/>
                        </a:rPr>
                        <a:t>New Level Premium </a:t>
                      </a:r>
                      <a:r>
                        <a:rPr lang="de-DE" sz="1000" b="1" i="0" dirty="0">
                          <a:solidFill>
                            <a:srgbClr val="101820"/>
                          </a:solidFill>
                          <a:latin typeface="Aptos"/>
                        </a:rPr>
                        <a:t>- </a:t>
                      </a:r>
                      <a:r>
                        <a:rPr sz="1000" b="1" i="0" dirty="0">
                          <a:solidFill>
                            <a:srgbClr val="101820"/>
                          </a:solidFill>
                          <a:latin typeface="Aptos"/>
                        </a:rPr>
                        <a:t>genel </a:t>
                      </a:r>
                      <a:r>
                        <a:rPr sz="1000" b="1" i="0" dirty="0" err="1">
                          <a:solidFill>
                            <a:srgbClr val="101820"/>
                          </a:solidFill>
                          <a:latin typeface="Aptos"/>
                        </a:rPr>
                        <a:t>alan</a:t>
                      </a:r>
                      <a:endParaRPr sz="1000" b="1" i="0" dirty="0">
                        <a:solidFill>
                          <a:srgbClr val="101820"/>
                        </a:solidFill>
                        <a:latin typeface="Aptos"/>
                      </a:endParaRPr>
                    </a:p>
                  </a:txBody>
                  <a:tcPr marL="73152" marR="73152" marT="36576" marB="36576" anchor="ctr">
                    <a:solidFill>
                      <a:srgbClr val="F1F5F4"/>
                    </a:solidFill>
                  </a:tcPr>
                </a:tc>
                <a:tc>
                  <a:txBody>
                    <a:bodyPr/>
                    <a:lstStyle/>
                    <a:p>
                      <a:r>
                        <a:rPr sz="1000" b="0" i="0">
                          <a:solidFill>
                            <a:srgbClr val="33413D"/>
                          </a:solidFill>
                          <a:latin typeface="Aptos"/>
                        </a:rPr>
                        <a:t>Açılış sayfası, Kayıt, Bildirim kanalı, Kimlik doğrulama, Zamanlı erişim, Halka açık concierge.</a:t>
                      </a:r>
                    </a:p>
                  </a:txBody>
                  <a:tcPr marL="73152" marR="73152" marT="36576" marB="36576" anchor="ctr">
                    <a:solidFill>
                      <a:srgbClr val="F1F5F4"/>
                    </a:solidFill>
                  </a:tcPr>
                </a:tc>
                <a:tc>
                  <a:txBody>
                    <a:bodyPr/>
                    <a:lstStyle/>
                    <a:p>
                      <a:pPr algn="ctr"/>
                      <a:r>
                        <a:rPr sz="950" b="1" i="0">
                          <a:solidFill>
                            <a:srgbClr val="044F49"/>
                          </a:solidFill>
                          <a:latin typeface="Aptos"/>
                        </a:rPr>
                        <a:t>Tamamlandı (Demo)</a:t>
                      </a:r>
                    </a:p>
                  </a:txBody>
                  <a:tcPr marL="73152" marR="73152" marT="36576" marB="36576" anchor="ctr">
                    <a:solidFill>
                      <a:srgbClr val="DAE9E8"/>
                    </a:solidFill>
                  </a:tcPr>
                </a:tc>
                <a:extLst>
                  <a:ext uri="{0D108BD9-81ED-4DB2-BD59-A6C34878D82A}">
                    <a16:rowId xmlns:a16="http://schemas.microsoft.com/office/drawing/2014/main" val="10002"/>
                  </a:ext>
                </a:extLst>
              </a:tr>
              <a:tr h="365760">
                <a:tc>
                  <a:txBody>
                    <a:bodyPr/>
                    <a:lstStyle/>
                    <a:p>
                      <a:r>
                        <a:rPr sz="1000" b="1" i="0">
                          <a:solidFill>
                            <a:srgbClr val="101820"/>
                          </a:solidFill>
                          <a:latin typeface="Aptos"/>
                        </a:rPr>
                        <a:t>Rezervasyon, İletişim ve Belgeler</a:t>
                      </a:r>
                    </a:p>
                  </a:txBody>
                  <a:tcPr marL="73152" marR="73152" marT="36576" marB="36576" anchor="ctr">
                    <a:solidFill>
                      <a:srgbClr val="FFFFFF"/>
                    </a:solidFill>
                  </a:tcPr>
                </a:tc>
                <a:tc>
                  <a:txBody>
                    <a:bodyPr/>
                    <a:lstStyle/>
                    <a:p>
                      <a:r>
                        <a:rPr sz="1000" b="0" i="0">
                          <a:solidFill>
                            <a:srgbClr val="33413D"/>
                          </a:solidFill>
                          <a:latin typeface="Aptos"/>
                        </a:rPr>
                        <a:t>Rezervasyon/Taşınma/Çıkış, Mesajlar ve Şablonlar, Belge Yönetimi.</a:t>
                      </a:r>
                    </a:p>
                  </a:txBody>
                  <a:tcPr marL="73152" marR="73152" marT="36576" marB="36576" anchor="ctr">
                    <a:solidFill>
                      <a:srgbClr val="FFFFFF"/>
                    </a:solidFill>
                  </a:tcPr>
                </a:tc>
                <a:tc>
                  <a:txBody>
                    <a:bodyPr/>
                    <a:lstStyle/>
                    <a:p>
                      <a:pPr algn="ctr"/>
                      <a:r>
                        <a:rPr sz="950" b="1" i="0">
                          <a:solidFill>
                            <a:srgbClr val="7A5410"/>
                          </a:solidFill>
                          <a:latin typeface="Aptos"/>
                        </a:rPr>
                        <a:t>Demo mevcut, geliştirme aşamasında</a:t>
                      </a:r>
                    </a:p>
                  </a:txBody>
                  <a:tcPr marL="73152" marR="73152" marT="36576" marB="36576" anchor="ctr">
                    <a:solidFill>
                      <a:srgbClr val="F4EBDD"/>
                    </a:solidFill>
                  </a:tcPr>
                </a:tc>
                <a:extLst>
                  <a:ext uri="{0D108BD9-81ED-4DB2-BD59-A6C34878D82A}">
                    <a16:rowId xmlns:a16="http://schemas.microsoft.com/office/drawing/2014/main" val="10003"/>
                  </a:ext>
                </a:extLst>
              </a:tr>
              <a:tr h="365760">
                <a:tc>
                  <a:txBody>
                    <a:bodyPr/>
                    <a:lstStyle/>
                    <a:p>
                      <a:r>
                        <a:rPr sz="1000" b="1" i="0">
                          <a:solidFill>
                            <a:srgbClr val="101820"/>
                          </a:solidFill>
                          <a:latin typeface="Aptos"/>
                        </a:rPr>
                        <a:t>Mobil ve yüklenebilir kullanım</a:t>
                      </a:r>
                    </a:p>
                  </a:txBody>
                  <a:tcPr marL="73152" marR="73152" marT="36576" marB="36576" anchor="ctr">
                    <a:solidFill>
                      <a:srgbClr val="F1F5F4"/>
                    </a:solidFill>
                  </a:tcPr>
                </a:tc>
                <a:tc>
                  <a:txBody>
                    <a:bodyPr/>
                    <a:lstStyle/>
                    <a:p>
                      <a:r>
                        <a:rPr sz="1000" b="0" i="0">
                          <a:solidFill>
                            <a:srgbClr val="33413D"/>
                          </a:solidFill>
                          <a:latin typeface="Aptos"/>
                        </a:rPr>
                        <a:t>Yüklenebilir web uygulaması halihazırda kullanılabilir; Çevrimdışı senkronizasyon ve push bildirimleri geliştirme aşamasında.</a:t>
                      </a:r>
                    </a:p>
                  </a:txBody>
                  <a:tcPr marL="73152" marR="73152" marT="36576" marB="36576" anchor="ctr">
                    <a:solidFill>
                      <a:srgbClr val="F1F5F4"/>
                    </a:solidFill>
                  </a:tcPr>
                </a:tc>
                <a:tc>
                  <a:txBody>
                    <a:bodyPr/>
                    <a:lstStyle/>
                    <a:p>
                      <a:pPr algn="ctr"/>
                      <a:r>
                        <a:rPr sz="950" b="1" i="0">
                          <a:solidFill>
                            <a:srgbClr val="7A5410"/>
                          </a:solidFill>
                          <a:latin typeface="Aptos"/>
                        </a:rPr>
                        <a:t>Kısmen kullanıma açık</a:t>
                      </a:r>
                    </a:p>
                  </a:txBody>
                  <a:tcPr marL="73152" marR="73152" marT="36576" marB="36576" anchor="ctr">
                    <a:solidFill>
                      <a:srgbClr val="F4EBDD"/>
                    </a:solidFill>
                  </a:tcPr>
                </a:tc>
                <a:extLst>
                  <a:ext uri="{0D108BD9-81ED-4DB2-BD59-A6C34878D82A}">
                    <a16:rowId xmlns:a16="http://schemas.microsoft.com/office/drawing/2014/main" val="10004"/>
                  </a:ext>
                </a:extLst>
              </a:tr>
              <a:tr h="365760">
                <a:tc>
                  <a:txBody>
                    <a:bodyPr/>
                    <a:lstStyle/>
                    <a:p>
                      <a:r>
                        <a:rPr sz="1000" b="1" i="0">
                          <a:solidFill>
                            <a:srgbClr val="101820"/>
                          </a:solidFill>
                          <a:latin typeface="Aptos"/>
                        </a:rPr>
                        <a:t>Harici entegrasyonlar</a:t>
                      </a:r>
                    </a:p>
                  </a:txBody>
                  <a:tcPr marL="73152" marR="73152" marT="36576" marB="36576" anchor="ctr">
                    <a:solidFill>
                      <a:srgbClr val="FFFFFF"/>
                    </a:solidFill>
                  </a:tcPr>
                </a:tc>
                <a:tc>
                  <a:txBody>
                    <a:bodyPr/>
                    <a:lstStyle/>
                    <a:p>
                      <a:r>
                        <a:rPr sz="1000" b="0" i="0">
                          <a:solidFill>
                            <a:srgbClr val="33413D"/>
                          </a:solidFill>
                          <a:latin typeface="Aptos"/>
                        </a:rPr>
                        <a:t>Ödeme, banka, iletişim ve erişim entegrasyonları.</a:t>
                      </a:r>
                    </a:p>
                  </a:txBody>
                  <a:tcPr marL="73152" marR="73152" marT="36576" marB="36576" anchor="ctr">
                    <a:solidFill>
                      <a:srgbClr val="FFFFFF"/>
                    </a:solidFill>
                  </a:tcPr>
                </a:tc>
                <a:tc>
                  <a:txBody>
                    <a:bodyPr/>
                    <a:lstStyle/>
                    <a:p>
                      <a:pPr algn="ctr"/>
                      <a:r>
                        <a:rPr sz="950" b="1" i="0">
                          <a:solidFill>
                            <a:srgbClr val="4B5652"/>
                          </a:solidFill>
                          <a:latin typeface="Aptos"/>
                        </a:rPr>
                        <a:t>Hazır, sağlayıcı seçimi açık</a:t>
                      </a:r>
                    </a:p>
                  </a:txBody>
                  <a:tcPr marL="73152" marR="73152" marT="36576" marB="36576" anchor="ctr">
                    <a:solidFill>
                      <a:srgbClr val="EAECEB"/>
                    </a:solidFill>
                  </a:tcPr>
                </a:tc>
                <a:extLst>
                  <a:ext uri="{0D108BD9-81ED-4DB2-BD59-A6C34878D82A}">
                    <a16:rowId xmlns:a16="http://schemas.microsoft.com/office/drawing/2014/main" val="10005"/>
                  </a:ext>
                </a:extLst>
              </a:tr>
              <a:tr h="365760">
                <a:tc>
                  <a:txBody>
                    <a:bodyPr/>
                    <a:lstStyle/>
                    <a:p>
                      <a:r>
                        <a:rPr sz="1000" b="1" i="0">
                          <a:solidFill>
                            <a:srgbClr val="101820"/>
                          </a:solidFill>
                          <a:latin typeface="Aptos"/>
                        </a:rPr>
                        <a:t>AI Premium Seviyesi</a:t>
                      </a:r>
                    </a:p>
                  </a:txBody>
                  <a:tcPr marL="73152" marR="73152" marT="36576" marB="36576" anchor="ctr">
                    <a:solidFill>
                      <a:srgbClr val="F1F5F4"/>
                    </a:solidFill>
                  </a:tcPr>
                </a:tc>
                <a:tc>
                  <a:txBody>
                    <a:bodyPr/>
                    <a:lstStyle/>
                    <a:p>
                      <a:r>
                        <a:rPr sz="1000" b="0" i="0">
                          <a:solidFill>
                            <a:srgbClr val="33413D"/>
                          </a:solidFill>
                          <a:latin typeface="Aptos"/>
                        </a:rPr>
                        <a:t>Gelişmiş analizler, tahminler ve rapor şablonları.</a:t>
                      </a:r>
                    </a:p>
                  </a:txBody>
                  <a:tcPr marL="73152" marR="73152" marT="36576" marB="36576" anchor="ctr">
                    <a:solidFill>
                      <a:srgbClr val="F1F5F4"/>
                    </a:solidFill>
                  </a:tcPr>
                </a:tc>
                <a:tc>
                  <a:txBody>
                    <a:bodyPr/>
                    <a:lstStyle/>
                    <a:p>
                      <a:pPr algn="ctr"/>
                      <a:r>
                        <a:rPr sz="950" b="1" i="0">
                          <a:solidFill>
                            <a:srgbClr val="4B5652"/>
                          </a:solidFill>
                          <a:latin typeface="Aptos"/>
                        </a:rPr>
                        <a:t>Önizleme mevcut</a:t>
                      </a:r>
                    </a:p>
                  </a:txBody>
                  <a:tcPr marL="73152" marR="73152" marT="36576" marB="36576" anchor="ctr">
                    <a:solidFill>
                      <a:srgbClr val="EAECEB"/>
                    </a:solidFill>
                  </a:tcPr>
                </a:tc>
                <a:extLst>
                  <a:ext uri="{0D108BD9-81ED-4DB2-BD59-A6C34878D82A}">
                    <a16:rowId xmlns:a16="http://schemas.microsoft.com/office/drawing/2014/main" val="10006"/>
                  </a:ext>
                </a:extLst>
              </a:tr>
              <a:tr h="365760">
                <a:tc>
                  <a:txBody>
                    <a:bodyPr/>
                    <a:lstStyle/>
                    <a:p>
                      <a:r>
                        <a:rPr sz="1000" b="1" i="0">
                          <a:solidFill>
                            <a:srgbClr val="101820"/>
                          </a:solidFill>
                          <a:latin typeface="Aptos"/>
                        </a:rPr>
                        <a:t>Kabul ve Lansman</a:t>
                      </a:r>
                    </a:p>
                  </a:txBody>
                  <a:tcPr marL="73152" marR="73152" marT="36576" marB="36576" anchor="ctr">
                    <a:solidFill>
                      <a:srgbClr val="FFFFFF"/>
                    </a:solidFill>
                  </a:tcPr>
                </a:tc>
                <a:tc>
                  <a:txBody>
                    <a:bodyPr/>
                    <a:lstStyle/>
                    <a:p>
                      <a:r>
                        <a:rPr sz="1000" b="0" i="0">
                          <a:solidFill>
                            <a:srgbClr val="33413D"/>
                          </a:solidFill>
                          <a:latin typeface="Aptos"/>
                        </a:rPr>
                        <a:t>Güvenlik denetimi, gerçek verilerle kabul testi, eğitim, canlı ortama geçiş.</a:t>
                      </a:r>
                    </a:p>
                  </a:txBody>
                  <a:tcPr marL="73152" marR="73152" marT="36576" marB="36576" anchor="ctr">
                    <a:solidFill>
                      <a:srgbClr val="FFFFFF"/>
                    </a:solidFill>
                  </a:tcPr>
                </a:tc>
                <a:tc>
                  <a:txBody>
                    <a:bodyPr/>
                    <a:lstStyle/>
                    <a:p>
                      <a:pPr algn="ctr"/>
                      <a:r>
                        <a:rPr sz="950" b="1" i="0">
                          <a:solidFill>
                            <a:srgbClr val="4B5652"/>
                          </a:solidFill>
                          <a:latin typeface="Aptos"/>
                        </a:rPr>
                        <a:t>Planlanmış</a:t>
                      </a:r>
                    </a:p>
                  </a:txBody>
                  <a:tcPr marL="73152" marR="73152" marT="36576" marB="36576" anchor="ctr">
                    <a:solidFill>
                      <a:srgbClr val="EAECEB"/>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1" name="TextBox 1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29</a:t>
            </a:r>
          </a:p>
        </p:txBody>
      </p:sp>
      <p:pic>
        <p:nvPicPr>
          <p:cNvPr id="12" name="Picture 1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10 · UYGULAMA PLANI</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Gerçekçi Sınıflandırma</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2011680"/>
            <a:ext cx="10881360" cy="228600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011680"/>
            <a:ext cx="54864" cy="228600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93042"/>
            <a:ext cx="10469880" cy="723275"/>
          </a:xfrm>
          <a:prstGeom prst="rect">
            <a:avLst/>
          </a:prstGeom>
          <a:noFill/>
        </p:spPr>
        <p:txBody>
          <a:bodyPr wrap="square" lIns="0" tIns="0" rIns="0" bIns="0" anchor="ctr">
            <a:spAutoFit/>
          </a:bodyPr>
          <a:lstStyle/>
          <a:p>
            <a:r>
              <a:rPr sz="1250" b="1" i="0" dirty="0" err="1">
                <a:solidFill>
                  <a:srgbClr val="044F49"/>
                </a:solidFill>
                <a:latin typeface="Aptos"/>
              </a:rPr>
              <a:t>İşlevsel</a:t>
            </a:r>
            <a:r>
              <a:rPr sz="1250" b="1" i="0" dirty="0">
                <a:solidFill>
                  <a:srgbClr val="044F49"/>
                </a:solidFill>
                <a:latin typeface="Aptos"/>
              </a:rPr>
              <a:t> bir </a:t>
            </a:r>
            <a:r>
              <a:rPr sz="1250" b="1" i="0" dirty="0" err="1">
                <a:solidFill>
                  <a:srgbClr val="044F49"/>
                </a:solidFill>
                <a:latin typeface="Aptos"/>
              </a:rPr>
              <a:t>genel sistem </a:t>
            </a:r>
            <a:r>
              <a:rPr lang="de-DE" sz="1250" b="1" i="0" dirty="0">
                <a:solidFill>
                  <a:srgbClr val="044F49"/>
                </a:solidFill>
                <a:latin typeface="Aptos"/>
              </a:rPr>
              <a:t>– </a:t>
            </a:r>
            <a:r>
              <a:rPr sz="1250" b="1" i="0" dirty="0" err="1">
                <a:solidFill>
                  <a:srgbClr val="044F49"/>
                </a:solidFill>
                <a:latin typeface="Aptos"/>
              </a:rPr>
              <a:t>henüz </a:t>
            </a:r>
            <a:r>
              <a:rPr sz="1250" b="1" i="0" dirty="0" err="1">
                <a:solidFill>
                  <a:srgbClr val="044F49"/>
                </a:solidFill>
                <a:latin typeface="Aptos"/>
              </a:rPr>
              <a:t>üretime </a:t>
            </a:r>
            <a:r>
              <a:rPr sz="1250" b="1" i="0" dirty="0" err="1">
                <a:solidFill>
                  <a:srgbClr val="044F49"/>
                </a:solidFill>
                <a:latin typeface="Aptos"/>
              </a:rPr>
              <a:t>hazır </a:t>
            </a:r>
            <a:r>
              <a:rPr sz="1250" b="1" i="0" dirty="0" err="1">
                <a:solidFill>
                  <a:srgbClr val="044F49"/>
                </a:solidFill>
                <a:latin typeface="Aptos"/>
              </a:rPr>
              <a:t>bir </a:t>
            </a:r>
            <a:r>
              <a:rPr sz="1250" b="1" i="0" dirty="0" err="1">
                <a:solidFill>
                  <a:srgbClr val="044F49"/>
                </a:solidFill>
                <a:latin typeface="Aptos"/>
              </a:rPr>
              <a:t>nihai ürün </a:t>
            </a:r>
            <a:r>
              <a:rPr sz="1250" b="1" i="0" dirty="0" err="1">
                <a:solidFill>
                  <a:srgbClr val="044F49"/>
                </a:solidFill>
                <a:latin typeface="Aptos"/>
              </a:rPr>
              <a:t>değil</a:t>
            </a:r>
            <a:r>
              <a:rPr sz="1250" b="1" i="0" dirty="0">
                <a:solidFill>
                  <a:srgbClr val="044F49"/>
                </a:solidFill>
                <a:latin typeface="Aptos"/>
              </a:rPr>
              <a:t>.  </a:t>
            </a:r>
            <a:r>
              <a:rPr sz="1150" b="0" i="0" dirty="0" err="1">
                <a:solidFill>
                  <a:srgbClr val="33413D"/>
                </a:solidFill>
                <a:latin typeface="Aptos"/>
              </a:rPr>
              <a:t>Mevcut</a:t>
            </a:r>
            <a:r>
              <a:rPr sz="1150" b="0" i="0" dirty="0">
                <a:solidFill>
                  <a:srgbClr val="33413D"/>
                </a:solidFill>
                <a:latin typeface="Aptos"/>
              </a:rPr>
              <a:t> </a:t>
            </a:r>
            <a:r>
              <a:rPr sz="1150" b="0" i="0" dirty="0">
                <a:solidFill>
                  <a:srgbClr val="33413D"/>
                </a:solidFill>
                <a:latin typeface="Aptos"/>
              </a:rPr>
              <a:t>durum</a:t>
            </a:r>
            <a:r>
              <a:rPr sz="1150" b="0" i="0" dirty="0" err="1">
                <a:solidFill>
                  <a:srgbClr val="33413D"/>
                </a:solidFill>
                <a:latin typeface="Aptos"/>
              </a:rPr>
              <a:t>, </a:t>
            </a:r>
            <a:r>
              <a:rPr sz="1150" b="0" i="0" dirty="0" err="1">
                <a:solidFill>
                  <a:srgbClr val="33413D"/>
                </a:solidFill>
                <a:latin typeface="Aptos"/>
              </a:rPr>
              <a:t>değerlendirmeleriniz</a:t>
            </a:r>
            <a:r>
              <a:rPr sz="1150" b="0" i="0" dirty="0">
                <a:solidFill>
                  <a:srgbClr val="33413D"/>
                </a:solidFill>
                <a:latin typeface="Aptos"/>
              </a:rPr>
              <a:t>, </a:t>
            </a:r>
            <a:r>
              <a:rPr sz="1150" b="0" i="0" dirty="0" err="1">
                <a:solidFill>
                  <a:srgbClr val="33413D"/>
                </a:solidFill>
                <a:latin typeface="Aptos"/>
              </a:rPr>
              <a:t>sunumlarınız </a:t>
            </a:r>
            <a:r>
              <a:rPr sz="1150" b="0" i="0" dirty="0">
                <a:solidFill>
                  <a:srgbClr val="33413D"/>
                </a:solidFill>
                <a:latin typeface="Aptos"/>
              </a:rPr>
              <a:t>ve </a:t>
            </a:r>
            <a:r>
              <a:rPr sz="1150" b="0" i="0" dirty="0" err="1">
                <a:solidFill>
                  <a:srgbClr val="33413D"/>
                </a:solidFill>
                <a:latin typeface="Aptos"/>
              </a:rPr>
              <a:t>ilk </a:t>
            </a:r>
            <a:r>
              <a:rPr sz="1150" b="0" i="0" dirty="0" err="1">
                <a:solidFill>
                  <a:srgbClr val="33413D"/>
                </a:solidFill>
                <a:latin typeface="Aptos"/>
              </a:rPr>
              <a:t>geri bildirimleriniz </a:t>
            </a:r>
            <a:r>
              <a:rPr sz="1150" b="0" i="0" dirty="0">
                <a:solidFill>
                  <a:srgbClr val="33413D"/>
                </a:solidFill>
                <a:latin typeface="Aptos"/>
              </a:rPr>
              <a:t>için </a:t>
            </a:r>
            <a:r>
              <a:rPr sz="1150" b="0" i="0" dirty="0" err="1">
                <a:solidFill>
                  <a:srgbClr val="33413D"/>
                </a:solidFill>
                <a:latin typeface="Aptos"/>
              </a:rPr>
              <a:t>gerçekçi </a:t>
            </a:r>
            <a:r>
              <a:rPr sz="1150" b="0" i="0" dirty="0" err="1">
                <a:solidFill>
                  <a:srgbClr val="33413D"/>
                </a:solidFill>
                <a:latin typeface="Aptos"/>
              </a:rPr>
              <a:t>verilerle </a:t>
            </a:r>
            <a:r>
              <a:rPr sz="1150" b="0" i="0" dirty="0" err="1">
                <a:solidFill>
                  <a:srgbClr val="33413D"/>
                </a:solidFill>
                <a:latin typeface="Aptos"/>
              </a:rPr>
              <a:t>çalışabilen </a:t>
            </a:r>
            <a:r>
              <a:rPr sz="1150" b="0" i="0" dirty="0" err="1">
                <a:solidFill>
                  <a:srgbClr val="33413D"/>
                </a:solidFill>
                <a:latin typeface="Aptos"/>
              </a:rPr>
              <a:t>bir </a:t>
            </a:r>
            <a:r>
              <a:rPr sz="1150" b="0" i="0" dirty="0" err="1">
                <a:solidFill>
                  <a:srgbClr val="33413D"/>
                </a:solidFill>
                <a:latin typeface="Aptos"/>
              </a:rPr>
              <a:t>genel sistemdir</a:t>
            </a:r>
            <a:r>
              <a:rPr sz="1150" b="0" i="0" dirty="0">
                <a:solidFill>
                  <a:srgbClr val="33413D"/>
                </a:solidFill>
                <a:latin typeface="Aptos"/>
              </a:rPr>
              <a:t>. </a:t>
            </a:r>
            <a:r>
              <a:rPr sz="1150" b="0" i="0" dirty="0" err="1">
                <a:solidFill>
                  <a:srgbClr val="33413D"/>
                </a:solidFill>
                <a:latin typeface="Aptos"/>
              </a:rPr>
              <a:t>Özellikle </a:t>
            </a:r>
            <a:r>
              <a:rPr sz="1150" b="0" i="0" dirty="0" err="1">
                <a:solidFill>
                  <a:srgbClr val="33413D"/>
                </a:solidFill>
                <a:latin typeface="Aptos"/>
              </a:rPr>
              <a:t>ödeme işlemleri</a:t>
            </a:r>
            <a:r>
              <a:rPr sz="1150" b="0" i="0" dirty="0">
                <a:solidFill>
                  <a:srgbClr val="33413D"/>
                </a:solidFill>
                <a:latin typeface="Aptos"/>
              </a:rPr>
              <a:t>, </a:t>
            </a:r>
            <a:r>
              <a:rPr sz="1150" b="0" i="0" dirty="0" err="1">
                <a:solidFill>
                  <a:srgbClr val="33413D"/>
                </a:solidFill>
                <a:latin typeface="Aptos"/>
              </a:rPr>
              <a:t>erişim kontrolü</a:t>
            </a:r>
            <a:r>
              <a:rPr sz="1150" b="0" i="0" dirty="0">
                <a:solidFill>
                  <a:srgbClr val="33413D"/>
                </a:solidFill>
                <a:latin typeface="Aptos"/>
              </a:rPr>
              <a:t>, </a:t>
            </a:r>
            <a:r>
              <a:rPr sz="1150" b="0" i="0" dirty="0" err="1">
                <a:solidFill>
                  <a:srgbClr val="33413D"/>
                </a:solidFill>
                <a:latin typeface="Aptos"/>
              </a:rPr>
              <a:t>resmi makamlara bildirim </a:t>
            </a:r>
            <a:r>
              <a:rPr sz="1150" b="0" i="0" dirty="0">
                <a:solidFill>
                  <a:srgbClr val="33413D"/>
                </a:solidFill>
                <a:latin typeface="Aptos"/>
              </a:rPr>
              <a:t>ve </a:t>
            </a:r>
            <a:r>
              <a:rPr sz="1150" b="0" i="0" dirty="0" err="1">
                <a:solidFill>
                  <a:srgbClr val="33413D"/>
                </a:solidFill>
                <a:latin typeface="Aptos"/>
              </a:rPr>
              <a:t>her </a:t>
            </a:r>
            <a:r>
              <a:rPr sz="1150" b="0" i="0" dirty="0">
                <a:solidFill>
                  <a:srgbClr val="33413D"/>
                </a:solidFill>
                <a:latin typeface="Aptos"/>
              </a:rPr>
              <a:t>türlü </a:t>
            </a:r>
            <a:r>
              <a:rPr sz="1150" b="0" i="0" dirty="0" err="1">
                <a:solidFill>
                  <a:srgbClr val="33413D"/>
                </a:solidFill>
                <a:latin typeface="Aptos"/>
              </a:rPr>
              <a:t>yapay zeka otomasyonu</a:t>
            </a:r>
            <a:r>
              <a:rPr sz="1150" b="0" i="0" dirty="0">
                <a:solidFill>
                  <a:srgbClr val="33413D"/>
                </a:solidFill>
                <a:latin typeface="Aptos"/>
              </a:rPr>
              <a:t>, </a:t>
            </a:r>
            <a:r>
              <a:rPr sz="1150" b="0" i="0" dirty="0" err="1">
                <a:solidFill>
                  <a:srgbClr val="33413D"/>
                </a:solidFill>
                <a:latin typeface="Aptos"/>
              </a:rPr>
              <a:t>kasıtlı olarak </a:t>
            </a:r>
            <a:r>
              <a:rPr sz="1150" b="0" i="0" dirty="0" err="1">
                <a:solidFill>
                  <a:srgbClr val="33413D"/>
                </a:solidFill>
                <a:latin typeface="Aptos"/>
              </a:rPr>
              <a:t>insan </a:t>
            </a:r>
            <a:r>
              <a:rPr sz="1150" b="0" i="0" dirty="0" err="1">
                <a:solidFill>
                  <a:srgbClr val="33413D"/>
                </a:solidFill>
                <a:latin typeface="Aptos"/>
              </a:rPr>
              <a:t>onayıyla </a:t>
            </a:r>
            <a:r>
              <a:rPr sz="1150" b="0" i="0" dirty="0">
                <a:solidFill>
                  <a:srgbClr val="33413D"/>
                </a:solidFill>
                <a:latin typeface="Aptos"/>
              </a:rPr>
              <a:t>veya </a:t>
            </a:r>
            <a:r>
              <a:rPr sz="1150" b="0" i="0" dirty="0" err="1">
                <a:solidFill>
                  <a:srgbClr val="33413D"/>
                </a:solidFill>
                <a:latin typeface="Aptos"/>
              </a:rPr>
              <a:t>sadece </a:t>
            </a:r>
            <a:r>
              <a:rPr sz="1150" b="0" i="0" dirty="0" err="1">
                <a:solidFill>
                  <a:srgbClr val="33413D"/>
                </a:solidFill>
                <a:latin typeface="Aptos"/>
              </a:rPr>
              <a:t>tavsiye niteliğinde </a:t>
            </a:r>
            <a:r>
              <a:rPr sz="1150" b="0" i="0" dirty="0" err="1">
                <a:solidFill>
                  <a:srgbClr val="33413D"/>
                </a:solidFill>
                <a:latin typeface="Aptos"/>
              </a:rPr>
              <a:t>başlatılır </a:t>
            </a:r>
            <a:r>
              <a:rPr sz="1150" b="0" i="0" dirty="0">
                <a:solidFill>
                  <a:srgbClr val="33413D"/>
                </a:solidFill>
                <a:latin typeface="Aptos"/>
              </a:rPr>
              <a:t>ve </a:t>
            </a:r>
            <a:r>
              <a:rPr sz="1150" b="0" i="0" dirty="0">
                <a:solidFill>
                  <a:srgbClr val="33413D"/>
                </a:solidFill>
                <a:latin typeface="Aptos"/>
              </a:rPr>
              <a:t>ancak</a:t>
            </a:r>
            <a:r>
              <a:rPr sz="1150" b="0" i="0" dirty="0">
                <a:solidFill>
                  <a:srgbClr val="33413D"/>
                </a:solidFill>
                <a:latin typeface="Aptos"/>
              </a:rPr>
              <a:t> 9.</a:t>
            </a:r>
            <a:r>
              <a:rPr sz="1150" b="0" i="0" dirty="0" err="1">
                <a:solidFill>
                  <a:srgbClr val="33413D"/>
                </a:solidFill>
                <a:latin typeface="Aptos"/>
              </a:rPr>
              <a:t> bölümdeki </a:t>
            </a:r>
            <a:r>
              <a:rPr sz="1150" b="0" i="0" dirty="0" err="1">
                <a:solidFill>
                  <a:srgbClr val="33413D"/>
                </a:solidFill>
                <a:latin typeface="Aptos"/>
              </a:rPr>
              <a:t>kararların </a:t>
            </a:r>
            <a:r>
              <a:rPr sz="1150" b="0" i="0" dirty="0" err="1">
                <a:solidFill>
                  <a:srgbClr val="33413D"/>
                </a:solidFill>
                <a:latin typeface="Aptos"/>
              </a:rPr>
              <a:t>ardından </a:t>
            </a:r>
            <a:r>
              <a:rPr sz="1150" b="0" i="0" dirty="0" err="1">
                <a:solidFill>
                  <a:srgbClr val="33413D"/>
                </a:solidFill>
                <a:latin typeface="Aptos"/>
              </a:rPr>
              <a:t>üretime </a:t>
            </a:r>
            <a:r>
              <a:rPr sz="1150" b="0" i="0" dirty="0" err="1">
                <a:solidFill>
                  <a:srgbClr val="33413D"/>
                </a:solidFill>
                <a:latin typeface="Aptos"/>
              </a:rPr>
              <a:t>alınır</a:t>
            </a:r>
            <a:r>
              <a:rPr sz="1150" b="0" i="0" dirty="0">
                <a:solidFill>
                  <a:srgbClr val="33413D"/>
                </a:solidFill>
                <a:latin typeface="Aptos"/>
              </a:rPr>
              <a:t>.</a:t>
            </a:r>
          </a:p>
        </p:txBody>
      </p:sp>
      <p:sp>
        <p:nvSpPr>
          <p:cNvPr id="12" name="TextBox 11"/>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adına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13" name="TextBox 12"/>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30</a:t>
            </a:r>
          </a:p>
        </p:txBody>
      </p:sp>
      <p:pic>
        <p:nvPicPr>
          <p:cNvPr id="14" name="Picture 13"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881360" cy="320040"/>
          </a:xfrm>
          <a:prstGeom prst="rect">
            <a:avLst/>
          </a:prstGeom>
          <a:noFill/>
        </p:spPr>
        <p:txBody>
          <a:bodyPr wrap="square" lIns="0" tIns="0" rIns="0" bIns="0" anchor="t">
            <a:spAutoFit/>
          </a:bodyPr>
          <a:lstStyle/>
          <a:p>
            <a:r>
              <a:rPr sz="1100" b="1" i="0">
                <a:solidFill>
                  <a:srgbClr val="B9822B"/>
                </a:solidFill>
                <a:latin typeface="Aptos"/>
              </a:rPr>
              <a:t>BÖLÜM 11</a:t>
            </a:r>
          </a:p>
        </p:txBody>
      </p:sp>
      <p:sp>
        <p:nvSpPr>
          <p:cNvPr id="4" name="TextBox 3"/>
          <p:cNvSpPr txBox="1"/>
          <p:nvPr/>
        </p:nvSpPr>
        <p:spPr>
          <a:xfrm>
            <a:off x="640080" y="658368"/>
            <a:ext cx="10881360" cy="640080"/>
          </a:xfrm>
          <a:prstGeom prst="rect">
            <a:avLst/>
          </a:prstGeom>
          <a:noFill/>
        </p:spPr>
        <p:txBody>
          <a:bodyPr wrap="square" lIns="0" tIns="0" rIns="0" bIns="0" anchor="t">
            <a:spAutoFit/>
          </a:bodyPr>
          <a:lstStyle/>
          <a:p>
            <a:r>
              <a:rPr sz="2700" b="1" i="0">
                <a:solidFill>
                  <a:srgbClr val="044F49"/>
                </a:solidFill>
                <a:latin typeface="Aptos"/>
              </a:rPr>
              <a:t>Fırsatlar</a:t>
            </a:r>
          </a:p>
        </p:txBody>
      </p:sp>
      <p:sp>
        <p:nvSpPr>
          <p:cNvPr id="5" name="Rectangle 4"/>
          <p:cNvSpPr/>
          <p:nvPr/>
        </p:nvSpPr>
        <p:spPr>
          <a:xfrm>
            <a:off x="658368" y="1298448"/>
            <a:ext cx="502920" cy="41148"/>
          </a:xfrm>
          <a:prstGeom prst="rect">
            <a:avLst/>
          </a:prstGeom>
          <a:solidFill>
            <a:srgbClr val="06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61288" y="1298448"/>
            <a:ext cx="301752" cy="41148"/>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taberk_logo_transparent.png"/>
          <p:cNvPicPr>
            <a:picLocks noChangeAspect="1"/>
          </p:cNvPicPr>
          <p:nvPr/>
        </p:nvPicPr>
        <p:blipFill>
          <a:blip r:embed="rId2"/>
          <a:stretch>
            <a:fillRect/>
          </a:stretch>
        </p:blipFill>
        <p:spPr>
          <a:xfrm>
            <a:off x="10104120" y="473659"/>
            <a:ext cx="1298448" cy="259689"/>
          </a:xfrm>
          <a:prstGeom prst="rect">
            <a:avLst/>
          </a:prstGeom>
        </p:spPr>
      </p:pic>
      <p:sp>
        <p:nvSpPr>
          <p:cNvPr id="9" name="Rounded Rectangle 8"/>
          <p:cNvSpPr/>
          <p:nvPr/>
        </p:nvSpPr>
        <p:spPr>
          <a:xfrm>
            <a:off x="64008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869180" cy="1280160"/>
          </a:xfrm>
          <a:prstGeom prst="rect">
            <a:avLst/>
          </a:prstGeom>
          <a:noFill/>
        </p:spPr>
        <p:txBody>
          <a:bodyPr wrap="square" lIns="0" tIns="0" rIns="0" bIns="0" anchor="t">
            <a:spAutoFit/>
          </a:bodyPr>
          <a:lstStyle/>
          <a:p>
            <a:r>
              <a:rPr sz="1300" b="1" i="0">
                <a:solidFill>
                  <a:srgbClr val="044F49"/>
                </a:solidFill>
                <a:latin typeface="Aptos"/>
              </a:rPr>
              <a:t>Türk pazarında benzersiz konum</a:t>
            </a:r>
          </a:p>
          <a:p>
            <a:pPr>
              <a:spcBef>
                <a:spcPts val="400"/>
              </a:spcBef>
            </a:pPr>
            <a:r>
              <a:rPr sz="1050" b="0" i="0">
                <a:solidFill>
                  <a:srgbClr val="64716D"/>
                </a:solidFill>
                <a:latin typeface="Aptos"/>
              </a:rPr>
              <a:t>Sağlam finans yönetimi, yapılandırılmış hizmet masası ve kontrollü yapay zekanın birleşimi, Türkiye pazarında doğrudan bir muadili bulunmamaktadır.</a:t>
            </a:r>
          </a:p>
        </p:txBody>
      </p:sp>
      <p:sp>
        <p:nvSpPr>
          <p:cNvPr id="11" name="Rounded Rectangle 10"/>
          <p:cNvSpPr/>
          <p:nvPr/>
        </p:nvSpPr>
        <p:spPr>
          <a:xfrm>
            <a:off x="6195060" y="164592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3660" y="1792224"/>
            <a:ext cx="4869180" cy="1280160"/>
          </a:xfrm>
          <a:prstGeom prst="rect">
            <a:avLst/>
          </a:prstGeom>
          <a:noFill/>
        </p:spPr>
        <p:txBody>
          <a:bodyPr wrap="square" lIns="0" tIns="0" rIns="0" bIns="0" anchor="t">
            <a:spAutoFit/>
          </a:bodyPr>
          <a:lstStyle/>
          <a:p>
            <a:r>
              <a:rPr sz="1300" b="1" i="0">
                <a:solidFill>
                  <a:srgbClr val="044F49"/>
                </a:solidFill>
                <a:latin typeface="Aptos"/>
              </a:rPr>
              <a:t>AI'nın Kabul Görmesi Sayesinde Elde Edilen Destek</a:t>
            </a:r>
          </a:p>
          <a:p>
            <a:pPr>
              <a:spcBef>
                <a:spcPts val="400"/>
              </a:spcBef>
            </a:pPr>
            <a:r>
              <a:rPr sz="1050" b="0" i="0">
                <a:solidFill>
                  <a:srgbClr val="64716D"/>
                </a:solidFill>
                <a:latin typeface="Aptos"/>
              </a:rPr>
              <a:t>Hızla artan yapay zeka kabulü, halihazırda yerleşik ve güven uyandıran “kararı insan verir” ilkesiyle birleşiyor.</a:t>
            </a:r>
          </a:p>
        </p:txBody>
      </p:sp>
      <p:sp>
        <p:nvSpPr>
          <p:cNvPr id="13" name="Rounded Rectangle 12"/>
          <p:cNvSpPr/>
          <p:nvPr/>
        </p:nvSpPr>
        <p:spPr>
          <a:xfrm>
            <a:off x="64008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575304"/>
            <a:ext cx="4869180" cy="574516"/>
          </a:xfrm>
          <a:prstGeom prst="rect">
            <a:avLst/>
          </a:prstGeom>
          <a:noFill/>
        </p:spPr>
        <p:txBody>
          <a:bodyPr wrap="square" lIns="0" tIns="0" rIns="0" bIns="0" anchor="t">
            <a:spAutoFit/>
          </a:bodyPr>
          <a:lstStyle/>
          <a:p>
            <a:r>
              <a:rPr sz="1300" b="1" i="0" dirty="0" err="1">
                <a:solidFill>
                  <a:srgbClr val="044F49"/>
                </a:solidFill>
                <a:latin typeface="Aptos"/>
              </a:rPr>
              <a:t>Daralan </a:t>
            </a:r>
            <a:r>
              <a:rPr sz="1300" b="1" i="0" dirty="0" err="1">
                <a:solidFill>
                  <a:srgbClr val="044F49"/>
                </a:solidFill>
                <a:latin typeface="Aptos"/>
              </a:rPr>
              <a:t>bir</a:t>
            </a:r>
            <a:r>
              <a:rPr sz="1300" b="1" i="0" dirty="0">
                <a:solidFill>
                  <a:srgbClr val="044F49"/>
                </a:solidFill>
                <a:latin typeface="Aptos"/>
              </a:rPr>
              <a:t> </a:t>
            </a:r>
            <a:r>
              <a:rPr sz="1300" b="1" i="0" dirty="0">
                <a:solidFill>
                  <a:srgbClr val="044F49"/>
                </a:solidFill>
                <a:latin typeface="Aptos"/>
              </a:rPr>
              <a:t>paz</a:t>
            </a:r>
            <a:r>
              <a:rPr sz="1300" b="1" i="0" dirty="0">
                <a:solidFill>
                  <a:srgbClr val="044F49"/>
                </a:solidFill>
                <a:latin typeface="Aptos"/>
              </a:rPr>
              <a:t>arda değer</a:t>
            </a:r>
          </a:p>
          <a:p>
            <a:pPr>
              <a:spcBef>
                <a:spcPts val="400"/>
              </a:spcBef>
            </a:pPr>
            <a:r>
              <a:rPr sz="1050" b="0" i="0" dirty="0" err="1">
                <a:solidFill>
                  <a:srgbClr val="64716D"/>
                </a:solidFill>
                <a:latin typeface="Aptos"/>
              </a:rPr>
              <a:t>Küçülen</a:t>
            </a:r>
            <a:r>
              <a:rPr sz="1050" b="0" i="0" dirty="0">
                <a:solidFill>
                  <a:srgbClr val="64716D"/>
                </a:solidFill>
                <a:latin typeface="Aptos"/>
              </a:rPr>
              <a:t> bir </a:t>
            </a:r>
            <a:r>
              <a:rPr sz="1050" b="0" i="0" dirty="0">
                <a:solidFill>
                  <a:srgbClr val="64716D"/>
                </a:solidFill>
                <a:latin typeface="Aptos"/>
              </a:rPr>
              <a:t>pazar</a:t>
            </a:r>
            <a:r>
              <a:rPr lang="de-DE" sz="1050" b="0" i="0" dirty="0">
                <a:solidFill>
                  <a:srgbClr val="64716D"/>
                </a:solidFill>
                <a:latin typeface="Aptos"/>
              </a:rPr>
              <a:t>, </a:t>
            </a:r>
            <a:r>
              <a:rPr sz="1050" b="0" i="0" dirty="0" err="1">
                <a:solidFill>
                  <a:srgbClr val="64716D"/>
                </a:solidFill>
                <a:latin typeface="Aptos"/>
              </a:rPr>
              <a:t>mevcut müşterilere </a:t>
            </a:r>
            <a:r>
              <a:rPr sz="1050" b="0" i="0" dirty="0" err="1">
                <a:solidFill>
                  <a:srgbClr val="64716D"/>
                </a:solidFill>
                <a:latin typeface="Aptos"/>
              </a:rPr>
              <a:t>karşı </a:t>
            </a:r>
            <a:r>
              <a:rPr sz="1050" b="0" i="0" dirty="0" err="1">
                <a:solidFill>
                  <a:srgbClr val="64716D"/>
                </a:solidFill>
                <a:latin typeface="Aptos"/>
              </a:rPr>
              <a:t>operasyonel </a:t>
            </a:r>
            <a:r>
              <a:rPr sz="1050" b="0" i="0" dirty="0" err="1">
                <a:solidFill>
                  <a:srgbClr val="64716D"/>
                </a:solidFill>
                <a:latin typeface="Aptos"/>
              </a:rPr>
              <a:t>mükemmelliğin </a:t>
            </a:r>
            <a:r>
              <a:rPr sz="1050" b="0" i="0" dirty="0" err="1">
                <a:solidFill>
                  <a:srgbClr val="64716D"/>
                </a:solidFill>
                <a:latin typeface="Aptos"/>
              </a:rPr>
              <a:t>göreceli</a:t>
            </a:r>
            <a:r>
              <a:rPr sz="1050" b="0" i="0" dirty="0">
                <a:solidFill>
                  <a:srgbClr val="64716D"/>
                </a:solidFill>
                <a:latin typeface="Aptos"/>
              </a:rPr>
              <a:t> </a:t>
            </a:r>
            <a:r>
              <a:rPr sz="1050" b="0" i="0" dirty="0">
                <a:solidFill>
                  <a:srgbClr val="64716D"/>
                </a:solidFill>
                <a:latin typeface="Aptos"/>
              </a:rPr>
              <a:t>değerini </a:t>
            </a:r>
            <a:r>
              <a:rPr sz="1050" b="0" i="0" dirty="0" err="1">
                <a:solidFill>
                  <a:srgbClr val="64716D"/>
                </a:solidFill>
                <a:latin typeface="Aptos"/>
              </a:rPr>
              <a:t>artırır </a:t>
            </a:r>
            <a:r>
              <a:rPr lang="de-DE" sz="1050" b="0" i="0" dirty="0">
                <a:solidFill>
                  <a:srgbClr val="64716D"/>
                </a:solidFill>
                <a:latin typeface="Aptos"/>
              </a:rPr>
              <a:t>–</a:t>
            </a:r>
            <a:r>
              <a:rPr sz="1050" b="0" i="0" dirty="0">
                <a:solidFill>
                  <a:srgbClr val="64716D"/>
                </a:solidFill>
                <a:latin typeface="Aptos"/>
              </a:rPr>
              <a:t> 1Çatı </a:t>
            </a:r>
            <a:r>
              <a:rPr sz="1050" b="0" i="0" dirty="0" err="1">
                <a:solidFill>
                  <a:srgbClr val="64716D"/>
                </a:solidFill>
                <a:latin typeface="Aptos"/>
              </a:rPr>
              <a:t>tam da </a:t>
            </a:r>
            <a:r>
              <a:rPr sz="1050" b="0" i="0" dirty="0" err="1">
                <a:solidFill>
                  <a:srgbClr val="64716D"/>
                </a:solidFill>
                <a:latin typeface="Aptos"/>
              </a:rPr>
              <a:t>bunu </a:t>
            </a:r>
            <a:r>
              <a:rPr sz="1050" b="0" i="0" dirty="0" err="1">
                <a:solidFill>
                  <a:srgbClr val="64716D"/>
                </a:solidFill>
                <a:latin typeface="Aptos"/>
              </a:rPr>
              <a:t>hedeflemektedir</a:t>
            </a:r>
            <a:r>
              <a:rPr sz="1050" b="0" i="0" dirty="0">
                <a:solidFill>
                  <a:srgbClr val="64716D"/>
                </a:solidFill>
                <a:latin typeface="Aptos"/>
              </a:rPr>
              <a:t>.</a:t>
            </a:r>
          </a:p>
        </p:txBody>
      </p:sp>
      <p:sp>
        <p:nvSpPr>
          <p:cNvPr id="15" name="Rounded Rectangle 14"/>
          <p:cNvSpPr/>
          <p:nvPr/>
        </p:nvSpPr>
        <p:spPr>
          <a:xfrm>
            <a:off x="6195060" y="3429000"/>
            <a:ext cx="5326380" cy="1554480"/>
          </a:xfrm>
          <a:prstGeom prst="roundRect">
            <a:avLst>
              <a:gd name="adj" fmla="val 6000"/>
            </a:avLst>
          </a:prstGeom>
          <a:solidFill>
            <a:srgbClr val="FFFFFF"/>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3660" y="3575304"/>
            <a:ext cx="4869180" cy="1280160"/>
          </a:xfrm>
          <a:prstGeom prst="rect">
            <a:avLst/>
          </a:prstGeom>
          <a:noFill/>
        </p:spPr>
        <p:txBody>
          <a:bodyPr wrap="square" lIns="0" tIns="0" rIns="0" bIns="0" anchor="t">
            <a:spAutoFit/>
          </a:bodyPr>
          <a:lstStyle/>
          <a:p>
            <a:r>
              <a:rPr sz="1300" b="1" i="0">
                <a:solidFill>
                  <a:srgbClr val="044F49"/>
                </a:solidFill>
                <a:latin typeface="Aptos"/>
              </a:rPr>
              <a:t>Aktarılabilir model</a:t>
            </a:r>
          </a:p>
          <a:p>
            <a:pPr>
              <a:spcBef>
                <a:spcPts val="400"/>
              </a:spcBef>
            </a:pPr>
            <a:r>
              <a:rPr sz="1050" b="0" i="0">
                <a:solidFill>
                  <a:srgbClr val="64716D"/>
                </a:solidFill>
                <a:latin typeface="Aptos"/>
              </a:rPr>
              <a:t>Kamuya açık kayıt ve bildirim kanalı, diğer inşaat projeleri ve lokasyonlar için yeniden kullanılabilir bir modeldir.</a:t>
            </a:r>
          </a:p>
        </p:txBody>
      </p:sp>
      <p:sp>
        <p:nvSpPr>
          <p:cNvPr id="17" name="Rounded Rectangle 16"/>
          <p:cNvSpPr/>
          <p:nvPr/>
        </p:nvSpPr>
        <p:spPr>
          <a:xfrm>
            <a:off x="640080" y="5212080"/>
            <a:ext cx="10881360" cy="1005840"/>
          </a:xfrm>
          <a:prstGeom prst="roundRect">
            <a:avLst>
              <a:gd name="adj" fmla="val 6000"/>
            </a:avLst>
          </a:prstGeom>
          <a:solidFill>
            <a:srgbClr val="F1F6F4"/>
          </a:solidFill>
          <a:ln w="9525">
            <a:solidFill>
              <a:srgbClr val="DA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5212080"/>
            <a:ext cx="54864" cy="1005840"/>
          </a:xfrm>
          <a:prstGeom prst="rect">
            <a:avLst/>
          </a:prstGeom>
          <a:solidFill>
            <a:srgbClr val="B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5441848"/>
            <a:ext cx="10469880" cy="546303"/>
          </a:xfrm>
          <a:prstGeom prst="rect">
            <a:avLst/>
          </a:prstGeom>
          <a:noFill/>
        </p:spPr>
        <p:txBody>
          <a:bodyPr wrap="square" lIns="0" tIns="0" rIns="0" bIns="0" anchor="ctr">
            <a:spAutoFit/>
          </a:bodyPr>
          <a:lstStyle/>
          <a:p>
            <a:r>
              <a:rPr sz="1250" b="1" i="0" dirty="0" err="1">
                <a:solidFill>
                  <a:srgbClr val="044F49"/>
                </a:solidFill>
                <a:latin typeface="Aptos"/>
              </a:rPr>
              <a:t>Üretim ortamına geçiş</a:t>
            </a:r>
            <a:r>
              <a:rPr sz="1250" b="1" i="0" dirty="0">
                <a:solidFill>
                  <a:srgbClr val="044F49"/>
                </a:solidFill>
                <a:latin typeface="Aptos"/>
              </a:rPr>
              <a:t> için </a:t>
            </a:r>
            <a:r>
              <a:rPr sz="1250" b="1" i="0" dirty="0" err="1">
                <a:solidFill>
                  <a:srgbClr val="044F49"/>
                </a:solidFill>
                <a:latin typeface="Aptos"/>
              </a:rPr>
              <a:t>ön koşullar</a:t>
            </a:r>
            <a:r>
              <a:rPr sz="1250" b="1" i="0" dirty="0">
                <a:solidFill>
                  <a:srgbClr val="044F49"/>
                </a:solidFill>
                <a:latin typeface="Aptos"/>
              </a:rPr>
              <a:t>. </a:t>
            </a:r>
            <a:r>
              <a:rPr sz="1150" b="0" i="0" dirty="0" err="1">
                <a:solidFill>
                  <a:srgbClr val="33413D"/>
                </a:solidFill>
                <a:latin typeface="Aptos"/>
              </a:rPr>
              <a:t> Üretim </a:t>
            </a:r>
            <a:r>
              <a:rPr sz="1150" b="0" i="0" dirty="0" err="1">
                <a:solidFill>
                  <a:srgbClr val="33413D"/>
                </a:solidFill>
                <a:latin typeface="Aptos"/>
              </a:rPr>
              <a:t>veri ortamı</a:t>
            </a:r>
            <a:r>
              <a:rPr sz="1150" b="0" i="0" dirty="0">
                <a:solidFill>
                  <a:srgbClr val="33413D"/>
                </a:solidFill>
                <a:latin typeface="Aptos"/>
              </a:rPr>
              <a:t>, </a:t>
            </a:r>
            <a:r>
              <a:rPr sz="1150" b="0" i="0" dirty="0" err="1">
                <a:solidFill>
                  <a:srgbClr val="33413D"/>
                </a:solidFill>
                <a:latin typeface="Aptos"/>
              </a:rPr>
              <a:t>ödeme/banka kanalı</a:t>
            </a:r>
            <a:r>
              <a:rPr sz="1150" b="0" i="0" dirty="0">
                <a:solidFill>
                  <a:srgbClr val="33413D"/>
                </a:solidFill>
                <a:latin typeface="Aptos"/>
              </a:rPr>
              <a:t>, </a:t>
            </a:r>
            <a:r>
              <a:rPr sz="1150" b="0" i="0" dirty="0" err="1">
                <a:solidFill>
                  <a:srgbClr val="33413D"/>
                </a:solidFill>
                <a:latin typeface="Aptos"/>
              </a:rPr>
              <a:t>iletişim sağlayıcısı</a:t>
            </a:r>
            <a:r>
              <a:rPr sz="1150" b="0" i="0" dirty="0">
                <a:solidFill>
                  <a:srgbClr val="33413D"/>
                </a:solidFill>
                <a:latin typeface="Aptos"/>
              </a:rPr>
              <a:t>, </a:t>
            </a:r>
            <a:r>
              <a:rPr sz="1150" b="0" i="0" dirty="0" err="1">
                <a:solidFill>
                  <a:srgbClr val="33413D"/>
                </a:solidFill>
                <a:latin typeface="Aptos"/>
              </a:rPr>
              <a:t>erişim sistemi</a:t>
            </a:r>
            <a:r>
              <a:rPr sz="1150" b="0" i="0" dirty="0">
                <a:solidFill>
                  <a:srgbClr val="33413D"/>
                </a:solidFill>
                <a:latin typeface="Aptos"/>
              </a:rPr>
              <a:t>, </a:t>
            </a:r>
            <a:r>
              <a:rPr sz="1150" b="0" i="0" dirty="0" err="1">
                <a:solidFill>
                  <a:srgbClr val="33413D"/>
                </a:solidFill>
                <a:latin typeface="Aptos"/>
              </a:rPr>
              <a:t>kimlik doğrulama</a:t>
            </a:r>
            <a:r>
              <a:rPr sz="1150" b="0" i="0" dirty="0">
                <a:solidFill>
                  <a:srgbClr val="33413D"/>
                </a:solidFill>
                <a:latin typeface="Aptos"/>
              </a:rPr>
              <a:t>, </a:t>
            </a:r>
            <a:r>
              <a:rPr sz="1150" b="0" i="0" dirty="0" err="1">
                <a:solidFill>
                  <a:srgbClr val="33413D"/>
                </a:solidFill>
                <a:latin typeface="Aptos"/>
              </a:rPr>
              <a:t>yasal </a:t>
            </a:r>
            <a:r>
              <a:rPr sz="1150" b="0" i="0" dirty="0" err="1">
                <a:solidFill>
                  <a:srgbClr val="33413D"/>
                </a:solidFill>
                <a:latin typeface="Aptos"/>
              </a:rPr>
              <a:t>onaylar </a:t>
            </a:r>
            <a:r>
              <a:rPr sz="1150" b="0" i="0" dirty="0">
                <a:solidFill>
                  <a:srgbClr val="33413D"/>
                </a:solidFill>
                <a:latin typeface="Aptos"/>
              </a:rPr>
              <a:t>ve </a:t>
            </a:r>
            <a:r>
              <a:rPr sz="1150" b="0" i="0" dirty="0" err="1">
                <a:solidFill>
                  <a:srgbClr val="33413D"/>
                </a:solidFill>
                <a:latin typeface="Aptos"/>
              </a:rPr>
              <a:t>ortak </a:t>
            </a:r>
            <a:r>
              <a:rPr sz="1150" b="0" i="0" dirty="0" err="1">
                <a:solidFill>
                  <a:srgbClr val="33413D"/>
                </a:solidFill>
                <a:latin typeface="Aptos"/>
              </a:rPr>
              <a:t>bir </a:t>
            </a:r>
            <a:r>
              <a:rPr sz="1150" b="0" i="0" dirty="0" err="1">
                <a:solidFill>
                  <a:srgbClr val="33413D"/>
                </a:solidFill>
                <a:latin typeface="Aptos"/>
              </a:rPr>
              <a:t>kabul testi </a:t>
            </a:r>
            <a:r>
              <a:rPr sz="1150" b="0" i="0" dirty="0" err="1">
                <a:solidFill>
                  <a:srgbClr val="33413D"/>
                </a:solidFill>
                <a:latin typeface="Aptos"/>
              </a:rPr>
              <a:t>gereklidir </a:t>
            </a:r>
            <a:r>
              <a:rPr sz="1150" b="0" i="0" dirty="0">
                <a:solidFill>
                  <a:srgbClr val="33413D"/>
                </a:solidFill>
                <a:latin typeface="Aptos"/>
              </a:rPr>
              <a:t>(ayrıntılar için bkz. </a:t>
            </a:r>
            <a:r>
              <a:rPr sz="1150" b="0" i="0" dirty="0" err="1">
                <a:solidFill>
                  <a:srgbClr val="33413D"/>
                </a:solidFill>
                <a:latin typeface="Aptos"/>
              </a:rPr>
              <a:t>Bölüm</a:t>
            </a:r>
            <a:r>
              <a:rPr sz="1150" b="0" i="0" dirty="0">
                <a:solidFill>
                  <a:srgbClr val="33413D"/>
                </a:solidFill>
                <a:latin typeface="Aptos"/>
              </a:rPr>
              <a:t> 9). </a:t>
            </a:r>
            <a:r>
              <a:rPr sz="1150" b="0" i="0" dirty="0" err="1">
                <a:solidFill>
                  <a:srgbClr val="33413D"/>
                </a:solidFill>
                <a:latin typeface="Aptos"/>
              </a:rPr>
              <a:t>Bu </a:t>
            </a:r>
            <a:r>
              <a:rPr sz="1150" b="0" i="0" dirty="0" err="1">
                <a:solidFill>
                  <a:srgbClr val="33413D"/>
                </a:solidFill>
                <a:latin typeface="Aptos"/>
              </a:rPr>
              <a:t>hususların</a:t>
            </a:r>
            <a:r>
              <a:rPr sz="1150" b="0" i="0" dirty="0">
                <a:solidFill>
                  <a:srgbClr val="33413D"/>
                </a:solidFill>
                <a:latin typeface="Aptos"/>
              </a:rPr>
              <a:t> hiçbiri </a:t>
            </a:r>
            <a:r>
              <a:rPr sz="1150" b="0" i="0" dirty="0" err="1">
                <a:solidFill>
                  <a:srgbClr val="33413D"/>
                </a:solidFill>
                <a:latin typeface="Aptos"/>
              </a:rPr>
              <a:t>teknik </a:t>
            </a:r>
            <a:r>
              <a:rPr sz="1150" b="0" i="0" dirty="0" err="1">
                <a:solidFill>
                  <a:srgbClr val="33413D"/>
                </a:solidFill>
                <a:latin typeface="Aptos"/>
              </a:rPr>
              <a:t>bir </a:t>
            </a:r>
            <a:r>
              <a:rPr sz="1150" b="0" i="0" dirty="0">
                <a:solidFill>
                  <a:srgbClr val="33413D"/>
                </a:solidFill>
                <a:latin typeface="Aptos"/>
              </a:rPr>
              <a:t>risk </a:t>
            </a:r>
            <a:r>
              <a:rPr sz="1150" b="0" i="0" dirty="0" err="1">
                <a:solidFill>
                  <a:srgbClr val="33413D"/>
                </a:solidFill>
                <a:latin typeface="Aptos"/>
              </a:rPr>
              <a:t>teşkil etmez</a:t>
            </a:r>
            <a:r>
              <a:rPr lang="de-DE" sz="1150" b="0" i="0" dirty="0">
                <a:solidFill>
                  <a:srgbClr val="33413D"/>
                </a:solidFill>
                <a:latin typeface="Aptos"/>
              </a:rPr>
              <a:t>; </a:t>
            </a:r>
            <a:r>
              <a:rPr sz="1150" b="0" i="0" dirty="0">
                <a:solidFill>
                  <a:srgbClr val="33413D"/>
                </a:solidFill>
                <a:latin typeface="Aptos"/>
              </a:rPr>
              <a:t>bunlar </a:t>
            </a:r>
            <a:r>
              <a:rPr sz="1150" b="0" i="0" dirty="0" err="1">
                <a:solidFill>
                  <a:srgbClr val="33413D"/>
                </a:solidFill>
                <a:latin typeface="Aptos"/>
              </a:rPr>
              <a:t>açıkça </a:t>
            </a:r>
            <a:r>
              <a:rPr sz="1150" b="0" i="0" dirty="0" err="1">
                <a:solidFill>
                  <a:srgbClr val="33413D"/>
                </a:solidFill>
                <a:latin typeface="Aptos"/>
              </a:rPr>
              <a:t>tanımlanmış</a:t>
            </a:r>
            <a:r>
              <a:rPr sz="1150" b="0" i="0" dirty="0">
                <a:solidFill>
                  <a:srgbClr val="33413D"/>
                </a:solidFill>
                <a:latin typeface="Aptos"/>
              </a:rPr>
              <a:t>, </a:t>
            </a:r>
            <a:r>
              <a:rPr sz="1150" b="0" i="0" dirty="0" err="1">
                <a:solidFill>
                  <a:srgbClr val="33413D"/>
                </a:solidFill>
                <a:latin typeface="Aptos"/>
              </a:rPr>
              <a:t>planlanabilir </a:t>
            </a:r>
            <a:r>
              <a:rPr sz="1150" b="0" i="0" dirty="0" err="1">
                <a:solidFill>
                  <a:srgbClr val="33413D"/>
                </a:solidFill>
                <a:latin typeface="Aptos"/>
              </a:rPr>
              <a:t>onaylardır</a:t>
            </a:r>
            <a:r>
              <a:rPr sz="1150" b="0" i="0" dirty="0">
                <a:solidFill>
                  <a:srgbClr val="33413D"/>
                </a:solidFill>
                <a:latin typeface="Aptos"/>
              </a:rPr>
              <a:t>.</a:t>
            </a:r>
          </a:p>
        </p:txBody>
      </p:sp>
      <p:sp>
        <p:nvSpPr>
          <p:cNvPr id="20" name="TextBox 19"/>
          <p:cNvSpPr txBox="1"/>
          <p:nvPr/>
        </p:nvSpPr>
        <p:spPr>
          <a:xfrm>
            <a:off x="640080" y="6455664"/>
            <a:ext cx="8686800" cy="115416"/>
          </a:xfrm>
          <a:prstGeom prst="rect">
            <a:avLst/>
          </a:prstGeom>
          <a:noFill/>
        </p:spPr>
        <p:txBody>
          <a:bodyPr wrap="square" lIns="0" tIns="0" rIns="0" bIns="0" anchor="t">
            <a:spAutoFit/>
          </a:bodyPr>
          <a:lstStyle/>
          <a:p>
            <a:r>
              <a:rPr sz="750" b="0" i="0" dirty="0">
                <a:solidFill>
                  <a:srgbClr val="64716D"/>
                </a:solidFill>
                <a:latin typeface="Aptos"/>
              </a:rPr>
              <a:t>1Çatı </a:t>
            </a:r>
            <a:r>
              <a:rPr lang="de-DE" sz="750" b="0" i="0" dirty="0">
                <a:solidFill>
                  <a:srgbClr val="64716D"/>
                </a:solidFill>
                <a:latin typeface="Aptos"/>
              </a:rPr>
              <a:t>- </a:t>
            </a:r>
            <a:r>
              <a:rPr sz="750" b="0" i="0" dirty="0">
                <a:solidFill>
                  <a:srgbClr val="64716D"/>
                </a:solidFill>
                <a:latin typeface="Aptos"/>
              </a:rPr>
              <a:t>Mülk Yönetimi ve Gayrimenkul ERP · WAMOCON GmbH, </a:t>
            </a:r>
            <a:r>
              <a:rPr sz="750" b="0" i="0" dirty="0" err="1">
                <a:solidFill>
                  <a:srgbClr val="64716D"/>
                </a:solidFill>
                <a:latin typeface="Aptos"/>
              </a:rPr>
              <a:t>Ataberk </a:t>
            </a:r>
            <a:r>
              <a:rPr sz="750" b="0" i="0" dirty="0">
                <a:solidFill>
                  <a:srgbClr val="64716D"/>
                </a:solidFill>
                <a:latin typeface="Aptos"/>
              </a:rPr>
              <a:t>Estate </a:t>
            </a:r>
            <a:r>
              <a:rPr sz="750" b="0" i="0" dirty="0">
                <a:solidFill>
                  <a:srgbClr val="64716D"/>
                </a:solidFill>
                <a:latin typeface="Aptos"/>
              </a:rPr>
              <a:t>için </a:t>
            </a:r>
            <a:r>
              <a:rPr sz="750" b="0" i="0" dirty="0">
                <a:solidFill>
                  <a:srgbClr val="64716D"/>
                </a:solidFill>
                <a:latin typeface="Aptos"/>
              </a:rPr>
              <a:t>· </a:t>
            </a:r>
            <a:r>
              <a:rPr sz="750" b="0" i="0" dirty="0" err="1">
                <a:solidFill>
                  <a:srgbClr val="64716D"/>
                </a:solidFill>
                <a:latin typeface="Aptos"/>
              </a:rPr>
              <a:t>Gizli</a:t>
            </a:r>
            <a:endParaRPr sz="750" b="0" i="0" dirty="0">
              <a:solidFill>
                <a:srgbClr val="64716D"/>
              </a:solidFill>
              <a:latin typeface="Aptos"/>
            </a:endParaRPr>
          </a:p>
        </p:txBody>
      </p:sp>
      <p:sp>
        <p:nvSpPr>
          <p:cNvPr id="21" name="TextBox 20"/>
          <p:cNvSpPr txBox="1"/>
          <p:nvPr/>
        </p:nvSpPr>
        <p:spPr>
          <a:xfrm>
            <a:off x="11155680" y="6455664"/>
            <a:ext cx="822960" cy="274320"/>
          </a:xfrm>
          <a:prstGeom prst="rect">
            <a:avLst/>
          </a:prstGeom>
          <a:noFill/>
        </p:spPr>
        <p:txBody>
          <a:bodyPr wrap="square" lIns="0" tIns="0" rIns="0" bIns="0" anchor="t">
            <a:spAutoFit/>
          </a:bodyPr>
          <a:lstStyle/>
          <a:p>
            <a:pPr algn="r"/>
            <a:r>
              <a:rPr sz="800" b="1" i="0">
                <a:solidFill>
                  <a:srgbClr val="64716D"/>
                </a:solidFill>
                <a:latin typeface="Aptos"/>
              </a:rPr>
              <a:t>31</a:t>
            </a:r>
          </a:p>
        </p:txBody>
      </p:sp>
      <p:pic>
        <p:nvPicPr>
          <p:cNvPr id="22" name="Picture 21" descr="logo.png"/>
          <p:cNvPicPr>
            <a:picLocks noChangeAspect="1"/>
          </p:cNvPicPr>
          <p:nvPr/>
        </p:nvPicPr>
        <p:blipFill>
          <a:blip r:embed="rId3"/>
          <a:stretch>
            <a:fillRect/>
          </a:stretch>
        </p:blipFill>
        <p:spPr>
          <a:xfrm>
            <a:off x="10744200" y="6382512"/>
            <a:ext cx="310896" cy="3108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losing_photo.jp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9966960" y="365760"/>
            <a:ext cx="1572768" cy="475488"/>
          </a:xfrm>
          <a:prstGeom prst="roundRect">
            <a:avLst>
              <a:gd name="adj" fmla="val 50000"/>
            </a:avLst>
          </a:prstGeom>
          <a:solidFill>
            <a:srgbClr val="044F49"/>
          </a:solidFill>
          <a:ln w="9525">
            <a:solidFill>
              <a:srgbClr val="E2B7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ataberk_logo_transparent.png"/>
          <p:cNvPicPr>
            <a:picLocks noChangeAspect="1"/>
          </p:cNvPicPr>
          <p:nvPr/>
        </p:nvPicPr>
        <p:blipFill>
          <a:blip r:embed="rId3"/>
          <a:stretch>
            <a:fillRect/>
          </a:stretch>
        </p:blipFill>
        <p:spPr>
          <a:xfrm>
            <a:off x="10104120" y="473659"/>
            <a:ext cx="1298448" cy="259689"/>
          </a:xfrm>
          <a:prstGeom prst="rect">
            <a:avLst/>
          </a:prstGeom>
        </p:spPr>
      </p:pic>
      <p:pic>
        <p:nvPicPr>
          <p:cNvPr id="6" name="Picture 5" descr="logo.png"/>
          <p:cNvPicPr>
            <a:picLocks noChangeAspect="1"/>
          </p:cNvPicPr>
          <p:nvPr/>
        </p:nvPicPr>
        <p:blipFill>
          <a:blip r:embed="rId4"/>
          <a:stretch>
            <a:fillRect/>
          </a:stretch>
        </p:blipFill>
        <p:spPr>
          <a:xfrm>
            <a:off x="822960" y="2194560"/>
            <a:ext cx="822960" cy="822960"/>
          </a:xfrm>
          <a:prstGeom prst="rect">
            <a:avLst/>
          </a:prstGeom>
        </p:spPr>
      </p:pic>
      <p:sp>
        <p:nvSpPr>
          <p:cNvPr id="7" name="TextBox 6"/>
          <p:cNvSpPr txBox="1"/>
          <p:nvPr/>
        </p:nvSpPr>
        <p:spPr>
          <a:xfrm>
            <a:off x="822960" y="3200400"/>
            <a:ext cx="10515600" cy="1463040"/>
          </a:xfrm>
          <a:prstGeom prst="rect">
            <a:avLst/>
          </a:prstGeom>
          <a:noFill/>
        </p:spPr>
        <p:txBody>
          <a:bodyPr wrap="square" lIns="0" tIns="0" rIns="0" bIns="0" anchor="t">
            <a:spAutoFit/>
          </a:bodyPr>
          <a:lstStyle/>
          <a:p>
            <a:r>
              <a:rPr sz="3000" b="1" i="0">
                <a:solidFill>
                  <a:srgbClr val="FFFFFF"/>
                </a:solidFill>
                <a:latin typeface="Aptos"/>
              </a:rPr>
              <a:t>Tüm gayrimenkul faaliyetleriniz için tek bir çatı.</a:t>
            </a:r>
          </a:p>
        </p:txBody>
      </p:sp>
      <p:sp>
        <p:nvSpPr>
          <p:cNvPr id="8" name="TextBox 7"/>
          <p:cNvSpPr txBox="1"/>
          <p:nvPr/>
        </p:nvSpPr>
        <p:spPr>
          <a:xfrm>
            <a:off x="822960" y="4343400"/>
            <a:ext cx="9875520" cy="1097280"/>
          </a:xfrm>
          <a:prstGeom prst="rect">
            <a:avLst/>
          </a:prstGeom>
          <a:noFill/>
        </p:spPr>
        <p:txBody>
          <a:bodyPr wrap="square" lIns="0" tIns="0" rIns="0" bIns="0" anchor="t">
            <a:spAutoFit/>
          </a:bodyPr>
          <a:lstStyle/>
          <a:p>
            <a:r>
              <a:rPr sz="1400" b="0" i="0">
                <a:solidFill>
                  <a:srgbClr val="CDE7E1"/>
                </a:solidFill>
                <a:latin typeface="Aptos"/>
              </a:rPr>
              <a:t>1Çatı, bugün New Level Premium için marka tasarımınıza uygun, tam anlamıyla deneyimlenebilir bir işletim sistemi sunuyor. Canlı işletime geçiş süreci net, anlaşılır ve gizli sürprizler içermiyor.</a:t>
            </a:r>
          </a:p>
        </p:txBody>
      </p:sp>
      <p:sp>
        <p:nvSpPr>
          <p:cNvPr id="9" name="TextBox 8"/>
          <p:cNvSpPr txBox="1"/>
          <p:nvPr/>
        </p:nvSpPr>
        <p:spPr>
          <a:xfrm>
            <a:off x="822960" y="5943600"/>
            <a:ext cx="10515600" cy="457200"/>
          </a:xfrm>
          <a:prstGeom prst="rect">
            <a:avLst/>
          </a:prstGeom>
          <a:noFill/>
        </p:spPr>
        <p:txBody>
          <a:bodyPr wrap="square" lIns="0" tIns="0" rIns="0" bIns="0" anchor="t">
            <a:spAutoFit/>
          </a:bodyPr>
          <a:lstStyle/>
          <a:p>
            <a:r>
              <a:rPr sz="1050" b="0" i="0">
                <a:solidFill>
                  <a:srgbClr val="A9D2CB"/>
                </a:solidFill>
                <a:latin typeface="Aptos"/>
              </a:rPr>
              <a:t>WAMOCON GmbH  ·  Ataberk Estate adına  ·  Gizli  ·  7 Temmuz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4118</Words>
  <Application>Microsoft Office PowerPoint</Application>
  <PresentationFormat>Breitbild</PresentationFormat>
  <Paragraphs>539</Paragraphs>
  <Slides>33</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33</vt:i4>
      </vt:variant>
    </vt:vector>
  </HeadingPairs>
  <TitlesOfParts>
    <vt:vector size="37" baseType="lpstr">
      <vt:lpstr>Aptos</vt: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
  <dc:subject/>
  <dc:creator/>
  <keywords>, docId:756C9EC05C6F845D3A453B80D7D6DE14</keywords>
  <dc:description>generated using python-pptx</dc:description>
  <lastModifiedBy>Waleri Moretz</lastModifiedBy>
  <revision>3</revision>
  <dcterms:created xsi:type="dcterms:W3CDTF">2013-01-27T09:14:16.0000000Z</dcterms:created>
  <dcterms:modified xsi:type="dcterms:W3CDTF">2026-07-07T10:28:13.0000000Z</dcterms:modified>
  <category/>
</coreProperties>
</file>