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68" y="3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cover_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9966960" y="365760"/>
            <a:ext cx="1572768" cy="475488"/>
          </a:xfrm>
          <a:prstGeom prst="roundRect">
            <a:avLst>
              <a:gd name="adj" fmla="val 50000"/>
            </a:avLst>
          </a:prstGeom>
          <a:solidFill>
            <a:srgbClr val="044F49"/>
          </a:solidFill>
          <a:ln w="9525">
            <a:solidFill>
              <a:srgbClr val="E2B7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ataberk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473659"/>
            <a:ext cx="1298448" cy="259689"/>
          </a:xfrm>
          <a:prstGeom prst="rect">
            <a:avLst/>
          </a:prstGeom>
        </p:spPr>
      </p:pic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640080"/>
            <a:ext cx="658368" cy="6583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72768" y="621792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Aptos"/>
              </a:rPr>
              <a:t>1Çatı</a:t>
            </a:r>
          </a:p>
          <a:p>
            <a:r>
              <a:rPr sz="1050" b="0" i="0">
                <a:solidFill>
                  <a:srgbClr val="CDE7E1"/>
                </a:solidFill>
                <a:latin typeface="Aptos"/>
              </a:rPr>
              <a:t>Property-Management- &amp; Real-Estate-ERP · umgesetzt durch WAMOCON GmbH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86000"/>
            <a:ext cx="1965960" cy="384048"/>
          </a:xfrm>
          <a:prstGeom prst="roundRect">
            <a:avLst>
              <a:gd name="adj" fmla="val 50000"/>
            </a:avLst>
          </a:prstGeom>
          <a:solidFill>
            <a:srgbClr val="043F3A"/>
          </a:solidFill>
          <a:ln w="9525">
            <a:solidFill>
              <a:srgbClr val="E2B7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2304288"/>
            <a:ext cx="196596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E2B75D"/>
                </a:solidFill>
                <a:latin typeface="Aptos"/>
              </a:rPr>
              <a:t>PITCH · KURZFASSUNG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834640"/>
            <a:ext cx="896112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Aptos"/>
              </a:rPr>
              <a:t>Ein Dach für Ihren
gesamten Immobilienbetrieb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709160"/>
            <a:ext cx="786384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0" i="0" dirty="0">
                <a:solidFill>
                  <a:srgbClr val="CDE7E1"/>
                </a:solidFill>
                <a:latin typeface="Aptos"/>
              </a:rPr>
              <a:t>Die </a:t>
            </a:r>
            <a:r>
              <a:rPr sz="1400" b="0" i="0" dirty="0" err="1">
                <a:solidFill>
                  <a:srgbClr val="CDE7E1"/>
                </a:solidFill>
                <a:latin typeface="Aptos"/>
              </a:rPr>
              <a:t>zentrale</a:t>
            </a:r>
            <a:r>
              <a:rPr sz="1400" b="0" i="0" dirty="0">
                <a:solidFill>
                  <a:srgbClr val="CDE7E1"/>
                </a:solidFill>
                <a:latin typeface="Aptos"/>
              </a:rPr>
              <a:t>, </a:t>
            </a:r>
            <a:r>
              <a:rPr sz="1400" b="0" i="0" dirty="0" err="1">
                <a:solidFill>
                  <a:srgbClr val="CDE7E1"/>
                </a:solidFill>
                <a:latin typeface="Aptos"/>
              </a:rPr>
              <a:t>mehrsprachige</a:t>
            </a:r>
            <a:r>
              <a:rPr sz="1400" b="0" i="0" dirty="0">
                <a:solidFill>
                  <a:srgbClr val="CDE7E1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CDE7E1"/>
                </a:solidFill>
                <a:latin typeface="Aptos"/>
              </a:rPr>
              <a:t>Plattform</a:t>
            </a:r>
            <a:r>
              <a:rPr sz="1400" b="0" i="0" dirty="0">
                <a:solidFill>
                  <a:srgbClr val="CDE7E1"/>
                </a:solidFill>
                <a:latin typeface="Aptos"/>
              </a:rPr>
              <a:t> für New Level Premium </a:t>
            </a:r>
            <a:r>
              <a:rPr lang="de-DE" sz="1400" b="0" i="0" dirty="0">
                <a:solidFill>
                  <a:srgbClr val="CDE7E1"/>
                </a:solidFill>
                <a:latin typeface="Aptos"/>
              </a:rPr>
              <a:t>-</a:t>
            </a:r>
            <a:r>
              <a:rPr sz="1400" b="0" i="0" dirty="0">
                <a:solidFill>
                  <a:srgbClr val="CDE7E1"/>
                </a:solidFill>
                <a:latin typeface="Aptos"/>
              </a:rPr>
              <a:t> in </a:t>
            </a:r>
            <a:r>
              <a:rPr sz="1400" b="0" i="0" dirty="0" err="1">
                <a:solidFill>
                  <a:srgbClr val="CDE7E1"/>
                </a:solidFill>
                <a:latin typeface="Aptos"/>
              </a:rPr>
              <a:t>einem</a:t>
            </a:r>
            <a:r>
              <a:rPr sz="1400" b="0" i="0" dirty="0">
                <a:solidFill>
                  <a:srgbClr val="CDE7E1"/>
                </a:solidFill>
                <a:latin typeface="Aptos"/>
              </a:rPr>
              <a:t> System, in </a:t>
            </a:r>
            <a:r>
              <a:rPr sz="1400" b="0" i="0" dirty="0" err="1">
                <a:solidFill>
                  <a:srgbClr val="CDE7E1"/>
                </a:solidFill>
                <a:latin typeface="Aptos"/>
              </a:rPr>
              <a:t>Ihrem</a:t>
            </a:r>
            <a:r>
              <a:rPr sz="1400" b="0" i="0" dirty="0">
                <a:solidFill>
                  <a:srgbClr val="CDE7E1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CDE7E1"/>
                </a:solidFill>
                <a:latin typeface="Aptos"/>
              </a:rPr>
              <a:t>Markendesign</a:t>
            </a:r>
            <a:r>
              <a:rPr sz="1400" b="0" i="0" dirty="0">
                <a:solidFill>
                  <a:srgbClr val="CDE7E1"/>
                </a:solidFill>
                <a:latin typeface="Aptos"/>
              </a:rPr>
              <a:t>, </a:t>
            </a:r>
            <a:r>
              <a:rPr sz="1400" b="0" i="0" dirty="0" err="1">
                <a:solidFill>
                  <a:srgbClr val="CDE7E1"/>
                </a:solidFill>
                <a:latin typeface="Aptos"/>
              </a:rPr>
              <a:t>heute</a:t>
            </a:r>
            <a:r>
              <a:rPr sz="1400" b="0" i="0" dirty="0">
                <a:solidFill>
                  <a:srgbClr val="CDE7E1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CDE7E1"/>
                </a:solidFill>
                <a:latin typeface="Aptos"/>
              </a:rPr>
              <a:t>erlebbar</a:t>
            </a:r>
            <a:r>
              <a:rPr sz="1400" b="0" i="0" dirty="0">
                <a:solidFill>
                  <a:srgbClr val="CDE7E1"/>
                </a:solidFill>
                <a:latin typeface="Aptos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1264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0" i="0">
                <a:solidFill>
                  <a:srgbClr val="C0E0DA"/>
                </a:solidFill>
                <a:latin typeface="Aptos"/>
              </a:rPr>
              <a:t>Ataberk Estate  ·  New Level Premium, Avsallar/Alanya  ·  Kundenversion  ·  07. Juli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B9822B"/>
                </a:solidFill>
                <a:latin typeface="Aptos"/>
              </a:rPr>
              <a:t>DAS REFERENZOBJEKT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700" b="1" i="0" dirty="0">
                <a:solidFill>
                  <a:srgbClr val="044F49"/>
                </a:solidFill>
                <a:latin typeface="Aptos"/>
              </a:rPr>
              <a:t>New Level Premium </a:t>
            </a:r>
            <a:r>
              <a:rPr lang="de-DE" sz="2700" b="1" i="0" dirty="0">
                <a:solidFill>
                  <a:srgbClr val="044F49"/>
                </a:solidFill>
                <a:latin typeface="Aptos"/>
              </a:rPr>
              <a:t>-</a:t>
            </a:r>
            <a:r>
              <a:rPr sz="2700" b="1" i="0" dirty="0">
                <a:solidFill>
                  <a:srgbClr val="044F49"/>
                </a:solidFill>
                <a:latin typeface="Aptos"/>
              </a:rPr>
              <a:t> </a:t>
            </a:r>
            <a:r>
              <a:rPr sz="2700" b="1" i="0" dirty="0" err="1">
                <a:solidFill>
                  <a:srgbClr val="044F49"/>
                </a:solidFill>
                <a:latin typeface="Aptos"/>
              </a:rPr>
              <a:t>Avsallar</a:t>
            </a:r>
            <a:r>
              <a:rPr sz="2700" b="1" i="0" dirty="0">
                <a:solidFill>
                  <a:srgbClr val="044F49"/>
                </a:solidFill>
                <a:latin typeface="Aptos"/>
              </a:rPr>
              <a:t> / Alanya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502920" cy="41148"/>
          </a:xfrm>
          <a:prstGeom prst="rect">
            <a:avLst/>
          </a:prstGeom>
          <a:solidFill>
            <a:srgbClr val="06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61288" y="1298448"/>
            <a:ext cx="301752" cy="41148"/>
          </a:xfrm>
          <a:prstGeom prst="rect">
            <a:avLst/>
          </a:prstGeom>
          <a:solidFill>
            <a:srgbClr val="B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966960" y="365760"/>
            <a:ext cx="1572768" cy="475488"/>
          </a:xfrm>
          <a:prstGeom prst="roundRect">
            <a:avLst>
              <a:gd name="adj" fmla="val 50000"/>
            </a:avLst>
          </a:prstGeom>
          <a:solidFill>
            <a:srgbClr val="044F49"/>
          </a:solidFill>
          <a:ln w="9525">
            <a:solidFill>
              <a:srgbClr val="E2B7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ataberk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473659"/>
            <a:ext cx="1298448" cy="25968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1481328"/>
            <a:ext cx="1088136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150" i="0" dirty="0">
                <a:solidFill>
                  <a:srgbClr val="33413D"/>
                </a:solidFill>
                <a:latin typeface="Aptos"/>
              </a:rPr>
              <a:t>Ein </a:t>
            </a:r>
            <a:r>
              <a:rPr sz="1150" i="0" dirty="0" err="1">
                <a:solidFill>
                  <a:srgbClr val="33413D"/>
                </a:solidFill>
                <a:latin typeface="Aptos"/>
              </a:rPr>
              <a:t>Neubauprojekt</a:t>
            </a:r>
            <a:r>
              <a:rPr sz="115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i="0" dirty="0" err="1">
                <a:solidFill>
                  <a:srgbClr val="33413D"/>
                </a:solidFill>
                <a:latin typeface="Aptos"/>
              </a:rPr>
              <a:t>mit</a:t>
            </a:r>
            <a:r>
              <a:rPr sz="1150" i="0" dirty="0">
                <a:solidFill>
                  <a:srgbClr val="33413D"/>
                </a:solidFill>
                <a:latin typeface="Aptos"/>
              </a:rPr>
              <a:t> 769 </a:t>
            </a:r>
            <a:r>
              <a:rPr sz="1150" i="0" dirty="0" err="1">
                <a:solidFill>
                  <a:srgbClr val="33413D"/>
                </a:solidFill>
                <a:latin typeface="Aptos"/>
              </a:rPr>
              <a:t>Wohneinheiten</a:t>
            </a:r>
            <a:r>
              <a:rPr sz="1150" i="0" dirty="0">
                <a:solidFill>
                  <a:srgbClr val="33413D"/>
                </a:solidFill>
                <a:latin typeface="Aptos"/>
              </a:rPr>
              <a:t> in </a:t>
            </a:r>
            <a:r>
              <a:rPr sz="1150" i="0" dirty="0" err="1">
                <a:solidFill>
                  <a:srgbClr val="33413D"/>
                </a:solidFill>
                <a:latin typeface="Aptos"/>
              </a:rPr>
              <a:t>bewaldeter</a:t>
            </a:r>
            <a:r>
              <a:rPr sz="115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i="0" dirty="0" err="1">
                <a:solidFill>
                  <a:srgbClr val="33413D"/>
                </a:solidFill>
                <a:latin typeface="Aptos"/>
              </a:rPr>
              <a:t>Hanglage</a:t>
            </a:r>
            <a:r>
              <a:rPr sz="115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i="0" dirty="0" err="1">
                <a:solidFill>
                  <a:srgbClr val="33413D"/>
                </a:solidFill>
                <a:latin typeface="Aptos"/>
              </a:rPr>
              <a:t>mit</a:t>
            </a:r>
            <a:r>
              <a:rPr sz="115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i="0" dirty="0" err="1">
                <a:solidFill>
                  <a:srgbClr val="33413D"/>
                </a:solidFill>
                <a:latin typeface="Aptos"/>
              </a:rPr>
              <a:t>Meerblick</a:t>
            </a:r>
            <a:r>
              <a:rPr sz="1150" i="0" dirty="0">
                <a:solidFill>
                  <a:srgbClr val="33413D"/>
                </a:solidFill>
                <a:latin typeface="Aptos"/>
              </a:rPr>
              <a:t> </a:t>
            </a:r>
            <a:r>
              <a:rPr lang="de-DE" sz="1150" i="0" dirty="0">
                <a:solidFill>
                  <a:srgbClr val="33413D"/>
                </a:solidFill>
                <a:latin typeface="Aptos"/>
              </a:rPr>
              <a:t>-</a:t>
            </a:r>
            <a:r>
              <a:rPr sz="1150" i="0" dirty="0">
                <a:solidFill>
                  <a:srgbClr val="33413D"/>
                </a:solidFill>
                <a:latin typeface="Aptos"/>
              </a:rPr>
              <a:t> das </a:t>
            </a:r>
            <a:r>
              <a:rPr sz="1150" i="0" dirty="0" err="1">
                <a:solidFill>
                  <a:srgbClr val="33413D"/>
                </a:solidFill>
                <a:latin typeface="Aptos"/>
              </a:rPr>
              <a:t>Referenzobjekt</a:t>
            </a:r>
            <a:r>
              <a:rPr sz="1150" i="0" dirty="0">
                <a:solidFill>
                  <a:srgbClr val="33413D"/>
                </a:solidFill>
                <a:latin typeface="Aptos"/>
              </a:rPr>
              <a:t>, für das 1Çatı </a:t>
            </a:r>
            <a:r>
              <a:rPr sz="1150" i="0" dirty="0" err="1">
                <a:solidFill>
                  <a:srgbClr val="33413D"/>
                </a:solidFill>
                <a:latin typeface="Aptos"/>
              </a:rPr>
              <a:t>entwickelt</a:t>
            </a:r>
            <a:r>
              <a:rPr sz="115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i="0" dirty="0" err="1">
                <a:solidFill>
                  <a:srgbClr val="33413D"/>
                </a:solidFill>
                <a:latin typeface="Aptos"/>
              </a:rPr>
              <a:t>wurde</a:t>
            </a:r>
            <a:r>
              <a:rPr sz="1150" i="0" dirty="0">
                <a:solidFill>
                  <a:srgbClr val="33413D"/>
                </a:solidFill>
                <a:latin typeface="Aptos"/>
              </a:rPr>
              <a:t>.</a:t>
            </a:r>
          </a:p>
        </p:txBody>
      </p:sp>
      <p:pic>
        <p:nvPicPr>
          <p:cNvPr id="10" name="Picture 9" descr="obe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57400"/>
            <a:ext cx="5321808" cy="2990088"/>
          </a:xfrm>
          <a:prstGeom prst="rect">
            <a:avLst/>
          </a:prstGeom>
          <a:ln w="12700">
            <a:solidFill>
              <a:srgbClr val="DAE3E0"/>
            </a:solidFill>
          </a:ln>
        </p:spPr>
      </p:pic>
      <p:pic>
        <p:nvPicPr>
          <p:cNvPr id="11" name="Picture 10" descr="seit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0488" y="2057400"/>
            <a:ext cx="5321808" cy="2990088"/>
          </a:xfrm>
          <a:prstGeom prst="rect">
            <a:avLst/>
          </a:prstGeom>
          <a:ln w="12700">
            <a:solidFill>
              <a:srgbClr val="DAE3E0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640080" y="5120640"/>
            <a:ext cx="5321808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50" b="0" i="1" dirty="0">
                <a:solidFill>
                  <a:srgbClr val="64716D"/>
                </a:solidFill>
                <a:latin typeface="Aptos"/>
              </a:rPr>
              <a:t>Anlage </a:t>
            </a:r>
            <a:r>
              <a:rPr sz="950" b="0" i="1" dirty="0" err="1">
                <a:solidFill>
                  <a:srgbClr val="64716D"/>
                </a:solidFill>
                <a:latin typeface="Aptos"/>
              </a:rPr>
              <a:t>aus</a:t>
            </a:r>
            <a:r>
              <a:rPr sz="950" b="0" i="1" dirty="0">
                <a:solidFill>
                  <a:srgbClr val="64716D"/>
                </a:solidFill>
                <a:latin typeface="Aptos"/>
              </a:rPr>
              <a:t> der </a:t>
            </a:r>
            <a:r>
              <a:rPr sz="950" b="0" i="1" dirty="0" err="1">
                <a:solidFill>
                  <a:srgbClr val="64716D"/>
                </a:solidFill>
                <a:latin typeface="Aptos"/>
              </a:rPr>
              <a:t>Vogelperspektive</a:t>
            </a:r>
            <a:r>
              <a:rPr sz="950" b="0" i="1" dirty="0">
                <a:solidFill>
                  <a:srgbClr val="64716D"/>
                </a:solidFill>
                <a:latin typeface="Aptos"/>
              </a:rPr>
              <a:t> </a:t>
            </a:r>
            <a:r>
              <a:rPr lang="de-DE" sz="950" b="0" i="1" dirty="0">
                <a:solidFill>
                  <a:srgbClr val="64716D"/>
                </a:solidFill>
                <a:latin typeface="Aptos"/>
              </a:rPr>
              <a:t>-</a:t>
            </a:r>
            <a:r>
              <a:rPr sz="950" b="0" i="1" dirty="0">
                <a:solidFill>
                  <a:srgbClr val="64716D"/>
                </a:solidFill>
                <a:latin typeface="Aptos"/>
              </a:rPr>
              <a:t> </a:t>
            </a:r>
            <a:r>
              <a:rPr sz="950" b="0" i="1" dirty="0" err="1">
                <a:solidFill>
                  <a:srgbClr val="64716D"/>
                </a:solidFill>
                <a:latin typeface="Aptos"/>
              </a:rPr>
              <a:t>Blockstruktur</a:t>
            </a:r>
            <a:r>
              <a:rPr sz="950" b="0" i="1" dirty="0">
                <a:solidFill>
                  <a:srgbClr val="64716D"/>
                </a:solidFill>
                <a:latin typeface="Aptos"/>
              </a:rPr>
              <a:t>, Pools und </a:t>
            </a:r>
            <a:r>
              <a:rPr sz="950" b="0" i="1" dirty="0" err="1">
                <a:solidFill>
                  <a:srgbClr val="64716D"/>
                </a:solidFill>
                <a:latin typeface="Aptos"/>
              </a:rPr>
              <a:t>Sportanlagen</a:t>
            </a:r>
            <a:r>
              <a:rPr sz="950" b="0" i="1" dirty="0">
                <a:solidFill>
                  <a:srgbClr val="64716D"/>
                </a:solidFill>
                <a:latin typeface="Aptos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0488" y="5120640"/>
            <a:ext cx="5321808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50" b="0" i="1" dirty="0" err="1">
                <a:solidFill>
                  <a:srgbClr val="64716D"/>
                </a:solidFill>
                <a:latin typeface="Aptos"/>
              </a:rPr>
              <a:t>Seitenansicht</a:t>
            </a:r>
            <a:r>
              <a:rPr sz="950" b="0" i="1" dirty="0">
                <a:solidFill>
                  <a:srgbClr val="64716D"/>
                </a:solidFill>
                <a:latin typeface="Aptos"/>
              </a:rPr>
              <a:t> </a:t>
            </a:r>
            <a:r>
              <a:rPr sz="950" b="0" i="1" dirty="0" err="1">
                <a:solidFill>
                  <a:srgbClr val="64716D"/>
                </a:solidFill>
                <a:latin typeface="Aptos"/>
              </a:rPr>
              <a:t>mit</a:t>
            </a:r>
            <a:r>
              <a:rPr sz="950" b="0" i="1" dirty="0">
                <a:solidFill>
                  <a:srgbClr val="64716D"/>
                </a:solidFill>
                <a:latin typeface="Aptos"/>
              </a:rPr>
              <a:t> </a:t>
            </a:r>
            <a:r>
              <a:rPr sz="950" b="0" i="1" dirty="0" err="1">
                <a:solidFill>
                  <a:srgbClr val="64716D"/>
                </a:solidFill>
                <a:latin typeface="Aptos"/>
              </a:rPr>
              <a:t>Meerblick</a:t>
            </a:r>
            <a:r>
              <a:rPr sz="950" b="0" i="1" dirty="0">
                <a:solidFill>
                  <a:srgbClr val="64716D"/>
                </a:solidFill>
                <a:latin typeface="Aptos"/>
              </a:rPr>
              <a:t> </a:t>
            </a:r>
            <a:r>
              <a:rPr lang="de-DE" sz="950" b="0" i="1" dirty="0">
                <a:solidFill>
                  <a:srgbClr val="64716D"/>
                </a:solidFill>
                <a:latin typeface="Aptos"/>
              </a:rPr>
              <a:t>-</a:t>
            </a:r>
            <a:r>
              <a:rPr sz="950" b="0" i="1" dirty="0">
                <a:solidFill>
                  <a:srgbClr val="64716D"/>
                </a:solidFill>
                <a:latin typeface="Aptos"/>
              </a:rPr>
              <a:t> die </a:t>
            </a:r>
            <a:r>
              <a:rPr sz="950" b="0" i="1" dirty="0" err="1">
                <a:solidFill>
                  <a:srgbClr val="64716D"/>
                </a:solidFill>
                <a:latin typeface="Aptos"/>
              </a:rPr>
              <a:t>Wohntürme</a:t>
            </a:r>
            <a:r>
              <a:rPr sz="950" b="0" i="1" dirty="0">
                <a:solidFill>
                  <a:srgbClr val="64716D"/>
                </a:solidFill>
                <a:latin typeface="Aptos"/>
              </a:rPr>
              <a:t> in der </a:t>
            </a:r>
            <a:r>
              <a:rPr sz="950" b="0" i="1" dirty="0" err="1">
                <a:solidFill>
                  <a:srgbClr val="64716D"/>
                </a:solidFill>
                <a:latin typeface="Aptos"/>
              </a:rPr>
              <a:t>Pinienlandschaft</a:t>
            </a:r>
            <a:r>
              <a:rPr sz="950" b="0" i="1" dirty="0">
                <a:solidFill>
                  <a:srgbClr val="64716D"/>
                </a:solidFill>
                <a:latin typeface="Aptos"/>
              </a:rPr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715000"/>
            <a:ext cx="10881360" cy="502920"/>
          </a:xfrm>
          <a:prstGeom prst="roundRect">
            <a:avLst>
              <a:gd name="adj" fmla="val 6000"/>
            </a:avLst>
          </a:prstGeom>
          <a:solidFill>
            <a:srgbClr val="F1F6F4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5715000"/>
            <a:ext cx="54864" cy="502920"/>
          </a:xfrm>
          <a:prstGeom prst="rect">
            <a:avLst/>
          </a:prstGeom>
          <a:solidFill>
            <a:srgbClr val="06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6112" y="5843016"/>
            <a:ext cx="1046988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50" b="1" i="0">
                <a:solidFill>
                  <a:srgbClr val="044F49"/>
                </a:solidFill>
                <a:latin typeface="Aptos"/>
              </a:rPr>
              <a:t>769 Wohneinheiten.  </a:t>
            </a:r>
            <a:r>
              <a:rPr sz="1150" b="0" i="0">
                <a:solidFill>
                  <a:srgbClr val="33413D"/>
                </a:solidFill>
                <a:latin typeface="Aptos"/>
              </a:rPr>
              <a:t>Für dieses Portfolio bündelt 1Çatı Vertrieb, Eigentümer &amp; Mieter, Finanzen, Service und Kommunikation in einer einzigen Plattform.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55664"/>
            <a:ext cx="86868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750" b="0" i="0" dirty="0">
                <a:solidFill>
                  <a:srgbClr val="64716D"/>
                </a:solidFill>
                <a:latin typeface="Aptos"/>
              </a:rPr>
              <a:t>1Çatı </a:t>
            </a:r>
            <a:r>
              <a:rPr lang="de-DE" sz="750" b="0" i="0" dirty="0">
                <a:solidFill>
                  <a:srgbClr val="64716D"/>
                </a:solidFill>
                <a:latin typeface="Aptos"/>
              </a:rPr>
              <a:t>-</a:t>
            </a:r>
            <a:r>
              <a:rPr sz="750" b="0" i="0" dirty="0">
                <a:solidFill>
                  <a:srgbClr val="64716D"/>
                </a:solidFill>
                <a:latin typeface="Aptos"/>
              </a:rPr>
              <a:t> Property-Management- &amp; Real-Estate-ERP · WAMOCON GmbH für </a:t>
            </a:r>
            <a:r>
              <a:rPr sz="750" b="0" i="0" dirty="0" err="1">
                <a:solidFill>
                  <a:srgbClr val="64716D"/>
                </a:solidFill>
                <a:latin typeface="Aptos"/>
              </a:rPr>
              <a:t>Ataberk</a:t>
            </a:r>
            <a:r>
              <a:rPr sz="750" b="0" i="0" dirty="0">
                <a:solidFill>
                  <a:srgbClr val="64716D"/>
                </a:solidFill>
                <a:latin typeface="Aptos"/>
              </a:rPr>
              <a:t> Estate · </a:t>
            </a:r>
            <a:r>
              <a:rPr sz="750" b="0" i="0" dirty="0" err="1">
                <a:solidFill>
                  <a:srgbClr val="64716D"/>
                </a:solidFill>
                <a:latin typeface="Aptos"/>
              </a:rPr>
              <a:t>Vertraulich</a:t>
            </a:r>
            <a:endParaRPr sz="750" b="0" i="0" dirty="0">
              <a:solidFill>
                <a:srgbClr val="64716D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>
                <a:solidFill>
                  <a:srgbClr val="64716D"/>
                </a:solidFill>
                <a:latin typeface="Aptos"/>
              </a:rPr>
              <a:t>1</a:t>
            </a:r>
          </a:p>
        </p:txBody>
      </p:sp>
      <p:pic>
        <p:nvPicPr>
          <p:cNvPr id="19" name="Picture 18" descr="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44200" y="6382512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B9822B"/>
                </a:solidFill>
                <a:latin typeface="Aptos"/>
              </a:rPr>
              <a:t>WARUM JETZT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700" b="1" i="0" dirty="0">
                <a:solidFill>
                  <a:srgbClr val="044F49"/>
                </a:solidFill>
                <a:latin typeface="Aptos"/>
              </a:rPr>
              <a:t>Ein </a:t>
            </a:r>
            <a:r>
              <a:rPr sz="2700" b="1" i="0" dirty="0" err="1">
                <a:solidFill>
                  <a:srgbClr val="044F49"/>
                </a:solidFill>
                <a:latin typeface="Aptos"/>
              </a:rPr>
              <a:t>engerer</a:t>
            </a:r>
            <a:r>
              <a:rPr sz="2700" b="1" i="0" dirty="0">
                <a:solidFill>
                  <a:srgbClr val="044F49"/>
                </a:solidFill>
                <a:latin typeface="Aptos"/>
              </a:rPr>
              <a:t> Markt </a:t>
            </a:r>
            <a:r>
              <a:rPr lang="de-DE" sz="2700" b="1" i="0" dirty="0">
                <a:solidFill>
                  <a:srgbClr val="044F49"/>
                </a:solidFill>
                <a:latin typeface="Aptos"/>
              </a:rPr>
              <a:t>-</a:t>
            </a:r>
            <a:r>
              <a:rPr sz="2700" b="1" i="0" dirty="0">
                <a:solidFill>
                  <a:srgbClr val="044F49"/>
                </a:solidFill>
                <a:latin typeface="Aptos"/>
              </a:rPr>
              <a:t> und KI </a:t>
            </a:r>
            <a:r>
              <a:rPr sz="2700" b="1" i="0" dirty="0" err="1">
                <a:solidFill>
                  <a:srgbClr val="044F49"/>
                </a:solidFill>
                <a:latin typeface="Aptos"/>
              </a:rPr>
              <a:t>wird</a:t>
            </a:r>
            <a:r>
              <a:rPr sz="2700" b="1" i="0" dirty="0">
                <a:solidFill>
                  <a:srgbClr val="044F49"/>
                </a:solidFill>
                <a:latin typeface="Aptos"/>
              </a:rPr>
              <a:t> Standard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502920" cy="41148"/>
          </a:xfrm>
          <a:prstGeom prst="rect">
            <a:avLst/>
          </a:prstGeom>
          <a:solidFill>
            <a:srgbClr val="06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61288" y="1298448"/>
            <a:ext cx="301752" cy="41148"/>
          </a:xfrm>
          <a:prstGeom prst="rect">
            <a:avLst/>
          </a:prstGeom>
          <a:solidFill>
            <a:srgbClr val="B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966960" y="365760"/>
            <a:ext cx="1572768" cy="475488"/>
          </a:xfrm>
          <a:prstGeom prst="roundRect">
            <a:avLst>
              <a:gd name="adj" fmla="val 50000"/>
            </a:avLst>
          </a:prstGeom>
          <a:solidFill>
            <a:srgbClr val="044F49"/>
          </a:solidFill>
          <a:ln w="9525">
            <a:solidFill>
              <a:srgbClr val="E2B7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ataberk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473659"/>
            <a:ext cx="1298448" cy="25968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1554480"/>
            <a:ext cx="1088136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200" i="0" dirty="0">
                <a:solidFill>
                  <a:srgbClr val="33413D"/>
                </a:solidFill>
                <a:latin typeface="Aptos"/>
              </a:rPr>
              <a:t>Der </a:t>
            </a:r>
            <a:r>
              <a:rPr sz="1200" i="0" dirty="0" err="1">
                <a:solidFill>
                  <a:srgbClr val="33413D"/>
                </a:solidFill>
                <a:latin typeface="Aptos"/>
              </a:rPr>
              <a:t>Auslandsimmobilienmarkt</a:t>
            </a:r>
            <a:r>
              <a:rPr sz="120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200" i="0" dirty="0" err="1">
                <a:solidFill>
                  <a:srgbClr val="33413D"/>
                </a:solidFill>
                <a:latin typeface="Aptos"/>
              </a:rPr>
              <a:t>schrumpft</a:t>
            </a:r>
            <a:r>
              <a:rPr sz="1200" i="0" dirty="0">
                <a:solidFill>
                  <a:srgbClr val="33413D"/>
                </a:solidFill>
                <a:latin typeface="Aptos"/>
              </a:rPr>
              <a:t> </a:t>
            </a:r>
            <a:r>
              <a:rPr lang="de-DE" sz="1200" i="0" dirty="0">
                <a:solidFill>
                  <a:srgbClr val="33413D"/>
                </a:solidFill>
                <a:latin typeface="Aptos"/>
              </a:rPr>
              <a:t>-</a:t>
            </a:r>
            <a:r>
              <a:rPr sz="1200" i="0" dirty="0">
                <a:solidFill>
                  <a:srgbClr val="33413D"/>
                </a:solidFill>
                <a:latin typeface="Aptos"/>
              </a:rPr>
              <a:t> Alanya </a:t>
            </a:r>
            <a:r>
              <a:rPr sz="1200" i="0" dirty="0" err="1">
                <a:solidFill>
                  <a:srgbClr val="33413D"/>
                </a:solidFill>
                <a:latin typeface="Aptos"/>
              </a:rPr>
              <a:t>bleibt</a:t>
            </a:r>
            <a:r>
              <a:rPr sz="120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200" i="0" dirty="0" err="1">
                <a:solidFill>
                  <a:srgbClr val="33413D"/>
                </a:solidFill>
                <a:latin typeface="Aptos"/>
              </a:rPr>
              <a:t>aber</a:t>
            </a:r>
            <a:r>
              <a:rPr sz="120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200" i="0" dirty="0" err="1">
                <a:solidFill>
                  <a:srgbClr val="33413D"/>
                </a:solidFill>
                <a:latin typeface="Aptos"/>
              </a:rPr>
              <a:t>seit</a:t>
            </a:r>
            <a:r>
              <a:rPr sz="1200" i="0" dirty="0">
                <a:solidFill>
                  <a:srgbClr val="33413D"/>
                </a:solidFill>
                <a:latin typeface="Aptos"/>
              </a:rPr>
              <a:t> vier Jahren der von </a:t>
            </a:r>
            <a:r>
              <a:rPr sz="1200" i="0" dirty="0" err="1">
                <a:solidFill>
                  <a:srgbClr val="33413D"/>
                </a:solidFill>
                <a:latin typeface="Aptos"/>
              </a:rPr>
              <a:t>russischen</a:t>
            </a:r>
            <a:r>
              <a:rPr sz="120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200" i="0" dirty="0" err="1">
                <a:solidFill>
                  <a:srgbClr val="33413D"/>
                </a:solidFill>
                <a:latin typeface="Aptos"/>
              </a:rPr>
              <a:t>Käufern</a:t>
            </a:r>
            <a:r>
              <a:rPr sz="120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200" i="0" dirty="0" err="1">
                <a:solidFill>
                  <a:srgbClr val="33413D"/>
                </a:solidFill>
                <a:latin typeface="Aptos"/>
              </a:rPr>
              <a:t>meistgewählte</a:t>
            </a:r>
            <a:r>
              <a:rPr sz="1200" i="0" dirty="0">
                <a:solidFill>
                  <a:srgbClr val="33413D"/>
                </a:solidFill>
                <a:latin typeface="Aptos"/>
              </a:rPr>
              <a:t> Landkreis der </a:t>
            </a:r>
            <a:r>
              <a:rPr sz="1200" i="0" dirty="0" err="1">
                <a:solidFill>
                  <a:srgbClr val="33413D"/>
                </a:solidFill>
                <a:latin typeface="Aptos"/>
              </a:rPr>
              <a:t>Türkei</a:t>
            </a:r>
            <a:r>
              <a:rPr sz="1200" i="0" dirty="0">
                <a:solidFill>
                  <a:srgbClr val="33413D"/>
                </a:solidFill>
                <a:latin typeface="Aptos"/>
              </a:rPr>
              <a:t>. In </a:t>
            </a:r>
            <a:r>
              <a:rPr sz="1200" i="0" dirty="0" err="1">
                <a:solidFill>
                  <a:srgbClr val="33413D"/>
                </a:solidFill>
                <a:latin typeface="Aptos"/>
              </a:rPr>
              <a:t>einem</a:t>
            </a:r>
            <a:r>
              <a:rPr sz="120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200" i="0" dirty="0" err="1">
                <a:solidFill>
                  <a:srgbClr val="33413D"/>
                </a:solidFill>
                <a:latin typeface="Aptos"/>
              </a:rPr>
              <a:t>engeren</a:t>
            </a:r>
            <a:r>
              <a:rPr sz="1200" i="0" dirty="0">
                <a:solidFill>
                  <a:srgbClr val="33413D"/>
                </a:solidFill>
                <a:latin typeface="Aptos"/>
              </a:rPr>
              <a:t> Markt </a:t>
            </a:r>
            <a:r>
              <a:rPr sz="1200" i="0" dirty="0" err="1">
                <a:solidFill>
                  <a:srgbClr val="33413D"/>
                </a:solidFill>
                <a:latin typeface="Aptos"/>
              </a:rPr>
              <a:t>entscheidet</a:t>
            </a:r>
            <a:r>
              <a:rPr sz="1200" i="0" dirty="0">
                <a:solidFill>
                  <a:srgbClr val="33413D"/>
                </a:solidFill>
                <a:latin typeface="Aptos"/>
              </a:rPr>
              <a:t> operative </a:t>
            </a:r>
            <a:r>
              <a:rPr sz="1200" i="0" dirty="0" err="1">
                <a:solidFill>
                  <a:srgbClr val="33413D"/>
                </a:solidFill>
                <a:latin typeface="Aptos"/>
              </a:rPr>
              <a:t>Exzellenz</a:t>
            </a:r>
            <a:r>
              <a:rPr sz="1200" i="0" dirty="0">
                <a:solidFill>
                  <a:srgbClr val="33413D"/>
                </a:solidFill>
                <a:latin typeface="Aptos"/>
              </a:rPr>
              <a:t> und </a:t>
            </a:r>
            <a:r>
              <a:rPr sz="1200" i="0" dirty="0" err="1">
                <a:solidFill>
                  <a:srgbClr val="33413D"/>
                </a:solidFill>
                <a:latin typeface="Aptos"/>
              </a:rPr>
              <a:t>digitales</a:t>
            </a:r>
            <a:r>
              <a:rPr sz="120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200" i="0" dirty="0" err="1">
                <a:solidFill>
                  <a:srgbClr val="33413D"/>
                </a:solidFill>
                <a:latin typeface="Aptos"/>
              </a:rPr>
              <a:t>Vertrauen</a:t>
            </a:r>
            <a:r>
              <a:rPr sz="120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200" i="0" dirty="0" err="1">
                <a:solidFill>
                  <a:srgbClr val="33413D"/>
                </a:solidFill>
                <a:latin typeface="Aptos"/>
              </a:rPr>
              <a:t>stärker</a:t>
            </a:r>
            <a:r>
              <a:rPr sz="120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200" i="0" dirty="0" err="1">
                <a:solidFill>
                  <a:srgbClr val="33413D"/>
                </a:solidFill>
                <a:latin typeface="Aptos"/>
              </a:rPr>
              <a:t>über</a:t>
            </a:r>
            <a:r>
              <a:rPr sz="120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200" i="0" dirty="0" err="1">
                <a:solidFill>
                  <a:srgbClr val="33413D"/>
                </a:solidFill>
                <a:latin typeface="Aptos"/>
              </a:rPr>
              <a:t>Kundenbindung</a:t>
            </a:r>
            <a:r>
              <a:rPr sz="1200" i="0" dirty="0">
                <a:solidFill>
                  <a:srgbClr val="33413D"/>
                </a:solidFill>
                <a:latin typeface="Aptos"/>
              </a:rPr>
              <a:t>. </a:t>
            </a:r>
            <a:r>
              <a:rPr sz="1200" i="0" dirty="0" err="1">
                <a:solidFill>
                  <a:srgbClr val="33413D"/>
                </a:solidFill>
                <a:latin typeface="Aptos"/>
              </a:rPr>
              <a:t>Gleichzeitig</a:t>
            </a:r>
            <a:r>
              <a:rPr sz="120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200" i="0" dirty="0" err="1">
                <a:solidFill>
                  <a:srgbClr val="33413D"/>
                </a:solidFill>
                <a:latin typeface="Aptos"/>
              </a:rPr>
              <a:t>verdoppelt</a:t>
            </a:r>
            <a:r>
              <a:rPr sz="120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200" i="0" dirty="0" err="1">
                <a:solidFill>
                  <a:srgbClr val="33413D"/>
                </a:solidFill>
                <a:latin typeface="Aptos"/>
              </a:rPr>
              <a:t>sich</a:t>
            </a:r>
            <a:r>
              <a:rPr sz="1200" i="0" dirty="0">
                <a:solidFill>
                  <a:srgbClr val="33413D"/>
                </a:solidFill>
                <a:latin typeface="Aptos"/>
              </a:rPr>
              <a:t> die KI-</a:t>
            </a:r>
            <a:r>
              <a:rPr sz="1200" i="0" dirty="0" err="1">
                <a:solidFill>
                  <a:srgbClr val="33413D"/>
                </a:solidFill>
                <a:latin typeface="Aptos"/>
              </a:rPr>
              <a:t>Nutzung</a:t>
            </a:r>
            <a:r>
              <a:rPr sz="1200" i="0" dirty="0">
                <a:solidFill>
                  <a:srgbClr val="33413D"/>
                </a:solidFill>
                <a:latin typeface="Aptos"/>
              </a:rPr>
              <a:t> in der Branche </a:t>
            </a:r>
            <a:r>
              <a:rPr sz="1200" i="0" dirty="0" err="1">
                <a:solidFill>
                  <a:srgbClr val="33413D"/>
                </a:solidFill>
                <a:latin typeface="Aptos"/>
              </a:rPr>
              <a:t>nahezu</a:t>
            </a:r>
            <a:r>
              <a:rPr sz="1200" i="0" dirty="0">
                <a:solidFill>
                  <a:srgbClr val="33413D"/>
                </a:solidFill>
                <a:latin typeface="Aptos"/>
              </a:rPr>
              <a:t> </a:t>
            </a:r>
            <a:r>
              <a:rPr lang="de-DE" sz="1200" i="0" dirty="0">
                <a:solidFill>
                  <a:srgbClr val="33413D"/>
                </a:solidFill>
                <a:latin typeface="Aptos"/>
              </a:rPr>
              <a:t>-</a:t>
            </a:r>
            <a:r>
              <a:rPr sz="1200" i="0" dirty="0">
                <a:solidFill>
                  <a:srgbClr val="33413D"/>
                </a:solidFill>
                <a:latin typeface="Aptos"/>
              </a:rPr>
              <a:t> 1Çatı </a:t>
            </a:r>
            <a:r>
              <a:rPr sz="1200" i="0" dirty="0" err="1">
                <a:solidFill>
                  <a:srgbClr val="33413D"/>
                </a:solidFill>
                <a:latin typeface="Aptos"/>
              </a:rPr>
              <a:t>verankert</a:t>
            </a:r>
            <a:r>
              <a:rPr sz="120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200" i="0" dirty="0" err="1">
                <a:solidFill>
                  <a:srgbClr val="33413D"/>
                </a:solidFill>
                <a:latin typeface="Aptos"/>
              </a:rPr>
              <a:t>dabei</a:t>
            </a:r>
            <a:r>
              <a:rPr sz="1200" i="0" dirty="0">
                <a:solidFill>
                  <a:srgbClr val="33413D"/>
                </a:solidFill>
                <a:latin typeface="Aptos"/>
              </a:rPr>
              <a:t> von Grund auf das </a:t>
            </a:r>
            <a:r>
              <a:rPr sz="1200" i="0" dirty="0" err="1">
                <a:solidFill>
                  <a:srgbClr val="33413D"/>
                </a:solidFill>
                <a:latin typeface="Aptos"/>
              </a:rPr>
              <a:t>Prinzip</a:t>
            </a:r>
            <a:r>
              <a:rPr sz="1200" i="0" dirty="0">
                <a:solidFill>
                  <a:srgbClr val="33413D"/>
                </a:solidFill>
                <a:latin typeface="Aptos"/>
              </a:rPr>
              <a:t>: die KI </a:t>
            </a:r>
            <a:r>
              <a:rPr sz="1200" i="0" dirty="0" err="1">
                <a:solidFill>
                  <a:srgbClr val="33413D"/>
                </a:solidFill>
                <a:latin typeface="Aptos"/>
              </a:rPr>
              <a:t>empfiehlt</a:t>
            </a:r>
            <a:r>
              <a:rPr sz="1200" i="0" dirty="0">
                <a:solidFill>
                  <a:srgbClr val="33413D"/>
                </a:solidFill>
                <a:latin typeface="Aptos"/>
              </a:rPr>
              <a:t>, </a:t>
            </a:r>
            <a:r>
              <a:rPr sz="1200" i="0" dirty="0" err="1">
                <a:solidFill>
                  <a:srgbClr val="33413D"/>
                </a:solidFill>
                <a:latin typeface="Aptos"/>
              </a:rPr>
              <a:t>ein</a:t>
            </a:r>
            <a:r>
              <a:rPr sz="1200" i="0" dirty="0">
                <a:solidFill>
                  <a:srgbClr val="33413D"/>
                </a:solidFill>
                <a:latin typeface="Aptos"/>
              </a:rPr>
              <a:t> Mensch </a:t>
            </a:r>
            <a:r>
              <a:rPr sz="1200" i="0" dirty="0" err="1">
                <a:solidFill>
                  <a:srgbClr val="33413D"/>
                </a:solidFill>
                <a:latin typeface="Aptos"/>
              </a:rPr>
              <a:t>entscheidet</a:t>
            </a:r>
            <a:r>
              <a:rPr sz="1200" i="0" dirty="0">
                <a:solidFill>
                  <a:srgbClr val="33413D"/>
                </a:solidFill>
                <a:latin typeface="Aptos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383280"/>
            <a:ext cx="2548890" cy="1234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3529584"/>
            <a:ext cx="218313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200" b="1" i="0" dirty="0">
                <a:solidFill>
                  <a:srgbClr val="066B63"/>
                </a:solidFill>
                <a:latin typeface="Aptos"/>
              </a:rPr>
              <a:t>−9,4</a:t>
            </a:r>
            <a:r>
              <a:rPr lang="de-DE" sz="3200" b="1" i="0" dirty="0">
                <a:solidFill>
                  <a:srgbClr val="066B63"/>
                </a:solidFill>
                <a:latin typeface="Aptos"/>
              </a:rPr>
              <a:t> </a:t>
            </a:r>
            <a:r>
              <a:rPr sz="3200" b="1" i="0" dirty="0">
                <a:solidFill>
                  <a:srgbClr val="B9822B"/>
                </a:solidFill>
                <a:latin typeface="Aptos"/>
              </a:rPr>
              <a:t>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133088"/>
            <a:ext cx="218313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0" i="0">
                <a:solidFill>
                  <a:srgbClr val="64716D"/>
                </a:solidFill>
                <a:latin typeface="Aptos"/>
              </a:rPr>
              <a:t>Ausländerverkäufe Türkei 2025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17570" y="3383280"/>
            <a:ext cx="2548890" cy="1234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00450" y="3529584"/>
            <a:ext cx="218313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200" b="1" i="0">
                <a:solidFill>
                  <a:srgbClr val="066B63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450" y="4133088"/>
            <a:ext cx="218313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0" i="0">
                <a:solidFill>
                  <a:srgbClr val="64716D"/>
                </a:solidFill>
                <a:latin typeface="Aptos"/>
              </a:rPr>
              <a:t>Jahre Alanya Nr. 1 (russische Käufer)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5060" y="3383280"/>
            <a:ext cx="2548890" cy="1234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77940" y="3529584"/>
            <a:ext cx="218313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200" b="1" i="0" dirty="0">
                <a:solidFill>
                  <a:srgbClr val="066B63"/>
                </a:solidFill>
                <a:latin typeface="Aptos"/>
              </a:rPr>
              <a:t>88,6</a:t>
            </a:r>
            <a:r>
              <a:rPr lang="de-DE" sz="3200" b="1" i="0" dirty="0">
                <a:solidFill>
                  <a:srgbClr val="066B63"/>
                </a:solidFill>
                <a:latin typeface="Aptos"/>
              </a:rPr>
              <a:t> </a:t>
            </a:r>
            <a:r>
              <a:rPr sz="3200" b="1" i="0" dirty="0">
                <a:solidFill>
                  <a:srgbClr val="B9822B"/>
                </a:solidFill>
                <a:latin typeface="Aptos"/>
              </a:rPr>
              <a:t>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7940" y="4133088"/>
            <a:ext cx="218313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0" i="0">
                <a:solidFill>
                  <a:srgbClr val="64716D"/>
                </a:solidFill>
                <a:latin typeface="Aptos"/>
              </a:rPr>
              <a:t>WhatsApp-Nutzung Türkei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72550" y="3383280"/>
            <a:ext cx="2548890" cy="1234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55430" y="3529584"/>
            <a:ext cx="218313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200" b="1" i="0" dirty="0">
                <a:solidFill>
                  <a:srgbClr val="066B63"/>
                </a:solidFill>
                <a:latin typeface="Aptos"/>
              </a:rPr>
              <a:t>34</a:t>
            </a:r>
            <a:r>
              <a:rPr lang="de-DE" sz="3200" b="1" i="0" dirty="0">
                <a:solidFill>
                  <a:srgbClr val="066B63"/>
                </a:solidFill>
                <a:latin typeface="Aptos"/>
              </a:rPr>
              <a:t> </a:t>
            </a:r>
            <a:r>
              <a:rPr sz="3200" b="1" i="0" dirty="0">
                <a:solidFill>
                  <a:srgbClr val="B9822B"/>
                </a:solidFill>
                <a:latin typeface="Aptos"/>
              </a:rPr>
              <a:t>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55430" y="4133088"/>
            <a:ext cx="218313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0" i="0">
                <a:solidFill>
                  <a:srgbClr val="64716D"/>
                </a:solidFill>
                <a:latin typeface="Aptos"/>
              </a:rPr>
              <a:t>KI-Nutzung Property-Manager (von 21%)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937760"/>
            <a:ext cx="10881360" cy="1280160"/>
          </a:xfrm>
          <a:prstGeom prst="roundRect">
            <a:avLst>
              <a:gd name="adj" fmla="val 6000"/>
            </a:avLst>
          </a:prstGeom>
          <a:solidFill>
            <a:srgbClr val="F1F6F4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0080" y="4937760"/>
            <a:ext cx="54864" cy="1280160"/>
          </a:xfrm>
          <a:prstGeom prst="rect">
            <a:avLst/>
          </a:prstGeom>
          <a:solidFill>
            <a:srgbClr val="06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6112" y="5393174"/>
            <a:ext cx="1046988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50" b="1" i="0" dirty="0">
                <a:solidFill>
                  <a:srgbClr val="044F49"/>
                </a:solidFill>
                <a:latin typeface="Aptos"/>
              </a:rPr>
              <a:t>Die </a:t>
            </a:r>
            <a:r>
              <a:rPr sz="1250" b="1" i="0" dirty="0" err="1">
                <a:solidFill>
                  <a:srgbClr val="044F49"/>
                </a:solidFill>
                <a:latin typeface="Aptos"/>
              </a:rPr>
              <a:t>Marktlücke</a:t>
            </a:r>
            <a:r>
              <a:rPr sz="1250" b="1" i="0" dirty="0">
                <a:solidFill>
                  <a:srgbClr val="044F49"/>
                </a:solidFill>
                <a:latin typeface="Aptos"/>
              </a:rPr>
              <a:t>.  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Kein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türkischer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oder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internationaler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Anbieter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vereint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belastbare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Finanzführung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,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ein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strukturiertes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Service-Desk,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einen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öffentlichen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kontofreien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Registrierungskanal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und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eine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KI, die sensible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Aktionen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nur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empfiehlt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lang="de-DE" sz="1150" b="0" i="0" dirty="0">
                <a:solidFill>
                  <a:srgbClr val="33413D"/>
                </a:solidFill>
                <a:latin typeface="Aptos"/>
              </a:rPr>
              <a:t>-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in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einem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Produkt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.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Genau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diese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Kombination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ist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die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Positionierung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von 1Çatı.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55664"/>
            <a:ext cx="86868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750" b="0" i="0" dirty="0">
                <a:solidFill>
                  <a:srgbClr val="64716D"/>
                </a:solidFill>
                <a:latin typeface="Aptos"/>
              </a:rPr>
              <a:t>1Çatı </a:t>
            </a:r>
            <a:r>
              <a:rPr lang="de-DE" sz="750" b="0" i="0" dirty="0">
                <a:solidFill>
                  <a:srgbClr val="64716D"/>
                </a:solidFill>
                <a:latin typeface="Aptos"/>
              </a:rPr>
              <a:t>-</a:t>
            </a:r>
            <a:r>
              <a:rPr sz="750" b="0" i="0" dirty="0">
                <a:solidFill>
                  <a:srgbClr val="64716D"/>
                </a:solidFill>
                <a:latin typeface="Aptos"/>
              </a:rPr>
              <a:t> Property-Management- &amp; Real-Estate-ERP · WAMOCON GmbH für </a:t>
            </a:r>
            <a:r>
              <a:rPr sz="750" b="0" i="0" dirty="0" err="1">
                <a:solidFill>
                  <a:srgbClr val="64716D"/>
                </a:solidFill>
                <a:latin typeface="Aptos"/>
              </a:rPr>
              <a:t>Ataberk</a:t>
            </a:r>
            <a:r>
              <a:rPr sz="750" b="0" i="0" dirty="0">
                <a:solidFill>
                  <a:srgbClr val="64716D"/>
                </a:solidFill>
                <a:latin typeface="Aptos"/>
              </a:rPr>
              <a:t> Estate · </a:t>
            </a:r>
            <a:r>
              <a:rPr sz="750" b="0" i="0" dirty="0" err="1">
                <a:solidFill>
                  <a:srgbClr val="64716D"/>
                </a:solidFill>
                <a:latin typeface="Aptos"/>
              </a:rPr>
              <a:t>Vertraulich</a:t>
            </a:r>
            <a:endParaRPr sz="750" b="0" i="0" dirty="0">
              <a:solidFill>
                <a:srgbClr val="64716D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>
                <a:solidFill>
                  <a:srgbClr val="64716D"/>
                </a:solidFill>
                <a:latin typeface="Aptos"/>
              </a:rPr>
              <a:t>2</a:t>
            </a:r>
          </a:p>
        </p:txBody>
      </p:sp>
      <p:pic>
        <p:nvPicPr>
          <p:cNvPr id="27" name="Picture 26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B9822B"/>
                </a:solidFill>
                <a:latin typeface="Aptos"/>
              </a:rPr>
              <a:t>DAS PRODUKT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700" b="1" i="0" dirty="0">
                <a:solidFill>
                  <a:srgbClr val="044F49"/>
                </a:solidFill>
                <a:latin typeface="Aptos"/>
              </a:rPr>
              <a:t>Was 1Çatı </a:t>
            </a:r>
            <a:r>
              <a:rPr sz="2700" b="1" i="0" dirty="0" err="1">
                <a:solidFill>
                  <a:srgbClr val="044F49"/>
                </a:solidFill>
                <a:latin typeface="Aptos"/>
              </a:rPr>
              <a:t>liefert</a:t>
            </a:r>
            <a:r>
              <a:rPr sz="2700" b="1" i="0" dirty="0">
                <a:solidFill>
                  <a:srgbClr val="044F49"/>
                </a:solidFill>
                <a:latin typeface="Aptos"/>
              </a:rPr>
              <a:t> </a:t>
            </a:r>
            <a:r>
              <a:rPr lang="de-DE" sz="2700" b="1" i="0" dirty="0">
                <a:solidFill>
                  <a:srgbClr val="044F49"/>
                </a:solidFill>
                <a:latin typeface="Aptos"/>
              </a:rPr>
              <a:t>-</a:t>
            </a:r>
            <a:r>
              <a:rPr sz="2700" b="1" i="0" dirty="0">
                <a:solidFill>
                  <a:srgbClr val="044F49"/>
                </a:solidFill>
                <a:latin typeface="Aptos"/>
              </a:rPr>
              <a:t> </a:t>
            </a:r>
            <a:r>
              <a:rPr sz="2700" b="1" i="0" dirty="0" err="1">
                <a:solidFill>
                  <a:srgbClr val="044F49"/>
                </a:solidFill>
                <a:latin typeface="Aptos"/>
              </a:rPr>
              <a:t>im</a:t>
            </a:r>
            <a:r>
              <a:rPr sz="2700" b="1" i="0" dirty="0">
                <a:solidFill>
                  <a:srgbClr val="044F49"/>
                </a:solidFill>
                <a:latin typeface="Aptos"/>
              </a:rPr>
              <a:t> </a:t>
            </a:r>
            <a:r>
              <a:rPr sz="2700" b="1" i="0" dirty="0" err="1">
                <a:solidFill>
                  <a:srgbClr val="044F49"/>
                </a:solidFill>
                <a:latin typeface="Aptos"/>
              </a:rPr>
              <a:t>Überblick</a:t>
            </a:r>
            <a:endParaRPr sz="2700" b="1" i="0" dirty="0">
              <a:solidFill>
                <a:srgbClr val="044F49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502920" cy="41148"/>
          </a:xfrm>
          <a:prstGeom prst="rect">
            <a:avLst/>
          </a:prstGeom>
          <a:solidFill>
            <a:srgbClr val="06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61288" y="1298448"/>
            <a:ext cx="301752" cy="41148"/>
          </a:xfrm>
          <a:prstGeom prst="rect">
            <a:avLst/>
          </a:prstGeom>
          <a:solidFill>
            <a:srgbClr val="B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966960" y="365760"/>
            <a:ext cx="1572768" cy="475488"/>
          </a:xfrm>
          <a:prstGeom prst="roundRect">
            <a:avLst>
              <a:gd name="adj" fmla="val 50000"/>
            </a:avLst>
          </a:prstGeom>
          <a:solidFill>
            <a:srgbClr val="044F49"/>
          </a:solidFill>
          <a:ln w="9525">
            <a:solidFill>
              <a:srgbClr val="E2B7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ataberk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473659"/>
            <a:ext cx="1298448" cy="259689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554480"/>
          <a:ext cx="10881359" cy="402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379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35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98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Aptos"/>
                        </a:rPr>
                        <a:t>Bereich</a:t>
                      </a:r>
                    </a:p>
                  </a:txBody>
                  <a:tcPr marL="73152" marR="73152" marT="36576" marB="36576" anchor="ctr">
                    <a:solidFill>
                      <a:srgbClr val="066B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Aptos"/>
                        </a:rPr>
                        <a:t>Kernfunktionen</a:t>
                      </a:r>
                    </a:p>
                  </a:txBody>
                  <a:tcPr marL="73152" marR="73152" marT="36576" marB="36576" anchor="ctr">
                    <a:solidFill>
                      <a:srgbClr val="066B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Aptos"/>
                        </a:rPr>
                        <a:t>Status</a:t>
                      </a:r>
                    </a:p>
                  </a:txBody>
                  <a:tcPr marL="73152" marR="73152" marT="36576" marB="36576" anchor="ctr">
                    <a:solidFill>
                      <a:srgbClr val="066B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980" b="1" i="0">
                          <a:solidFill>
                            <a:srgbClr val="101820"/>
                          </a:solidFill>
                          <a:latin typeface="Aptos"/>
                        </a:rPr>
                        <a:t>Zugang, Rollen &amp; Sicherheit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 b="0" i="0">
                          <a:solidFill>
                            <a:srgbClr val="33413D"/>
                          </a:solidFill>
                          <a:latin typeface="Aptos"/>
                        </a:rPr>
                        <a:t>6 Rollen, zweifache Zugriffsprüfung, lückenlose Protokollierung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 b="1" i="0">
                          <a:solidFill>
                            <a:srgbClr val="044F49"/>
                          </a:solidFill>
                          <a:latin typeface="Aptos"/>
                        </a:rPr>
                        <a:t>Live</a:t>
                      </a:r>
                    </a:p>
                  </a:txBody>
                  <a:tcPr marL="73152" marR="73152" marT="36576" marB="36576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980" b="1" i="0">
                          <a:solidFill>
                            <a:srgbClr val="101820"/>
                          </a:solidFill>
                          <a:latin typeface="Aptos"/>
                        </a:rPr>
                        <a:t>Portfolio &amp; Wohnungen</a:t>
                      </a:r>
                    </a:p>
                  </a:txBody>
                  <a:tcPr marL="73152" marR="73152" marT="36576" marB="36576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 b="0" i="0">
                          <a:solidFill>
                            <a:srgbClr val="33413D"/>
                          </a:solidFill>
                          <a:latin typeface="Aptos"/>
                        </a:rPr>
                        <a:t>Wohnungs-Matrix, 769-Einheiten-Modell, Preis-/Verkaufsstatus</a:t>
                      </a:r>
                    </a:p>
                  </a:txBody>
                  <a:tcPr marL="73152" marR="73152" marT="36576" marB="36576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 b="1" i="0">
                          <a:solidFill>
                            <a:srgbClr val="044F49"/>
                          </a:solidFill>
                          <a:latin typeface="Aptos"/>
                        </a:rPr>
                        <a:t>Verfügbar</a:t>
                      </a:r>
                    </a:p>
                  </a:txBody>
                  <a:tcPr marL="73152" marR="73152" marT="36576" marB="36576" anchor="ctr">
                    <a:solidFill>
                      <a:srgbClr val="DA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980" b="1" i="0">
                          <a:solidFill>
                            <a:srgbClr val="101820"/>
                          </a:solidFill>
                          <a:latin typeface="Aptos"/>
                        </a:rPr>
                        <a:t>Finanzen &amp; Beiträge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 b="0" i="0">
                          <a:solidFill>
                            <a:srgbClr val="33413D"/>
                          </a:solidFill>
                          <a:latin typeface="Aptos"/>
                        </a:rPr>
                        <a:t>Salden, unveränderliche Buchungen, Zahlungs-/Kautionskontrolle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 b="1" i="0">
                          <a:solidFill>
                            <a:srgbClr val="7A5410"/>
                          </a:solidFill>
                          <a:latin typeface="Aptos"/>
                        </a:rPr>
                        <a:t>Teilweise</a:t>
                      </a:r>
                    </a:p>
                  </a:txBody>
                  <a:tcPr marL="73152" marR="73152" marT="36576" marB="36576" anchor="ctr">
                    <a:solidFill>
                      <a:srgbClr val="F4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980" b="1" i="0">
                          <a:solidFill>
                            <a:srgbClr val="101820"/>
                          </a:solidFill>
                          <a:latin typeface="Aptos"/>
                        </a:rPr>
                        <a:t>Service &amp; Aufgaben</a:t>
                      </a:r>
                    </a:p>
                  </a:txBody>
                  <a:tcPr marL="73152" marR="73152" marT="36576" marB="36576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 b="0" i="0">
                          <a:solidFill>
                            <a:srgbClr val="33413D"/>
                          </a:solidFill>
                          <a:latin typeface="Aptos"/>
                        </a:rPr>
                        <a:t>Katalog, Tickets mit SLA, Feld-/Aufgabenboard</a:t>
                      </a:r>
                    </a:p>
                  </a:txBody>
                  <a:tcPr marL="73152" marR="73152" marT="36576" marB="36576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 b="1" i="0">
                          <a:solidFill>
                            <a:srgbClr val="044F49"/>
                          </a:solidFill>
                          <a:latin typeface="Aptos"/>
                        </a:rPr>
                        <a:t>Verfügbar</a:t>
                      </a:r>
                    </a:p>
                  </a:txBody>
                  <a:tcPr marL="73152" marR="73152" marT="36576" marB="36576" anchor="ctr">
                    <a:solidFill>
                      <a:srgbClr val="DA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980" b="1" i="0">
                          <a:solidFill>
                            <a:srgbClr val="101820"/>
                          </a:solidFill>
                          <a:latin typeface="Aptos"/>
                        </a:rPr>
                        <a:t>Reservierung &amp; Vermietung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 b="0" i="0">
                          <a:solidFill>
                            <a:srgbClr val="33413D"/>
                          </a:solidFill>
                          <a:latin typeface="Aptos"/>
                        </a:rPr>
                        <a:t>Belegung, Einzugs-Bereitschaft, Übergabe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 b="1" i="0">
                          <a:solidFill>
                            <a:srgbClr val="7A5410"/>
                          </a:solidFill>
                          <a:latin typeface="Aptos"/>
                        </a:rPr>
                        <a:t>Teilweise</a:t>
                      </a:r>
                    </a:p>
                  </a:txBody>
                  <a:tcPr marL="73152" marR="73152" marT="36576" marB="36576" anchor="ctr">
                    <a:solidFill>
                      <a:srgbClr val="F4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980" b="1" i="0">
                          <a:solidFill>
                            <a:srgbClr val="101820"/>
                          </a:solidFill>
                          <a:latin typeface="Aptos"/>
                        </a:rPr>
                        <a:t>Kommunikation &amp; Dokumente</a:t>
                      </a:r>
                    </a:p>
                  </a:txBody>
                  <a:tcPr marL="73152" marR="73152" marT="36576" marB="36576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 b="0" i="0">
                          <a:solidFill>
                            <a:srgbClr val="33413D"/>
                          </a:solidFill>
                          <a:latin typeface="Aptos"/>
                        </a:rPr>
                        <a:t>Postfach &amp; Vorlagen (4 Sprachen), Dokumenten-Vault</a:t>
                      </a:r>
                    </a:p>
                  </a:txBody>
                  <a:tcPr marL="73152" marR="73152" marT="36576" marB="36576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 b="1" i="0">
                          <a:solidFill>
                            <a:srgbClr val="7A5410"/>
                          </a:solidFill>
                          <a:latin typeface="Aptos"/>
                        </a:rPr>
                        <a:t>Teilweise</a:t>
                      </a:r>
                    </a:p>
                  </a:txBody>
                  <a:tcPr marL="73152" marR="73152" marT="36576" marB="36576" anchor="ctr">
                    <a:solidFill>
                      <a:srgbClr val="F4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980" b="1" i="0">
                          <a:solidFill>
                            <a:srgbClr val="101820"/>
                          </a:solidFill>
                          <a:latin typeface="Aptos"/>
                        </a:rPr>
                        <a:t>Berichte &amp; Dashboard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 b="0" i="0">
                          <a:solidFill>
                            <a:srgbClr val="33413D"/>
                          </a:solidFill>
                          <a:latin typeface="Aptos"/>
                        </a:rPr>
                        <a:t>Live-Dashboard, Berichtszentrum, Compliance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 b="1" i="0">
                          <a:solidFill>
                            <a:srgbClr val="044F49"/>
                          </a:solidFill>
                          <a:latin typeface="Aptos"/>
                        </a:rPr>
                        <a:t>Verfügbar</a:t>
                      </a:r>
                    </a:p>
                  </a:txBody>
                  <a:tcPr marL="73152" marR="73152" marT="36576" marB="36576" anchor="ctr">
                    <a:solidFill>
                      <a:srgbClr val="DA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980" b="1" i="0">
                          <a:solidFill>
                            <a:srgbClr val="101820"/>
                          </a:solidFill>
                          <a:latin typeface="Aptos"/>
                        </a:rPr>
                        <a:t>New Level Premium (öffentlich)</a:t>
                      </a:r>
                    </a:p>
                  </a:txBody>
                  <a:tcPr marL="73152" marR="73152" marT="36576" marB="36576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 b="0" i="0">
                          <a:solidFill>
                            <a:srgbClr val="33413D"/>
                          </a:solidFill>
                          <a:latin typeface="Aptos"/>
                        </a:rPr>
                        <a:t>Registrierung, Meldekanal, QR-Poster, Concierge</a:t>
                      </a:r>
                    </a:p>
                  </a:txBody>
                  <a:tcPr marL="73152" marR="73152" marT="36576" marB="36576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 b="1" i="0">
                          <a:solidFill>
                            <a:srgbClr val="044F49"/>
                          </a:solidFill>
                          <a:latin typeface="Aptos"/>
                        </a:rPr>
                        <a:t>Verfügbar</a:t>
                      </a:r>
                    </a:p>
                  </a:txBody>
                  <a:tcPr marL="73152" marR="73152" marT="36576" marB="36576" anchor="ctr">
                    <a:solidFill>
                      <a:srgbClr val="DA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980" b="1" i="0">
                          <a:solidFill>
                            <a:srgbClr val="101820"/>
                          </a:solidFill>
                          <a:latin typeface="Aptos"/>
                        </a:rPr>
                        <a:t>KI-Assistenten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 b="0" i="0">
                          <a:solidFill>
                            <a:srgbClr val="33413D"/>
                          </a:solidFill>
                          <a:latin typeface="Aptos"/>
                        </a:rPr>
                        <a:t>Interner Assistent + öffentlicher Concierge, verbunden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 b="1" i="0">
                          <a:solidFill>
                            <a:srgbClr val="044F49"/>
                          </a:solidFill>
                          <a:latin typeface="Aptos"/>
                        </a:rPr>
                        <a:t>Verfügbar</a:t>
                      </a:r>
                    </a:p>
                  </a:txBody>
                  <a:tcPr marL="73152" marR="73152" marT="36576" marB="36576" anchor="ctr">
                    <a:solidFill>
                      <a:srgbClr val="DA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980" b="1" i="0">
                          <a:solidFill>
                            <a:srgbClr val="101820"/>
                          </a:solidFill>
                          <a:latin typeface="Aptos"/>
                        </a:rPr>
                        <a:t>Plattform-Grundlagen</a:t>
                      </a:r>
                    </a:p>
                  </a:txBody>
                  <a:tcPr marL="73152" marR="73152" marT="36576" marB="36576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 b="0" i="0">
                          <a:solidFill>
                            <a:srgbClr val="33413D"/>
                          </a:solidFill>
                          <a:latin typeface="Aptos"/>
                        </a:rPr>
                        <a:t>4 Sprachen, installierbare Web-App, CI-Design</a:t>
                      </a:r>
                    </a:p>
                  </a:txBody>
                  <a:tcPr marL="73152" marR="73152" marT="36576" marB="36576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 b="1" i="0">
                          <a:solidFill>
                            <a:srgbClr val="044F49"/>
                          </a:solidFill>
                          <a:latin typeface="Aptos"/>
                        </a:rPr>
                        <a:t>Live</a:t>
                      </a:r>
                    </a:p>
                  </a:txBody>
                  <a:tcPr marL="73152" marR="73152" marT="36576" marB="36576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6455664"/>
            <a:ext cx="86868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750" b="0" i="0" dirty="0">
                <a:solidFill>
                  <a:srgbClr val="64716D"/>
                </a:solidFill>
                <a:latin typeface="Aptos"/>
              </a:rPr>
              <a:t>1Çatı </a:t>
            </a:r>
            <a:r>
              <a:rPr lang="de-DE" sz="750" b="0" i="0" dirty="0">
                <a:solidFill>
                  <a:srgbClr val="64716D"/>
                </a:solidFill>
                <a:latin typeface="Aptos"/>
              </a:rPr>
              <a:t>-</a:t>
            </a:r>
            <a:r>
              <a:rPr sz="750" b="0" i="0" dirty="0">
                <a:solidFill>
                  <a:srgbClr val="64716D"/>
                </a:solidFill>
                <a:latin typeface="Aptos"/>
              </a:rPr>
              <a:t> Property-Management- &amp; Real-Estate-ERP · WAMOCON GmbH für </a:t>
            </a:r>
            <a:r>
              <a:rPr sz="750" b="0" i="0" dirty="0" err="1">
                <a:solidFill>
                  <a:srgbClr val="64716D"/>
                </a:solidFill>
                <a:latin typeface="Aptos"/>
              </a:rPr>
              <a:t>Ataberk</a:t>
            </a:r>
            <a:r>
              <a:rPr sz="750" b="0" i="0" dirty="0">
                <a:solidFill>
                  <a:srgbClr val="64716D"/>
                </a:solidFill>
                <a:latin typeface="Aptos"/>
              </a:rPr>
              <a:t> Estate · </a:t>
            </a:r>
            <a:r>
              <a:rPr sz="750" b="0" i="0" dirty="0" err="1">
                <a:solidFill>
                  <a:srgbClr val="64716D"/>
                </a:solidFill>
                <a:latin typeface="Aptos"/>
              </a:rPr>
              <a:t>Vertraulich</a:t>
            </a:r>
            <a:endParaRPr sz="750" b="0" i="0" dirty="0">
              <a:solidFill>
                <a:srgbClr val="64716D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>
                <a:solidFill>
                  <a:srgbClr val="64716D"/>
                </a:solidFill>
                <a:latin typeface="Aptos"/>
              </a:rPr>
              <a:t>3</a:t>
            </a:r>
          </a:p>
        </p:txBody>
      </p:sp>
      <p:pic>
        <p:nvPicPr>
          <p:cNvPr id="12" name="Picture 11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B9822B"/>
                </a:solidFill>
                <a:latin typeface="Aptos"/>
              </a:rPr>
              <a:t>NUTZEN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700" b="1" i="0">
                <a:solidFill>
                  <a:srgbClr val="044F49"/>
                </a:solidFill>
                <a:latin typeface="Aptos"/>
              </a:rPr>
              <a:t>Was Ataberk Estate gewinnt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502920" cy="41148"/>
          </a:xfrm>
          <a:prstGeom prst="rect">
            <a:avLst/>
          </a:prstGeom>
          <a:solidFill>
            <a:srgbClr val="06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61288" y="1298448"/>
            <a:ext cx="301752" cy="41148"/>
          </a:xfrm>
          <a:prstGeom prst="rect">
            <a:avLst/>
          </a:prstGeom>
          <a:solidFill>
            <a:srgbClr val="B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966960" y="365760"/>
            <a:ext cx="1572768" cy="475488"/>
          </a:xfrm>
          <a:prstGeom prst="roundRect">
            <a:avLst>
              <a:gd name="adj" fmla="val 50000"/>
            </a:avLst>
          </a:prstGeom>
          <a:solidFill>
            <a:srgbClr val="044F49"/>
          </a:solidFill>
          <a:ln w="9525">
            <a:solidFill>
              <a:srgbClr val="E2B7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ataberk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473659"/>
            <a:ext cx="1298448" cy="25968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" y="1645920"/>
            <a:ext cx="532638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792224"/>
            <a:ext cx="4869180" cy="5745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 dirty="0">
                <a:solidFill>
                  <a:srgbClr val="044F49"/>
                </a:solidFill>
                <a:latin typeface="Aptos"/>
              </a:rPr>
              <a:t>Eine Quelle der </a:t>
            </a:r>
            <a:r>
              <a:rPr sz="1300" b="1" i="0" dirty="0" err="1">
                <a:solidFill>
                  <a:srgbClr val="044F49"/>
                </a:solidFill>
                <a:latin typeface="Aptos"/>
              </a:rPr>
              <a:t>Wahrheit</a:t>
            </a:r>
            <a:endParaRPr sz="1300" b="1" i="0" dirty="0">
              <a:solidFill>
                <a:srgbClr val="044F49"/>
              </a:solidFill>
              <a:latin typeface="Aptos"/>
            </a:endParaRPr>
          </a:p>
          <a:p>
            <a:pPr>
              <a:spcBef>
                <a:spcPts val="400"/>
              </a:spcBef>
            </a:pPr>
            <a:r>
              <a:rPr sz="1050" b="0" i="0" dirty="0">
                <a:solidFill>
                  <a:srgbClr val="64716D"/>
                </a:solidFill>
                <a:latin typeface="Aptos"/>
              </a:rPr>
              <a:t>Eine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zentrale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Datengrundlage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für 769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Einheiten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ersetzt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verstreute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Excel-Listen und WhatsApp-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Verläufe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lang="de-DE" sz="1050" b="0" i="0" dirty="0">
                <a:solidFill>
                  <a:srgbClr val="64716D"/>
                </a:solidFill>
                <a:latin typeface="Aptos"/>
              </a:rPr>
              <a:t>-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Vertrieb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,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Finanzen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und Service auf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demselben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Datensatz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5060" y="1645920"/>
            <a:ext cx="532638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23660" y="1792224"/>
            <a:ext cx="4869180" cy="5745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 dirty="0" err="1">
                <a:solidFill>
                  <a:srgbClr val="044F49"/>
                </a:solidFill>
                <a:latin typeface="Aptos"/>
              </a:rPr>
              <a:t>Nachvollziehbarkeit</a:t>
            </a:r>
            <a:endParaRPr sz="1300" b="1" i="0" dirty="0">
              <a:solidFill>
                <a:srgbClr val="044F49"/>
              </a:solidFill>
              <a:latin typeface="Aptos"/>
            </a:endParaRPr>
          </a:p>
          <a:p>
            <a:pPr>
              <a:spcBef>
                <a:spcPts val="400"/>
              </a:spcBef>
            </a:pPr>
            <a:r>
              <a:rPr sz="1050" b="0" i="0" dirty="0" err="1">
                <a:solidFill>
                  <a:srgbClr val="64716D"/>
                </a:solidFill>
                <a:latin typeface="Aptos"/>
              </a:rPr>
              <a:t>Jeder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sensible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Vorgang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wird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mit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Nutzer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, Rolle, Zeit und Grund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protokolliert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lang="de-DE" sz="1050" b="0" i="0" dirty="0">
                <a:solidFill>
                  <a:srgbClr val="64716D"/>
                </a:solidFill>
                <a:latin typeface="Aptos"/>
              </a:rPr>
              <a:t>-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Vertrauen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bei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Eigentümern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und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Prüfern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429000"/>
            <a:ext cx="532638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3575304"/>
            <a:ext cx="4869180" cy="5745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 dirty="0" err="1">
                <a:solidFill>
                  <a:srgbClr val="044F49"/>
                </a:solidFill>
                <a:latin typeface="Aptos"/>
              </a:rPr>
              <a:t>Niedrigere</a:t>
            </a:r>
            <a:r>
              <a:rPr sz="1300" b="1" i="0" dirty="0">
                <a:solidFill>
                  <a:srgbClr val="044F49"/>
                </a:solidFill>
                <a:latin typeface="Aptos"/>
              </a:rPr>
              <a:t> </a:t>
            </a:r>
            <a:r>
              <a:rPr sz="1300" b="1" i="0" dirty="0" err="1">
                <a:solidFill>
                  <a:srgbClr val="044F49"/>
                </a:solidFill>
                <a:latin typeface="Aptos"/>
              </a:rPr>
              <a:t>Einstiegshürde</a:t>
            </a:r>
            <a:endParaRPr sz="1300" b="1" i="0" dirty="0">
              <a:solidFill>
                <a:srgbClr val="044F49"/>
              </a:solidFill>
              <a:latin typeface="Aptos"/>
            </a:endParaRPr>
          </a:p>
          <a:p>
            <a:pPr>
              <a:spcBef>
                <a:spcPts val="400"/>
              </a:spcBef>
            </a:pPr>
            <a:r>
              <a:rPr sz="1050" b="0" i="0" dirty="0">
                <a:solidFill>
                  <a:srgbClr val="64716D"/>
                </a:solidFill>
                <a:latin typeface="Aptos"/>
              </a:rPr>
              <a:t>Ein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verifizierter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,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mehrsprachiger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Registrierungs-Zugang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senkt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die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Hürde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für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internationale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Eigentümer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und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Mieter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lang="de-DE" sz="1050" b="0" i="0" dirty="0">
                <a:solidFill>
                  <a:srgbClr val="64716D"/>
                </a:solidFill>
                <a:latin typeface="Aptos"/>
              </a:rPr>
              <a:t>-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ohne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Systemkonto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als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Voraussetzung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5060" y="3429000"/>
            <a:ext cx="532638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23660" y="3575304"/>
            <a:ext cx="4869180" cy="5745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 dirty="0" err="1">
                <a:solidFill>
                  <a:srgbClr val="044F49"/>
                </a:solidFill>
                <a:latin typeface="Aptos"/>
              </a:rPr>
              <a:t>Entlastung</a:t>
            </a:r>
            <a:r>
              <a:rPr sz="1300" b="1" i="0" dirty="0">
                <a:solidFill>
                  <a:srgbClr val="044F49"/>
                </a:solidFill>
                <a:latin typeface="Aptos"/>
              </a:rPr>
              <a:t> </a:t>
            </a:r>
            <a:r>
              <a:rPr sz="1300" b="1" i="0" dirty="0" err="1">
                <a:solidFill>
                  <a:srgbClr val="044F49"/>
                </a:solidFill>
                <a:latin typeface="Aptos"/>
              </a:rPr>
              <a:t>durch</a:t>
            </a:r>
            <a:r>
              <a:rPr sz="1300" b="1" i="0" dirty="0">
                <a:solidFill>
                  <a:srgbClr val="044F49"/>
                </a:solidFill>
                <a:latin typeface="Aptos"/>
              </a:rPr>
              <a:t> KI</a:t>
            </a:r>
          </a:p>
          <a:p>
            <a:pPr>
              <a:spcBef>
                <a:spcPts val="400"/>
              </a:spcBef>
            </a:pPr>
            <a:r>
              <a:rPr sz="1050" b="0" i="0" dirty="0">
                <a:solidFill>
                  <a:srgbClr val="64716D"/>
                </a:solidFill>
                <a:latin typeface="Aptos"/>
              </a:rPr>
              <a:t>Die KI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entlastet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bei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Routineabfragen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und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Priorisierung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lang="de-DE" sz="1050" b="0" i="0" dirty="0">
                <a:solidFill>
                  <a:srgbClr val="64716D"/>
                </a:solidFill>
                <a:latin typeface="Aptos"/>
              </a:rPr>
              <a:t>-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ohne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Finanz-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oder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Zugangsentscheidungen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aus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der Hand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zu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geben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212080"/>
            <a:ext cx="10881360" cy="1005840"/>
          </a:xfrm>
          <a:prstGeom prst="roundRect">
            <a:avLst>
              <a:gd name="adj" fmla="val 6000"/>
            </a:avLst>
          </a:prstGeom>
          <a:solidFill>
            <a:srgbClr val="F1F6F4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5212080"/>
            <a:ext cx="54864" cy="1005840"/>
          </a:xfrm>
          <a:prstGeom prst="rect">
            <a:avLst/>
          </a:prstGeom>
          <a:solidFill>
            <a:srgbClr val="06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6112" y="5530334"/>
            <a:ext cx="1046988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50" b="1" i="0" dirty="0" err="1">
                <a:solidFill>
                  <a:srgbClr val="044F49"/>
                </a:solidFill>
                <a:latin typeface="Aptos"/>
              </a:rPr>
              <a:t>Übertragbar</a:t>
            </a:r>
            <a:r>
              <a:rPr sz="1250" b="1" i="0" dirty="0">
                <a:solidFill>
                  <a:srgbClr val="044F49"/>
                </a:solidFill>
                <a:latin typeface="Aptos"/>
              </a:rPr>
              <a:t>.  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Die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Plattform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ist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auf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weitere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Standorte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und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Objekte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übertragbar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lang="de-DE" sz="1150" b="0" i="0" dirty="0">
                <a:solidFill>
                  <a:srgbClr val="33413D"/>
                </a:solidFill>
                <a:latin typeface="Aptos"/>
              </a:rPr>
              <a:t>-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eine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tragfähige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Grundlage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,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wenn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der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digitale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Betrieb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über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New Level Premium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hinaus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wächst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55664"/>
            <a:ext cx="86868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750" b="0" i="0" dirty="0">
                <a:solidFill>
                  <a:srgbClr val="64716D"/>
                </a:solidFill>
                <a:latin typeface="Aptos"/>
              </a:rPr>
              <a:t>1Çatı </a:t>
            </a:r>
            <a:r>
              <a:rPr lang="de-DE" sz="750" b="0" i="0" dirty="0">
                <a:solidFill>
                  <a:srgbClr val="64716D"/>
                </a:solidFill>
                <a:latin typeface="Aptos"/>
              </a:rPr>
              <a:t>-</a:t>
            </a:r>
            <a:r>
              <a:rPr sz="750" b="0" i="0" dirty="0">
                <a:solidFill>
                  <a:srgbClr val="64716D"/>
                </a:solidFill>
                <a:latin typeface="Aptos"/>
              </a:rPr>
              <a:t> Property-Management- &amp; Real-Estate-ERP · WAMOCON GmbH für </a:t>
            </a:r>
            <a:r>
              <a:rPr sz="750" b="0" i="0" dirty="0" err="1">
                <a:solidFill>
                  <a:srgbClr val="64716D"/>
                </a:solidFill>
                <a:latin typeface="Aptos"/>
              </a:rPr>
              <a:t>Ataberk</a:t>
            </a:r>
            <a:r>
              <a:rPr sz="750" b="0" i="0" dirty="0">
                <a:solidFill>
                  <a:srgbClr val="64716D"/>
                </a:solidFill>
                <a:latin typeface="Aptos"/>
              </a:rPr>
              <a:t> Estate · </a:t>
            </a:r>
            <a:r>
              <a:rPr sz="750" b="0" i="0" dirty="0" err="1">
                <a:solidFill>
                  <a:srgbClr val="64716D"/>
                </a:solidFill>
                <a:latin typeface="Aptos"/>
              </a:rPr>
              <a:t>Vertraulich</a:t>
            </a:r>
            <a:endParaRPr sz="750" b="0" i="0" dirty="0">
              <a:solidFill>
                <a:srgbClr val="64716D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>
                <a:solidFill>
                  <a:srgbClr val="64716D"/>
                </a:solidFill>
                <a:latin typeface="Aptos"/>
              </a:rPr>
              <a:t>4</a:t>
            </a:r>
          </a:p>
        </p:txBody>
      </p:sp>
      <p:pic>
        <p:nvPicPr>
          <p:cNvPr id="22" name="Picture 21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B9822B"/>
                </a:solidFill>
                <a:latin typeface="Aptos"/>
              </a:rPr>
              <a:t>ANFORDERUNGSABGLEICH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700" b="1" i="0" dirty="0" err="1">
                <a:solidFill>
                  <a:srgbClr val="044F49"/>
                </a:solidFill>
                <a:latin typeface="Aptos"/>
              </a:rPr>
              <a:t>Ihre</a:t>
            </a:r>
            <a:r>
              <a:rPr sz="2700" b="1" i="0" dirty="0">
                <a:solidFill>
                  <a:srgbClr val="044F49"/>
                </a:solidFill>
                <a:latin typeface="Aptos"/>
              </a:rPr>
              <a:t> </a:t>
            </a:r>
            <a:r>
              <a:rPr sz="2700" b="1" i="0" dirty="0" err="1">
                <a:solidFill>
                  <a:srgbClr val="044F49"/>
                </a:solidFill>
                <a:latin typeface="Aptos"/>
              </a:rPr>
              <a:t>Anforderungen</a:t>
            </a:r>
            <a:r>
              <a:rPr sz="2700" b="1" i="0" dirty="0">
                <a:solidFill>
                  <a:srgbClr val="044F49"/>
                </a:solidFill>
                <a:latin typeface="Aptos"/>
              </a:rPr>
              <a:t> </a:t>
            </a:r>
            <a:r>
              <a:rPr lang="de-DE" sz="2700" b="1" i="0" dirty="0">
                <a:solidFill>
                  <a:srgbClr val="044F49"/>
                </a:solidFill>
                <a:latin typeface="Aptos"/>
              </a:rPr>
              <a:t>-</a:t>
            </a:r>
            <a:r>
              <a:rPr sz="2700" b="1" i="0" dirty="0">
                <a:solidFill>
                  <a:srgbClr val="044F49"/>
                </a:solidFill>
                <a:latin typeface="Aptos"/>
              </a:rPr>
              <a:t> </a:t>
            </a:r>
            <a:r>
              <a:rPr sz="2700" b="1" i="0" dirty="0" err="1">
                <a:solidFill>
                  <a:srgbClr val="044F49"/>
                </a:solidFill>
                <a:latin typeface="Aptos"/>
              </a:rPr>
              <a:t>heute</a:t>
            </a:r>
            <a:r>
              <a:rPr sz="2700" b="1" i="0" dirty="0">
                <a:solidFill>
                  <a:srgbClr val="044F49"/>
                </a:solidFill>
                <a:latin typeface="Aptos"/>
              </a:rPr>
              <a:t> </a:t>
            </a:r>
            <a:r>
              <a:rPr sz="2700" b="1" i="0" dirty="0" err="1">
                <a:solidFill>
                  <a:srgbClr val="044F49"/>
                </a:solidFill>
                <a:latin typeface="Aptos"/>
              </a:rPr>
              <a:t>abgedeckt</a:t>
            </a:r>
            <a:endParaRPr sz="2700" b="1" i="0" dirty="0">
              <a:solidFill>
                <a:srgbClr val="044F49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502920" cy="41148"/>
          </a:xfrm>
          <a:prstGeom prst="rect">
            <a:avLst/>
          </a:prstGeom>
          <a:solidFill>
            <a:srgbClr val="06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61288" y="1298448"/>
            <a:ext cx="301752" cy="41148"/>
          </a:xfrm>
          <a:prstGeom prst="rect">
            <a:avLst/>
          </a:prstGeom>
          <a:solidFill>
            <a:srgbClr val="B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966960" y="365760"/>
            <a:ext cx="1572768" cy="475488"/>
          </a:xfrm>
          <a:prstGeom prst="roundRect">
            <a:avLst>
              <a:gd name="adj" fmla="val 50000"/>
            </a:avLst>
          </a:prstGeom>
          <a:solidFill>
            <a:srgbClr val="044F49"/>
          </a:solidFill>
          <a:ln w="9525">
            <a:solidFill>
              <a:srgbClr val="E2B7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ataberk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473659"/>
            <a:ext cx="1298448" cy="25968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1481328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100" i="0">
                <a:solidFill>
                  <a:srgbClr val="33413D"/>
                </a:solidFill>
                <a:latin typeface="Aptos"/>
              </a:rPr>
              <a:t>Für jeden Punkt Ihrer Spezifikation existiert mindestens eine funktionierende Umsetzung. Das wiederkehrende Muster bei »Teilweise«: Anzeige &amp; Empfehlung sind da, der automatische Vollzug folgt bewusst nach Freigabe.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2148840"/>
          <a:ext cx="10881359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8345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6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Aptos"/>
                        </a:rPr>
                        <a:t>Bereich Ihrer Spezifikation</a:t>
                      </a:r>
                    </a:p>
                  </a:txBody>
                  <a:tcPr marL="73152" marR="73152" marT="36576" marB="36576" anchor="ctr">
                    <a:solidFill>
                      <a:srgbClr val="066B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Aptos"/>
                        </a:rPr>
                        <a:t>Status</a:t>
                      </a:r>
                    </a:p>
                  </a:txBody>
                  <a:tcPr marL="73152" marR="73152" marT="36576" marB="36576" anchor="ctr">
                    <a:solidFill>
                      <a:srgbClr val="066B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01820"/>
                          </a:solidFill>
                          <a:latin typeface="Aptos"/>
                        </a:rPr>
                        <a:t>Kern (Standort/Block/Wohnung), Rollen, Stammdaten, Systemanforderungen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044F49"/>
                          </a:solidFill>
                          <a:latin typeface="Aptos"/>
                        </a:rPr>
                        <a:t>Vollständig</a:t>
                      </a:r>
                    </a:p>
                  </a:txBody>
                  <a:tcPr marL="73152" marR="73152" marT="36576" marB="36576" anchor="ctr">
                    <a:solidFill>
                      <a:srgbClr val="DA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01820"/>
                          </a:solidFill>
                          <a:latin typeface="Aptos"/>
                        </a:rPr>
                        <a:t>Finanzen, Finanzregeln, Schulden-Einschränkungen</a:t>
                      </a:r>
                    </a:p>
                  </a:txBody>
                  <a:tcPr marL="73152" marR="73152" marT="36576" marB="36576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7A5410"/>
                          </a:solidFill>
                          <a:latin typeface="Aptos"/>
                        </a:rPr>
                        <a:t>Teilweise</a:t>
                      </a:r>
                    </a:p>
                  </a:txBody>
                  <a:tcPr marL="73152" marR="73152" marT="36576" marB="36576" anchor="ctr">
                    <a:solidFill>
                      <a:srgbClr val="F4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01820"/>
                          </a:solidFill>
                          <a:latin typeface="Aptos"/>
                        </a:rPr>
                        <a:t>Service- &amp; Aufgabenverwaltung, Dienstverwaltung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7A5410"/>
                          </a:solidFill>
                          <a:latin typeface="Aptos"/>
                        </a:rPr>
                        <a:t>Teilweise</a:t>
                      </a:r>
                    </a:p>
                  </a:txBody>
                  <a:tcPr marL="73152" marR="73152" marT="36576" marB="36576" anchor="ctr">
                    <a:solidFill>
                      <a:srgbClr val="F4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01820"/>
                          </a:solidFill>
                          <a:latin typeface="Aptos"/>
                        </a:rPr>
                        <a:t>Reservierung &amp; Vermietung, Pflichtszenarien</a:t>
                      </a:r>
                    </a:p>
                  </a:txBody>
                  <a:tcPr marL="73152" marR="73152" marT="36576" marB="36576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7A5410"/>
                          </a:solidFill>
                          <a:latin typeface="Aptos"/>
                        </a:rPr>
                        <a:t>Teilweise</a:t>
                      </a:r>
                    </a:p>
                  </a:txBody>
                  <a:tcPr marL="73152" marR="73152" marT="36576" marB="36576" anchor="ctr">
                    <a:solidFill>
                      <a:srgbClr val="F4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01820"/>
                          </a:solidFill>
                          <a:latin typeface="Aptos"/>
                        </a:rPr>
                        <a:t>Kommunikation, Mobile App, Integrationen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7A5410"/>
                          </a:solidFill>
                          <a:latin typeface="Aptos"/>
                        </a:rPr>
                        <a:t>Teilweise</a:t>
                      </a:r>
                    </a:p>
                  </a:txBody>
                  <a:tcPr marL="73152" marR="73152" marT="36576" marB="36576" anchor="ctr">
                    <a:solidFill>
                      <a:srgbClr val="F4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01820"/>
                          </a:solidFill>
                          <a:latin typeface="Aptos"/>
                        </a:rPr>
                        <a:t>Berichterstattung &amp; Dashboard</a:t>
                      </a:r>
                    </a:p>
                  </a:txBody>
                  <a:tcPr marL="73152" marR="73152" marT="36576" marB="36576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7A5410"/>
                          </a:solidFill>
                          <a:latin typeface="Aptos"/>
                        </a:rPr>
                        <a:t>Teilweise</a:t>
                      </a:r>
                    </a:p>
                  </a:txBody>
                  <a:tcPr marL="73152" marR="73152" marT="36576" marB="36576" anchor="ctr">
                    <a:solidFill>
                      <a:srgbClr val="F4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40080" y="521208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D3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5230368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044F49"/>
                </a:solidFill>
                <a:latin typeface="Aptos"/>
              </a:rPr>
              <a:t>Live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12264" y="5230368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850" b="0" i="0">
                <a:solidFill>
                  <a:srgbClr val="64716D"/>
                </a:solidFill>
                <a:latin typeface="Aptos"/>
              </a:rPr>
              <a:t>dauerhaft nutzbar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521208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DA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29000" y="5230368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044F49"/>
                </a:solidFill>
                <a:latin typeface="Aptos"/>
              </a:rPr>
              <a:t>Verfügbar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01184" y="5230368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850" b="0" i="0">
                <a:solidFill>
                  <a:srgbClr val="64716D"/>
                </a:solidFill>
                <a:latin typeface="Aptos"/>
              </a:rPr>
              <a:t>voll bedienbar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521208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0" y="5230368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7A5410"/>
                </a:solidFill>
                <a:latin typeface="Aptos"/>
              </a:rPr>
              <a:t>Teilweise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90104" y="5230368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850" b="0" i="0">
                <a:solidFill>
                  <a:srgbClr val="64716D"/>
                </a:solidFill>
                <a:latin typeface="Aptos"/>
              </a:rPr>
              <a:t>Ansicht vorhanden, Vollzug folgt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06840" y="521208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EA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06840" y="5230368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4B5652"/>
                </a:solidFill>
                <a:latin typeface="Aptos"/>
              </a:rPr>
              <a:t>In Vorbereitung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79024" y="5230368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850" b="0" i="0">
                <a:solidFill>
                  <a:srgbClr val="64716D"/>
                </a:solidFill>
                <a:latin typeface="Aptos"/>
              </a:rPr>
              <a:t>nächste Ausbaustufe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55664"/>
            <a:ext cx="86868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750" b="0" i="0" dirty="0">
                <a:solidFill>
                  <a:srgbClr val="64716D"/>
                </a:solidFill>
                <a:latin typeface="Aptos"/>
              </a:rPr>
              <a:t>1Çatı </a:t>
            </a:r>
            <a:r>
              <a:rPr lang="de-DE" sz="750" b="0" i="0" dirty="0">
                <a:solidFill>
                  <a:srgbClr val="64716D"/>
                </a:solidFill>
                <a:latin typeface="Aptos"/>
              </a:rPr>
              <a:t>-</a:t>
            </a:r>
            <a:r>
              <a:rPr sz="750" b="0" i="0" dirty="0">
                <a:solidFill>
                  <a:srgbClr val="64716D"/>
                </a:solidFill>
                <a:latin typeface="Aptos"/>
              </a:rPr>
              <a:t> Property-Management- &amp; Real-Estate-ERP · WAMOCON GmbH für </a:t>
            </a:r>
            <a:r>
              <a:rPr sz="750" b="0" i="0" dirty="0" err="1">
                <a:solidFill>
                  <a:srgbClr val="64716D"/>
                </a:solidFill>
                <a:latin typeface="Aptos"/>
              </a:rPr>
              <a:t>Ataberk</a:t>
            </a:r>
            <a:r>
              <a:rPr sz="750" b="0" i="0" dirty="0">
                <a:solidFill>
                  <a:srgbClr val="64716D"/>
                </a:solidFill>
                <a:latin typeface="Aptos"/>
              </a:rPr>
              <a:t> Estate · </a:t>
            </a:r>
            <a:r>
              <a:rPr sz="750" b="0" i="0" dirty="0" err="1">
                <a:solidFill>
                  <a:srgbClr val="64716D"/>
                </a:solidFill>
                <a:latin typeface="Aptos"/>
              </a:rPr>
              <a:t>Vertraulich</a:t>
            </a:r>
            <a:endParaRPr sz="750" b="0" i="0" dirty="0">
              <a:solidFill>
                <a:srgbClr val="64716D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>
                <a:solidFill>
                  <a:srgbClr val="64716D"/>
                </a:solidFill>
                <a:latin typeface="Aptos"/>
              </a:rPr>
              <a:t>5</a:t>
            </a:r>
          </a:p>
        </p:txBody>
      </p:sp>
      <p:pic>
        <p:nvPicPr>
          <p:cNvPr id="25" name="Picture 24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B9822B"/>
                </a:solidFill>
                <a:latin typeface="Aptos"/>
              </a:rPr>
              <a:t>DIE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700" b="1" i="0" dirty="0">
                <a:solidFill>
                  <a:srgbClr val="044F49"/>
                </a:solidFill>
                <a:latin typeface="Aptos"/>
              </a:rPr>
              <a:t>Was die Demo </a:t>
            </a:r>
            <a:r>
              <a:rPr sz="2700" b="1" i="0" dirty="0" err="1">
                <a:solidFill>
                  <a:srgbClr val="044F49"/>
                </a:solidFill>
                <a:latin typeface="Aptos"/>
              </a:rPr>
              <a:t>zeigt</a:t>
            </a:r>
            <a:r>
              <a:rPr sz="2700" b="1" i="0" dirty="0">
                <a:solidFill>
                  <a:srgbClr val="044F49"/>
                </a:solidFill>
                <a:latin typeface="Aptos"/>
              </a:rPr>
              <a:t> </a:t>
            </a:r>
            <a:r>
              <a:rPr lang="de-DE" sz="2700" b="1" i="0" dirty="0">
                <a:solidFill>
                  <a:srgbClr val="044F49"/>
                </a:solidFill>
                <a:latin typeface="Aptos"/>
              </a:rPr>
              <a:t>-</a:t>
            </a:r>
            <a:r>
              <a:rPr sz="2700" b="1" i="0" dirty="0">
                <a:solidFill>
                  <a:srgbClr val="044F49"/>
                </a:solidFill>
                <a:latin typeface="Aptos"/>
              </a:rPr>
              <a:t> und </a:t>
            </a:r>
            <a:r>
              <a:rPr sz="2700" b="1" i="0" dirty="0" err="1">
                <a:solidFill>
                  <a:srgbClr val="044F49"/>
                </a:solidFill>
                <a:latin typeface="Aptos"/>
              </a:rPr>
              <a:t>bewusst</a:t>
            </a:r>
            <a:r>
              <a:rPr sz="2700" b="1" i="0" dirty="0">
                <a:solidFill>
                  <a:srgbClr val="044F49"/>
                </a:solidFill>
                <a:latin typeface="Aptos"/>
              </a:rPr>
              <a:t> </a:t>
            </a:r>
            <a:r>
              <a:rPr sz="2700" b="1" i="0" dirty="0" err="1">
                <a:solidFill>
                  <a:srgbClr val="044F49"/>
                </a:solidFill>
                <a:latin typeface="Aptos"/>
              </a:rPr>
              <a:t>noch</a:t>
            </a:r>
            <a:r>
              <a:rPr sz="2700" b="1" i="0" dirty="0">
                <a:solidFill>
                  <a:srgbClr val="044F49"/>
                </a:solidFill>
                <a:latin typeface="Aptos"/>
              </a:rPr>
              <a:t> nicht tut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502920" cy="41148"/>
          </a:xfrm>
          <a:prstGeom prst="rect">
            <a:avLst/>
          </a:prstGeom>
          <a:solidFill>
            <a:srgbClr val="06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61288" y="1298448"/>
            <a:ext cx="301752" cy="41148"/>
          </a:xfrm>
          <a:prstGeom prst="rect">
            <a:avLst/>
          </a:prstGeom>
          <a:solidFill>
            <a:srgbClr val="B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966960" y="365760"/>
            <a:ext cx="1572768" cy="475488"/>
          </a:xfrm>
          <a:prstGeom prst="roundRect">
            <a:avLst>
              <a:gd name="adj" fmla="val 50000"/>
            </a:avLst>
          </a:prstGeom>
          <a:solidFill>
            <a:srgbClr val="044F49"/>
          </a:solidFill>
          <a:ln w="9525">
            <a:solidFill>
              <a:srgbClr val="E2B7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ataberk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473659"/>
            <a:ext cx="1298448" cy="25968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" y="1691640"/>
            <a:ext cx="5257800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1874520"/>
            <a:ext cx="4745736" cy="15029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50" b="1" i="0" dirty="0">
                <a:solidFill>
                  <a:srgbClr val="044F49"/>
                </a:solidFill>
                <a:latin typeface="Aptos"/>
              </a:rPr>
              <a:t>Was die Demo </a:t>
            </a:r>
            <a:r>
              <a:rPr sz="1350" b="1" i="0" dirty="0" err="1">
                <a:solidFill>
                  <a:srgbClr val="044F49"/>
                </a:solidFill>
                <a:latin typeface="Aptos"/>
              </a:rPr>
              <a:t>zeigt</a:t>
            </a:r>
            <a:endParaRPr sz="1350" b="1" i="0" dirty="0">
              <a:solidFill>
                <a:srgbClr val="044F49"/>
              </a:solidFill>
              <a:latin typeface="Aptos"/>
            </a:endParaRPr>
          </a:p>
          <a:p>
            <a:pPr>
              <a:spcBef>
                <a:spcPts val="700"/>
              </a:spcBef>
            </a:pPr>
            <a:r>
              <a:rPr sz="1100" b="0" i="0" dirty="0">
                <a:solidFill>
                  <a:srgbClr val="33413D"/>
                </a:solidFill>
                <a:latin typeface="Aptos"/>
              </a:rPr>
              <a:t>•  </a:t>
            </a:r>
            <a:r>
              <a:rPr sz="1100" b="0" i="0" dirty="0" err="1">
                <a:solidFill>
                  <a:srgbClr val="33413D"/>
                </a:solidFill>
                <a:latin typeface="Aptos"/>
              </a:rPr>
              <a:t>Vollständiger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00" b="0" i="0" dirty="0" err="1">
                <a:solidFill>
                  <a:srgbClr val="33413D"/>
                </a:solidFill>
                <a:latin typeface="Aptos"/>
              </a:rPr>
              <a:t>Funktionsumfang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lang="de-DE" sz="1100" b="0" i="0" dirty="0">
                <a:solidFill>
                  <a:srgbClr val="33413D"/>
                </a:solidFill>
                <a:latin typeface="Aptos"/>
              </a:rPr>
              <a:t>-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 alle 6 Rollen, 4 Sprachen.</a:t>
            </a:r>
          </a:p>
          <a:p>
            <a:pPr>
              <a:spcBef>
                <a:spcPts val="700"/>
              </a:spcBef>
            </a:pPr>
            <a:r>
              <a:rPr sz="1100" b="0" i="0" dirty="0">
                <a:solidFill>
                  <a:srgbClr val="33413D"/>
                </a:solidFill>
                <a:latin typeface="Aptos"/>
              </a:rPr>
              <a:t>•  </a:t>
            </a:r>
            <a:r>
              <a:rPr sz="1100" b="0" i="0" dirty="0" err="1">
                <a:solidFill>
                  <a:srgbClr val="33413D"/>
                </a:solidFill>
                <a:latin typeface="Aptos"/>
              </a:rPr>
              <a:t>Realistische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00" b="0" i="0" dirty="0" err="1">
                <a:solidFill>
                  <a:srgbClr val="33413D"/>
                </a:solidFill>
                <a:latin typeface="Aptos"/>
              </a:rPr>
              <a:t>Daten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 auf Basis des </a:t>
            </a:r>
            <a:r>
              <a:rPr sz="1100" b="0" i="0" dirty="0" err="1">
                <a:solidFill>
                  <a:srgbClr val="33413D"/>
                </a:solidFill>
                <a:latin typeface="Aptos"/>
              </a:rPr>
              <a:t>echten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 769-Einheiten-Portfolios.</a:t>
            </a:r>
          </a:p>
          <a:p>
            <a:pPr>
              <a:spcBef>
                <a:spcPts val="700"/>
              </a:spcBef>
            </a:pPr>
            <a:r>
              <a:rPr sz="1100" b="0" i="0" dirty="0">
                <a:solidFill>
                  <a:srgbClr val="33413D"/>
                </a:solidFill>
                <a:latin typeface="Aptos"/>
              </a:rPr>
              <a:t>•  </a:t>
            </a:r>
            <a:r>
              <a:rPr sz="1100" b="0" i="0" dirty="0" err="1">
                <a:solidFill>
                  <a:srgbClr val="33413D"/>
                </a:solidFill>
                <a:latin typeface="Aptos"/>
              </a:rPr>
              <a:t>Öffentlicher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00" b="0" i="0" dirty="0" err="1">
                <a:solidFill>
                  <a:srgbClr val="33413D"/>
                </a:solidFill>
                <a:latin typeface="Aptos"/>
              </a:rPr>
              <a:t>Bereich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 (</a:t>
            </a:r>
            <a:r>
              <a:rPr sz="1100" b="0" i="0" dirty="0" err="1">
                <a:solidFill>
                  <a:srgbClr val="33413D"/>
                </a:solidFill>
                <a:latin typeface="Aptos"/>
              </a:rPr>
              <a:t>Registrierung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, </a:t>
            </a:r>
            <a:r>
              <a:rPr sz="1100" b="0" i="0" dirty="0" err="1">
                <a:solidFill>
                  <a:srgbClr val="33413D"/>
                </a:solidFill>
                <a:latin typeface="Aptos"/>
              </a:rPr>
              <a:t>Meldung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, QR) </a:t>
            </a:r>
            <a:r>
              <a:rPr sz="1100" b="0" i="0" dirty="0" err="1">
                <a:solidFill>
                  <a:srgbClr val="33413D"/>
                </a:solidFill>
                <a:latin typeface="Aptos"/>
              </a:rPr>
              <a:t>ohne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 Login.</a:t>
            </a:r>
          </a:p>
          <a:p>
            <a:pPr>
              <a:spcBef>
                <a:spcPts val="700"/>
              </a:spcBef>
            </a:pPr>
            <a:r>
              <a:rPr sz="1100" b="0" i="0" dirty="0">
                <a:solidFill>
                  <a:srgbClr val="33413D"/>
                </a:solidFill>
                <a:latin typeface="Aptos"/>
              </a:rPr>
              <a:t>•  </a:t>
            </a:r>
            <a:r>
              <a:rPr sz="1100" b="0" i="0" dirty="0" err="1">
                <a:solidFill>
                  <a:srgbClr val="33413D"/>
                </a:solidFill>
                <a:latin typeface="Aptos"/>
              </a:rPr>
              <a:t>Beide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 KI-</a:t>
            </a:r>
            <a:r>
              <a:rPr sz="1100" b="0" i="0" dirty="0" err="1">
                <a:solidFill>
                  <a:srgbClr val="33413D"/>
                </a:solidFill>
                <a:latin typeface="Aptos"/>
              </a:rPr>
              <a:t>Assistenten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 in Aktion.</a:t>
            </a:r>
          </a:p>
          <a:p>
            <a:pPr>
              <a:spcBef>
                <a:spcPts val="700"/>
              </a:spcBef>
            </a:pPr>
            <a:r>
              <a:rPr sz="1100" b="0" i="0" dirty="0">
                <a:solidFill>
                  <a:srgbClr val="33413D"/>
                </a:solidFill>
                <a:latin typeface="Aptos"/>
              </a:rPr>
              <a:t>•  </a:t>
            </a:r>
            <a:r>
              <a:rPr sz="1100" b="0" i="0" dirty="0" err="1">
                <a:solidFill>
                  <a:srgbClr val="33413D"/>
                </a:solidFill>
                <a:latin typeface="Aptos"/>
              </a:rPr>
              <a:t>Passwortfreier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 Ein-Klick-</a:t>
            </a:r>
            <a:r>
              <a:rPr sz="1100" b="0" i="0" dirty="0" err="1">
                <a:solidFill>
                  <a:srgbClr val="33413D"/>
                </a:solidFill>
                <a:latin typeface="Aptos"/>
              </a:rPr>
              <a:t>Zugang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691640"/>
            <a:ext cx="5257800" cy="3566160"/>
          </a:xfrm>
          <a:prstGeom prst="roundRect">
            <a:avLst>
              <a:gd name="adj" fmla="val 5000"/>
            </a:avLst>
          </a:prstGeom>
          <a:solidFill>
            <a:srgbClr val="FBF4EA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19672" y="1874520"/>
            <a:ext cx="4745736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50" b="1" i="0">
                <a:solidFill>
                  <a:srgbClr val="7A5410"/>
                </a:solidFill>
                <a:latin typeface="Aptos"/>
              </a:rPr>
              <a:t>Was die Demo bewusst noch nicht tut</a:t>
            </a:r>
          </a:p>
          <a:p>
            <a:pPr>
              <a:spcBef>
                <a:spcPts val="700"/>
              </a:spcBef>
            </a:pPr>
            <a:r>
              <a:rPr sz="1100" b="0" i="0">
                <a:solidFill>
                  <a:srgbClr val="33413D"/>
                </a:solidFill>
                <a:latin typeface="Aptos"/>
              </a:rPr>
              <a:t>•  Keine echten Zahlungen, keine Kontobelastung.</a:t>
            </a:r>
          </a:p>
          <a:p>
            <a:pPr>
              <a:spcBef>
                <a:spcPts val="700"/>
              </a:spcBef>
            </a:pPr>
            <a:r>
              <a:rPr sz="1100" b="0" i="0">
                <a:solidFill>
                  <a:srgbClr val="33413D"/>
                </a:solidFill>
                <a:latin typeface="Aptos"/>
              </a:rPr>
              <a:t>•  Keine realen Zugangssperren/-freischaltungen.</a:t>
            </a:r>
          </a:p>
          <a:p>
            <a:pPr>
              <a:spcBef>
                <a:spcPts val="700"/>
              </a:spcBef>
            </a:pPr>
            <a:r>
              <a:rPr sz="1100" b="0" i="0">
                <a:solidFill>
                  <a:srgbClr val="33413D"/>
                </a:solidFill>
                <a:latin typeface="Aptos"/>
              </a:rPr>
              <a:t>•  Kein tatsächlicher Nachrichtenversand an Kunden.</a:t>
            </a:r>
          </a:p>
          <a:p>
            <a:pPr>
              <a:spcBef>
                <a:spcPts val="700"/>
              </a:spcBef>
            </a:pPr>
            <a:r>
              <a:rPr sz="1100" b="0" i="0">
                <a:solidFill>
                  <a:srgbClr val="33413D"/>
                </a:solidFill>
                <a:latin typeface="Aptos"/>
              </a:rPr>
              <a:t>•  Keine Behördenmeldungen.</a:t>
            </a:r>
          </a:p>
          <a:p>
            <a:pPr>
              <a:spcBef>
                <a:spcPts val="700"/>
              </a:spcBef>
            </a:pPr>
            <a:r>
              <a:rPr sz="1100" b="0" i="0">
                <a:solidFill>
                  <a:srgbClr val="33413D"/>
                </a:solidFill>
                <a:latin typeface="Aptos"/>
              </a:rPr>
              <a:t>•  Die KI trifft keine autonomen Entscheidungen.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55664"/>
            <a:ext cx="86868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750" b="0" i="0" dirty="0">
                <a:solidFill>
                  <a:srgbClr val="64716D"/>
                </a:solidFill>
                <a:latin typeface="Aptos"/>
              </a:rPr>
              <a:t>1Çatı </a:t>
            </a:r>
            <a:r>
              <a:rPr lang="de-DE" sz="750" b="0" i="0" dirty="0">
                <a:solidFill>
                  <a:srgbClr val="64716D"/>
                </a:solidFill>
                <a:latin typeface="Aptos"/>
              </a:rPr>
              <a:t>-</a:t>
            </a:r>
            <a:r>
              <a:rPr sz="750" b="0" i="0" dirty="0">
                <a:solidFill>
                  <a:srgbClr val="64716D"/>
                </a:solidFill>
                <a:latin typeface="Aptos"/>
              </a:rPr>
              <a:t> Property-Management- &amp; Real-Estate-ERP · WAMOCON GmbH für </a:t>
            </a:r>
            <a:r>
              <a:rPr sz="750" b="0" i="0" dirty="0" err="1">
                <a:solidFill>
                  <a:srgbClr val="64716D"/>
                </a:solidFill>
                <a:latin typeface="Aptos"/>
              </a:rPr>
              <a:t>Ataberk</a:t>
            </a:r>
            <a:r>
              <a:rPr sz="750" b="0" i="0" dirty="0">
                <a:solidFill>
                  <a:srgbClr val="64716D"/>
                </a:solidFill>
                <a:latin typeface="Aptos"/>
              </a:rPr>
              <a:t> Estate · </a:t>
            </a:r>
            <a:r>
              <a:rPr sz="750" b="0" i="0" dirty="0" err="1">
                <a:solidFill>
                  <a:srgbClr val="64716D"/>
                </a:solidFill>
                <a:latin typeface="Aptos"/>
              </a:rPr>
              <a:t>Vertraulich</a:t>
            </a:r>
            <a:endParaRPr sz="750" b="0" i="0" dirty="0">
              <a:solidFill>
                <a:srgbClr val="64716D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>
                <a:solidFill>
                  <a:srgbClr val="64716D"/>
                </a:solidFill>
                <a:latin typeface="Aptos"/>
              </a:rPr>
              <a:t>6</a:t>
            </a:r>
          </a:p>
        </p:txBody>
      </p:sp>
      <p:pic>
        <p:nvPicPr>
          <p:cNvPr id="15" name="Picture 14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B9822B"/>
                </a:solidFill>
                <a:latin typeface="Aptos"/>
              </a:rPr>
              <a:t>NÄCHSTE SCHRITTE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700" b="1" i="0">
                <a:solidFill>
                  <a:srgbClr val="044F49"/>
                </a:solidFill>
                <a:latin typeface="Aptos"/>
              </a:rPr>
              <a:t>Von der Demo zum Livebetrieb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502920" cy="41148"/>
          </a:xfrm>
          <a:prstGeom prst="rect">
            <a:avLst/>
          </a:prstGeom>
          <a:solidFill>
            <a:srgbClr val="06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61288" y="1298448"/>
            <a:ext cx="301752" cy="41148"/>
          </a:xfrm>
          <a:prstGeom prst="rect">
            <a:avLst/>
          </a:prstGeom>
          <a:solidFill>
            <a:srgbClr val="B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966960" y="365760"/>
            <a:ext cx="1572768" cy="475488"/>
          </a:xfrm>
          <a:prstGeom prst="roundRect">
            <a:avLst>
              <a:gd name="adj" fmla="val 50000"/>
            </a:avLst>
          </a:prstGeom>
          <a:solidFill>
            <a:srgbClr val="044F49"/>
          </a:solidFill>
          <a:ln w="9525">
            <a:solidFill>
              <a:srgbClr val="E2B7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ataberk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473659"/>
            <a:ext cx="1298448" cy="25968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" y="1691640"/>
            <a:ext cx="10881360" cy="1371600"/>
          </a:xfrm>
          <a:prstGeom prst="roundRect">
            <a:avLst>
              <a:gd name="adj" fmla="val 5000"/>
            </a:avLst>
          </a:prstGeom>
          <a:solidFill>
            <a:srgbClr val="F1F6F4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1691640"/>
            <a:ext cx="54864" cy="1371600"/>
          </a:xfrm>
          <a:prstGeom prst="rect">
            <a:avLst/>
          </a:prstGeom>
          <a:solidFill>
            <a:srgbClr val="06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14400" y="2075688"/>
            <a:ext cx="603504" cy="603504"/>
          </a:xfrm>
          <a:prstGeom prst="ellipse">
            <a:avLst/>
          </a:prstGeom>
          <a:solidFill>
            <a:srgbClr val="06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2088899"/>
            <a:ext cx="9509760" cy="57708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 dirty="0">
                <a:solidFill>
                  <a:srgbClr val="044F49"/>
                </a:solidFill>
                <a:latin typeface="Aptos"/>
              </a:rPr>
              <a:t>Schnelle, </a:t>
            </a:r>
            <a:r>
              <a:rPr sz="1300" b="1" i="0" dirty="0" err="1">
                <a:solidFill>
                  <a:srgbClr val="044F49"/>
                </a:solidFill>
                <a:latin typeface="Aptos"/>
              </a:rPr>
              <a:t>sichtbare</a:t>
            </a:r>
            <a:r>
              <a:rPr sz="1300" b="1" i="0" dirty="0">
                <a:solidFill>
                  <a:srgbClr val="044F49"/>
                </a:solidFill>
                <a:latin typeface="Aptos"/>
              </a:rPr>
              <a:t> </a:t>
            </a:r>
            <a:r>
              <a:rPr sz="1300" b="1" i="0" dirty="0" err="1">
                <a:solidFill>
                  <a:srgbClr val="044F49"/>
                </a:solidFill>
                <a:latin typeface="Aptos"/>
              </a:rPr>
              <a:t>Fortschritte</a:t>
            </a:r>
            <a:endParaRPr sz="1300" b="1" i="0" dirty="0">
              <a:solidFill>
                <a:srgbClr val="044F49"/>
              </a:solidFill>
              <a:latin typeface="Aptos"/>
            </a:endParaRPr>
          </a:p>
          <a:p>
            <a:pPr>
              <a:spcBef>
                <a:spcPts val="300"/>
              </a:spcBef>
            </a:pPr>
            <a:r>
              <a:rPr sz="1100" b="0" i="0" dirty="0" err="1">
                <a:solidFill>
                  <a:srgbClr val="33413D"/>
                </a:solidFill>
                <a:latin typeface="Aptos"/>
              </a:rPr>
              <a:t>Vorhandene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00" b="0" i="0" dirty="0" err="1">
                <a:solidFill>
                  <a:srgbClr val="33413D"/>
                </a:solidFill>
                <a:latin typeface="Aptos"/>
              </a:rPr>
              <a:t>Übersichten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 an die </a:t>
            </a:r>
            <a:r>
              <a:rPr sz="1100" b="0" i="0" dirty="0" err="1">
                <a:solidFill>
                  <a:srgbClr val="33413D"/>
                </a:solidFill>
                <a:latin typeface="Aptos"/>
              </a:rPr>
              <a:t>bereits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00" b="0" i="0" dirty="0" err="1">
                <a:solidFill>
                  <a:srgbClr val="33413D"/>
                </a:solidFill>
                <a:latin typeface="Aptos"/>
              </a:rPr>
              <a:t>fertige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 Live-</a:t>
            </a:r>
            <a:r>
              <a:rPr sz="1100" b="0" i="0" dirty="0" err="1">
                <a:solidFill>
                  <a:srgbClr val="33413D"/>
                </a:solidFill>
                <a:latin typeface="Aptos"/>
              </a:rPr>
              <a:t>Datenanbindung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00" b="0" i="0" dirty="0" err="1">
                <a:solidFill>
                  <a:srgbClr val="33413D"/>
                </a:solidFill>
                <a:latin typeface="Aptos"/>
              </a:rPr>
              <a:t>anschließen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lang="de-DE" sz="1100" b="0" i="0" dirty="0">
                <a:solidFill>
                  <a:srgbClr val="33413D"/>
                </a:solidFill>
                <a:latin typeface="Aptos"/>
              </a:rPr>
              <a:t>-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00" b="0" i="0" dirty="0" err="1">
                <a:solidFill>
                  <a:srgbClr val="33413D"/>
                </a:solidFill>
                <a:latin typeface="Aptos"/>
              </a:rPr>
              <a:t>Verbindung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, nicht </a:t>
            </a:r>
            <a:r>
              <a:rPr sz="1100" b="0" i="0" dirty="0" err="1">
                <a:solidFill>
                  <a:srgbClr val="33413D"/>
                </a:solidFill>
                <a:latin typeface="Aptos"/>
              </a:rPr>
              <a:t>Neuentwicklung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. Sofort </a:t>
            </a:r>
            <a:r>
              <a:rPr sz="1100" b="0" i="0" dirty="0" err="1">
                <a:solidFill>
                  <a:srgbClr val="33413D"/>
                </a:solidFill>
                <a:latin typeface="Aptos"/>
              </a:rPr>
              <a:t>mehr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00" b="0" i="0" dirty="0" err="1">
                <a:solidFill>
                  <a:srgbClr val="33413D"/>
                </a:solidFill>
                <a:latin typeface="Aptos"/>
              </a:rPr>
              <a:t>echte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 Live-</a:t>
            </a:r>
            <a:r>
              <a:rPr sz="1100" b="0" i="0" dirty="0" err="1">
                <a:solidFill>
                  <a:srgbClr val="33413D"/>
                </a:solidFill>
                <a:latin typeface="Aptos"/>
              </a:rPr>
              <a:t>Daten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00" b="0" i="0" dirty="0" err="1">
                <a:solidFill>
                  <a:srgbClr val="33413D"/>
                </a:solidFill>
                <a:latin typeface="Aptos"/>
              </a:rPr>
              <a:t>bei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00" b="0" i="0" dirty="0" err="1">
                <a:solidFill>
                  <a:srgbClr val="33413D"/>
                </a:solidFill>
                <a:latin typeface="Aptos"/>
              </a:rPr>
              <a:t>geringem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00" b="0" i="0" dirty="0" err="1">
                <a:solidFill>
                  <a:srgbClr val="33413D"/>
                </a:solidFill>
                <a:latin typeface="Aptos"/>
              </a:rPr>
              <a:t>Aufwand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209544"/>
            <a:ext cx="10881360" cy="1371600"/>
          </a:xfrm>
          <a:prstGeom prst="roundRect">
            <a:avLst>
              <a:gd name="adj" fmla="val 5000"/>
            </a:avLst>
          </a:prstGeom>
          <a:solidFill>
            <a:srgbClr val="F1F6F4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3209544"/>
            <a:ext cx="54864" cy="1371600"/>
          </a:xfrm>
          <a:prstGeom prst="rect">
            <a:avLst/>
          </a:prstGeom>
          <a:solidFill>
            <a:srgbClr val="B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14400" y="3593592"/>
            <a:ext cx="603504" cy="603504"/>
          </a:xfrm>
          <a:prstGeom prst="ellipse">
            <a:avLst/>
          </a:prstGeom>
          <a:solidFill>
            <a:srgbClr val="B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3392424"/>
            <a:ext cx="950976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044F49"/>
                </a:solidFill>
                <a:latin typeface="Aptos"/>
              </a:rPr>
              <a:t>Kernfunktionen fertigstellen</a:t>
            </a:r>
          </a:p>
          <a:p>
            <a:pPr>
              <a:spcBef>
                <a:spcPts val="300"/>
              </a:spcBef>
            </a:pPr>
            <a:r>
              <a:rPr sz="1100" b="0" i="0">
                <a:solidFill>
                  <a:srgbClr val="33413D"/>
                </a:solidFill>
                <a:latin typeface="Aptos"/>
              </a:rPr>
              <a:t>Reservierung anlegen, Finanzbuchung erfassen, Foto-/Videonachweis, Bearbeitungs-Übersicht für Registrierungen/Meldungen aus dem öffentlichen Bereich.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727448"/>
            <a:ext cx="10881360" cy="1371600"/>
          </a:xfrm>
          <a:prstGeom prst="roundRect">
            <a:avLst>
              <a:gd name="adj" fmla="val 5000"/>
            </a:avLst>
          </a:prstGeom>
          <a:solidFill>
            <a:srgbClr val="F1F6F4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4727448"/>
            <a:ext cx="54864" cy="1371600"/>
          </a:xfrm>
          <a:prstGeom prst="rect">
            <a:avLst/>
          </a:prstGeom>
          <a:solidFill>
            <a:srgbClr val="6471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14400" y="5111496"/>
            <a:ext cx="603504" cy="603504"/>
          </a:xfrm>
          <a:prstGeom prst="ellipse">
            <a:avLst/>
          </a:prstGeom>
          <a:solidFill>
            <a:srgbClr val="6471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5124707"/>
            <a:ext cx="9509760" cy="57708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 dirty="0" err="1">
                <a:solidFill>
                  <a:srgbClr val="044F49"/>
                </a:solidFill>
                <a:latin typeface="Aptos"/>
              </a:rPr>
              <a:t>Freigaben</a:t>
            </a:r>
            <a:r>
              <a:rPr sz="1300" b="1" i="0" dirty="0">
                <a:solidFill>
                  <a:srgbClr val="044F49"/>
                </a:solidFill>
                <a:latin typeface="Aptos"/>
              </a:rPr>
              <a:t> &amp; </a:t>
            </a:r>
            <a:r>
              <a:rPr sz="1300" b="1" i="0" dirty="0" err="1">
                <a:solidFill>
                  <a:srgbClr val="044F49"/>
                </a:solidFill>
                <a:latin typeface="Aptos"/>
              </a:rPr>
              <a:t>Entscheidungen</a:t>
            </a:r>
            <a:r>
              <a:rPr sz="1300" b="1" i="0" dirty="0">
                <a:solidFill>
                  <a:srgbClr val="044F49"/>
                </a:solidFill>
                <a:latin typeface="Aptos"/>
              </a:rPr>
              <a:t> </a:t>
            </a:r>
            <a:r>
              <a:rPr sz="1300" b="1" i="0" dirty="0" err="1">
                <a:solidFill>
                  <a:srgbClr val="044F49"/>
                </a:solidFill>
                <a:latin typeface="Aptos"/>
              </a:rPr>
              <a:t>Ihrerseits</a:t>
            </a:r>
            <a:endParaRPr sz="1300" b="1" i="0" dirty="0">
              <a:solidFill>
                <a:srgbClr val="044F49"/>
              </a:solidFill>
              <a:latin typeface="Aptos"/>
            </a:endParaRPr>
          </a:p>
          <a:p>
            <a:pPr>
              <a:spcBef>
                <a:spcPts val="300"/>
              </a:spcBef>
            </a:pPr>
            <a:r>
              <a:rPr sz="1100" b="0" i="0" dirty="0" err="1">
                <a:solidFill>
                  <a:srgbClr val="33413D"/>
                </a:solidFill>
                <a:latin typeface="Aptos"/>
              </a:rPr>
              <a:t>Produktive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00" b="0" i="0" dirty="0" err="1">
                <a:solidFill>
                  <a:srgbClr val="33413D"/>
                </a:solidFill>
                <a:latin typeface="Aptos"/>
              </a:rPr>
              <a:t>Datenumgebung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, </a:t>
            </a:r>
            <a:r>
              <a:rPr sz="1100" b="0" i="0" dirty="0" err="1">
                <a:solidFill>
                  <a:srgbClr val="33413D"/>
                </a:solidFill>
                <a:latin typeface="Aptos"/>
              </a:rPr>
              <a:t>Zahlungs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-/</a:t>
            </a:r>
            <a:r>
              <a:rPr sz="1100" b="0" i="0" dirty="0" err="1">
                <a:solidFill>
                  <a:srgbClr val="33413D"/>
                </a:solidFill>
                <a:latin typeface="Aptos"/>
              </a:rPr>
              <a:t>Bankweg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, </a:t>
            </a:r>
            <a:r>
              <a:rPr sz="1100" b="0" i="0" dirty="0" err="1">
                <a:solidFill>
                  <a:srgbClr val="33413D"/>
                </a:solidFill>
                <a:latin typeface="Aptos"/>
              </a:rPr>
              <a:t>Kommunikationsanbieter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, </a:t>
            </a:r>
            <a:r>
              <a:rPr sz="1100" b="0" i="0" dirty="0" err="1">
                <a:solidFill>
                  <a:srgbClr val="33413D"/>
                </a:solidFill>
                <a:latin typeface="Aptos"/>
              </a:rPr>
              <a:t>Zugangssystem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, </a:t>
            </a:r>
            <a:r>
              <a:rPr sz="1100" b="0" i="0" dirty="0" err="1">
                <a:solidFill>
                  <a:srgbClr val="33413D"/>
                </a:solidFill>
                <a:latin typeface="Aptos"/>
              </a:rPr>
              <a:t>Identitätsprüfung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, </a:t>
            </a:r>
            <a:r>
              <a:rPr sz="1100" b="0" i="0" dirty="0" err="1">
                <a:solidFill>
                  <a:srgbClr val="33413D"/>
                </a:solidFill>
                <a:latin typeface="Aptos"/>
              </a:rPr>
              <a:t>rechtliche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00" b="0" i="0" dirty="0" err="1">
                <a:solidFill>
                  <a:srgbClr val="33413D"/>
                </a:solidFill>
                <a:latin typeface="Aptos"/>
              </a:rPr>
              <a:t>Bestätigungen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, </a:t>
            </a:r>
            <a:r>
              <a:rPr sz="1100" b="0" i="0" dirty="0" err="1">
                <a:solidFill>
                  <a:srgbClr val="33413D"/>
                </a:solidFill>
                <a:latin typeface="Aptos"/>
              </a:rPr>
              <a:t>Abnahmetest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lang="de-DE" sz="1100" b="0" i="0" dirty="0">
                <a:solidFill>
                  <a:srgbClr val="33413D"/>
                </a:solidFill>
                <a:latin typeface="Aptos"/>
              </a:rPr>
              <a:t>-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00" b="0" i="0" dirty="0" err="1">
                <a:solidFill>
                  <a:srgbClr val="33413D"/>
                </a:solidFill>
                <a:latin typeface="Aptos"/>
              </a:rPr>
              <a:t>frühzeitig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 parallel </a:t>
            </a:r>
            <a:r>
              <a:rPr sz="1100" b="0" i="0" dirty="0" err="1">
                <a:solidFill>
                  <a:srgbClr val="33413D"/>
                </a:solidFill>
                <a:latin typeface="Aptos"/>
              </a:rPr>
              <a:t>anstoßen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55664"/>
            <a:ext cx="86868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750" b="0" i="0" dirty="0">
                <a:solidFill>
                  <a:srgbClr val="64716D"/>
                </a:solidFill>
                <a:latin typeface="Aptos"/>
              </a:rPr>
              <a:t>1Çatı </a:t>
            </a:r>
            <a:r>
              <a:rPr lang="de-DE" sz="750" b="0" i="0" dirty="0">
                <a:solidFill>
                  <a:srgbClr val="64716D"/>
                </a:solidFill>
                <a:latin typeface="Aptos"/>
              </a:rPr>
              <a:t>-</a:t>
            </a:r>
            <a:r>
              <a:rPr sz="750" b="0" i="0" dirty="0">
                <a:solidFill>
                  <a:srgbClr val="64716D"/>
                </a:solidFill>
                <a:latin typeface="Aptos"/>
              </a:rPr>
              <a:t> Property-Management- &amp; Real-Estate-ERP · WAMOCON GmbH für </a:t>
            </a:r>
            <a:r>
              <a:rPr sz="750" b="0" i="0" dirty="0" err="1">
                <a:solidFill>
                  <a:srgbClr val="64716D"/>
                </a:solidFill>
                <a:latin typeface="Aptos"/>
              </a:rPr>
              <a:t>Ataberk</a:t>
            </a:r>
            <a:r>
              <a:rPr sz="750" b="0" i="0" dirty="0">
                <a:solidFill>
                  <a:srgbClr val="64716D"/>
                </a:solidFill>
                <a:latin typeface="Aptos"/>
              </a:rPr>
              <a:t> Estate · </a:t>
            </a:r>
            <a:r>
              <a:rPr sz="750" b="0" i="0" dirty="0" err="1">
                <a:solidFill>
                  <a:srgbClr val="64716D"/>
                </a:solidFill>
                <a:latin typeface="Aptos"/>
              </a:rPr>
              <a:t>Vertraulich</a:t>
            </a:r>
            <a:endParaRPr sz="750" b="0" i="0" dirty="0">
              <a:solidFill>
                <a:srgbClr val="64716D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>
                <a:solidFill>
                  <a:srgbClr val="64716D"/>
                </a:solidFill>
                <a:latin typeface="Aptos"/>
              </a:rPr>
              <a:t>7</a:t>
            </a:r>
          </a:p>
        </p:txBody>
      </p:sp>
      <p:pic>
        <p:nvPicPr>
          <p:cNvPr id="23" name="Picture 2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B9822B"/>
                </a:solidFill>
                <a:latin typeface="Aptos"/>
              </a:rPr>
              <a:t>FAHRPLAN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700" b="1" i="0">
                <a:solidFill>
                  <a:srgbClr val="044F49"/>
                </a:solidFill>
                <a:latin typeface="Aptos"/>
              </a:rPr>
              <a:t>Umsetzungsplan im Überblick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502920" cy="41148"/>
          </a:xfrm>
          <a:prstGeom prst="rect">
            <a:avLst/>
          </a:prstGeom>
          <a:solidFill>
            <a:srgbClr val="06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61288" y="1298448"/>
            <a:ext cx="301752" cy="41148"/>
          </a:xfrm>
          <a:prstGeom prst="rect">
            <a:avLst/>
          </a:prstGeom>
          <a:solidFill>
            <a:srgbClr val="B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966960" y="365760"/>
            <a:ext cx="1572768" cy="475488"/>
          </a:xfrm>
          <a:prstGeom prst="roundRect">
            <a:avLst>
              <a:gd name="adj" fmla="val 50000"/>
            </a:avLst>
          </a:prstGeom>
          <a:solidFill>
            <a:srgbClr val="044F49"/>
          </a:solidFill>
          <a:ln w="9525">
            <a:solidFill>
              <a:srgbClr val="E2B7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ataberk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473659"/>
            <a:ext cx="1298448" cy="259689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881359" cy="2926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3993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820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050" b="1" i="0" dirty="0" err="1">
                          <a:solidFill>
                            <a:srgbClr val="FFFFFF"/>
                          </a:solidFill>
                          <a:latin typeface="Aptos"/>
                        </a:rPr>
                        <a:t>Ausbaustufe</a:t>
                      </a:r>
                      <a:endParaRPr sz="1050" b="1" i="0" dirty="0">
                        <a:solidFill>
                          <a:srgbClr val="FFFFFF"/>
                        </a:solidFill>
                        <a:latin typeface="Aptos"/>
                      </a:endParaRPr>
                    </a:p>
                  </a:txBody>
                  <a:tcPr marL="73152" marR="73152" marT="36576" marB="36576" anchor="ctr">
                    <a:solidFill>
                      <a:srgbClr val="066B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Aptos"/>
                        </a:rPr>
                        <a:t>Stand</a:t>
                      </a:r>
                    </a:p>
                  </a:txBody>
                  <a:tcPr marL="73152" marR="73152" marT="36576" marB="36576" anchor="ctr">
                    <a:solidFill>
                      <a:srgbClr val="066B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01820"/>
                          </a:solidFill>
                          <a:latin typeface="Aptos"/>
                        </a:rPr>
                        <a:t>Fundament (Betrieb, Finanzen, Service)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044F49"/>
                          </a:solidFill>
                          <a:latin typeface="Aptos"/>
                        </a:rPr>
                        <a:t>Fertiggestellt (Demo)</a:t>
                      </a:r>
                    </a:p>
                  </a:txBody>
                  <a:tcPr marL="73152" marR="73152" marT="36576" marB="36576" anchor="ctr">
                    <a:solidFill>
                      <a:srgbClr val="DA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00" b="1" i="0" dirty="0">
                          <a:solidFill>
                            <a:srgbClr val="101820"/>
                          </a:solidFill>
                          <a:latin typeface="Aptos"/>
                        </a:rPr>
                        <a:t>New Level Premium </a:t>
                      </a:r>
                      <a:r>
                        <a:rPr lang="de-DE" sz="1100" b="1" i="0" dirty="0">
                          <a:solidFill>
                            <a:srgbClr val="101820"/>
                          </a:solidFill>
                          <a:latin typeface="Aptos"/>
                        </a:rPr>
                        <a:t>-</a:t>
                      </a:r>
                      <a:r>
                        <a:rPr sz="1100" b="1" i="0" dirty="0">
                          <a:solidFill>
                            <a:srgbClr val="101820"/>
                          </a:solidFill>
                          <a:latin typeface="Aptos"/>
                        </a:rPr>
                        <a:t> </a:t>
                      </a:r>
                      <a:r>
                        <a:rPr sz="1100" b="1" i="0" dirty="0" err="1">
                          <a:solidFill>
                            <a:srgbClr val="101820"/>
                          </a:solidFill>
                          <a:latin typeface="Aptos"/>
                        </a:rPr>
                        <a:t>öffentlicher</a:t>
                      </a:r>
                      <a:r>
                        <a:rPr sz="1100" b="1" i="0" dirty="0">
                          <a:solidFill>
                            <a:srgbClr val="101820"/>
                          </a:solidFill>
                          <a:latin typeface="Aptos"/>
                        </a:rPr>
                        <a:t> </a:t>
                      </a:r>
                      <a:r>
                        <a:rPr sz="1100" b="1" i="0" dirty="0" err="1">
                          <a:solidFill>
                            <a:srgbClr val="101820"/>
                          </a:solidFill>
                          <a:latin typeface="Aptos"/>
                        </a:rPr>
                        <a:t>Bereich</a:t>
                      </a:r>
                      <a:endParaRPr sz="1100" b="1" i="0" dirty="0">
                        <a:solidFill>
                          <a:srgbClr val="101820"/>
                        </a:solidFill>
                        <a:latin typeface="Aptos"/>
                      </a:endParaRPr>
                    </a:p>
                  </a:txBody>
                  <a:tcPr marL="73152" marR="73152" marT="36576" marB="36576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044F49"/>
                          </a:solidFill>
                          <a:latin typeface="Aptos"/>
                        </a:rPr>
                        <a:t>Fertiggestellt (Demo)</a:t>
                      </a:r>
                    </a:p>
                  </a:txBody>
                  <a:tcPr marL="73152" marR="73152" marT="36576" marB="36576" anchor="ctr">
                    <a:solidFill>
                      <a:srgbClr val="DA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01820"/>
                          </a:solidFill>
                          <a:latin typeface="Aptos"/>
                        </a:rPr>
                        <a:t>Reservierung, Kommunikation &amp; Dokumente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7A5410"/>
                          </a:solidFill>
                          <a:latin typeface="Aptos"/>
                        </a:rPr>
                        <a:t>Demo verfügbar, Ausbau</a:t>
                      </a:r>
                    </a:p>
                  </a:txBody>
                  <a:tcPr marL="73152" marR="73152" marT="36576" marB="36576" anchor="ctr">
                    <a:solidFill>
                      <a:srgbClr val="F4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01820"/>
                          </a:solidFill>
                          <a:latin typeface="Aptos"/>
                        </a:rPr>
                        <a:t>Mobile &amp; installierbare Nutzung</a:t>
                      </a:r>
                    </a:p>
                  </a:txBody>
                  <a:tcPr marL="73152" marR="73152" marT="36576" marB="36576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7A5410"/>
                          </a:solidFill>
                          <a:latin typeface="Aptos"/>
                        </a:rPr>
                        <a:t>Teilweise live</a:t>
                      </a:r>
                    </a:p>
                  </a:txBody>
                  <a:tcPr marL="73152" marR="73152" marT="36576" marB="36576" anchor="ctr">
                    <a:solidFill>
                      <a:srgbClr val="F4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01820"/>
                          </a:solidFill>
                          <a:latin typeface="Aptos"/>
                        </a:rPr>
                        <a:t>Externe Integrationen (Zahlung/Bank/Kommunikation/Zugang)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4B5652"/>
                          </a:solidFill>
                          <a:latin typeface="Aptos"/>
                        </a:rPr>
                        <a:t>Vorbereitet, Anbieterwahl offen</a:t>
                      </a:r>
                    </a:p>
                  </a:txBody>
                  <a:tcPr marL="73152" marR="73152" marT="36576" marB="36576" anchor="ctr">
                    <a:solidFill>
                      <a:srgbClr val="EAEC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01820"/>
                          </a:solidFill>
                          <a:latin typeface="Aptos"/>
                        </a:rPr>
                        <a:t>KI-Premium-Ebene (Analysen, Prognosen)</a:t>
                      </a:r>
                    </a:p>
                  </a:txBody>
                  <a:tcPr marL="73152" marR="73152" marT="36576" marB="36576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4B5652"/>
                          </a:solidFill>
                          <a:latin typeface="Aptos"/>
                        </a:rPr>
                        <a:t>Vorschau vorhanden</a:t>
                      </a:r>
                    </a:p>
                  </a:txBody>
                  <a:tcPr marL="73152" marR="73152" marT="36576" marB="36576" anchor="ctr">
                    <a:solidFill>
                      <a:srgbClr val="EAEC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01820"/>
                          </a:solidFill>
                          <a:latin typeface="Aptos"/>
                        </a:rPr>
                        <a:t>Abnahme &amp; Launch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4B5652"/>
                          </a:solidFill>
                          <a:latin typeface="Aptos"/>
                        </a:rPr>
                        <a:t>Geplant</a:t>
                      </a:r>
                    </a:p>
                  </a:txBody>
                  <a:tcPr marL="73152" marR="73152" marT="36576" marB="36576" anchor="ctr">
                    <a:solidFill>
                      <a:srgbClr val="EAEC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6455664"/>
            <a:ext cx="86868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750" b="0" i="0" dirty="0">
                <a:solidFill>
                  <a:srgbClr val="64716D"/>
                </a:solidFill>
                <a:latin typeface="Aptos"/>
              </a:rPr>
              <a:t>1Çatı </a:t>
            </a:r>
            <a:r>
              <a:rPr lang="de-DE" sz="750" b="0" i="0" dirty="0">
                <a:solidFill>
                  <a:srgbClr val="64716D"/>
                </a:solidFill>
                <a:latin typeface="Aptos"/>
              </a:rPr>
              <a:t>-</a:t>
            </a:r>
            <a:r>
              <a:rPr sz="750" b="0" i="0" dirty="0">
                <a:solidFill>
                  <a:srgbClr val="64716D"/>
                </a:solidFill>
                <a:latin typeface="Aptos"/>
              </a:rPr>
              <a:t> Property-Management- &amp; Real-Estate-ERP · WAMOCON GmbH für </a:t>
            </a:r>
            <a:r>
              <a:rPr sz="750" b="0" i="0" dirty="0" err="1">
                <a:solidFill>
                  <a:srgbClr val="64716D"/>
                </a:solidFill>
                <a:latin typeface="Aptos"/>
              </a:rPr>
              <a:t>Ataberk</a:t>
            </a:r>
            <a:r>
              <a:rPr sz="750" b="0" i="0" dirty="0">
                <a:solidFill>
                  <a:srgbClr val="64716D"/>
                </a:solidFill>
                <a:latin typeface="Aptos"/>
              </a:rPr>
              <a:t> Estate · </a:t>
            </a:r>
            <a:r>
              <a:rPr sz="750" b="0" i="0" dirty="0" err="1">
                <a:solidFill>
                  <a:srgbClr val="64716D"/>
                </a:solidFill>
                <a:latin typeface="Aptos"/>
              </a:rPr>
              <a:t>Vertraulich</a:t>
            </a:r>
            <a:endParaRPr sz="750" b="0" i="0" dirty="0">
              <a:solidFill>
                <a:srgbClr val="64716D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>
                <a:solidFill>
                  <a:srgbClr val="64716D"/>
                </a:solidFill>
                <a:latin typeface="Aptos"/>
              </a:rPr>
              <a:t>8</a:t>
            </a:r>
          </a:p>
        </p:txBody>
      </p:sp>
      <p:pic>
        <p:nvPicPr>
          <p:cNvPr id="12" name="Picture 11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B9822B"/>
                </a:solidFill>
                <a:latin typeface="Aptos"/>
              </a:rPr>
              <a:t>CHANCEN &amp; VORAUSSETZUNGEN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700" b="1" i="0" dirty="0" err="1">
                <a:solidFill>
                  <a:srgbClr val="044F49"/>
                </a:solidFill>
                <a:latin typeface="Aptos"/>
              </a:rPr>
              <a:t>Warum</a:t>
            </a:r>
            <a:r>
              <a:rPr sz="2700" b="1" i="0" dirty="0">
                <a:solidFill>
                  <a:srgbClr val="044F49"/>
                </a:solidFill>
                <a:latin typeface="Aptos"/>
              </a:rPr>
              <a:t> </a:t>
            </a:r>
            <a:r>
              <a:rPr sz="2700" b="1" i="0" dirty="0" err="1">
                <a:solidFill>
                  <a:srgbClr val="044F49"/>
                </a:solidFill>
                <a:latin typeface="Aptos"/>
              </a:rPr>
              <a:t>jetzt</a:t>
            </a:r>
            <a:r>
              <a:rPr sz="2700" b="1" i="0" dirty="0">
                <a:solidFill>
                  <a:srgbClr val="044F49"/>
                </a:solidFill>
                <a:latin typeface="Aptos"/>
              </a:rPr>
              <a:t> </a:t>
            </a:r>
            <a:r>
              <a:rPr lang="de-DE" sz="2700" b="1" i="0" dirty="0">
                <a:solidFill>
                  <a:srgbClr val="044F49"/>
                </a:solidFill>
                <a:latin typeface="Aptos"/>
              </a:rPr>
              <a:t>-</a:t>
            </a:r>
            <a:r>
              <a:rPr sz="2700" b="1" i="0" dirty="0">
                <a:solidFill>
                  <a:srgbClr val="044F49"/>
                </a:solidFill>
                <a:latin typeface="Aptos"/>
              </a:rPr>
              <a:t> und was es </a:t>
            </a:r>
            <a:r>
              <a:rPr sz="2700" b="1" i="0" dirty="0" err="1">
                <a:solidFill>
                  <a:srgbClr val="044F49"/>
                </a:solidFill>
                <a:latin typeface="Aptos"/>
              </a:rPr>
              <a:t>braucht</a:t>
            </a:r>
            <a:endParaRPr sz="2700" b="1" i="0" dirty="0">
              <a:solidFill>
                <a:srgbClr val="044F49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502920" cy="41148"/>
          </a:xfrm>
          <a:prstGeom prst="rect">
            <a:avLst/>
          </a:prstGeom>
          <a:solidFill>
            <a:srgbClr val="06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61288" y="1298448"/>
            <a:ext cx="301752" cy="41148"/>
          </a:xfrm>
          <a:prstGeom prst="rect">
            <a:avLst/>
          </a:prstGeom>
          <a:solidFill>
            <a:srgbClr val="B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966960" y="365760"/>
            <a:ext cx="1572768" cy="475488"/>
          </a:xfrm>
          <a:prstGeom prst="roundRect">
            <a:avLst>
              <a:gd name="adj" fmla="val 50000"/>
            </a:avLst>
          </a:prstGeom>
          <a:solidFill>
            <a:srgbClr val="044F49"/>
          </a:solidFill>
          <a:ln w="9525">
            <a:solidFill>
              <a:srgbClr val="E2B7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ataberk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473659"/>
            <a:ext cx="1298448" cy="25968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" y="1645920"/>
            <a:ext cx="53263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792224"/>
            <a:ext cx="486918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044F49"/>
                </a:solidFill>
                <a:latin typeface="Aptos"/>
              </a:rPr>
              <a:t>Alleinstellung am Markt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64716D"/>
                </a:solidFill>
                <a:latin typeface="Aptos"/>
              </a:rPr>
              <a:t>Die Kombination aus Finanzführung, Service-Desk und kontrollierter KI hat am türkischen Markt kein direktes Gegenstück.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5060" y="1645920"/>
            <a:ext cx="53263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23660" y="1792224"/>
            <a:ext cx="486918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044F49"/>
                </a:solidFill>
                <a:latin typeface="Aptos"/>
              </a:rPr>
              <a:t>Rückenwind durch KI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64716D"/>
                </a:solidFill>
                <a:latin typeface="Aptos"/>
              </a:rPr>
              <a:t>Steigende KI-Akzeptanz trifft auf ein bereits verankertes »Mensch entscheidet«-Prinzip.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291840"/>
            <a:ext cx="53263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3438144"/>
            <a:ext cx="486918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044F49"/>
                </a:solidFill>
                <a:latin typeface="Aptos"/>
              </a:rPr>
              <a:t>Wert im engeren Markt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64716D"/>
                </a:solidFill>
                <a:latin typeface="Aptos"/>
              </a:rPr>
              <a:t>Operative Exzellenz gegenüber Bestandskunden gewinnt an relativem Wert.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5060" y="3291840"/>
            <a:ext cx="53263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23660" y="3438144"/>
            <a:ext cx="486918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044F49"/>
                </a:solidFill>
                <a:latin typeface="Aptos"/>
              </a:rPr>
              <a:t>Übertragbares Muster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64716D"/>
                </a:solidFill>
                <a:latin typeface="Aptos"/>
              </a:rPr>
              <a:t>Der öffentliche Registrierungs-/Meldekanal ist auf weitere Projekte übertragbar.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937760"/>
            <a:ext cx="10881360" cy="1280160"/>
          </a:xfrm>
          <a:prstGeom prst="roundRect">
            <a:avLst>
              <a:gd name="adj" fmla="val 6000"/>
            </a:avLst>
          </a:prstGeom>
          <a:solidFill>
            <a:srgbClr val="F1F6F4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4937760"/>
            <a:ext cx="54864" cy="1280160"/>
          </a:xfrm>
          <a:prstGeom prst="rect">
            <a:avLst/>
          </a:prstGeom>
          <a:solidFill>
            <a:srgbClr val="B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6112" y="5393174"/>
            <a:ext cx="1046988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50" b="1" i="0" dirty="0" err="1">
                <a:solidFill>
                  <a:srgbClr val="044F49"/>
                </a:solidFill>
                <a:latin typeface="Aptos"/>
              </a:rPr>
              <a:t>Voraussetzungen</a:t>
            </a:r>
            <a:r>
              <a:rPr sz="1250" b="1" i="0" dirty="0">
                <a:solidFill>
                  <a:srgbClr val="044F49"/>
                </a:solidFill>
                <a:latin typeface="Aptos"/>
              </a:rPr>
              <a:t> für den </a:t>
            </a:r>
            <a:r>
              <a:rPr sz="1250" b="1" i="0" dirty="0" err="1">
                <a:solidFill>
                  <a:srgbClr val="044F49"/>
                </a:solidFill>
                <a:latin typeface="Aptos"/>
              </a:rPr>
              <a:t>Livebetrieb</a:t>
            </a:r>
            <a:r>
              <a:rPr sz="1250" b="1" i="0" dirty="0">
                <a:solidFill>
                  <a:srgbClr val="044F49"/>
                </a:solidFill>
                <a:latin typeface="Aptos"/>
              </a:rPr>
              <a:t>. 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Produktive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Datenumgebung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,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Zahlungs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-/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Bankweg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,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Kommunikationsanbieter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,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Zugangssystem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,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Identitätsprüfung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,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rechtliche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Bestätigungen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und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ein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gemeinsamer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Abnahmetest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. Keiner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dieser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Punkte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ist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ein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technisches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Risiko </a:t>
            </a:r>
            <a:r>
              <a:rPr lang="de-DE" sz="1150" b="0" i="0" dirty="0">
                <a:solidFill>
                  <a:srgbClr val="33413D"/>
                </a:solidFill>
                <a:latin typeface="Aptos"/>
              </a:rPr>
              <a:t>-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es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sind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klar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benannte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,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planbare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Freigaben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55664"/>
            <a:ext cx="86868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750" b="0" i="0" dirty="0">
                <a:solidFill>
                  <a:srgbClr val="64716D"/>
                </a:solidFill>
                <a:latin typeface="Aptos"/>
              </a:rPr>
              <a:t>1Çatı </a:t>
            </a:r>
            <a:r>
              <a:rPr lang="de-DE" sz="750" b="0" i="0" dirty="0">
                <a:solidFill>
                  <a:srgbClr val="64716D"/>
                </a:solidFill>
                <a:latin typeface="Aptos"/>
              </a:rPr>
              <a:t>-</a:t>
            </a:r>
            <a:r>
              <a:rPr sz="750" b="0" i="0" dirty="0">
                <a:solidFill>
                  <a:srgbClr val="64716D"/>
                </a:solidFill>
                <a:latin typeface="Aptos"/>
              </a:rPr>
              <a:t> Property-Management- &amp; Real-Estate-ERP · WAMOCON GmbH für </a:t>
            </a:r>
            <a:r>
              <a:rPr sz="750" b="0" i="0" dirty="0" err="1">
                <a:solidFill>
                  <a:srgbClr val="64716D"/>
                </a:solidFill>
                <a:latin typeface="Aptos"/>
              </a:rPr>
              <a:t>Ataberk</a:t>
            </a:r>
            <a:r>
              <a:rPr sz="750" b="0" i="0" dirty="0">
                <a:solidFill>
                  <a:srgbClr val="64716D"/>
                </a:solidFill>
                <a:latin typeface="Aptos"/>
              </a:rPr>
              <a:t> Estate · </a:t>
            </a:r>
            <a:r>
              <a:rPr sz="750" b="0" i="0" dirty="0" err="1">
                <a:solidFill>
                  <a:srgbClr val="64716D"/>
                </a:solidFill>
                <a:latin typeface="Aptos"/>
              </a:rPr>
              <a:t>Vertraulich</a:t>
            </a:r>
            <a:endParaRPr sz="750" b="0" i="0" dirty="0">
              <a:solidFill>
                <a:srgbClr val="64716D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>
                <a:solidFill>
                  <a:srgbClr val="64716D"/>
                </a:solidFill>
                <a:latin typeface="Aptos"/>
              </a:rPr>
              <a:t>9</a:t>
            </a:r>
          </a:p>
        </p:txBody>
      </p:sp>
      <p:pic>
        <p:nvPicPr>
          <p:cNvPr id="22" name="Picture 21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B9822B"/>
                </a:solidFill>
                <a:latin typeface="Aptos"/>
              </a:rPr>
              <a:t>DER LEITGEDANKE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700" b="1" i="0">
                <a:solidFill>
                  <a:srgbClr val="044F49"/>
                </a:solidFill>
                <a:latin typeface="Aptos"/>
              </a:rPr>
              <a:t>Sicherheit als Vertrauensmerkmal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502920" cy="41148"/>
          </a:xfrm>
          <a:prstGeom prst="rect">
            <a:avLst/>
          </a:prstGeom>
          <a:solidFill>
            <a:srgbClr val="06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61288" y="1298448"/>
            <a:ext cx="301752" cy="41148"/>
          </a:xfrm>
          <a:prstGeom prst="rect">
            <a:avLst/>
          </a:prstGeom>
          <a:solidFill>
            <a:srgbClr val="B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966960" y="365760"/>
            <a:ext cx="1572768" cy="475488"/>
          </a:xfrm>
          <a:prstGeom prst="roundRect">
            <a:avLst>
              <a:gd name="adj" fmla="val 50000"/>
            </a:avLst>
          </a:prstGeom>
          <a:solidFill>
            <a:srgbClr val="044F49"/>
          </a:solidFill>
          <a:ln w="9525">
            <a:solidFill>
              <a:srgbClr val="E2B7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ataberk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473659"/>
            <a:ext cx="1298448" cy="25968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" y="1828800"/>
            <a:ext cx="10881360" cy="1828800"/>
          </a:xfrm>
          <a:prstGeom prst="roundRect">
            <a:avLst>
              <a:gd name="adj" fmla="val 6000"/>
            </a:avLst>
          </a:prstGeom>
          <a:solidFill>
            <a:srgbClr val="F1F6F4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1828800"/>
            <a:ext cx="54864" cy="1828800"/>
          </a:xfrm>
          <a:prstGeom prst="rect">
            <a:avLst/>
          </a:prstGeom>
          <a:solidFill>
            <a:srgbClr val="06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2470048"/>
            <a:ext cx="10469880" cy="5463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50" b="1" i="0" dirty="0">
                <a:solidFill>
                  <a:srgbClr val="044F49"/>
                </a:solidFill>
                <a:latin typeface="Aptos"/>
              </a:rPr>
              <a:t>Das System </a:t>
            </a:r>
            <a:r>
              <a:rPr sz="1250" b="1" i="0" dirty="0" err="1">
                <a:solidFill>
                  <a:srgbClr val="044F49"/>
                </a:solidFill>
                <a:latin typeface="Aptos"/>
              </a:rPr>
              <a:t>bereitet</a:t>
            </a:r>
            <a:r>
              <a:rPr sz="1250" b="1" i="0" dirty="0">
                <a:solidFill>
                  <a:srgbClr val="044F49"/>
                </a:solidFill>
                <a:latin typeface="Aptos"/>
              </a:rPr>
              <a:t> </a:t>
            </a:r>
            <a:r>
              <a:rPr sz="1250" b="1" i="0" dirty="0" err="1">
                <a:solidFill>
                  <a:srgbClr val="044F49"/>
                </a:solidFill>
                <a:latin typeface="Aptos"/>
              </a:rPr>
              <a:t>vor</a:t>
            </a:r>
            <a:r>
              <a:rPr sz="1250" b="1" i="0" dirty="0">
                <a:solidFill>
                  <a:srgbClr val="044F49"/>
                </a:solidFill>
                <a:latin typeface="Aptos"/>
              </a:rPr>
              <a:t> </a:t>
            </a:r>
            <a:r>
              <a:rPr lang="de-DE" sz="1250" b="1" i="0" dirty="0">
                <a:solidFill>
                  <a:srgbClr val="044F49"/>
                </a:solidFill>
                <a:latin typeface="Aptos"/>
              </a:rPr>
              <a:t>-</a:t>
            </a:r>
            <a:r>
              <a:rPr sz="1250" b="1" i="0" dirty="0">
                <a:solidFill>
                  <a:srgbClr val="044F49"/>
                </a:solidFill>
                <a:latin typeface="Aptos"/>
              </a:rPr>
              <a:t> </a:t>
            </a:r>
            <a:r>
              <a:rPr sz="1250" b="1" i="0" dirty="0" err="1">
                <a:solidFill>
                  <a:srgbClr val="044F49"/>
                </a:solidFill>
                <a:latin typeface="Aptos"/>
              </a:rPr>
              <a:t>ein</a:t>
            </a:r>
            <a:r>
              <a:rPr sz="1250" b="1" i="0" dirty="0">
                <a:solidFill>
                  <a:srgbClr val="044F49"/>
                </a:solidFill>
                <a:latin typeface="Aptos"/>
              </a:rPr>
              <a:t> Mensch </a:t>
            </a:r>
            <a:r>
              <a:rPr sz="1250" b="1" i="0" dirty="0" err="1">
                <a:solidFill>
                  <a:srgbClr val="044F49"/>
                </a:solidFill>
                <a:latin typeface="Aptos"/>
              </a:rPr>
              <a:t>entscheidet</a:t>
            </a:r>
            <a:r>
              <a:rPr sz="1250" b="1" i="0" dirty="0">
                <a:solidFill>
                  <a:srgbClr val="044F49"/>
                </a:solidFill>
                <a:latin typeface="Aptos"/>
              </a:rPr>
              <a:t>.  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Sensible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Vorgänge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lang="de-DE" sz="1150" b="0" i="0" dirty="0">
                <a:solidFill>
                  <a:srgbClr val="33413D"/>
                </a:solidFill>
                <a:latin typeface="Aptos"/>
              </a:rPr>
              <a:t>-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Zahlungen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,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Zugangssperren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,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Rückerstattungen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lang="de-DE" sz="1150" b="0" i="0" dirty="0">
                <a:solidFill>
                  <a:srgbClr val="33413D"/>
                </a:solidFill>
                <a:latin typeface="Aptos"/>
              </a:rPr>
              <a:t>-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werden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nie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eigenmächtig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ausgeführt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. Sie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werden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vorbereitet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,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dokumentiert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und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einem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berechtigten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Menschen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zur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Freigabe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vorgelegt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. So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bleibt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jede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finanzielle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und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sicherheitsrelevante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Entscheidung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nachvollziehbar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in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menschlicher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Hand.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114800"/>
            <a:ext cx="2548890" cy="1234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4261104"/>
            <a:ext cx="218313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200" b="1" i="0">
                <a:solidFill>
                  <a:srgbClr val="066B63"/>
                </a:solidFill>
                <a:latin typeface="Aptos"/>
              </a:rPr>
              <a:t>769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864608"/>
            <a:ext cx="218313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0" i="0">
                <a:solidFill>
                  <a:srgbClr val="64716D"/>
                </a:solidFill>
                <a:latin typeface="Aptos"/>
              </a:rPr>
              <a:t>Wohneinheiten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17570" y="4114800"/>
            <a:ext cx="2548890" cy="1234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00450" y="4261104"/>
            <a:ext cx="218313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200" b="1" i="0">
                <a:solidFill>
                  <a:srgbClr val="066B63"/>
                </a:solidFill>
                <a:latin typeface="Apto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0450" y="4864608"/>
            <a:ext cx="218313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0" i="0">
                <a:solidFill>
                  <a:srgbClr val="64716D"/>
                </a:solidFill>
                <a:latin typeface="Aptos"/>
              </a:rPr>
              <a:t>Sprachen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5060" y="4114800"/>
            <a:ext cx="2548890" cy="1234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77940" y="4261104"/>
            <a:ext cx="218313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200" b="1" i="0">
                <a:solidFill>
                  <a:srgbClr val="066B63"/>
                </a:solidFill>
                <a:latin typeface="Aptos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7940" y="4864608"/>
            <a:ext cx="218313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0" i="0">
                <a:solidFill>
                  <a:srgbClr val="64716D"/>
                </a:solidFill>
                <a:latin typeface="Aptos"/>
              </a:rPr>
              <a:t>Rollen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72550" y="4114800"/>
            <a:ext cx="2548890" cy="1234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55430" y="4261104"/>
            <a:ext cx="218313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200" b="1" i="0">
                <a:solidFill>
                  <a:srgbClr val="066B63"/>
                </a:solidFill>
                <a:latin typeface="Aptos"/>
              </a:rPr>
              <a:t>13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55430" y="4864608"/>
            <a:ext cx="218313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0" i="0">
                <a:solidFill>
                  <a:srgbClr val="64716D"/>
                </a:solidFill>
                <a:latin typeface="Aptos"/>
              </a:rPr>
              <a:t>Arbeitsbereiche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55664"/>
            <a:ext cx="86868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750" b="0" i="0" dirty="0">
                <a:solidFill>
                  <a:srgbClr val="64716D"/>
                </a:solidFill>
                <a:latin typeface="Aptos"/>
              </a:rPr>
              <a:t>1Çatı </a:t>
            </a:r>
            <a:r>
              <a:rPr lang="de-DE" sz="750" b="0" i="0" dirty="0">
                <a:solidFill>
                  <a:srgbClr val="64716D"/>
                </a:solidFill>
                <a:latin typeface="Aptos"/>
              </a:rPr>
              <a:t>-</a:t>
            </a:r>
            <a:r>
              <a:rPr sz="750" b="0" i="0" dirty="0">
                <a:solidFill>
                  <a:srgbClr val="64716D"/>
                </a:solidFill>
                <a:latin typeface="Aptos"/>
              </a:rPr>
              <a:t> Property-Management- &amp; Real-Estate-ERP · WAMOCON GmbH für </a:t>
            </a:r>
            <a:r>
              <a:rPr sz="750" b="0" i="0" dirty="0" err="1">
                <a:solidFill>
                  <a:srgbClr val="64716D"/>
                </a:solidFill>
                <a:latin typeface="Aptos"/>
              </a:rPr>
              <a:t>Ataberk</a:t>
            </a:r>
            <a:r>
              <a:rPr sz="750" b="0" i="0" dirty="0">
                <a:solidFill>
                  <a:srgbClr val="64716D"/>
                </a:solidFill>
                <a:latin typeface="Aptos"/>
              </a:rPr>
              <a:t> Estate · </a:t>
            </a:r>
            <a:r>
              <a:rPr sz="750" b="0" i="0" dirty="0" err="1">
                <a:solidFill>
                  <a:srgbClr val="64716D"/>
                </a:solidFill>
                <a:latin typeface="Aptos"/>
              </a:rPr>
              <a:t>Vertraulich</a:t>
            </a:r>
            <a:endParaRPr sz="750" b="0" i="0" dirty="0">
              <a:solidFill>
                <a:srgbClr val="64716D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>
                <a:solidFill>
                  <a:srgbClr val="64716D"/>
                </a:solidFill>
                <a:latin typeface="Aptos"/>
              </a:rPr>
              <a:t>10</a:t>
            </a:r>
          </a:p>
        </p:txBody>
      </p:sp>
      <p:pic>
        <p:nvPicPr>
          <p:cNvPr id="26" name="Picture 25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closing_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9966960" y="365760"/>
            <a:ext cx="1572768" cy="475488"/>
          </a:xfrm>
          <a:prstGeom prst="roundRect">
            <a:avLst>
              <a:gd name="adj" fmla="val 50000"/>
            </a:avLst>
          </a:prstGeom>
          <a:solidFill>
            <a:srgbClr val="044F49"/>
          </a:solidFill>
          <a:ln w="9525">
            <a:solidFill>
              <a:srgbClr val="E2B7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ataberk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473659"/>
            <a:ext cx="1298448" cy="259689"/>
          </a:xfrm>
          <a:prstGeom prst="rect">
            <a:avLst/>
          </a:prstGeom>
        </p:spPr>
      </p:pic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194560"/>
            <a:ext cx="822960" cy="822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3200400"/>
            <a:ext cx="10515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Aptos"/>
              </a:rPr>
              <a:t>Ein Dach für Ihren gesamten Immobilienbetrieb.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343400"/>
            <a:ext cx="98755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0" i="0">
                <a:solidFill>
                  <a:srgbClr val="CDE7E1"/>
                </a:solidFill>
                <a:latin typeface="Aptos"/>
              </a:rPr>
              <a:t>1Çatı liefert heute ein vollständig erlebbares, in Ihrem Markendesign gestaltetes Betriebssystem für New Level Premium. Der Weg zum Livebetrieb ist klar und überschaubar.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0" i="0">
                <a:solidFill>
                  <a:srgbClr val="A9D2CB"/>
                </a:solidFill>
                <a:latin typeface="Aptos"/>
              </a:rPr>
              <a:t>WAMOCON GmbH  ·  für Ataberk Estate  ·  Vertraulich  ·  07. Juli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1230</Words>
  <Application>Microsoft Office PowerPoint</Application>
  <PresentationFormat>Breitbild</PresentationFormat>
  <Paragraphs>183</Paragraphs>
  <Slides>12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Waleri Moretz</cp:lastModifiedBy>
  <cp:revision>2</cp:revision>
  <dcterms:created xsi:type="dcterms:W3CDTF">2013-01-27T09:14:16Z</dcterms:created>
  <dcterms:modified xsi:type="dcterms:W3CDTF">2026-07-07T10:29:37Z</dcterms:modified>
  <cp:category/>
</cp:coreProperties>
</file>