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76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Нажмите, чтобы отредактировать стиль заголовка шаблона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Нажмите, чтобы отредактировать стили основного текста</a:t>
            </a:r>
          </a:p>
          <a:p>
            <a:pPr lvl="1"/>
            <a:r>
              <a:rPr lang="en-US"/>
              <a:t>Второй уровень</a:t>
            </a:r>
          </a:p>
          <a:p>
            <a:pPr lvl="2"/>
            <a:r>
              <a:rPr lang="en-US"/>
              <a:t>Третий уровень</a:t>
            </a:r>
          </a:p>
          <a:p>
            <a:pPr lvl="3"/>
            <a:r>
              <a:rPr lang="en-US"/>
              <a:t>Четвертый уровень</a:t>
            </a:r>
          </a:p>
          <a:p>
            <a:pPr lvl="4"/>
            <a:r>
              <a:rPr lang="en-US"/>
              <a:t>Пятый уровень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over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taberk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0080"/>
            <a:ext cx="658368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72768" y="621792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Aptos"/>
              </a:rPr>
              <a:t>1Çatı</a:t>
            </a:r>
          </a:p>
          <a:p>
            <a:r>
              <a:rPr sz="1050" b="0" i="0">
                <a:solidFill>
                  <a:srgbClr val="CDE7E1"/>
                </a:solidFill>
                <a:latin typeface="Aptos"/>
              </a:rPr>
              <a:t>ERP-система для управления недвижимостью и риэлторской деятельности · реализовано компанией WAMOCON GmbH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043F3A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67128"/>
            <a:ext cx="42062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E2B75D"/>
                </a:solidFill>
                <a:latin typeface="Aptos"/>
              </a:rPr>
              <a:t>ТЕХНИЧЕСКОЕ ЗАДАНИЕ И ОПИСАНИЕ УСЛУГ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87782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Aptos"/>
              </a:rPr>
              <a:t>Единая платформа для управления
всем вашим недвижимым имуществом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0" i="0" dirty="0" err="1">
                <a:solidFill>
                  <a:srgbClr val="CDE7E1"/>
                </a:solidFill>
                <a:latin typeface="Aptos"/>
              </a:rPr>
              <a:t>Централизованная многоязычная платформа 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New Level Premium </a:t>
            </a:r>
            <a:r>
              <a:rPr lang="de-DE" sz="1300" b="0" i="0" dirty="0">
                <a:solidFill>
                  <a:srgbClr val="CDE7E1"/>
                </a:solidFill>
                <a:latin typeface="Aptos"/>
              </a:rPr>
              <a:t>— 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портфель объектов,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собственники 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и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арендаторы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,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финансы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, обслуживание,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бронирование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,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документы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, коммуникация и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отчетность 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в </a:t>
            </a:r>
            <a:r>
              <a:rPr sz="1300" b="0" i="0" dirty="0" err="1">
                <a:solidFill>
                  <a:srgbClr val="CDE7E1"/>
                </a:solidFill>
                <a:latin typeface="Aptos"/>
              </a:rPr>
              <a:t>одной </a:t>
            </a:r>
            <a:r>
              <a:rPr sz="1300" b="0" i="0" dirty="0">
                <a:solidFill>
                  <a:srgbClr val="CDE7E1"/>
                </a:solidFill>
                <a:latin typeface="Aptos"/>
              </a:rPr>
              <a:t>системе.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193792"/>
            <a:ext cx="3383280" cy="475488"/>
          </a:xfrm>
          <a:prstGeom prst="roundRect">
            <a:avLst>
              <a:gd name="adj" fmla="val 8000"/>
            </a:avLst>
          </a:prstGeom>
          <a:solidFill>
            <a:srgbClr val="05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2486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1" i="0">
                <a:solidFill>
                  <a:srgbClr val="9FCFC6"/>
                </a:solidFill>
                <a:latin typeface="Aptos"/>
              </a:rPr>
              <a:t>ЗАКАЗЧИК</a:t>
            </a:r>
          </a:p>
          <a:p>
            <a:r>
              <a:rPr sz="1050" b="1" i="0">
                <a:solidFill>
                  <a:srgbClr val="FFFFFF"/>
                </a:solidFill>
                <a:latin typeface="Aptos"/>
              </a:rPr>
              <a:t>Ataberk Estate, Турция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5193792"/>
            <a:ext cx="3383280" cy="475488"/>
          </a:xfrm>
          <a:prstGeom prst="roundRect">
            <a:avLst>
              <a:gd name="adj" fmla="val 8000"/>
            </a:avLst>
          </a:prstGeom>
          <a:solidFill>
            <a:srgbClr val="05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7408" y="52486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1" i="0">
                <a:solidFill>
                  <a:srgbClr val="9FCFC6"/>
                </a:solidFill>
                <a:latin typeface="Aptos"/>
              </a:rPr>
              <a:t>ОБЪЕКТ</a:t>
            </a:r>
          </a:p>
          <a:p>
            <a:r>
              <a:rPr sz="1050" b="1" i="0">
                <a:solidFill>
                  <a:srgbClr val="FFFFFF"/>
                </a:solidFill>
                <a:latin typeface="Aptos"/>
              </a:rPr>
              <a:t>New Level Premium, Авсаллар/Алания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63256" y="5193792"/>
            <a:ext cx="3383280" cy="475488"/>
          </a:xfrm>
          <a:prstGeom prst="roundRect">
            <a:avLst>
              <a:gd name="adj" fmla="val 8000"/>
            </a:avLst>
          </a:prstGeom>
          <a:solidFill>
            <a:srgbClr val="05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0416" y="52486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1" i="0">
                <a:solidFill>
                  <a:srgbClr val="9FCFC6"/>
                </a:solidFill>
                <a:latin typeface="Aptos"/>
              </a:rPr>
              <a:t>РЕАЛИЗАЦИЯ</a:t>
            </a:r>
          </a:p>
          <a:p>
            <a:r>
              <a:rPr sz="1050" b="1" i="0">
                <a:solidFill>
                  <a:srgbClr val="FFFFFF"/>
                </a:solidFill>
                <a:latin typeface="Aptos"/>
              </a:rPr>
              <a:t>WAMOCON GmbH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3383280" cy="475488"/>
          </a:xfrm>
          <a:prstGeom prst="roundRect">
            <a:avLst>
              <a:gd name="adj" fmla="val 8000"/>
            </a:avLst>
          </a:prstGeom>
          <a:solidFill>
            <a:srgbClr val="05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81558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1" i="0">
                <a:solidFill>
                  <a:srgbClr val="9FCFC6"/>
                </a:solidFill>
                <a:latin typeface="Aptos"/>
              </a:rPr>
              <a:t>ПЛАТФОРМА</a:t>
            </a:r>
          </a:p>
          <a:p>
            <a:r>
              <a:rPr sz="1050" b="1" i="0">
                <a:solidFill>
                  <a:srgbClr val="FFFFFF"/>
                </a:solidFill>
                <a:latin typeface="Aptos"/>
              </a:rPr>
              <a:t>1Çatı ERP · Демонстрационный стенд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5760720"/>
            <a:ext cx="3383280" cy="475488"/>
          </a:xfrm>
          <a:prstGeom prst="roundRect">
            <a:avLst>
              <a:gd name="adj" fmla="val 8000"/>
            </a:avLst>
          </a:prstGeom>
          <a:solidFill>
            <a:srgbClr val="05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07408" y="581558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1" i="0">
                <a:solidFill>
                  <a:srgbClr val="9FCFC6"/>
                </a:solidFill>
                <a:latin typeface="Aptos"/>
              </a:rPr>
              <a:t>ДОКУМЕНТ</a:t>
            </a:r>
          </a:p>
          <a:p>
            <a:r>
              <a:rPr sz="1050" b="1" i="0">
                <a:solidFill>
                  <a:srgbClr val="FFFFFF"/>
                </a:solidFill>
                <a:latin typeface="Aptos"/>
              </a:rPr>
              <a:t>Версия для клиента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63256" y="5760720"/>
            <a:ext cx="3383280" cy="475488"/>
          </a:xfrm>
          <a:prstGeom prst="roundRect">
            <a:avLst>
              <a:gd name="adj" fmla="val 8000"/>
            </a:avLst>
          </a:prstGeom>
          <a:solidFill>
            <a:srgbClr val="054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00416" y="581558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1" i="0">
                <a:solidFill>
                  <a:srgbClr val="9FCFC6"/>
                </a:solidFill>
                <a:latin typeface="Aptos"/>
              </a:rPr>
              <a:t>ДАТА</a:t>
            </a:r>
          </a:p>
          <a:p>
            <a:r>
              <a:rPr sz="1050" b="1" i="0">
                <a:solidFill>
                  <a:srgbClr val="FFFFFF"/>
                </a:solidFill>
                <a:latin typeface="Aptos"/>
              </a:rPr>
              <a:t>7 июля 2026 г.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73952"/>
            <a:ext cx="8229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 dirty="0" err="1">
                <a:solidFill>
                  <a:srgbClr val="A9D2CB"/>
                </a:solidFill>
                <a:latin typeface="Aptos"/>
              </a:rPr>
              <a:t>Конфиденциально </a:t>
            </a:r>
            <a:r>
              <a:rPr lang="de-DE" sz="850" b="0" i="0" dirty="0">
                <a:solidFill>
                  <a:srgbClr val="A9D2CB"/>
                </a:solidFill>
                <a:latin typeface="Aptos"/>
              </a:rPr>
              <a:t>— </a:t>
            </a:r>
            <a:r>
              <a:rPr sz="850" b="0" i="0" dirty="0" err="1">
                <a:solidFill>
                  <a:srgbClr val="A9D2CB"/>
                </a:solidFill>
                <a:latin typeface="Aptos"/>
              </a:rPr>
              <a:t>предназначено исключительно </a:t>
            </a:r>
            <a:r>
              <a:rPr sz="850" b="0" i="0" dirty="0">
                <a:solidFill>
                  <a:srgbClr val="A9D2CB"/>
                </a:solidFill>
                <a:latin typeface="Aptos"/>
              </a:rPr>
              <a:t>для компании </a:t>
            </a:r>
            <a:r>
              <a:rPr sz="850" b="0" i="0" dirty="0" err="1">
                <a:solidFill>
                  <a:srgbClr val="A9D2CB"/>
                </a:solidFill>
                <a:latin typeface="Aptos"/>
              </a:rPr>
              <a:t>Ataberk </a:t>
            </a:r>
            <a:r>
              <a:rPr sz="850" b="0" i="0" dirty="0">
                <a:solidFill>
                  <a:srgbClr val="A9D2CB"/>
                </a:solidFill>
                <a:latin typeface="Aptos"/>
              </a:rPr>
              <a:t>Estate.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ОБЗОР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Содержание презентации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645920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01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Краткое изложение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31136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31136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02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Рыночная конъюнктура и сроки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816352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816352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03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Конкуренция и позиционирование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01568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401568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04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Целевая аудитория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86784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86784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05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Преимущества для Ataberk Estate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72000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709716"/>
            <a:ext cx="493776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 dirty="0">
                <a:solidFill>
                  <a:srgbClr val="B9822B"/>
                </a:solidFill>
                <a:latin typeface="Aptos"/>
              </a:rPr>
              <a:t>06 </a:t>
            </a:r>
            <a:r>
              <a:rPr sz="1250" b="1" i="0" dirty="0" err="1">
                <a:solidFill>
                  <a:srgbClr val="101820"/>
                </a:solidFill>
                <a:latin typeface="Aptos"/>
              </a:rPr>
              <a:t>  Функциональные возможности </a:t>
            </a:r>
            <a:r>
              <a:rPr lang="de-DE" sz="1250" b="1" i="0" dirty="0">
                <a:solidFill>
                  <a:srgbClr val="101820"/>
                </a:solidFill>
                <a:latin typeface="Aptos"/>
              </a:rPr>
              <a:t>— </a:t>
            </a:r>
            <a:r>
              <a:rPr sz="1250" b="1" i="0" dirty="0">
                <a:solidFill>
                  <a:srgbClr val="101820"/>
                </a:solidFill>
                <a:latin typeface="Aptos"/>
              </a:rPr>
              <a:t>что </a:t>
            </a:r>
            <a:r>
              <a:rPr sz="1250" b="1" i="0" dirty="0" err="1">
                <a:solidFill>
                  <a:srgbClr val="101820"/>
                </a:solidFill>
                <a:latin typeface="Aptos"/>
              </a:rPr>
              <a:t>предлагает</a:t>
            </a:r>
            <a:r>
              <a:rPr sz="1250" b="1" i="0" dirty="0">
                <a:solidFill>
                  <a:srgbClr val="101820"/>
                </a:solidFill>
                <a:latin typeface="Aptos"/>
              </a:rPr>
              <a:t> 1Çatı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645920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645920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07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Сопоставление ваших требований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231136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2368852"/>
            <a:ext cx="493776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 dirty="0">
                <a:solidFill>
                  <a:srgbClr val="B9822B"/>
                </a:solidFill>
                <a:latin typeface="Aptos"/>
              </a:rPr>
              <a:t>08 </a:t>
            </a:r>
            <a:r>
              <a:rPr sz="1250" b="1" i="0" dirty="0">
                <a:solidFill>
                  <a:srgbClr val="101820"/>
                </a:solidFill>
                <a:latin typeface="Aptos"/>
              </a:rPr>
              <a:t>  Демонстрация </a:t>
            </a:r>
            <a:r>
              <a:rPr lang="de-DE" sz="1250" b="1" i="0" dirty="0">
                <a:solidFill>
                  <a:srgbClr val="101820"/>
                </a:solidFill>
                <a:latin typeface="Aptos"/>
              </a:rPr>
              <a:t>— </a:t>
            </a:r>
            <a:r>
              <a:rPr sz="1250" b="1" i="0" dirty="0">
                <a:solidFill>
                  <a:srgbClr val="101820"/>
                </a:solidFill>
                <a:latin typeface="Aptos"/>
              </a:rPr>
              <a:t>цель и </a:t>
            </a:r>
            <a:r>
              <a:rPr sz="1250" b="1" i="0" dirty="0" err="1">
                <a:solidFill>
                  <a:srgbClr val="101820"/>
                </a:solidFill>
                <a:latin typeface="Aptos"/>
              </a:rPr>
              <a:t>объем</a:t>
            </a:r>
            <a:endParaRPr sz="1250" b="1" i="0" dirty="0">
              <a:solidFill>
                <a:srgbClr val="101820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217920" y="2816352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2816352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09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Следующие шаги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401568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3401568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10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План внедрения и график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986784"/>
            <a:ext cx="53035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986784"/>
            <a:ext cx="49377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>
                <a:solidFill>
                  <a:srgbClr val="B9822B"/>
                </a:solidFill>
                <a:latin typeface="Aptos"/>
              </a:rPr>
              <a:t>11 </a:t>
            </a:r>
            <a:r>
              <a:rPr sz="1250" b="1" i="0">
                <a:solidFill>
                  <a:srgbClr val="101820"/>
                </a:solidFill>
                <a:latin typeface="Aptos"/>
              </a:rPr>
              <a:t>  Возможности и предпосылки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5644634"/>
            <a:ext cx="10469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>
                <a:solidFill>
                  <a:srgbClr val="044F49"/>
                </a:solidFill>
                <a:latin typeface="Aptos"/>
              </a:rPr>
              <a:t>Как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читать эту презентацию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.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1Çatı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представлено в виде полностью работоспособной демонстрационной среды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Каждая функция помечена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статусом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таким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образом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 ясно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что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доступно уже сегодня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а что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будет включено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для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продуктивной эксплуатации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ОБЪЕКТ-ЭТАЛОН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 dirty="0">
                <a:solidFill>
                  <a:srgbClr val="044F49"/>
                </a:solidFill>
                <a:latin typeface="Aptos"/>
              </a:rPr>
              <a:t>New Level Premium </a:t>
            </a:r>
            <a:r>
              <a:rPr lang="de-DE" sz="27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Авсаллар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/ Алания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481328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50" i="0" dirty="0" err="1">
                <a:solidFill>
                  <a:srgbClr val="33413D"/>
                </a:solidFill>
                <a:latin typeface="Aptos"/>
              </a:rPr>
              <a:t>Проект нового строительства, включающий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769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жилых единиц,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расположенный на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лесистом склоне с видом на море </a:t>
            </a:r>
            <a:r>
              <a:rPr lang="de-DE" sz="115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это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эталонный объект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, для которого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была разработана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система 1Çatı.</a:t>
            </a:r>
          </a:p>
        </p:txBody>
      </p:sp>
      <p:pic>
        <p:nvPicPr>
          <p:cNvPr id="10" name="Picture 9" descr="ob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57400"/>
            <a:ext cx="5321808" cy="2990088"/>
          </a:xfrm>
          <a:prstGeom prst="rect">
            <a:avLst/>
          </a:prstGeom>
          <a:ln w="12700">
            <a:solidFill>
              <a:srgbClr val="DAE3E0"/>
            </a:solidFill>
          </a:ln>
        </p:spPr>
      </p:pic>
      <p:pic>
        <p:nvPicPr>
          <p:cNvPr id="11" name="Picture 10" descr="sei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057400"/>
            <a:ext cx="5321808" cy="2990088"/>
          </a:xfrm>
          <a:prstGeom prst="rect">
            <a:avLst/>
          </a:prstGeom>
          <a:ln w="12700">
            <a:solidFill>
              <a:srgbClr val="DAE3E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0080" y="5120640"/>
            <a:ext cx="5321808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50" b="0" i="1" dirty="0">
                <a:solidFill>
                  <a:srgbClr val="64716D"/>
                </a:solidFill>
                <a:latin typeface="Aptos"/>
              </a:rPr>
              <a:t>Комплекс </a:t>
            </a:r>
            <a:r>
              <a:rPr sz="950" b="0" i="1" dirty="0" err="1">
                <a:solidFill>
                  <a:srgbClr val="64716D"/>
                </a:solidFill>
                <a:latin typeface="Aptos"/>
              </a:rPr>
              <a:t>с </a:t>
            </a:r>
            <a:r>
              <a:rPr sz="950" b="0" i="1" dirty="0">
                <a:solidFill>
                  <a:srgbClr val="64716D"/>
                </a:solidFill>
                <a:latin typeface="Aptos"/>
              </a:rPr>
              <a:t>высоты </a:t>
            </a:r>
            <a:r>
              <a:rPr sz="950" b="0" i="1" dirty="0" err="1">
                <a:solidFill>
                  <a:srgbClr val="64716D"/>
                </a:solidFill>
                <a:latin typeface="Aptos"/>
              </a:rPr>
              <a:t>птичьего полёта </a:t>
            </a:r>
            <a:r>
              <a:rPr lang="de-DE" sz="950" b="0" i="1" dirty="0">
                <a:solidFill>
                  <a:srgbClr val="64716D"/>
                </a:solidFill>
                <a:latin typeface="Aptos"/>
              </a:rPr>
              <a:t>— </a:t>
            </a:r>
            <a:r>
              <a:rPr sz="950" b="0" i="1" dirty="0" err="1">
                <a:solidFill>
                  <a:srgbClr val="64716D"/>
                </a:solidFill>
                <a:latin typeface="Aptos"/>
              </a:rPr>
              <a:t>планировка блоков</a:t>
            </a:r>
            <a:r>
              <a:rPr sz="950" b="0" i="1" dirty="0">
                <a:solidFill>
                  <a:srgbClr val="64716D"/>
                </a:solidFill>
                <a:latin typeface="Aptos"/>
              </a:rPr>
              <a:t>, бассейны и </a:t>
            </a:r>
            <a:r>
              <a:rPr sz="950" b="0" i="1" dirty="0" err="1">
                <a:solidFill>
                  <a:srgbClr val="64716D"/>
                </a:solidFill>
                <a:latin typeface="Aptos"/>
              </a:rPr>
              <a:t>спортивные сооружения</a:t>
            </a:r>
            <a:r>
              <a:rPr sz="950" b="0" i="1" dirty="0">
                <a:solidFill>
                  <a:srgbClr val="64716D"/>
                </a:solidFill>
                <a:latin typeface="Apto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5120640"/>
            <a:ext cx="5321808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50" b="0" i="1" dirty="0" err="1">
                <a:solidFill>
                  <a:srgbClr val="64716D"/>
                </a:solidFill>
                <a:latin typeface="Aptos"/>
              </a:rPr>
              <a:t>Вид сбоку с видом на море </a:t>
            </a:r>
            <a:r>
              <a:rPr lang="de-DE" sz="950" b="0" i="1" dirty="0">
                <a:solidFill>
                  <a:srgbClr val="64716D"/>
                </a:solidFill>
                <a:latin typeface="Aptos"/>
              </a:rPr>
              <a:t>— </a:t>
            </a:r>
            <a:r>
              <a:rPr sz="950" b="0" i="1" dirty="0">
                <a:solidFill>
                  <a:srgbClr val="64716D"/>
                </a:solidFill>
                <a:latin typeface="Aptos"/>
              </a:rPr>
              <a:t>жи</a:t>
            </a:r>
            <a:r>
              <a:rPr sz="950" b="0" i="1" dirty="0" err="1">
                <a:solidFill>
                  <a:srgbClr val="64716D"/>
                </a:solidFill>
                <a:latin typeface="Aptos"/>
              </a:rPr>
              <a:t>лые башни </a:t>
            </a:r>
            <a:r>
              <a:rPr sz="950" b="0" i="1" dirty="0">
                <a:solidFill>
                  <a:srgbClr val="64716D"/>
                </a:solidFill>
                <a:latin typeface="Aptos"/>
              </a:rPr>
              <a:t>среди </a:t>
            </a:r>
            <a:r>
              <a:rPr sz="950" b="0" i="1" dirty="0" err="1">
                <a:solidFill>
                  <a:srgbClr val="64716D"/>
                </a:solidFill>
                <a:latin typeface="Aptos"/>
              </a:rPr>
              <a:t>соснового</a:t>
            </a:r>
            <a:r>
              <a:rPr sz="950" b="0" i="1" dirty="0">
                <a:solidFill>
                  <a:srgbClr val="64716D"/>
                </a:solidFill>
                <a:latin typeface="Aptos"/>
              </a:rPr>
              <a:t> леса.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715000"/>
            <a:ext cx="10881360" cy="50292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4864" cy="50292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6112" y="5843016"/>
            <a:ext cx="104698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>
                <a:solidFill>
                  <a:srgbClr val="044F49"/>
                </a:solidFill>
                <a:latin typeface="Aptos"/>
              </a:rPr>
              <a:t>769 жилых единиц. </a:t>
            </a:r>
            <a:r>
              <a:rPr sz="1150" b="0" i="0">
                <a:solidFill>
                  <a:srgbClr val="33413D"/>
                </a:solidFill>
                <a:latin typeface="Aptos"/>
              </a:rPr>
              <a:t> Для этого портфеля 1Çatı объединяет на одной платформе продажи, работу с собственниками и арендаторами, финансы, обслуживание и коммуникацию.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риэлторского бизнеса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Краткое 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600200"/>
            <a:ext cx="10881360" cy="5309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50" i="0" dirty="0">
                <a:solidFill>
                  <a:srgbClr val="33413D"/>
                </a:solidFill>
                <a:latin typeface="Aptos"/>
              </a:rPr>
              <a:t>1Çatı («Одна крыша»)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объединяет всю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деятельность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компании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Ataberk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Estate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в сфере недвижимости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в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одном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месте </a:t>
            </a:r>
            <a:r>
              <a:rPr lang="de-DE" sz="115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проект разработан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для комплекса New Level Premium в Авсалларе (Алания)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, насчитывающего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769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жилых единиц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Прежняя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система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координации с использованием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таблиц Excel, WhatsApp и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очных согласований заменяется </a:t>
            </a:r>
            <a:r>
              <a:rPr sz="1150" b="1" i="0" dirty="0" err="1">
                <a:solidFill>
                  <a:srgbClr val="33413D"/>
                </a:solidFill>
                <a:latin typeface="Aptos"/>
              </a:rPr>
              <a:t>ролевой операционной системой на четырёх языках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(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турецкий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, английский, немецкий,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русский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) для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владельцев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арендаторов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, персонала,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бухгалтерии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руководства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6324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209544"/>
            <a:ext cx="218313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066B63"/>
                </a:solidFill>
                <a:latin typeface="Aptos"/>
              </a:rPr>
              <a:t>769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1304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жилых единиц в эталонном объекте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7570" y="306324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00450" y="3209544"/>
            <a:ext cx="218313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066B63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450" y="381304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языка (TR · EN · DE · RU)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306324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7940" y="3209544"/>
            <a:ext cx="218313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066B63"/>
                </a:solidFill>
                <a:latin typeface="Aptos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7940" y="381304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Роли с тонко дифференцированными правами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306324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55430" y="3209544"/>
            <a:ext cx="218313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066B63"/>
                </a:solidFill>
                <a:latin typeface="Aptos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81304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Рабочих областей на портале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1772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54864" cy="160020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5144668"/>
            <a:ext cx="10469880" cy="5463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>
                <a:solidFill>
                  <a:srgbClr val="044F49"/>
                </a:solidFill>
                <a:latin typeface="Aptos"/>
              </a:rPr>
              <a:t>Основная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идея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 1Çatı.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Важные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операции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платежи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блокировка доступа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возмещения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никогда не выполняются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системой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самостоятельно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Они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подготавливаются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документируются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передаются уполномоченному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лицу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для утверждения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Таким образом,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каждое решение, касающееся финансов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безопасности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остается прозрачным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находится в руках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человека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это ключевая черта,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вызывающая доверие к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платформе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3</a:t>
            </a:r>
          </a:p>
        </p:txBody>
      </p:sp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01 · РЕЗЮМЕ ДЛЯ РУКОВОДСТВА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 dirty="0">
                <a:solidFill>
                  <a:srgbClr val="044F49"/>
                </a:solidFill>
                <a:latin typeface="Aptos"/>
              </a:rPr>
              <a:t>Что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имеется на сегодняшний день </a:t>
            </a:r>
            <a:r>
              <a:rPr lang="de-DE" sz="27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и что это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означает</a:t>
            </a:r>
            <a:endParaRPr sz="2700" b="1" i="0" dirty="0">
              <a:solidFill>
                <a:srgbClr val="044F49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4745736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i="0">
                <a:solidFill>
                  <a:srgbClr val="044F49"/>
                </a:solidFill>
                <a:latin typeface="Aptos"/>
              </a:rPr>
              <a:t>Что имеется на сегодняшний день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33413D"/>
                </a:solidFill>
                <a:latin typeface="Aptos"/>
              </a:rPr>
              <a:t>Платформа завершена в виде демонстрационной среды, готовой к полноценному использованию, и охватывает всю основу эксплуатации: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Доступ и роли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Управление портфелем и квартирами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Финансы и взносы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Услуги и задачи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Бронирование, документы, коммуникация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Отчеты и интерактивная панель управления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33413D"/>
                </a:solidFill>
                <a:latin typeface="Aptos"/>
              </a:rPr>
              <a:t>•  Общедоступный премиум-раздел нового уровня (регистрация, канал обратной связи, QR-плакаты, ИИ-консьерж)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91640"/>
            <a:ext cx="5257800" cy="4297680"/>
          </a:xfrm>
          <a:prstGeom prst="roundRect">
            <a:avLst>
              <a:gd name="adj" fmla="val 5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92808"/>
            <a:ext cx="4745736" cy="1633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 i="0" dirty="0">
                <a:solidFill>
                  <a:srgbClr val="044F49"/>
                </a:solidFill>
                <a:latin typeface="Aptos"/>
              </a:rPr>
              <a:t>Что это </a:t>
            </a:r>
            <a:r>
              <a:rPr sz="1400" b="1" i="0" dirty="0" err="1">
                <a:solidFill>
                  <a:srgbClr val="044F49"/>
                </a:solidFill>
                <a:latin typeface="Aptos"/>
              </a:rPr>
              <a:t>значит </a:t>
            </a:r>
            <a:r>
              <a:rPr sz="1400" b="1" i="0" dirty="0">
                <a:solidFill>
                  <a:srgbClr val="044F49"/>
                </a:solidFill>
                <a:latin typeface="Aptos"/>
              </a:rPr>
              <a:t>для </a:t>
            </a:r>
            <a:r>
              <a:rPr sz="1400" b="1" i="0" dirty="0" err="1">
                <a:solidFill>
                  <a:srgbClr val="044F49"/>
                </a:solidFill>
                <a:latin typeface="Aptos"/>
              </a:rPr>
              <a:t>Ataberk </a:t>
            </a:r>
            <a:r>
              <a:rPr sz="1400" b="1" i="0" dirty="0">
                <a:solidFill>
                  <a:srgbClr val="044F49"/>
                </a:solidFill>
                <a:latin typeface="Aptos"/>
              </a:rPr>
              <a:t>Estate</a:t>
            </a:r>
          </a:p>
          <a:p>
            <a:pPr>
              <a:spcBef>
                <a:spcPts val="600"/>
              </a:spcBef>
            </a:pPr>
            <a:r>
              <a:rPr sz="1150" b="0" i="0" dirty="0">
                <a:solidFill>
                  <a:srgbClr val="33413D"/>
                </a:solidFill>
                <a:latin typeface="Aptos"/>
              </a:rPr>
              <a:t>Вы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можете уже сегодня ознакомиться со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всем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набором функций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протестировать их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оценить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любых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ролях 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на всех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четырёх языках.</a:t>
            </a:r>
          </a:p>
          <a:p>
            <a:pPr>
              <a:spcBef>
                <a:spcPts val="800"/>
              </a:spcBef>
            </a:pPr>
            <a:r>
              <a:rPr sz="1150" b="0" i="0" dirty="0">
                <a:solidFill>
                  <a:srgbClr val="33413D"/>
                </a:solidFill>
                <a:latin typeface="Aptos"/>
              </a:rPr>
              <a:t>Переход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к полноценной эксплуатации в режиме реального времени требует получения ряда четко определенных разрешений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реальных данных клиентов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подключения к платежным системам и банкам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юридических подтверждений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проведения приемочных испытаний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Все эти требования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прозрачно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изложены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главах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9 и 11 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находятся в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вашей компетенции или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компетенции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соответствующих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специализированных партнеров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4</a:t>
            </a:r>
          </a:p>
        </p:txBody>
      </p:sp>
      <p:pic>
        <p:nvPicPr>
          <p:cNvPr id="15" name="Picture 14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Рыночная конъюнктура и выбор момента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554480"/>
            <a:ext cx="10881360" cy="111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i="0" dirty="0">
                <a:solidFill>
                  <a:srgbClr val="33413D"/>
                </a:solidFill>
                <a:latin typeface="Aptos"/>
              </a:rPr>
              <a:t>Две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противоположные рыночные тенденции объясняют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почему дальнейшее развитие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 1Çatı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именно сейчас является стратегически целесообразным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300" b="1" i="0" dirty="0">
                <a:solidFill>
                  <a:srgbClr val="066B63"/>
                </a:solidFill>
                <a:latin typeface="Aptos"/>
              </a:rPr>
              <a:t>Рынок </a:t>
            </a:r>
            <a:r>
              <a:rPr sz="1300" b="1" i="0" dirty="0" err="1">
                <a:solidFill>
                  <a:srgbClr val="066B63"/>
                </a:solidFill>
                <a:latin typeface="Aptos"/>
              </a:rPr>
              <a:t>зарубежной недвижимости сокращается </a:t>
            </a:r>
            <a:r>
              <a:rPr lang="de-DE" sz="1300" b="1" i="0" dirty="0">
                <a:solidFill>
                  <a:srgbClr val="066B63"/>
                </a:solidFill>
                <a:latin typeface="Aptos"/>
              </a:rPr>
              <a:t>— </a:t>
            </a:r>
            <a:r>
              <a:rPr sz="1300" b="1" i="0" dirty="0" err="1">
                <a:solidFill>
                  <a:srgbClr val="066B63"/>
                </a:solidFill>
                <a:latin typeface="Aptos"/>
              </a:rPr>
              <a:t>но </a:t>
            </a:r>
            <a:r>
              <a:rPr sz="1300" b="1" i="0" dirty="0">
                <a:solidFill>
                  <a:srgbClr val="066B63"/>
                </a:solidFill>
                <a:latin typeface="Aptos"/>
              </a:rPr>
              <a:t>Алания </a:t>
            </a:r>
            <a:r>
              <a:rPr sz="1300" b="1" i="0" dirty="0" err="1">
                <a:solidFill>
                  <a:srgbClr val="066B63"/>
                </a:solidFill>
                <a:latin typeface="Aptos"/>
              </a:rPr>
              <a:t>сохраняет лидерство</a:t>
            </a:r>
            <a:endParaRPr sz="1300" b="1" i="0" dirty="0">
              <a:solidFill>
                <a:srgbClr val="066B63"/>
              </a:solidFill>
              <a:latin typeface="Aptos"/>
            </a:endParaRPr>
          </a:p>
          <a:p>
            <a:pPr>
              <a:spcAft>
                <a:spcPts val="600"/>
              </a:spcAft>
            </a:pPr>
            <a:r>
              <a:rPr sz="1100" i="0" dirty="0">
                <a:solidFill>
                  <a:srgbClr val="33413D"/>
                </a:solidFill>
                <a:latin typeface="Aptos"/>
              </a:rPr>
              <a:t>В 2025 году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по всей стране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иностранцам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было продано всего около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 21 500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квартир </a:t>
            </a:r>
            <a:r>
              <a:rPr lang="de-DE" sz="110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это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самый низкий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показатель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за последние девять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лет. Что касается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российских покупателей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, то в Алании их число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сократилось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с 6 640 (2022 г.) до 1 662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единиц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(2025 г.).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В то же время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Алания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уже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четвертый год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подряд остается самым популярным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среди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российских покупателей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районом во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всей Турции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. На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сокращающемся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рынке операционное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совершенство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цифровое доверие играют более важную роль в удержании клиентов, чем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на </a:t>
            </a:r>
            <a:r>
              <a:rPr sz="1100" i="0" dirty="0" err="1">
                <a:solidFill>
                  <a:srgbClr val="33413D"/>
                </a:solidFill>
                <a:latin typeface="Aptos"/>
              </a:rPr>
              <a:t>растущем </a:t>
            </a:r>
            <a:r>
              <a:rPr sz="1100" i="0" dirty="0">
                <a:solidFill>
                  <a:srgbClr val="33413D"/>
                </a:solidFill>
                <a:latin typeface="Aptos"/>
              </a:rPr>
              <a:t>рынке.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941064"/>
            <a:ext cx="218313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 dirty="0">
                <a:solidFill>
                  <a:srgbClr val="066B63"/>
                </a:solidFill>
                <a:latin typeface="Aptos"/>
              </a:rPr>
              <a:t>-9,4 </a:t>
            </a:r>
            <a:r>
              <a:rPr sz="3200" b="1" i="0" dirty="0">
                <a:solidFill>
                  <a:srgbClr val="B9822B"/>
                </a:solidFill>
                <a:latin typeface="Aptos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4456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Продажи иностранцам в Турции в 2025 году по сравнению с предыдущим годом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7570" y="379476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00450" y="3941064"/>
            <a:ext cx="218313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066B63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450" y="454456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года подряд: Алания № 1 (российские покупатели)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379476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7940" y="3941064"/>
            <a:ext cx="218313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 dirty="0">
                <a:solidFill>
                  <a:srgbClr val="066B63"/>
                </a:solidFill>
                <a:latin typeface="Aptos"/>
              </a:rPr>
              <a:t>88,6 </a:t>
            </a:r>
            <a:r>
              <a:rPr sz="3200" b="1" i="0" dirty="0">
                <a:solidFill>
                  <a:srgbClr val="B9822B"/>
                </a:solidFill>
                <a:latin typeface="Aptos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7940" y="454456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Использование WhatsApp в Турции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2550" y="3794760"/>
            <a:ext cx="254889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55430" y="3941064"/>
            <a:ext cx="218313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 dirty="0">
                <a:solidFill>
                  <a:srgbClr val="066B63"/>
                </a:solidFill>
                <a:latin typeface="Aptos"/>
              </a:rPr>
              <a:t>34 </a:t>
            </a:r>
            <a:r>
              <a:rPr sz="3200" b="1" i="0" dirty="0">
                <a:solidFill>
                  <a:srgbClr val="B9822B"/>
                </a:solidFill>
                <a:latin typeface="Aptos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4544568"/>
            <a:ext cx="218313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64716D"/>
                </a:solidFill>
                <a:latin typeface="Aptos"/>
              </a:rPr>
              <a:t>Использование ИИ среди управляющих недвижимостью (из 21 %)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5477256"/>
            <a:ext cx="10469880" cy="6126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>
                <a:solidFill>
                  <a:srgbClr val="044F49"/>
                </a:solidFill>
                <a:latin typeface="Aptos"/>
              </a:rPr>
              <a:t>Стратегическое следствие. </a:t>
            </a:r>
            <a:r>
              <a:rPr sz="1150" b="0" i="0">
                <a:solidFill>
                  <a:srgbClr val="33413D"/>
                </a:solidFill>
                <a:latin typeface="Aptos"/>
              </a:rPr>
              <a:t> Тот, кто удерживает существующих собственников и арендаторов за счет заметно более качественного управления, прозрачности и возможностей самообслуживания, относительно укрепляет свои позиции на рынке, где конкуренция становится всё более жесткой.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5</a:t>
            </a:r>
          </a:p>
        </p:txBody>
      </p:sp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02 · РЫНОЧНАЯ СРЕДА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ИИ как стандарт конкурентоспособности и цифровая доступность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691640"/>
            <a:ext cx="53263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4"/>
            <a:ext cx="4869180" cy="897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ИИ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становится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стандартом</a:t>
            </a:r>
          </a:p>
          <a:p>
            <a:pPr>
              <a:spcBef>
                <a:spcPts val="400"/>
              </a:spcBef>
            </a:pPr>
            <a:r>
              <a:rPr sz="1050" b="0" i="0" dirty="0" err="1">
                <a:solidFill>
                  <a:srgbClr val="64716D"/>
                </a:solidFill>
                <a:latin typeface="Aptos"/>
              </a:rPr>
              <a:t>Активное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использование ИИ среди управляющих недвижимостью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за год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выросло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с 21 % до 34 %.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Ведущие международные поставщики дооснастили свои системы ИИ-помощниками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при этом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повсеместно руководствуясь принципом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,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что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ответственные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решения требуют проверки со стороны человека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.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Именно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этот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принцип заложен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 в основу 1Çatı.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691640"/>
            <a:ext cx="53263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3660" y="1837944"/>
            <a:ext cx="48691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Цифровая доступность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Международные владельцы и арендаторы отлично доступны в цифровом пространстве: 88,6 % используют WhatsApp, более 90 % — Интернет в Турции. Это способствует внедрению многоязычного веб-приложения, которое можно установить и запустить на любом устройстве без необходимости загрузки из магазина приложений.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66928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669280"/>
            <a:ext cx="54864" cy="54864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" y="5797296"/>
            <a:ext cx="104698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>
                <a:solidFill>
                  <a:srgbClr val="044F49"/>
                </a:solidFill>
                <a:latin typeface="Aptos"/>
              </a:rPr>
              <a:t>Вывод. </a:t>
            </a:r>
            <a:r>
              <a:rPr sz="1150" b="0" i="0">
                <a:solidFill>
                  <a:srgbClr val="33413D"/>
                </a:solidFill>
                <a:latin typeface="Aptos"/>
              </a:rPr>
              <a:t> Сокращающийся рынок + растущее признание ИИ = идеальный момент для укрепления доверия и достижения операционного совершенства с помощью ИИ.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риэлторского бизнеса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6</a:t>
            </a:r>
          </a:p>
        </p:txBody>
      </p:sp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Конкуренция и позиционирование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508760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50" i="0" dirty="0">
                <a:solidFill>
                  <a:srgbClr val="33413D"/>
                </a:solidFill>
                <a:latin typeface="Aptos"/>
              </a:rPr>
              <a:t>На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турецком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рынке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представлены уже устоявшиеся решения</a:t>
            </a:r>
            <a:r>
              <a:rPr lang="de-DE" sz="115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однако ни одно из них не сочетает в себе 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четыре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сильные стороны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, которыми </a:t>
            </a:r>
            <a:r>
              <a:rPr sz="1150" i="0" dirty="0" err="1">
                <a:solidFill>
                  <a:srgbClr val="33413D"/>
                </a:solidFill>
                <a:latin typeface="Aptos"/>
              </a:rPr>
              <a:t>отличается</a:t>
            </a:r>
            <a:r>
              <a:rPr sz="1150" i="0" dirty="0">
                <a:solidFill>
                  <a:srgbClr val="33413D"/>
                </a:solidFill>
                <a:latin typeface="Aptos"/>
              </a:rPr>
              <a:t> 1Çatı.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057400"/>
          <a:ext cx="10881359" cy="1911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3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25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49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Поставщики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Профиль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Возможности для 1Çatı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Apsiyon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Самый сильный местный авторитет, широкий набор функций, два ИИ-помощника в WhatsApp с 2024 года.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Отсутствие финансовой глубины, подтверждённой бухгалтерской отчётностью; 1Çatı вводит строгий контроль со стороны человека над всеми чувствительными действиями ИИ.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Senyonet / Yönetimcell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Надежные модули управления, ориентация на объекты и простота.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Отсутствуют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задокументированные функции ИИ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есть потенциал для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более глубокой структуры прав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прослеживаемости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Aidatım / Siteplus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Гибрид «программное обеспечение плюс услуги» и поставщик услуг по управлению объектами.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Отсутствует единый портал самообслуживания в духе 1Çatı.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Новые решения с встроенным ИИ (Çardak, Odyosi)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Молодые турецкие конкуренты, ориентированные на ИИ в сфере предварительного бухгалтерского учета и анализа рисков.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Сигнал раннего предупреждения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подтверждает спрос именно на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те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функции,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которые предусмотрены в дорожной карте 1Çatı.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7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356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03 · КОНКУРЕНЦИЯ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Ниша на рынке, которую занимает 1Çatı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737360"/>
            <a:ext cx="53263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48691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(a)  Надежное финансовое управление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Бухгалтерский учет счетов и взносов, обеспечивающий финансовую устойчивость, с неизменными проводками.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53263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3660" y="1883664"/>
            <a:ext cx="48691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(b)  Структурированная служба поддержки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Система тикетов с четкими сроками обработки (SLA) и механизмом эскалации.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53263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575304"/>
            <a:ext cx="48691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(c)  Общедоступный канал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Канал регистрации и подачи заявок без необходимости создания учетной записи для конкретного проекта нового строительства.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3429000"/>
            <a:ext cx="53263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3660" y="3575304"/>
            <a:ext cx="48691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(d)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 Контролируемый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ИИ</a:t>
            </a:r>
          </a:p>
          <a:p>
            <a:pPr>
              <a:spcBef>
                <a:spcPts val="400"/>
              </a:spcBef>
            </a:pPr>
            <a:r>
              <a:rPr sz="1050" b="0" i="0" dirty="0">
                <a:solidFill>
                  <a:srgbClr val="64716D"/>
                </a:solidFill>
                <a:latin typeface="Aptos"/>
              </a:rPr>
              <a:t>ИИ, который,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как правило, только рекомендует выполнение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чувствительных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действий, а не выполняет их самостоятельно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54864" cy="114300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5461754"/>
            <a:ext cx="10469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 err="1">
                <a:solidFill>
                  <a:srgbClr val="044F49"/>
                </a:solidFill>
                <a:latin typeface="Aptos"/>
              </a:rPr>
              <a:t>Позиционирование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.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Ни один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из исследованных турецких или международных поставщиков не объединяет эти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четыре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элемента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одном продукте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Apsiyon наиболее близок к этому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но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не охватывает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ни финансовую глубину, ни канал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публичной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регистрации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Именно эта комбинация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а не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какая-то отдельная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функция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является позиционированием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1Çatı.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8</a:t>
            </a:r>
          </a:p>
        </p:txBody>
      </p:sp>
      <p:pic>
        <p:nvPicPr>
          <p:cNvPr id="22" name="Picture 2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Целевая аудитория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645920"/>
            <a:ext cx="53263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92224"/>
            <a:ext cx="486918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🌍  Международные владельцы и покупатели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Прежде всего из Германии, России, Украины и Ирана, которые владеют квартирой или приобретают её, но не проживают на месте постоянно и нуждаются в цифровом, многоязычном доступе к информации о платежах, услугах и документах.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645920"/>
            <a:ext cx="53263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3660" y="1792224"/>
            <a:ext cx="4869180" cy="5745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🔑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 Арендаторы</a:t>
            </a:r>
            <a:endParaRPr sz="1300" b="1" i="0" dirty="0">
              <a:solidFill>
                <a:srgbClr val="044F49"/>
              </a:solidFill>
              <a:latin typeface="Aptos"/>
            </a:endParaRPr>
          </a:p>
          <a:p>
            <a:pPr>
              <a:spcBef>
                <a:spcPts val="400"/>
              </a:spcBef>
            </a:pPr>
            <a:r>
              <a:rPr sz="1050" b="0" i="0" dirty="0" err="1">
                <a:solidFill>
                  <a:srgbClr val="64716D"/>
                </a:solidFill>
                <a:latin typeface="Aptos"/>
              </a:rPr>
              <a:t>Получают через спонсируемую собственником модель доступа по времени ограниченный по сроку доступ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к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своей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квартире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с четко очерченными правами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66160"/>
            <a:ext cx="53263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712464"/>
            <a:ext cx="4869180" cy="7360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🏢  Внутренняя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эксплуатационная команда</a:t>
            </a:r>
            <a:endParaRPr sz="1300" b="1" i="0" dirty="0">
              <a:solidFill>
                <a:srgbClr val="044F49"/>
              </a:solidFill>
              <a:latin typeface="Aptos"/>
            </a:endParaRPr>
          </a:p>
          <a:p>
            <a:pPr>
              <a:spcBef>
                <a:spcPts val="400"/>
              </a:spcBef>
            </a:pPr>
            <a:r>
              <a:rPr sz="1050" b="0" i="0" dirty="0">
                <a:solidFill>
                  <a:srgbClr val="64716D"/>
                </a:solidFill>
                <a:latin typeface="Aptos"/>
              </a:rPr>
              <a:t>Шесть ролей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в Ataberk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Estate: администрация,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менеджеры объектов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,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бухгалтерия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, выездная служба/технический персонал, служба безопасности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, а также служба поддержки/внедрения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каждая из которых обладает именно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теми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правами, которые ей необходимы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3566160"/>
            <a:ext cx="53263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3660" y="3712464"/>
            <a:ext cx="486918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🤝  Поставщики услуг и заинтересованные лица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Поставщики услуг подключаются через службу поддержки; потенциальные покупатели и гости используют общедоступную зону без учетной записи (регистрации, авторизации).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5568696"/>
            <a:ext cx="1046988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>
                <a:solidFill>
                  <a:srgbClr val="044F49"/>
                </a:solidFill>
                <a:latin typeface="Aptos"/>
              </a:rPr>
              <a:t>Сознательно не охвачены: </a:t>
            </a:r>
            <a:r>
              <a:rPr sz="1150" b="0" i="0">
                <a:solidFill>
                  <a:srgbClr val="33413D"/>
                </a:solidFill>
                <a:latin typeface="Aptos"/>
              </a:rPr>
              <a:t> анонимный массовый рынок недвижимости за пределами конкретных объектов-эталонов, а также любой полностью автоматизированный процесс оплаты или доступа без утверждения со стороны человека.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риэлторского бизнеса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9</a:t>
            </a:r>
          </a:p>
        </p:txBody>
      </p:sp>
      <p:pic>
        <p:nvPicPr>
          <p:cNvPr id="22" name="Picture 2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Преимущества для поместья Атаберк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64592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92224"/>
            <a:ext cx="48691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Единый источник достоверной информации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Единая база данных с ролевым доступом, вмещающая до 769 объектов, заменяет разрозненные списки в Excel и переписки в WhatsApp. Отделы продаж, портфеля, финансов и обслуживания работают с одним и тем же набором данных.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64592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3660" y="1792224"/>
            <a:ext cx="4869180" cy="5745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 err="1">
                <a:solidFill>
                  <a:srgbClr val="044F49"/>
                </a:solidFill>
                <a:latin typeface="Aptos"/>
              </a:rPr>
              <a:t>Прослеживаемость</a:t>
            </a:r>
            <a:endParaRPr sz="1300" b="1" i="0" dirty="0">
              <a:solidFill>
                <a:srgbClr val="044F49"/>
              </a:solidFill>
              <a:latin typeface="Aptos"/>
            </a:endParaRPr>
          </a:p>
          <a:p>
            <a:pPr>
              <a:spcBef>
                <a:spcPts val="400"/>
              </a:spcBef>
            </a:pPr>
            <a:r>
              <a:rPr sz="1050" b="0" i="0" dirty="0" err="1">
                <a:solidFill>
                  <a:srgbClr val="64716D"/>
                </a:solidFill>
                <a:latin typeface="Aptos"/>
              </a:rPr>
              <a:t>Каждая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важная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операция регистрируется с указанием пользователя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, роли,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времени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и причины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это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укрепляет доверие со стороны владельцев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и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аудиторов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575304"/>
            <a:ext cx="4869180" cy="7360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 err="1">
                <a:solidFill>
                  <a:srgbClr val="044F49"/>
                </a:solidFill>
                <a:latin typeface="Aptos"/>
              </a:rPr>
              <a:t>Более низкий порог входа</a:t>
            </a:r>
            <a:endParaRPr sz="1300" b="1" i="0" dirty="0">
              <a:solidFill>
                <a:srgbClr val="044F49"/>
              </a:solidFill>
              <a:latin typeface="Aptos"/>
            </a:endParaRPr>
          </a:p>
          <a:p>
            <a:pPr>
              <a:spcBef>
                <a:spcPts val="400"/>
              </a:spcBef>
            </a:pPr>
            <a:r>
              <a:rPr sz="1050" b="0" i="0" dirty="0" err="1">
                <a:solidFill>
                  <a:srgbClr val="64716D"/>
                </a:solidFill>
                <a:latin typeface="Aptos"/>
              </a:rPr>
              <a:t>Публичный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раздел снижает барьер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для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международных собственников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и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арендаторов благодаря проверенному многоязычному доступу к регистрации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без необходимости создания учетной записи в системе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342900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3660" y="3575304"/>
            <a:ext cx="4869180" cy="7360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 err="1">
                <a:solidFill>
                  <a:srgbClr val="044F49"/>
                </a:solidFill>
                <a:latin typeface="Aptos"/>
              </a:rPr>
              <a:t>Разгрузка благодаря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ИИ</a:t>
            </a:r>
          </a:p>
          <a:p>
            <a:pPr>
              <a:spcBef>
                <a:spcPts val="400"/>
              </a:spcBef>
            </a:pPr>
            <a:r>
              <a:rPr sz="1050" b="0" i="0" dirty="0" err="1">
                <a:solidFill>
                  <a:srgbClr val="64716D"/>
                </a:solidFill>
                <a:latin typeface="Aptos"/>
              </a:rPr>
              <a:t>Уровень искусственного интеллекта снимает нагрузку с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руководства и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бухгалтерии в части рутинных запросов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и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определения приоритетов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при этом контроль над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финансовыми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решениями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и доступом к данным остается в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руках компании.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8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5530334"/>
            <a:ext cx="104698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 err="1">
                <a:solidFill>
                  <a:srgbClr val="044F49"/>
                </a:solidFill>
                <a:latin typeface="Aptos"/>
              </a:rPr>
              <a:t>Стратегическая дополнительная выгода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 Платформа построена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таким образом,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что её можно масштабировать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на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другие объекты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локации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это надёжная основа на случай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если компания Ataberk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Estate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захочет расширить цифровую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деятельность за пределы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New Level Premium.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10</a:t>
            </a:r>
          </a:p>
        </p:txBody>
      </p:sp>
      <p:pic>
        <p:nvPicPr>
          <p:cNvPr id="22" name="Picture 2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ivider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taberk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2860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E2B75D"/>
                </a:solidFill>
                <a:latin typeface="Aptos"/>
              </a:rPr>
              <a:t>ГЛАВА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5156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400" b="1" i="0" dirty="0" err="1">
                <a:solidFill>
                  <a:srgbClr val="FFFFFF"/>
                </a:solidFill>
                <a:latin typeface="Aptos"/>
              </a:rPr>
              <a:t>Функциональные возможности </a:t>
            </a:r>
            <a:r>
              <a:rPr lang="de-DE" sz="3400" b="1" i="0" dirty="0">
                <a:solidFill>
                  <a:srgbClr val="FFFFFF"/>
                </a:solidFill>
                <a:latin typeface="Aptos"/>
              </a:rPr>
              <a:t>— </a:t>
            </a:r>
            <a:r>
              <a:rPr sz="3400" b="1" i="0" dirty="0">
                <a:solidFill>
                  <a:srgbClr val="FFFFFF"/>
                </a:solidFill>
                <a:latin typeface="Aptos"/>
              </a:rPr>
              <a:t>что </a:t>
            </a:r>
            <a:r>
              <a:rPr sz="3400" b="1" i="0" dirty="0" err="1">
                <a:solidFill>
                  <a:srgbClr val="FFFFFF"/>
                </a:solidFill>
                <a:latin typeface="Aptos"/>
              </a:rPr>
              <a:t>предлагает</a:t>
            </a:r>
            <a:r>
              <a:rPr sz="3400" b="1" i="0" dirty="0">
                <a:solidFill>
                  <a:srgbClr val="FFFFFF"/>
                </a:solidFill>
                <a:latin typeface="Aptos"/>
              </a:rPr>
              <a:t> 1Çatı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0" i="0">
                <a:solidFill>
                  <a:srgbClr val="CDE7E1"/>
                </a:solidFill>
                <a:latin typeface="Aptos"/>
              </a:rPr>
              <a:t>Все разработанные функциональные области с указанием их текущего статуса. «Доступно» = полностью доступно для использования в демонстрационной версии; «Частично» = интерфейс готов, активный ввод данных/реализация последуют в рабочей версии.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11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Доступ, роли и безопасность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883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Доступ на основе ролей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Шесть ролей с точно дифференцированными правами; каждая роль видит только те области, которые предназначены для её работы.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В работе</a:t>
                      </a:r>
                    </a:p>
                  </a:txBody>
                  <a:tcPr marL="73152" marR="73152" marT="36576" marB="36576" anchor="ctr">
                    <a:solidFill>
                      <a:srgbClr val="D3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Двойная проверка доступа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Права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обеспечиваются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как в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приложении,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так и в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базе данных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а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не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просто скрываются на поверхности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В режиме реального времени</a:t>
                      </a:r>
                    </a:p>
                  </a:txBody>
                  <a:tcPr marL="73152" marR="73152" marT="36576" marB="36576" anchor="ctr">
                    <a:solidFill>
                      <a:srgbClr val="D3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Полное ведение журнала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Действия, требующие особого внимания, фиксируются с указанием пользователя, роли, времени, причины и статуса в соответствии с требованиями к аудиту.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Доступ к демо-версии в один клик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Доступ к презентации без пароля; в рабочей среде по умолчанию заблокирован.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12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Управление портфелем недвижимости и жильем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856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Матрица квартир (Daire Matrix)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Централизованный обзор всех объектов с указанием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блока, номера,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владельца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жильцов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цены,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статуса задолженности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документов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статуса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 обслуживания 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доступа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 возможностью поиска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фильтрации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Структура портфеля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Полная модель «Местоположение → Блок → Этаж → Квартира» с реальным набором данных по 769 единицам.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Статус продажи и цены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Статус продажи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цена по прейскуранту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источник цены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для каждой единицы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на основе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фактического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прейскуранта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Импорт и проверка данных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Проверка и отображение качества при импорте данных (строки, предупреждения, утверждение).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13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Финансы и взносы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2276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Обзор счетов и остатков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Непогашенные остатки, просроченные суммы, статус взносов и платежей по каждой единице и каждому лицу, с разбивкой по срокам задолженности.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Неизменяемые проводки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Один раз занесенные финансовые записи больше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 нельзя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изменить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это является важной мерой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безопасности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в бухгалтерском учете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Контроль платежей и залогов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Центр управления планами платежей, решениями о залогах и сверкой банковских выписок.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ограничения для должников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Выявление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рекомендация ограничений при наличии просроченной задолженности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 обязательным утверждением со стороны сотрудника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Ввод новой проводки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Активное создание новых платежей/записей в системе.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4B5652"/>
                          </a:solidFill>
                          <a:latin typeface="Aptos"/>
                        </a:rPr>
                        <a:t>В стадии подготовки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14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Обслуживание, задачи и выездные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856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Каталог услуг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Услуги с указанием цены, сроков выполнения (SLA), политики в отношении задолженности и ответственной команды.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Сервисные заявки и SLA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Обзор заявок по приоритету, статусу, SLA и ответственному лицу; создание новых заявок через очередь утверждения.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Доска задач/полей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Задачи выездного обслуживания с временным интервалом, контрольным списком и степенью выполнения.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Фото- и видеодокументация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Загрузка фото- и видеодокументации по сервисным заказам выездными специалистами.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4B5652"/>
                          </a:solidFill>
                          <a:latin typeface="Aptos"/>
                        </a:rPr>
                        <a:t>В стадии подготовки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15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Бронирование и аренда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490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Обзор загрузки и бронирований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Бронирования с датами заезда/выезда, залогом, доступом и статусом уборки в одном обзоре.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Готовность к заселению и сдаче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Панель готовности (личность, оплата, уборка, доступ, приветствие) и задачи по выезду/сдаче объекта.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Создание нового бронирования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Создание нового бронирования в системе.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4B5652"/>
                          </a:solidFill>
                          <a:latin typeface="Aptos"/>
                        </a:rPr>
                        <a:t>В стадии подготовки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16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Связь и документы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883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Почтовый ящик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Обзор переписок по всем каналам (WhatsApp, портал, электронная почта, SMS) с учетом ролей, с библиотекой шаблонов на четырех языках.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Хранилище документов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Документы по подразделению/лицу/категории с указанием статуса, правил хранения и проверки прав доступа (в том числе TAPU, KYC, договоры).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Безопасная загрузка документов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Загрузка с проверкой типа и размера, а также контрольной суммой; возможность активации хранения в рабочей среде после утверждения.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Отправка в режиме реального времени (SMS/электронная почта/push-уведомления)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Фактическая отправка сообщений через внешних провайдеров.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4B5652"/>
                          </a:solidFill>
                          <a:latin typeface="Aptos"/>
                        </a:rPr>
                        <a:t>В стадии подготовки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17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 dirty="0" err="1">
                <a:solidFill>
                  <a:srgbClr val="044F49"/>
                </a:solidFill>
                <a:latin typeface="Aptos"/>
              </a:rPr>
              <a:t>Отчёты</a:t>
            </a:r>
            <a:r>
              <a:rPr sz="2400" b="1" i="0" dirty="0">
                <a:solidFill>
                  <a:srgbClr val="044F49"/>
                </a:solidFill>
                <a:latin typeface="Aptos"/>
              </a:rPr>
              <a:t>, </a:t>
            </a:r>
            <a:r>
              <a:rPr sz="2400" b="1" i="0" dirty="0" err="1">
                <a:solidFill>
                  <a:srgbClr val="044F49"/>
                </a:solidFill>
                <a:latin typeface="Aptos"/>
              </a:rPr>
              <a:t>панель</a:t>
            </a:r>
            <a:r>
              <a:rPr sz="2400" b="1" i="0" dirty="0">
                <a:solidFill>
                  <a:srgbClr val="044F49"/>
                </a:solidFill>
                <a:latin typeface="Aptos"/>
              </a:rPr>
              <a:t> </a:t>
            </a:r>
            <a:r>
              <a:rPr sz="2400" b="1" i="0" dirty="0" err="1">
                <a:solidFill>
                  <a:srgbClr val="044F49"/>
                </a:solidFill>
                <a:latin typeface="Aptos"/>
              </a:rPr>
              <a:t>инструментов</a:t>
            </a:r>
            <a:r>
              <a:rPr sz="2400" b="1" i="0" dirty="0">
                <a:solidFill>
                  <a:srgbClr val="044F49"/>
                </a:solidFill>
                <a:latin typeface="Aptos"/>
              </a:rPr>
              <a:t> и </a:t>
            </a:r>
            <a:r>
              <a:rPr sz="2400" b="1" i="0" dirty="0" err="1">
                <a:solidFill>
                  <a:srgbClr val="044F49"/>
                </a:solidFill>
                <a:latin typeface="Aptos"/>
              </a:rPr>
              <a:t>соблюдение</a:t>
            </a:r>
            <a:r>
              <a:rPr sz="2400" b="1" i="0" dirty="0">
                <a:solidFill>
                  <a:srgbClr val="044F49"/>
                </a:solidFill>
                <a:latin typeface="Aptos"/>
              </a:rPr>
              <a:t> </a:t>
            </a:r>
            <a:r>
              <a:rPr sz="2400" b="1" i="0" dirty="0" err="1">
                <a:solidFill>
                  <a:srgbClr val="044F49"/>
                </a:solidFill>
                <a:latin typeface="Aptos"/>
              </a:rPr>
              <a:t>нормативных</a:t>
            </a:r>
            <a:r>
              <a:rPr sz="2400" b="1" i="0" dirty="0">
                <a:solidFill>
                  <a:srgbClr val="044F49"/>
                </a:solidFill>
                <a:latin typeface="Aptos"/>
              </a:rPr>
              <a:t> </a:t>
            </a:r>
            <a:r>
              <a:rPr sz="2400" b="1" i="0" dirty="0" err="1">
                <a:solidFill>
                  <a:srgbClr val="044F49"/>
                </a:solidFill>
                <a:latin typeface="Aptos"/>
              </a:rPr>
              <a:t>требований</a:t>
            </a:r>
            <a:endParaRPr sz="2400" b="1" i="0" dirty="0">
              <a:solidFill>
                <a:srgbClr val="044F49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242197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545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Панель мониторинга в режиме реального времени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Ключевые показатели по единицам, непогашенной задолженности, заявкам и бронированиям с автоматическим обновлением (для администрации/руководства).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Центр отчетности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Отчеты по управлению, финансам, обслуживанию и доступу с диаграммами и возможностью экспорта.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Доступ и соответствие требованиям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Обзор объектов с ограниченным доступом, зон доступа и предварительная проверка соответствия покупателей для целей продаж.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18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 dirty="0">
                <a:solidFill>
                  <a:srgbClr val="044F49"/>
                </a:solidFill>
                <a:latin typeface="Aptos"/>
              </a:rPr>
              <a:t>New Level Premium </a:t>
            </a:r>
            <a:r>
              <a:rPr lang="de-DE" sz="27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общедоступная зона</a:t>
            </a:r>
            <a:endParaRPr sz="2700" b="1" i="0" dirty="0">
              <a:solidFill>
                <a:srgbClr val="044F49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Публичная целевая страница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Многоязычная страница проекта, созданная в соответствии с проверенной маркетинговой методикой, которая побуждает заинтересованных пользователей пройти регистрацию.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Регистрация без создания учетной записи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Подача заявки в качестве владельца, арендатора или сотрудника без создания учетной записи; внутренние роли надежно исключены.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Публичный канал обращений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Любой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человек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может подать заявку без учетной записи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исключительно для отправки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без возврата внутренних данных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Плакат с QR-кодом на месте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Готовый к печати плакат с QR-кодом, который ведёт прямо к форме подачи заявки.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В режиме реального времени</a:t>
                      </a:r>
                    </a:p>
                  </a:txBody>
                  <a:tcPr marL="73152" marR="73152" marT="36576" marB="36576" anchor="ctr">
                    <a:solidFill>
                      <a:srgbClr val="D3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Временный доступ для арендаторов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Спонсируемые владельцем приглашения на доступ с ограниченным сроком действия для арендаторов с определённым объёмом прав.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риэлторского бизнеса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19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Помощники на базе 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705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Функция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Внутренний рабочий помощник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Помощник в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портале,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работающий в зависимости от роли,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предназначенный для создания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сводок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определения приоритетов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подготовки черновых текстов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никогда не выполняет самостоятельно действия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связанные с конфиденциальной информацией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  <a:endParaRPr sz="1050" b="0" i="0" dirty="0">
                        <a:solidFill>
                          <a:srgbClr val="33413D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Публичный консьерж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Помощник на целевой странице, который сопровождает потенциальных клиентов и направляет их к регистрации; намеренно не имеет доступа к внутренним данным.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Связь между обоими помощниками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Публичный консьерж передает в внутреннюю систему анонимизированные темы вопросов потенциальных клиентов.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Доступно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20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06 · ФУНКЦИОНАЛЬНЫЕ ВОЗМОЖНОСТИ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Основы платформы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58" cy="1938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9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3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8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Функции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Описание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Многоязычность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Полностью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на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турецком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, английском, немецком и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русском языках </a:t>
                      </a:r>
                      <a:r>
                        <a:rPr lang="de-DE"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—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как в контенте, так и 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в </a:t>
                      </a:r>
                      <a:r>
                        <a:rPr sz="1050" b="0" i="0" dirty="0" err="1">
                          <a:solidFill>
                            <a:srgbClr val="33413D"/>
                          </a:solidFill>
                          <a:latin typeface="Aptos"/>
                        </a:rPr>
                        <a:t>интерфейсе</a:t>
                      </a:r>
                      <a:r>
                        <a:rPr sz="1050" b="0" i="0" dirty="0">
                          <a:solidFill>
                            <a:srgbClr val="33413D"/>
                          </a:solidFill>
                          <a:latin typeface="Aptos"/>
                        </a:rPr>
                        <a:t>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В работе</a:t>
                      </a:r>
                    </a:p>
                  </a:txBody>
                  <a:tcPr marL="73152" marR="73152" marT="36576" marB="36576" anchor="ctr">
                    <a:solidFill>
                      <a:srgbClr val="D3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Устанавливаемое веб-приложение (PWA)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Устанавливается на любое устройство без использования App Store; базовая структура работает даже при слабом подключении.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В режиме реального времени</a:t>
                      </a:r>
                    </a:p>
                  </a:txBody>
                  <a:tcPr marL="73152" marR="73152" marT="36576" marB="36576" anchor="ctr">
                    <a:solidFill>
                      <a:srgbClr val="D3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Светлый/тёмный режим и дизайн в соответствии с фирменным стилем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Единый фирменный дизайн в ваших цветах с возможностью переключения между светлым и тёмным режимами на портале.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44F49"/>
                          </a:solidFill>
                          <a:latin typeface="Aptos"/>
                        </a:rPr>
                        <a:t>В режиме реального времени</a:t>
                      </a:r>
                    </a:p>
                  </a:txBody>
                  <a:tcPr marL="73152" marR="73152" marT="36576" marB="36576" anchor="ctr">
                    <a:solidFill>
                      <a:srgbClr val="D3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01820"/>
                          </a:solidFill>
                          <a:latin typeface="Aptos"/>
                        </a:rPr>
                        <a:t>Офлайн-рабочая область и push-уведомления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33413D"/>
                          </a:solidFill>
                          <a:latin typeface="Aptos"/>
                        </a:rPr>
                        <a:t>Офлайн-очередь для выездных сотрудников; эффективная офлайн-синхронизация и push-уведомления.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4B5652"/>
                          </a:solidFill>
                          <a:latin typeface="Aptos"/>
                        </a:rPr>
                        <a:t>В стадии подготовки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21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Сопоставление ваших требований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463040"/>
          <a:ext cx="1088136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52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2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Ваши требования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Примечание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Централизованная платформа для 769 квартир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044F49"/>
                          </a:solidFill>
                          <a:latin typeface="Aptos"/>
                        </a:rPr>
                        <a:t>Завершено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Реализовано с использованием реального набора эталонных данных.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Ядро: местоположение → блок → квартира, связи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044F49"/>
                          </a:solidFill>
                          <a:latin typeface="Aptos"/>
                        </a:rPr>
                        <a:t>Завершено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Полная модель данных с обеспечением безопасности данных и прав доступа.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Финансовый модуль (счета, остатки, расчеты, взыскание задолженности, залог)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Счета и остатки — полностью; функция активного ввода данных/автоматического зачета находится в стадии подготовки.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Операции (задачи, услуги, персонал)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Задачи и услуги доступны; управление складом было опциональным после MVP.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Пользовательские интерфейсы: веб-панель и мобильное приложение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Веб-панель доступна в полном объеме; мобильная версия представлена в виде устанавливаемого веб-приложения (PWA), а не в виде нативного приложения.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Шесть ролей пользователей с определёнными правами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044F49"/>
                          </a:solidFill>
                          <a:latin typeface="Aptos"/>
                        </a:rPr>
                        <a:t>Полностью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Реализовано и с более тонкой градацией, чем требовалось.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Базовые данные: квартира, пользователь, счёт, транзакция, услуга, задача, запись, залог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044F49"/>
                          </a:solidFill>
                          <a:latin typeface="Aptos"/>
                        </a:rPr>
                        <a:t>Полностью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Все модели данных присутствуют и отображаются в интерфейсе.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Финансовые правила (отказ в предоставлении услуги при задолженности, зачет арендной платы, блокировка/возврат залога)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Наличие функций распознавания и рекомендаций с возможностью утверждения; автоматическое выполнение находится в стадии подготовки.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Ограничения при наличии задолженности (блокировка списания/карты/услуги)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Рекомендации доступны; фактическое выполнение — после получения юридического разрешения.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Управление услугами: каталог и процесс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Каталог полностью готов; разрабатывается единый процесс оформления заказов.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22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Сопоставление ваших требований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463040"/>
          <a:ext cx="10881360" cy="4165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52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2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Ваше требование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Статус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Примечание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Управление задачами (создание, назначение, SLA, фото- и видеоотчет)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Создание и SLA доступны; фото- и видеоотчеты находятся в стадии подготовки.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Аренда и бронирование (календарь, создание бронирования, контроль платежей)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Обзор и доски доступны; создание бронирования находится в стадии разработки.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Коммуникация (чат, командный чат, push-уведомления/электронная почта/SMS)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Полный интерфейс и шаблоны; отправка сообщений в режиме реального времени после одобрения провайдером.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Мобильное приложение (вход, баланс, оплата, чат, документы)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Доступно в виде устанавливаемого веб-приложения через браузер; функция push-уведомлений находится в стадии разработки.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Интеграции (оплата/банки, идентификация, доступ, камеры)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Подготовлен полный обзор поставщиков; подключение в режиме реального времени после выбора поставщика.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Обязательные сценарии (заявка на обслуживание, заселение, выселение, просрочка платежа)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Логика распознавания, авторизации и ведения журналов присутствует; внедрение находится в стадии подготовки.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Отчётность (финансы, задолженность, услуги, персонал, денежный поток)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Доступны отчеты по финансам, задолженностям и услугам; отчет по персоналу и ежедневный отчет по денежному потоку будут добавлены в ходе дальнейшего развития.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Панель инструментов (доходы, расходы, задолженность, задачи, KPI)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Данные по долгам, задачам и KPI доступны в режиме реального времени; показатели по доходам и расходам — в стадии разработки.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Системные требования (API-first, роли, ведение журналов, масштабируемость)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044F49"/>
                          </a:solidFill>
                          <a:latin typeface="Aptos"/>
                        </a:rPr>
                        <a:t>Полностью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Роли, безопасность данных и ведение журналов реализованы в соответствии с требованиями производственной среды.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101820"/>
                          </a:solidFill>
                          <a:latin typeface="Aptos"/>
                        </a:rPr>
                        <a:t>MVP (ядро, финансы, услуги + задачи, простое мобильное приложение)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33413D"/>
                          </a:solidFill>
                          <a:latin typeface="Aptos"/>
                        </a:rPr>
                        <a:t>Все компоненты MVP присутствуют; отдельные функции ввода данных находятся в стадии доработки.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23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07 · РЕГУЛИРОВКА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 dirty="0" err="1">
                <a:solidFill>
                  <a:srgbClr val="044F49"/>
                </a:solidFill>
                <a:latin typeface="Aptos"/>
              </a:rPr>
              <a:t>Повторяющийся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паттерн </a:t>
            </a:r>
            <a:r>
              <a:rPr lang="de-DE" sz="27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и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почему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это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не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недостаток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920240"/>
            <a:ext cx="10881360" cy="237744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920240"/>
            <a:ext cx="54864" cy="237744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747322"/>
            <a:ext cx="10469880" cy="7232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 err="1">
                <a:solidFill>
                  <a:srgbClr val="044F49"/>
                </a:solidFill>
                <a:latin typeface="Aptos"/>
              </a:rPr>
              <a:t>Отображение 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и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рекомендация </a:t>
            </a:r>
            <a:r>
              <a:rPr lang="de-DE" sz="1250" b="1" i="0" dirty="0">
                <a:solidFill>
                  <a:srgbClr val="044F49"/>
                </a:solidFill>
                <a:latin typeface="Aptos"/>
              </a:rPr>
              <a:t>—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 да;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автоматическое выполнение намеренно запускается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только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 после утверждения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.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В отношении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пунктов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помеченных как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«Частично», действует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тот же принцип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: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отображение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рекомендация присутствуют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а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автоматическое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выполнение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(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отражение в учете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блокировка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отправка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выставление счета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)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намеренно запускается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только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после утверждения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Это не случайный пробел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а последовательная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реализация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основного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принципа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«система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готовит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человек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принимает решение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». Для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работы в производственной среде эти этапы выполнения активируются целенаправленно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под контролем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63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3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68172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044F49"/>
                </a:solidFill>
                <a:latin typeface="Aptos"/>
              </a:rPr>
              <a:t>В режиме реального времени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2264" y="468172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850" b="0" i="0">
                <a:solidFill>
                  <a:srgbClr val="64716D"/>
                </a:solidFill>
                <a:latin typeface="Aptos"/>
              </a:rPr>
              <a:t>может использоваться в течение длительного времени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4663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DA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9000" y="468172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044F49"/>
                </a:solidFill>
                <a:latin typeface="Aptos"/>
              </a:rPr>
              <a:t>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1184" y="468172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850" b="0" i="0">
                <a:solidFill>
                  <a:srgbClr val="64716D"/>
                </a:solidFill>
                <a:latin typeface="Aptos"/>
              </a:rPr>
              <a:t>полностью работоспособен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63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468172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7A5410"/>
                </a:solidFill>
                <a:latin typeface="Aptos"/>
              </a:rPr>
              <a:t>Частично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0104" y="468172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850" b="0" i="0">
                <a:solidFill>
                  <a:srgbClr val="64716D"/>
                </a:solidFill>
                <a:latin typeface="Aptos"/>
              </a:rPr>
              <a:t>Предварительный просмотр доступен, полная версия будет доступна позже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4663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EA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06840" y="468172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4B5652"/>
                </a:solidFill>
                <a:latin typeface="Aptos"/>
              </a:rPr>
              <a:t>В стадии подготовки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9024" y="4681728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850" b="0" i="0">
                <a:solidFill>
                  <a:srgbClr val="64716D"/>
                </a:solidFill>
                <a:latin typeface="Aptos"/>
              </a:rPr>
              <a:t>Следующий этап развития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24</a:t>
            </a:r>
          </a:p>
        </p:txBody>
      </p:sp>
      <p:pic>
        <p:nvPicPr>
          <p:cNvPr id="26" name="Picture 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 dirty="0">
                <a:solidFill>
                  <a:srgbClr val="044F49"/>
                </a:solidFill>
                <a:latin typeface="Aptos"/>
              </a:rPr>
              <a:t>Демонстрация </a:t>
            </a:r>
            <a:r>
              <a:rPr lang="de-DE" sz="27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цель и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объем</a:t>
            </a:r>
            <a:endParaRPr sz="2700" b="1" i="0" dirty="0">
              <a:solidFill>
                <a:srgbClr val="044F49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508760"/>
            <a:ext cx="108813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i="0" dirty="0" err="1">
                <a:solidFill>
                  <a:srgbClr val="33413D"/>
                </a:solidFill>
                <a:latin typeface="Aptos"/>
              </a:rPr>
              <a:t>На данный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 момент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создана полностью работоспособная демонстрационная среда </a:t>
            </a:r>
            <a:r>
              <a:rPr lang="de-DE" sz="120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для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вашей оценки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, для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презентаций заинтересованным сторонам 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и для получения </a:t>
            </a:r>
            <a:r>
              <a:rPr sz="1200" i="0" dirty="0" err="1">
                <a:solidFill>
                  <a:srgbClr val="33413D"/>
                </a:solidFill>
                <a:latin typeface="Aptos"/>
              </a:rPr>
              <a:t>первых отзывов от вашей </a:t>
            </a:r>
            <a:r>
              <a:rPr sz="1200" i="0" dirty="0">
                <a:solidFill>
                  <a:srgbClr val="33413D"/>
                </a:solidFill>
                <a:latin typeface="Aptos"/>
              </a:rPr>
              <a:t>команды.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2578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331720"/>
            <a:ext cx="4745736" cy="1946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50" b="1" i="0" dirty="0">
                <a:solidFill>
                  <a:srgbClr val="044F49"/>
                </a:solidFill>
                <a:latin typeface="Aptos"/>
              </a:rPr>
              <a:t>Что </a:t>
            </a:r>
            <a:r>
              <a:rPr sz="1350" b="1" i="0" dirty="0" err="1">
                <a:solidFill>
                  <a:srgbClr val="044F49"/>
                </a:solidFill>
                <a:latin typeface="Aptos"/>
              </a:rPr>
              <a:t>демонстрирует</a:t>
            </a:r>
            <a:r>
              <a:rPr sz="1350" b="1" i="0" dirty="0">
                <a:solidFill>
                  <a:srgbClr val="044F49"/>
                </a:solidFill>
                <a:latin typeface="Aptos"/>
              </a:rPr>
              <a:t> демонстрационная версия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Полный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набор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функций </a:t>
            </a:r>
            <a:r>
              <a:rPr lang="de-DE" sz="110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с возможностью просмотра всех шести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ролей и четырёх языков.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Реалистичные примеры данных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на основе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реального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портфеля из 769 единиц (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прайс-лист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блочная структура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).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Общедоступный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раздел с регистрацией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каналом обратной связи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и QR-плакатом </a:t>
            </a:r>
            <a:r>
              <a:rPr lang="de-DE" sz="110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без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необходимости входа в систему.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Оба ИИ-помощника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в действии.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Доступ в один клик без пароля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для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быстрых демонстраций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257800" cy="3200400"/>
          </a:xfrm>
          <a:prstGeom prst="roundRect">
            <a:avLst>
              <a:gd name="adj" fmla="val 5000"/>
            </a:avLst>
          </a:prstGeom>
          <a:solidFill>
            <a:srgbClr val="FBF4EA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2331720"/>
            <a:ext cx="4745736" cy="160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50" b="1" i="0" dirty="0">
                <a:solidFill>
                  <a:srgbClr val="7A5410"/>
                </a:solidFill>
                <a:latin typeface="Aptos"/>
              </a:rPr>
              <a:t>Чего демонстрация </a:t>
            </a:r>
            <a:r>
              <a:rPr sz="1350" b="1" i="0" dirty="0" err="1">
                <a:solidFill>
                  <a:srgbClr val="7A5410"/>
                </a:solidFill>
                <a:latin typeface="Aptos"/>
              </a:rPr>
              <a:t>пока сознательно </a:t>
            </a:r>
            <a:r>
              <a:rPr sz="1350" b="1" i="0" dirty="0">
                <a:solidFill>
                  <a:srgbClr val="7A5410"/>
                </a:solidFill>
                <a:latin typeface="Aptos"/>
              </a:rPr>
              <a:t>не делает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Не проводятся реальные платежи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не списываются средства со счетов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 Реальные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доступа не блокируются и не разблокируются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Сообщения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клиентам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фактически не отправляются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 В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органы власти не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отправляются никакие уведомления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6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 ИИ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не принимает самостоятельных решений </a:t>
            </a:r>
            <a:r>
              <a:rPr lang="de-DE" sz="110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он дает рекомендации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представляет их на утверждение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25</a:t>
            </a:r>
          </a:p>
        </p:txBody>
      </p:sp>
      <p:pic>
        <p:nvPicPr>
          <p:cNvPr id="16" name="Picture 1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08 · 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Важно для любой презентации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2011680"/>
            <a:ext cx="10881360" cy="219456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" cy="219456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747322"/>
            <a:ext cx="10469880" cy="7232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 err="1">
                <a:solidFill>
                  <a:srgbClr val="044F49"/>
                </a:solidFill>
                <a:latin typeface="Aptos"/>
              </a:rPr>
              <a:t>Визуальное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впечат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ление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везде одинаково 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сильное </a:t>
            </a:r>
            <a:r>
              <a:rPr lang="de-DE" sz="125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разницу определяет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 статус. 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время демонстрации каждый раздел выглядит одинаково убедительно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: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полностью оформленная страница выглядит идентично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независимо от того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содержатся ли за ней реальные данные в режиме реального времени или примерные данные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Именно поэтому индикатор статуса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в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главах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6 и 7 так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важен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он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гарантирует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что ожидания основаны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на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фактическом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состоянии дел. Для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перехода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к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работе в режиме реального времени необходимо выполнить шаги, описанные в главе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26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Следующие шаги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5544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4864" cy="123444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10332720" cy="5899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Шаг 1 </a:t>
            </a:r>
            <a:r>
              <a:rPr lang="de-DE" sz="13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Быстрый и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заметный прогресс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(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без зависимости от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 внешних факторов)</a:t>
            </a:r>
          </a:p>
          <a:p>
            <a:pPr>
              <a:spcBef>
                <a:spcPts val="400"/>
              </a:spcBef>
            </a:pPr>
            <a:r>
              <a:rPr sz="1100" b="0" i="0" dirty="0" err="1">
                <a:solidFill>
                  <a:srgbClr val="33413D"/>
                </a:solidFill>
                <a:latin typeface="Aptos"/>
              </a:rPr>
              <a:t>Подключить несколько страниц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анализа 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обзора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(матрица квартир,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финансовый обзор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отчеты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) к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уже существующему подключению к данным в режиме реального времени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Техническая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основа готова </a:t>
            </a:r>
            <a:r>
              <a:rPr lang="de-DE" sz="110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речь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идет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о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подключении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, а не о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новой разработке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Результат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: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заметно больше реальных данных в режиме реального времени при минимальных затратах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71800"/>
            <a:ext cx="1088136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2971800"/>
            <a:ext cx="54864" cy="233172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108960"/>
            <a:ext cx="10332720" cy="1133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Шаг 2 </a:t>
            </a:r>
            <a:r>
              <a:rPr lang="de-DE" sz="13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Доработка основных функций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для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повседневной работы</a:t>
            </a:r>
            <a:endParaRPr sz="1300" b="1" i="0" dirty="0">
              <a:solidFill>
                <a:srgbClr val="044F49"/>
              </a:solidFill>
              <a:latin typeface="Aptos"/>
            </a:endParaRPr>
          </a:p>
          <a:p>
            <a:pPr>
              <a:spcBef>
                <a:spcPts val="5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Создание резервирования/бронирования </a:t>
            </a:r>
            <a:r>
              <a:rPr lang="de-DE" sz="110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запрашиваемая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вами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основная функция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для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сдачи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жилья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в аренду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5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Ввод финансовой проводки </a:t>
            </a:r>
            <a:r>
              <a:rPr lang="de-DE" sz="110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защищенный уже имеющейся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системой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обеспечения неизменяемости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5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Фото- и видеодокументация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по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сервисным заказам, выполняемым выездными специалистами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.</a:t>
            </a:r>
          </a:p>
          <a:p>
            <a:pPr>
              <a:spcBef>
                <a:spcPts val="500"/>
              </a:spcBef>
            </a:pPr>
            <a:r>
              <a:rPr sz="1100" b="0" i="0" dirty="0">
                <a:solidFill>
                  <a:srgbClr val="33413D"/>
                </a:solidFill>
                <a:latin typeface="Aptos"/>
              </a:rPr>
              <a:t>•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 Обзор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обработки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входящих регистраций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сообщений из общедоступной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зоны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включая утверждение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преобразование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в </a:t>
            </a:r>
            <a:r>
              <a:rPr sz="1100" b="0" i="0" dirty="0" err="1">
                <a:solidFill>
                  <a:srgbClr val="33413D"/>
                </a:solidFill>
                <a:latin typeface="Aptos"/>
              </a:rPr>
              <a:t>учетную запись </a:t>
            </a:r>
            <a:r>
              <a:rPr sz="1100" b="0" i="0" dirty="0">
                <a:solidFill>
                  <a:srgbClr val="33413D"/>
                </a:solidFill>
                <a:latin typeface="Aptos"/>
              </a:rPr>
              <a:t>или заявку.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27</a:t>
            </a:r>
          </a:p>
        </p:txBody>
      </p:sp>
      <p:pic>
        <p:nvPicPr>
          <p:cNvPr id="17" name="Picture 1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09 · СЛЕДУЮЩИЕ ШАГИ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 dirty="0">
                <a:solidFill>
                  <a:srgbClr val="044F49"/>
                </a:solidFill>
                <a:latin typeface="Aptos"/>
              </a:rPr>
              <a:t>Шаг 3 </a:t>
            </a:r>
            <a:r>
              <a:rPr lang="de-DE" sz="270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Ваши одобрения </a:t>
            </a:r>
            <a:r>
              <a:rPr sz="2700" b="1" i="0" dirty="0">
                <a:solidFill>
                  <a:srgbClr val="044F49"/>
                </a:solidFill>
                <a:latin typeface="Aptos"/>
              </a:rPr>
              <a:t>и </a:t>
            </a:r>
            <a:r>
              <a:rPr sz="2700" b="1" i="0" dirty="0" err="1">
                <a:solidFill>
                  <a:srgbClr val="044F49"/>
                </a:solidFill>
                <a:latin typeface="Aptos"/>
              </a:rPr>
              <a:t>решения</a:t>
            </a:r>
            <a:endParaRPr sz="2700" b="1" i="0" dirty="0">
              <a:solidFill>
                <a:srgbClr val="044F49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46304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i="0">
                <a:solidFill>
                  <a:srgbClr val="33413D"/>
                </a:solidFill>
                <a:latin typeface="Aptos"/>
              </a:rPr>
              <a:t>Эти моменты не зависят от темпов разработки и должны быть запущены параллельно на раннем этапе: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965960"/>
          <a:ext cx="10881359" cy="2938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8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99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Тема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Необходимое решение / одобрение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Производственная база данных и хостинг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Утверждение среды, региона, правил резервного копирования и бюджета для эксплуатации в производственной среде.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Подключение платежных систем и банков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Выбор поставщика или подтверждение рабочего процесса банковских переводов.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Каналы связи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Выбор провайдеров для SMS, электронной почты и push-уведомлений; верификация WhatsApp Business (срок ожидания 1–6 недель).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Система доступа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Оценка имеющегося оборудования на месте и правовые ограничения для действий, связанных с доступом.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Проверка личности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Выбор службы проверки для подтверждения личности при регистрации владельцев/арендаторов.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Юридические подтверждения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Экспертное одобрение в отношении ограничений, связанных с заемщиками, залогов и обязательств по уведомлению.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Приемочное тестирование (UAT)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Совместное тестирование с использованием реальных данных и формальная приемка перед запуском в эксплуатацию.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806440"/>
            <a:ext cx="10881360" cy="45720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5806440"/>
            <a:ext cx="54864" cy="457200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5934456"/>
            <a:ext cx="104698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>
                <a:solidFill>
                  <a:srgbClr val="044F49"/>
                </a:solidFill>
                <a:latin typeface="Aptos"/>
              </a:rPr>
              <a:t>Рекомендация. </a:t>
            </a:r>
            <a:r>
              <a:rPr sz="1150" b="0" i="0">
                <a:solidFill>
                  <a:srgbClr val="33413D"/>
                </a:solidFill>
                <a:latin typeface="Aptos"/>
              </a:rPr>
              <a:t> Сначала выполнить шаг 1 (максимальный эффект, минимальные затраты); уделить приоритетное внимание регистрации бронирований; запустить шаг 3 независимо и параллельно.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28</a:t>
            </a:r>
          </a:p>
        </p:txBody>
      </p:sp>
      <p:pic>
        <p:nvPicPr>
          <p:cNvPr id="16" name="Picture 1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План реализации и график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10881359" cy="2974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6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6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dirty="0" err="1">
                          <a:solidFill>
                            <a:srgbClr val="FFFFFF"/>
                          </a:solidFill>
                          <a:latin typeface="Aptos"/>
                        </a:rPr>
                        <a:t>Этап реализации</a:t>
                      </a:r>
                      <a:endParaRPr sz="1050" b="1" i="0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Содержание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FFFFF"/>
                          </a:solidFill>
                          <a:latin typeface="Aptos"/>
                        </a:rPr>
                        <a:t>Состояние</a:t>
                      </a:r>
                    </a:p>
                  </a:txBody>
                  <a:tcPr marL="73152" marR="73152" marT="36576" marB="36576" anchor="ctr">
                    <a:solidFill>
                      <a:srgbClr val="066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Основа (эксплуатация, финансы, обслуживание)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Доступ и роли, портфель, управление пользователями, финансы, контроль платежей и задолженности, каталог услуг, задачи/SLA.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044F49"/>
                          </a:solidFill>
                          <a:latin typeface="Aptos"/>
                        </a:rPr>
                        <a:t>Завершено (демо)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 dirty="0">
                          <a:solidFill>
                            <a:srgbClr val="101820"/>
                          </a:solidFill>
                          <a:latin typeface="Aptos"/>
                        </a:rPr>
                        <a:t>New Level Premium </a:t>
                      </a:r>
                      <a:r>
                        <a:rPr lang="de-DE" sz="1000" b="1" i="0" dirty="0">
                          <a:solidFill>
                            <a:srgbClr val="101820"/>
                          </a:solidFill>
                          <a:latin typeface="Aptos"/>
                        </a:rPr>
                        <a:t>— </a:t>
                      </a:r>
                      <a:r>
                        <a:rPr sz="1000" b="1" i="0" dirty="0" err="1">
                          <a:solidFill>
                            <a:srgbClr val="101820"/>
                          </a:solidFill>
                          <a:latin typeface="Aptos"/>
                        </a:rPr>
                        <a:t>общедоступная зона</a:t>
                      </a:r>
                      <a:endParaRPr sz="1000" b="1" i="0" dirty="0">
                        <a:solidFill>
                          <a:srgbClr val="101820"/>
                        </a:solidFill>
                        <a:latin typeface="Aptos"/>
                      </a:endParaRP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Целевая страница, регистрация, канал обратной связи, проверка личности, временный доступ, общедоступный консьерж.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044F49"/>
                          </a:solidFill>
                          <a:latin typeface="Aptos"/>
                        </a:rPr>
                        <a:t>Завершено (демо)</a:t>
                      </a:r>
                    </a:p>
                  </a:txBody>
                  <a:tcPr marL="73152" marR="73152" marT="36576" marB="36576" anchor="ctr">
                    <a:solidFill>
                      <a:srgbClr val="DA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Бронирование, коммуникация и документы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Бронирование/заселение/выезд, сообщения и шаблоны, управление документами.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7A5410"/>
                          </a:solidFill>
                          <a:latin typeface="Aptos"/>
                        </a:rPr>
                        <a:t>Демо-версия доступна, в стадии доработки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Мобильное и устанавливаемое приложение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Устанавливаемое веб-приложение уже доступно; офлайн-синхронизация и push-уведомления находятся в стадии разработки.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7A5410"/>
                          </a:solidFill>
                          <a:latin typeface="Aptos"/>
                        </a:rPr>
                        <a:t>Частично запущено</a:t>
                      </a:r>
                    </a:p>
                  </a:txBody>
                  <a:tcPr marL="73152" marR="73152" marT="36576" marB="36576" anchor="ctr">
                    <a:solidFill>
                      <a:srgbClr val="F4EB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Внешние интеграции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Интеграция с платежными системами, банками, средствами связи и системами доступа.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4B5652"/>
                          </a:solidFill>
                          <a:latin typeface="Aptos"/>
                        </a:rPr>
                        <a:t>Подготовлено, выбор поставщика открыт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Уровень «AI Premium»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Расширенная аналитика, прогнозы и шаблоны отчётов.</a:t>
                      </a:r>
                    </a:p>
                  </a:txBody>
                  <a:tcPr marL="73152" marR="73152" marT="36576" marB="36576" anchor="ctr">
                    <a:solidFill>
                      <a:srgbClr val="F1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4B5652"/>
                          </a:solidFill>
                          <a:latin typeface="Aptos"/>
                        </a:rPr>
                        <a:t>Доступен предварительный просмотр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101820"/>
                          </a:solidFill>
                          <a:latin typeface="Aptos"/>
                        </a:rPr>
                        <a:t>Приемка и запуск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413D"/>
                          </a:solidFill>
                          <a:latin typeface="Aptos"/>
                        </a:rPr>
                        <a:t>Проверка безопасности, приемочные испытания с использованием реальных данных, обучение, запуск в производственную эксплуатацию.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4B5652"/>
                          </a:solidFill>
                          <a:latin typeface="Aptos"/>
                        </a:rPr>
                        <a:t>В планах</a:t>
                      </a:r>
                    </a:p>
                  </a:txBody>
                  <a:tcPr marL="73152" marR="73152" marT="36576" marB="36576" anchor="ctr">
                    <a:solidFill>
                      <a:srgbClr val="EA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29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10 · ПЛАН РЕАЛИЗАЦИИ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Реалистичная оценка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201168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" cy="228600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793042"/>
            <a:ext cx="10469880" cy="7232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 err="1">
                <a:solidFill>
                  <a:srgbClr val="044F49"/>
                </a:solidFill>
                <a:latin typeface="Aptos"/>
              </a:rPr>
              <a:t>Работоспособная общая система </a:t>
            </a:r>
            <a:r>
              <a:rPr lang="de-DE" sz="1250" b="1" i="0" dirty="0">
                <a:solidFill>
                  <a:srgbClr val="044F49"/>
                </a:solidFill>
                <a:latin typeface="Aptos"/>
              </a:rPr>
              <a:t>—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пока еще не готовый к производственному использованию конечный продукт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. 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Текущий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этап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представляет собой работоспособную систему в целом, использующую реалистичные данные,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предназначенную для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вашей оценки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презентаций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первых отзывов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В частности, обработка платежей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контроль доступа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уведомление государственных органов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любые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формы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автоматизации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с использованием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искусственного интеллекта сознательно запускаются с человеческим утверждением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или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носят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чисто рекомендательный характер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будут переведены в производственную эксплуатацию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только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после принятия решений, описанных в главе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30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B9822B"/>
                </a:solidFill>
                <a:latin typeface="Aptos"/>
              </a:rPr>
              <a:t>ГЛАВА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44F49"/>
                </a:solidFill>
                <a:latin typeface="Aptos"/>
              </a:rPr>
              <a:t>Возможности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98448"/>
            <a:ext cx="502920" cy="41148"/>
          </a:xfrm>
          <a:prstGeom prst="rect">
            <a:avLst/>
          </a:prstGeom>
          <a:solidFill>
            <a:srgbClr val="066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1288" y="1298448"/>
            <a:ext cx="301752" cy="41148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taberk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164592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92224"/>
            <a:ext cx="48691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Уникальное положение на турецком рынке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Сочетание надежного финансового управления, структурированной службы поддержки и контролируемого ИИ не имеет прямых аналогов на турецком рынке.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64592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3660" y="1792224"/>
            <a:ext cx="48691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Благоприятные условия благодаря широкому признанию ИИ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Быстро растущее признание ИИ сочетается с уже укоренившимся и вызывающим доверие принципом «решение принимает человек».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575304"/>
            <a:ext cx="4869180" cy="5745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 dirty="0">
                <a:solidFill>
                  <a:srgbClr val="044F49"/>
                </a:solidFill>
                <a:latin typeface="Aptos"/>
              </a:rPr>
              <a:t>Ценность на </a:t>
            </a:r>
            <a:r>
              <a:rPr sz="1300" b="1" i="0" dirty="0" err="1">
                <a:solidFill>
                  <a:srgbClr val="044F49"/>
                </a:solidFill>
                <a:latin typeface="Aptos"/>
              </a:rPr>
              <a:t>сокращающемся </a:t>
            </a:r>
            <a:r>
              <a:rPr sz="1300" b="1" i="0" dirty="0">
                <a:solidFill>
                  <a:srgbClr val="044F49"/>
                </a:solidFill>
                <a:latin typeface="Aptos"/>
              </a:rPr>
              <a:t>рынке</a:t>
            </a:r>
          </a:p>
          <a:p>
            <a:pPr>
              <a:spcBef>
                <a:spcPts val="400"/>
              </a:spcBef>
            </a:pPr>
            <a:r>
              <a:rPr sz="1050" b="0" i="0" dirty="0" err="1">
                <a:solidFill>
                  <a:srgbClr val="64716D"/>
                </a:solidFill>
                <a:latin typeface="Aptos"/>
              </a:rPr>
              <a:t>Сокращающийся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 рынок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повышает относительную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 ценность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операционного совершенства в отношениях с существующими клиентами </a:t>
            </a:r>
            <a:r>
              <a:rPr lang="de-DE" sz="10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1050" b="0" i="0" dirty="0" err="1">
                <a:solidFill>
                  <a:srgbClr val="64716D"/>
                </a:solidFill>
                <a:latin typeface="Aptos"/>
              </a:rPr>
              <a:t>именно на это и нацелена </a:t>
            </a:r>
            <a:r>
              <a:rPr sz="1050" b="0" i="0" dirty="0">
                <a:solidFill>
                  <a:srgbClr val="64716D"/>
                </a:solidFill>
                <a:latin typeface="Aptos"/>
              </a:rPr>
              <a:t>компания 1Çatı.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5060" y="3429000"/>
            <a:ext cx="532638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3660" y="3575304"/>
            <a:ext cx="48691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 i="0">
                <a:solidFill>
                  <a:srgbClr val="044F49"/>
                </a:solidFill>
                <a:latin typeface="Aptos"/>
              </a:rPr>
              <a:t>Переносимая модель</a:t>
            </a:r>
          </a:p>
          <a:p>
            <a:pPr>
              <a:spcBef>
                <a:spcPts val="400"/>
              </a:spcBef>
            </a:pPr>
            <a:r>
              <a:rPr sz="1050" b="0" i="0">
                <a:solidFill>
                  <a:srgbClr val="64716D"/>
                </a:solidFill>
                <a:latin typeface="Aptos"/>
              </a:rPr>
              <a:t>Канал публичной регистрации и подачи заявок представляет собой модель, которую можно повторно использовать для других строительных проектов и объектов.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8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F1F6F4"/>
          </a:solidFill>
          <a:ln w="9525">
            <a:solidFill>
              <a:srgbClr val="DA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B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5441848"/>
            <a:ext cx="10469880" cy="5463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i="0" dirty="0" err="1">
                <a:solidFill>
                  <a:srgbClr val="044F49"/>
                </a:solidFill>
                <a:latin typeface="Aptos"/>
              </a:rPr>
              <a:t>Предпосылки 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для </a:t>
            </a:r>
            <a:r>
              <a:rPr sz="1250" b="1" i="0" dirty="0" err="1">
                <a:solidFill>
                  <a:srgbClr val="044F49"/>
                </a:solidFill>
                <a:latin typeface="Aptos"/>
              </a:rPr>
              <a:t>ввода в эксплуатацию</a:t>
            </a:r>
            <a:r>
              <a:rPr sz="1250" b="1" i="0" dirty="0">
                <a:solidFill>
                  <a:srgbClr val="044F49"/>
                </a:solidFill>
                <a:latin typeface="Aptos"/>
              </a:rPr>
              <a:t>.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 Требуются производственная среда данных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платежные/банковские реквизиты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поставщик услуг связи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система доступа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проверка личности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,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юридические подтверждения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совместное приемочное тестирование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(подробности см. в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главе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 9). Ни один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из этих пунктов не представляет собой технического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риска </a:t>
            </a:r>
            <a:r>
              <a:rPr lang="de-DE" sz="1150" b="0" i="0" dirty="0">
                <a:solidFill>
                  <a:srgbClr val="33413D"/>
                </a:solidFill>
                <a:latin typeface="Aptos"/>
              </a:rPr>
              <a:t>—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это четко определенные 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и </a:t>
            </a:r>
            <a:r>
              <a:rPr sz="1150" b="0" i="0" dirty="0" err="1">
                <a:solidFill>
                  <a:srgbClr val="33413D"/>
                </a:solidFill>
                <a:latin typeface="Aptos"/>
              </a:rPr>
              <a:t>поддающиеся планированию этапы согласования</a:t>
            </a:r>
            <a:r>
              <a:rPr sz="1150" b="0" i="0" dirty="0">
                <a:solidFill>
                  <a:srgbClr val="33413D"/>
                </a:solidFill>
                <a:latin typeface="Aptos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686800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750" b="0" i="0" dirty="0">
                <a:solidFill>
                  <a:srgbClr val="64716D"/>
                </a:solidFill>
                <a:latin typeface="Aptos"/>
              </a:rPr>
              <a:t>1Çatı </a:t>
            </a:r>
            <a:r>
              <a:rPr lang="de-DE" sz="750" b="0" i="0" dirty="0">
                <a:solidFill>
                  <a:srgbClr val="64716D"/>
                </a:solidFill>
                <a:latin typeface="Aptos"/>
              </a:rPr>
              <a:t>—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ERP-система для управления недвижимостью и риэлторской деятельности · WAMOCON GmbH для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Ataberk </a:t>
            </a:r>
            <a:r>
              <a:rPr sz="750" b="0" i="0" dirty="0">
                <a:solidFill>
                  <a:srgbClr val="64716D"/>
                </a:solidFill>
                <a:latin typeface="Aptos"/>
              </a:rPr>
              <a:t>Estate · </a:t>
            </a:r>
            <a:r>
              <a:rPr sz="750" b="0" i="0" dirty="0" err="1">
                <a:solidFill>
                  <a:srgbClr val="64716D"/>
                </a:solidFill>
                <a:latin typeface="Aptos"/>
              </a:rPr>
              <a:t>Конфиденциально</a:t>
            </a:r>
            <a:endParaRPr sz="750" b="0" i="0" dirty="0">
              <a:solidFill>
                <a:srgbClr val="64716D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55680" y="64556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 i="0">
                <a:solidFill>
                  <a:srgbClr val="64716D"/>
                </a:solidFill>
                <a:latin typeface="Aptos"/>
              </a:rPr>
              <a:t>31</a:t>
            </a:r>
          </a:p>
        </p:txBody>
      </p:sp>
      <p:pic>
        <p:nvPicPr>
          <p:cNvPr id="22" name="Picture 2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638251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losing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966960" y="365760"/>
            <a:ext cx="1572768" cy="475488"/>
          </a:xfrm>
          <a:prstGeom prst="roundRect">
            <a:avLst>
              <a:gd name="adj" fmla="val 50000"/>
            </a:avLst>
          </a:prstGeom>
          <a:solidFill>
            <a:srgbClr val="044F49"/>
          </a:solidFill>
          <a:ln w="9525">
            <a:solidFill>
              <a:srgbClr val="E2B7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taberk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473659"/>
            <a:ext cx="1298448" cy="259689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194560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004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ptos"/>
              </a:rPr>
              <a:t>Единая платформа для всего вашего бизнеса в сфере недвижимости.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0" i="0">
                <a:solidFill>
                  <a:srgbClr val="CDE7E1"/>
                </a:solidFill>
                <a:latin typeface="Aptos"/>
              </a:rPr>
              <a:t>Сегодня 1Çatı предоставляет полностью готовую к использованию операционную систему для New Level Premium, оформленную в соответствии с дизайном вашего бренда. Путь к запуску в эксплуатацию ясен, понятен и не таит в себе никаких скрытых сюрпризов.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50" b="0" i="0">
                <a:solidFill>
                  <a:srgbClr val="A9D2CB"/>
                </a:solidFill>
                <a:latin typeface="Aptos"/>
              </a:rPr>
              <a:t>WAMOCON GmbH  ·  для Ataberk Estate  ·  Конфиденциально  ·  7 июля 2026 г.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5007</Words>
  <Application>Microsoft Office PowerPoint</Application>
  <PresentationFormat>Breitbild</PresentationFormat>
  <Paragraphs>539</Paragraphs>
  <Slides>33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33</vt:i4>
      </vt:variant>
    </vt:vector>
  </HeadingPairs>
  <TitlesOfParts>
    <vt:vector size="37" baseType="lpstr">
      <vt:lpstr>Aptos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>, docId:E6A9744912DC2F71F0DE8F3F13A10D13</cp:keywords>
  <dc:description>generated using python-pptx</dc:description>
  <cp:lastModifiedBy>Waleri Moretz</cp:lastModifiedBy>
  <cp:revision>4</cp:revision>
  <dcterms:created xsi:type="dcterms:W3CDTF">2013-01-27T09:14:16Z</dcterms:created>
  <dcterms:modified xsi:type="dcterms:W3CDTF">2026-07-07T10:32:55Z</dcterms:modified>
  <cp:category/>
</cp:coreProperties>
</file>