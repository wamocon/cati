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336" autoAdjust="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4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0F23DB-9DAE-4EC3-91FA-F7900F59AA0E}" type="datetimeFigureOut">
              <a:rPr lang="de-DE" smtClean="0"/>
              <a:t>11.07.2026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Нажмите, чтобы отредактировать стили основного текста</a:t>
            </a:r>
          </a:p>
          <a:p>
            <a:pPr lvl="1"/>
            <a:r>
              <a:rPr lang="en-GB"/>
              <a:t>Второй уровень</a:t>
            </a:r>
          </a:p>
          <a:p>
            <a:pPr lvl="2"/>
            <a:r>
              <a:rPr lang="en-GB"/>
              <a:t>Третий уровень</a:t>
            </a:r>
          </a:p>
          <a:p>
            <a:pPr lvl="3"/>
            <a:r>
              <a:rPr lang="en-GB"/>
              <a:t>Четвертый уровень</a:t>
            </a:r>
          </a:p>
          <a:p>
            <a:pPr lvl="4"/>
            <a:r>
              <a:rPr lang="en-GB"/>
              <a:t>Пятый уровень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57F2DD-EAC8-422B-AA54-469A4423579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9711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Уважаемый Фатих,</a:t>
            </a:r>
          </a:p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большое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спасибо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уделили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время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Полагаю,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Идрис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рассказал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вам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 проекте «1Çatı»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или,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крайней мере,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показал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видео с участием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генерального директора в разделе «Cati Training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».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Позвольте мне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странице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объяснить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вам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чем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суть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проекта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почему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сейчас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самое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подходящее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него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собираетесь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приобрести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ISKAN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New Level Premium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таким образом,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ввести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эксплуатацию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769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объектами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владельцами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недвижимости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разбросанными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всему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миру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существующая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достигла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пределов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своих возможностей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невозможно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отслеживать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режиме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реального времени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состояние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платежей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просроченную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задолженность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запросы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обслуживание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сцену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выходит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1Çatı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единая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операционная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ваших операций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недвижимостью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основанная на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ролях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поддерживающая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четыре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языка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Рынок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подтверждает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нашу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правоту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объем продаж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зарубежной недвижимости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Турции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2025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году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сократился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более чем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на 9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%.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самый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низкий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показатель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последние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лет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Тем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менее Алания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подряд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остается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лидером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среди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российских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покупателей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рынке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который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постоянно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сокращается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лояльность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клиентов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количество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рекомендаций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теперь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определяются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объемом продаж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качеством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вашего обслуживания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Именно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станет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вашим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конкурентным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преимуществом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1Çatı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объединяет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всё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одном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месте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 портфель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включающий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769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квартир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финансы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коммунальные платежи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услуги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бронирования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документы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отчеты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интерактивную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панель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Кроме того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системе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предусмотрен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общедоступный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раздел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заинтересованные лица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могут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зарегистрироваться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 открытия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учетной записи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 также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интегрированных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искусственных интеллекта,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оказывающих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поддержку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вашей команде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Общение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объединяется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через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единый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почтовый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ящик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всех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каналов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(WhatsApp,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портал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электронная почта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SMS)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намеренно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имеет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открытую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архитектуру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модульное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многоязычное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веб-приложение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которое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можно установить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любое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устройство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требующее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Apple App Store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Google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Play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которое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любой момент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масштабировать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другие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локации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Если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говорить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цифрами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769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13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рабочих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областей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6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четко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разграниченных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ролей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4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языка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19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обучающих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видеороликов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разработано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сегодняшний день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Лично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меня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особенно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следующее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1Çatı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убеждает не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только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своим масштабом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технологической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точки зрения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 вас есть возможность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вывести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Ataberk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новый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современный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той же основе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которую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2026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году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будут использовать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международные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провайдеры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ИИ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который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всегда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лишь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дает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рекомендации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окончательное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принимает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человек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вселяет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доверие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четыре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языка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уровне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 доступе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основано на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отслеживаемом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обосновании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касается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качества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двойная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доступа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гарантирует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что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каждая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роль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видит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то, что ей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действительно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разрешено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сохраненные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финансовые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записи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и в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надлежащем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бухгалтерском учете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подлежат изменению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касается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надежности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можно сказать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следующее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ничего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теряется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Каждое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действие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фиксируется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полном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объеме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Давайте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сразу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проясним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ситуацию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что вы видите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это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полностью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работоспособная </a:t>
            </a:r>
            <a:r>
              <a:rPr lang="de-DE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демо-среда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Базовая версия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«Cati Training»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 готовы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остались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последние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шаги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перехода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режим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реальной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вас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важное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ведущих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строительных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компаний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не будете нести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никаких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разработку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1CATI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Речь идет о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простой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модели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обслуживания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технического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обслуживания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Благодаря этому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 могу снизить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затраты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обслуживание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максимум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евро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месяц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одного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пользователя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Моя компания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WAMOCON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берет на себя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разработку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сервисное обслуживание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техническое обслуживание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Атаберка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означает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следующее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начальных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инвестиций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недостатков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этого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есть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только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виде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планируемых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предсказуемых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эксплуатационных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расходов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Позвольте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кратко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перечислить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основные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преимущества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Во-первых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инвестиции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стандартам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немецкого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рынка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затраты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разработку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составят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около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200 000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евро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при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этом отсутствуют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затраты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оборудование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обучение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Во-вторых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снижение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операционной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нагрузки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обработка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билетов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помощью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искусственного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интеллекта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избавиться от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50–70 %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ручной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работы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В-третьих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лояльность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удовлетворенность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арендаторов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структурированные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сервисные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заявки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управляемые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искусственным интеллектом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заметно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повышают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удовлетворенности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даже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снижение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текучести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персонала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1–2 %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позволяет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сэкономить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3 500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8 000 евро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год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расходах на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риэлторов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маркетинг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уборку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ремонт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каждую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квартиру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В-четвертых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международные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владельцы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недвижимости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вместо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хаоса с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электронной почтой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панель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прозрачности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доступная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круглосуточно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769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владельцев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недвижимости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всему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миру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могут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любой момент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просматривать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свои расходы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ожидающие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заявки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показатели эффективности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своих объектов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Вот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чем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заключается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разница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В-пятых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соответствие нормативным требованиям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защита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данных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соответствии с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турецким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законодательством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интегрирована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систему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самого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начала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каждая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запись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является неизменяемой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каждая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операция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документируется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Документированные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процессы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основанные на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искусственном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интеллекте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значительно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снижают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уровень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ошибок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следовательно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уменьшают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ваши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регуляторные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риски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В-шестых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масштабируемость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затрат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новый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объект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работает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той же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платформе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 можете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легко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добавлять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пользователей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цене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евро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человека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необходимости в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новых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системах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сложных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интеграциях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дополнительном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обучении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Сетевой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эффект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вашего роста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в-седьмых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техническая поддержка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не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ваша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забота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вам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нужно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иметь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собственный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ИТ-персонал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WAMOCON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берет на себя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эксплуатацию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обновления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установку патчей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безопасности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техническую поддержку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Такое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удобство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просто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неоценимо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Итог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такое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сочетание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надёжного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финансового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управления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структурированных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услуг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контролируемого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искусственного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интеллекта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имеет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прямой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альтернативы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турецком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рынке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Ataberk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становится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образцом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подражания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рынке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Фатих-бей, 1Çatı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готов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 презентации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Сейчас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я продемонстрирую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вам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его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режиме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реального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времени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использованием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реальных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рабочих </a:t>
            </a:r>
            <a:r>
              <a:rPr lang="en-GB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процессов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de-DE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57F2DD-EAC8-422B-AA54-469A4423579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4868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Нажмите, чтобы настроить стиль основного заголовка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Нажмите, чтобы настроить стили основного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7.11.2026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7828"/>
          </a:xfrm>
          <a:prstGeom prst="rect">
            <a:avLst/>
          </a:prstGeom>
          <a:solidFill>
            <a:srgbClr val="F7F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1182"/>
          </a:xfrm>
          <a:prstGeom prst="rect">
            <a:avLst/>
          </a:prstGeom>
          <a:gradFill rotWithShape="1">
            <a:gsLst>
              <a:gs pos="0">
                <a:srgbClr val="032F2B"/>
              </a:gs>
              <a:gs pos="100000">
                <a:srgbClr val="066B63"/>
              </a:gs>
            </a:gsLst>
            <a:lin ang="20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2" y="152396"/>
            <a:ext cx="406389" cy="4063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079" y="126996"/>
            <a:ext cx="5714857" cy="253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Aptos"/>
              </a:rPr>
              <a:t>1. Крыша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79" y="380990"/>
            <a:ext cx="5714857" cy="1904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i="0">
                <a:solidFill>
                  <a:srgbClr val="BFE0DA"/>
                </a:solidFill>
                <a:latin typeface="Aptos"/>
              </a:rPr>
              <a:t>Единая платформа для всех ваших операций с недвижимостью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1822" y="177795"/>
            <a:ext cx="2984425" cy="38099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625" b="0">
                <a:solidFill>
                  <a:srgbClr val="BFE0DA"/>
                </a:solidFill>
                <a:latin typeface="Aptos"/>
              </a:rPr>
              <a:t>Управление недвижимостью и ERP для риэлторского бизнеса</a:t>
            </a:r>
          </a:p>
          <a:p>
            <a:pPr algn="r">
              <a:lnSpc>
                <a:spcPct val="120000"/>
              </a:lnSpc>
            </a:pPr>
            <a:r>
              <a:rPr sz="625" b="0">
                <a:solidFill>
                  <a:srgbClr val="BFE0DA"/>
                </a:solidFill>
                <a:latin typeface="Aptos"/>
              </a:rPr>
              <a:t>Для Ataberk Estate · Реализовано компанией WAMOCON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86742" y="215894"/>
            <a:ext cx="1473163" cy="279393"/>
          </a:xfrm>
          <a:prstGeom prst="roundRect">
            <a:avLst>
              <a:gd name="adj" fmla="val 50000"/>
            </a:avLst>
          </a:prstGeom>
          <a:solidFill>
            <a:srgbClr val="043F3A"/>
          </a:solidFill>
          <a:ln w="9525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taberk_logo_transpar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4537" y="234809"/>
            <a:ext cx="1117572" cy="22224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711182"/>
            <a:ext cx="12191695" cy="25399"/>
          </a:xfrm>
          <a:prstGeom prst="rect">
            <a:avLst/>
          </a:prstGeom>
          <a:gradFill rotWithShape="1">
            <a:gsLst>
              <a:gs pos="0">
                <a:srgbClr val="B9822B"/>
              </a:gs>
              <a:gs pos="100000">
                <a:srgbClr val="E2B75D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4792" y="800079"/>
            <a:ext cx="5714857" cy="152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9822B"/>
                </a:solidFill>
                <a:latin typeface="Aptos"/>
              </a:rPr>
              <a:t>ИСХОДНОЕ ПОЛОЖЕНИЕ → ПРОБЛЕМА → ЦЕЛЬ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792" y="952476"/>
            <a:ext cx="2444688" cy="685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6389" y="1041373"/>
            <a:ext cx="2241493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44F49"/>
                </a:solidFill>
                <a:latin typeface="Aptos"/>
              </a:rPr>
              <a:t>ИСХОДНОЕ ПОЛОЖЕНИЕ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389" y="1181070"/>
            <a:ext cx="2241493" cy="3599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 dirty="0" err="1">
                <a:solidFill>
                  <a:srgbClr val="33413D"/>
                </a:solidFill>
                <a:latin typeface="Aptos"/>
              </a:rPr>
              <a:t>Приближается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получение разрешения на заселение 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и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ввод в эксплуатацию 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проекта New Level Premium </a:t>
            </a:r>
            <a:r>
              <a:rPr lang="de-DE" sz="750" b="0" i="0" dirty="0">
                <a:solidFill>
                  <a:srgbClr val="33413D"/>
                </a:solidFill>
                <a:latin typeface="Aptos"/>
              </a:rPr>
              <a:t>—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 769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жилых единиц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владельцы недвижимости, проживающие по всему миру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03474" y="952476"/>
            <a:ext cx="2444688" cy="685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5072" y="1041373"/>
            <a:ext cx="2241493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44F49"/>
                </a:solidFill>
                <a:latin typeface="Aptos"/>
              </a:rPr>
              <a:t>ПРОБЛЕМА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5072" y="1181070"/>
            <a:ext cx="2241493" cy="4063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>
                <a:solidFill>
                  <a:srgbClr val="33413D"/>
                </a:solidFill>
                <a:latin typeface="Aptos"/>
              </a:rPr>
              <a:t>Отсутствует прозрачность в режиме реального времени в отношении платежей, задолженностей, услуг и доступа; коммуникация разрознена.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02157" y="952476"/>
            <a:ext cx="2444688" cy="685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3754" y="1041373"/>
            <a:ext cx="2241493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44F49"/>
                </a:solidFill>
                <a:latin typeface="Aptos"/>
              </a:rPr>
              <a:t>ЦЕЛЬ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3754" y="1181070"/>
            <a:ext cx="2241493" cy="2387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" b="0" i="0" dirty="0" err="1">
                <a:solidFill>
                  <a:srgbClr val="33413D"/>
                </a:solidFill>
                <a:latin typeface="Aptos"/>
              </a:rPr>
              <a:t>Централизованная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ролевая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четырехязычная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операционная система </a:t>
            </a:r>
            <a:r>
              <a:rPr lang="de-DE" sz="750" b="0" i="0" dirty="0">
                <a:solidFill>
                  <a:srgbClr val="33413D"/>
                </a:solidFill>
                <a:latin typeface="Aptos"/>
              </a:rPr>
              <a:t>— 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операционное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совершенство </a:t>
            </a:r>
            <a:r>
              <a:rPr sz="750" b="0" i="0" dirty="0" err="1">
                <a:solidFill>
                  <a:srgbClr val="33413D"/>
                </a:solidFill>
                <a:latin typeface="Aptos"/>
              </a:rPr>
              <a:t>как конкурентное преимущество</a:t>
            </a:r>
            <a:r>
              <a:rPr sz="750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9481" y="952476"/>
            <a:ext cx="253993" cy="6857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9822B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8163" y="952476"/>
            <a:ext cx="253993" cy="6857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B9822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4792" y="1714456"/>
            <a:ext cx="7848403" cy="463539"/>
          </a:xfrm>
          <a:prstGeom prst="roundRect">
            <a:avLst>
              <a:gd name="adj" fmla="val 8000"/>
            </a:avLst>
          </a:prstGeom>
          <a:solidFill>
            <a:srgbClr val="F1F6F4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04792" y="1714457"/>
            <a:ext cx="38099" cy="380990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9089" y="1784305"/>
            <a:ext cx="7619809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675" b="1" dirty="0" err="1">
                <a:solidFill>
                  <a:srgbClr val="044F49"/>
                </a:solidFill>
                <a:latin typeface="Aptos"/>
              </a:rPr>
              <a:t>Почему </a:t>
            </a:r>
            <a:r>
              <a:rPr sz="675" b="1" dirty="0" err="1">
                <a:solidFill>
                  <a:srgbClr val="044F49"/>
                </a:solidFill>
                <a:latin typeface="Aptos"/>
              </a:rPr>
              <a:t>именно сейчас</a:t>
            </a:r>
            <a:r>
              <a:rPr sz="675" b="1" dirty="0">
                <a:solidFill>
                  <a:srgbClr val="044F49"/>
                </a:solidFill>
                <a:latin typeface="Aptos"/>
              </a:rPr>
              <a:t>: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экспорт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Турции 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−9,4 % (2025 г.,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самый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низкий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показатель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за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последние 9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лет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) · Алания —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№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1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среди 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российских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покупателей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4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года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подряд 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·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Доля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использования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WhatsApp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в стране 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составляет 88,6 % ·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Использование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искусственного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интеллекта 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в секторе: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 21 % → 34 % (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на международном уровне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).</a:t>
            </a:r>
          </a:p>
          <a:p>
            <a:pPr algn="l">
              <a:lnSpc>
                <a:spcPct val="115000"/>
              </a:lnSpc>
            </a:pPr>
            <a:r>
              <a:rPr sz="675" b="0" dirty="0" err="1">
                <a:solidFill>
                  <a:srgbClr val="33413D"/>
                </a:solidFill>
                <a:latin typeface="Aptos"/>
              </a:rPr>
              <a:t>На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сокращающемся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рынке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качество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обслуживания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определяет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лояльность </a:t>
            </a:r>
            <a:r>
              <a:rPr sz="675" b="0" dirty="0" err="1">
                <a:solidFill>
                  <a:srgbClr val="33413D"/>
                </a:solidFill>
                <a:latin typeface="Aptos"/>
              </a:rPr>
              <a:t>клиентов</a:t>
            </a:r>
            <a:r>
              <a:rPr sz="675" b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4792" y="2235144"/>
            <a:ext cx="5714857" cy="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B9822B"/>
                </a:solidFill>
                <a:latin typeface="Aptos"/>
              </a:rPr>
              <a:t>1ЧАТИ: ЧТО МОЖЕТ СДЕЛАТЬ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4792" y="2387540"/>
            <a:ext cx="698482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44F49"/>
                </a:solidFill>
                <a:latin typeface="Aptos"/>
              </a:rPr>
              <a:t>Единая система для всех операций с недвижимостью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792" y="269868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0990" y="2755831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6885" y="2749481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Портфель и квартиры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885" y="288282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Матрица квартир: 769 объектов на одном экране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39976" y="269868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016174" y="2755831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32069" y="2749481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Финансы и коммунальные платежи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32069" y="288282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Остатки, задолженности, постоянные записи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5160" y="269868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51358" y="2755831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🛠️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7253" y="2749481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Услуги и задачи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7253" y="288282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Каталог, билеты, панель SLA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4792" y="311142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0990" y="316857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6885" y="316222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Бронирование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885" y="329556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Заполнение, переезд, центр доставки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39976" y="311142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016174" y="316857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32069" y="316222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Документы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32069" y="329556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Хранилище данных для документов о праве собственности, KYC и договоров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75160" y="3111422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651358" y="316857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67253" y="316222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Отчеты и панель управления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67253" y="329556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Показатели в реальном времени + Центр отчетов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04792" y="3524161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80990" y="358131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6885" y="357496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Доступ и совместимость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885" y="370830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6 цилиндров, двойной контроль доступа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939976" y="3524161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016174" y="358131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32069" y="357496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Общая зона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32069" y="370830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Стартовая страница + регистрация без необходимости создания учетной записи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575160" y="3524161"/>
            <a:ext cx="2565335" cy="34289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651358" y="3581310"/>
            <a:ext cx="190495" cy="2285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01820"/>
                </a:solidFill>
                <a:latin typeface="Aptos"/>
              </a:rPr>
              <a:t>🤖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867253" y="3574960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5" b="1" i="0">
                <a:solidFill>
                  <a:srgbClr val="101820"/>
                </a:solidFill>
                <a:latin typeface="Aptos"/>
              </a:rPr>
              <a:t>AI-помощники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867253" y="3708307"/>
            <a:ext cx="2235144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Два всегда доступных помощника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04792" y="3936901"/>
            <a:ext cx="7848403" cy="2539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50" b="1">
                <a:solidFill>
                  <a:srgbClr val="044F49"/>
                </a:solidFill>
                <a:latin typeface="Aptos"/>
              </a:rPr>
              <a:t>Коммуникация: </a:t>
            </a:r>
            <a:r>
              <a:rPr sz="650" b="0">
                <a:solidFill>
                  <a:srgbClr val="33413D"/>
                </a:solidFill>
                <a:latin typeface="Aptos"/>
              </a:rPr>
              <a:t>единый почтовый ящик для четырёх каналов (WhatsApp · Portal · Электронная почта · SMS) · многоязычные шаблоны · два взаимосвязанных ИИ-помощника. </a:t>
            </a:r>
            <a:r>
              <a:rPr sz="650" b="1">
                <a:solidFill>
                  <a:srgbClr val="044F49"/>
                </a:solidFill>
                <a:latin typeface="Aptos"/>
              </a:rPr>
              <a:t>  Гибкость: </a:t>
            </a:r>
            <a:r>
              <a:rPr sz="650" b="0">
                <a:solidFill>
                  <a:srgbClr val="33413D"/>
                </a:solidFill>
                <a:latin typeface="Aptos"/>
              </a:rPr>
              <a:t>модульная архитектура и приоритет API · интеграции, независимые от провайдера · устанавливаемое веб-приложение · поддержка нескольких клиентов для других филиалов.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04792" y="4305192"/>
            <a:ext cx="7848403" cy="825479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44F49"/>
              </a:gs>
              <a:gs pos="100000">
                <a:srgbClr val="06756C"/>
              </a:gs>
            </a:gsLst>
            <a:lin ang="20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04792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769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04792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жилых единиц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в эталонном проекте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74473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74473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Рабочая зона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на портале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874473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444153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44153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Подробное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разделение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444153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13834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013834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Язык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TR · EN · DE · RU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13834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6583515" y="4444888"/>
            <a:ext cx="1569680" cy="3301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515" y="4800479"/>
            <a:ext cx="1569680" cy="27939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Обучающие видео</a:t>
            </a:r>
          </a:p>
          <a:p>
            <a:pPr algn="ctr"/>
            <a:r>
              <a:rPr sz="625">
                <a:solidFill>
                  <a:srgbClr val="CFE7E1"/>
                </a:solidFill>
                <a:latin typeface="Aptos"/>
              </a:rPr>
              <a:t>в «Cati Training»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583515" y="4419489"/>
            <a:ext cx="6349" cy="596885"/>
          </a:xfrm>
          <a:prstGeom prst="rect">
            <a:avLst/>
          </a:prstGeom>
          <a:solidFill>
            <a:srgbClr val="2B5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04792" y="5219569"/>
            <a:ext cx="5714857" cy="1077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1" i="0" dirty="0">
                <a:solidFill>
                  <a:srgbClr val="B9822B"/>
                </a:solidFill>
                <a:latin typeface="Aptos"/>
              </a:rPr>
              <a:t>ПРЕИМУЩЕСТВА</a:t>
            </a:r>
            <a:r>
              <a:rPr lang="en-IN" sz="700" b="1" i="0">
                <a:solidFill>
                  <a:srgbClr val="B9822B"/>
                </a:solidFill>
                <a:latin typeface="Aptos"/>
              </a:rPr>
              <a:t>:</a:t>
            </a:r>
            <a:r>
              <a:rPr sz="700" b="1" i="0">
                <a:solidFill>
                  <a:srgbClr val="B9822B"/>
                </a:solidFill>
                <a:latin typeface="Aptos"/>
              </a:rPr>
              <a:t> 1. ПОЧЕМУ «ИКНАЕДИЧЕСКАЯ КРЫША» ТАК ПРИВЛЕКАТЕЛЬНА?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304792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304792" y="5365615"/>
            <a:ext cx="1518882" cy="25399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380990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Технологический прогресс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0990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Modern Stack 2026 · два ИИ-помощника · ИИ предлагает, человек принимает решение.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887172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887172" y="5365615"/>
            <a:ext cx="1518882" cy="25399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1963370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Визуализация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963370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Одинаковый уровень на четырёх языках · обоснование каждого решения о доступе объясняется понятным образом.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469553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3469553" y="5365615"/>
            <a:ext cx="1518882" cy="25399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3545751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Качество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545751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Двойная защита доступа · неизменяемые записи · надежные защитные заголовки · более 100 тестов.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051933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5051933" y="5365615"/>
            <a:ext cx="1518882" cy="25399"/>
          </a:xfrm>
          <a:prstGeom prst="rect">
            <a:avLst/>
          </a:prstGeom>
          <a:solidFill>
            <a:srgbClr val="B98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5128131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Надежность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128131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Полный журнал регистрации · безопасные решения для резервного копирования · работа в облаке с обновлением в режиме реального времени.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6634314" y="5365615"/>
            <a:ext cx="1518882" cy="6984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634314" y="5365615"/>
            <a:ext cx="1518882" cy="25399"/>
          </a:xfrm>
          <a:prstGeom prst="rect">
            <a:avLst/>
          </a:prstGeom>
          <a:solidFill>
            <a:srgbClr val="066B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6710512" y="5441813"/>
            <a:ext cx="1366485" cy="2158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5" b="1" i="0">
                <a:solidFill>
                  <a:srgbClr val="044F49"/>
                </a:solidFill>
                <a:latin typeface="Aptos"/>
              </a:rPr>
              <a:t>Гибкость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710512" y="5670408"/>
            <a:ext cx="1366485" cy="368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575" b="0" i="0">
                <a:solidFill>
                  <a:srgbClr val="64716D"/>
                </a:solidFill>
                <a:latin typeface="Aptos"/>
              </a:rPr>
              <a:t>Модульная расширяемость · независимость от поставщика · возможность переноса на другие площадки.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304792" y="6127596"/>
            <a:ext cx="2573802" cy="577837"/>
          </a:xfrm>
          <a:prstGeom prst="roundRect">
            <a:avLst>
              <a:gd name="adj" fmla="val 8000"/>
            </a:avLst>
          </a:prstGeom>
          <a:solidFill>
            <a:srgbClr val="ECF2F0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93690" y="6191095"/>
            <a:ext cx="2396006" cy="10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B9822B"/>
                </a:solidFill>
                <a:latin typeface="Aptos"/>
              </a:rPr>
              <a:t>СТУПЕНЬ ЗРЕЛОСТИ И СТЕПЕНЬ ЗАВЕРШЕНИЯ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93690" y="6305392"/>
            <a:ext cx="2396006" cy="228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25" b="0" i="0" dirty="0" err="1">
                <a:solidFill>
                  <a:srgbClr val="33413D"/>
                </a:solidFill>
                <a:latin typeface="Aptos"/>
              </a:rPr>
              <a:t>Полностью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работоспособная </a:t>
            </a:r>
            <a:r>
              <a:rPr sz="625" b="1" i="0" dirty="0">
                <a:solidFill>
                  <a:srgbClr val="044F49"/>
                </a:solidFill>
                <a:latin typeface="Aptos"/>
              </a:rPr>
              <a:t>демонстрационная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среда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; базовое обучение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и 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«обучение Cati»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завершены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продолжается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подготовка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к запуску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в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ускоренном 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режиме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942093" y="6127596"/>
            <a:ext cx="2573802" cy="577837"/>
          </a:xfrm>
          <a:prstGeom prst="roundRect">
            <a:avLst>
              <a:gd name="adj" fmla="val 8000"/>
            </a:avLst>
          </a:prstGeom>
          <a:solidFill>
            <a:srgbClr val="ECF2F0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3030990" y="6191095"/>
            <a:ext cx="2396006" cy="10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B9822B"/>
                </a:solidFill>
                <a:latin typeface="Aptos"/>
              </a:rPr>
              <a:t>ИНВЕСТИЦИИ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030990" y="6305392"/>
            <a:ext cx="2396006" cy="228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25" b="1" i="0" dirty="0">
                <a:solidFill>
                  <a:srgbClr val="044F49"/>
                </a:solidFill>
                <a:latin typeface="Aptos"/>
              </a:rPr>
              <a:t>Отсутствие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затрат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на разработку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для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разработчика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проекта 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·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Ежемесячная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плата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за обслуживание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и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сервис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в размере</a:t>
            </a:r>
            <a:r>
              <a:rPr sz="625" b="1" i="0" dirty="0">
                <a:solidFill>
                  <a:srgbClr val="044F49"/>
                </a:solidFill>
                <a:latin typeface="Aptos"/>
              </a:rPr>
              <a:t> 5 €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на </a:t>
            </a:r>
            <a:r>
              <a:rPr sz="625" b="1" i="0" dirty="0" err="1">
                <a:solidFill>
                  <a:srgbClr val="044F49"/>
                </a:solidFill>
                <a:latin typeface="Aptos"/>
              </a:rPr>
              <a:t>пользователя 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·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Операционные расходы (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OpEx),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удобные для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финансового директора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5579393" y="6127596"/>
            <a:ext cx="2573802" cy="552609"/>
          </a:xfrm>
          <a:prstGeom prst="roundRect">
            <a:avLst>
              <a:gd name="adj" fmla="val 8000"/>
            </a:avLst>
          </a:prstGeom>
          <a:solidFill>
            <a:srgbClr val="ECF2F0"/>
          </a:solidFill>
          <a:ln w="9525">
            <a:solidFill>
              <a:srgbClr val="DAE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5668291" y="6191095"/>
            <a:ext cx="2396006" cy="1015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B9822B"/>
                </a:solidFill>
                <a:latin typeface="Aptos"/>
              </a:rPr>
              <a:t>УСЛУГИ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668291" y="6305392"/>
            <a:ext cx="2396006" cy="228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25" b="0" i="0" dirty="0">
                <a:solidFill>
                  <a:srgbClr val="33413D"/>
                </a:solidFill>
                <a:latin typeface="Aptos"/>
              </a:rPr>
              <a:t>WAMOCON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отвечает за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разработку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обслуживание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,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техническое обслуживание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и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обновления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безопасности 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·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 19 видеороликов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для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самостоятельного </a:t>
            </a:r>
            <a:r>
              <a:rPr sz="625" b="0" i="0" dirty="0" err="1">
                <a:solidFill>
                  <a:srgbClr val="33413D"/>
                </a:solidFill>
                <a:latin typeface="Aptos"/>
              </a:rPr>
              <a:t>запуска</a:t>
            </a:r>
            <a:r>
              <a:rPr sz="625" b="0" i="0" dirty="0">
                <a:solidFill>
                  <a:srgbClr val="33413D"/>
                </a:solidFill>
                <a:latin typeface="Aptos"/>
              </a:rPr>
              <a:t>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04793" y="6705433"/>
            <a:ext cx="7848403" cy="165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5" b="0" i="0" dirty="0" err="1">
                <a:solidFill>
                  <a:srgbClr val="64716D"/>
                </a:solidFill>
                <a:latin typeface="Aptos"/>
              </a:rPr>
              <a:t>Текущее 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состояние: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полностью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функциональная 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демонстрационная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среда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с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реалистичными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данными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.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Внедрение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в производственную среду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функций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оплаты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,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отправки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сообщений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и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контроля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доступа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произойдет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после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получения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разрешений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от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 провайдера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и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соответствующих органов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. ·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Конфиденциально 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—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для </a:t>
            </a:r>
            <a:r>
              <a:rPr sz="525" b="0" i="0" dirty="0" err="1">
                <a:solidFill>
                  <a:srgbClr val="64716D"/>
                </a:solidFill>
                <a:latin typeface="Aptos"/>
              </a:rPr>
              <a:t>Ataberk 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Estate </a:t>
            </a:r>
            <a:r>
              <a:rPr sz="525" b="0" i="0" dirty="0">
                <a:solidFill>
                  <a:srgbClr val="64716D"/>
                </a:solidFill>
                <a:latin typeface="Aptos"/>
              </a:rPr>
              <a:t>· 11.07.2026</a:t>
            </a:r>
          </a:p>
        </p:txBody>
      </p:sp>
      <p:pic>
        <p:nvPicPr>
          <p:cNvPr id="111" name="Picture 110" descr="gesam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1790" y="825479"/>
            <a:ext cx="3505112" cy="2527236"/>
          </a:xfrm>
          <a:prstGeom prst="rect">
            <a:avLst/>
          </a:prstGeom>
          <a:ln w="12700">
            <a:solidFill>
              <a:srgbClr val="DAE3E0"/>
            </a:solidFill>
          </a:ln>
        </p:spPr>
      </p:pic>
      <p:sp>
        <p:nvSpPr>
          <p:cNvPr id="112" name="Rectangle 111"/>
          <p:cNvSpPr/>
          <p:nvPr/>
        </p:nvSpPr>
        <p:spPr>
          <a:xfrm>
            <a:off x="8381790" y="2933626"/>
            <a:ext cx="3505112" cy="419089"/>
          </a:xfrm>
          <a:prstGeom prst="rect">
            <a:avLst/>
          </a:prstGeom>
          <a:solidFill>
            <a:srgbClr val="032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8496087" y="2997125"/>
            <a:ext cx="3301917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FFFFFF"/>
                </a:solidFill>
                <a:latin typeface="Aptos"/>
              </a:rPr>
              <a:t>New Level Premium · Авсаллар / Алания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496087" y="3149521"/>
            <a:ext cx="3301917" cy="126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5" b="0" i="0">
                <a:solidFill>
                  <a:srgbClr val="CFE7E1"/>
                </a:solidFill>
                <a:latin typeface="Aptos"/>
              </a:rPr>
              <a:t>769 жилых единиц · 52 000 м² · 900 м до пляжа · 5-звездочный отель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381790" y="3479713"/>
            <a:ext cx="3505112" cy="3251118"/>
          </a:xfrm>
          <a:prstGeom prst="roundRect">
            <a:avLst>
              <a:gd name="adj" fmla="val 5000"/>
            </a:avLst>
          </a:prstGeom>
          <a:gradFill rotWithShape="1">
            <a:gsLst>
              <a:gs pos="0">
                <a:srgbClr val="032F2B"/>
              </a:gs>
              <a:gs pos="100000">
                <a:srgbClr val="066B63"/>
              </a:gs>
            </a:gsLst>
            <a:lin ang="14400000" scaled="0"/>
          </a:gradFill>
          <a:ln w="25400">
            <a:solidFill>
              <a:srgbClr val="E2B7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673883" y="6000600"/>
            <a:ext cx="2920926" cy="3809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675" b="0" i="0" dirty="0" err="1">
                <a:solidFill>
                  <a:srgbClr val="CFE7E1"/>
                </a:solidFill>
                <a:latin typeface="Aptos"/>
              </a:rPr>
              <a:t>Через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несколько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минут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я проведу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вас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по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всем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разделам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 1Çatı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и 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«Cati </a:t>
            </a:r>
            <a:r>
              <a:rPr sz="675" b="0" i="0" dirty="0" err="1">
                <a:solidFill>
                  <a:srgbClr val="CFE7E1"/>
                </a:solidFill>
                <a:latin typeface="Aptos"/>
              </a:rPr>
              <a:t>Training</a:t>
            </a:r>
            <a:r>
              <a:rPr sz="675" b="0" i="0" dirty="0">
                <a:solidFill>
                  <a:srgbClr val="CFE7E1"/>
                </a:solidFill>
                <a:latin typeface="Aptos"/>
              </a:rPr>
              <a:t>».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508787" y="6476838"/>
            <a:ext cx="3251118" cy="1396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5" b="0" i="0">
                <a:solidFill>
                  <a:srgbClr val="BFE0DA"/>
                </a:solidFill>
                <a:latin typeface="Aptos"/>
              </a:rPr>
              <a:t>Валери Морец · WAMOCON GmbH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1439</Words>
  <Application>Microsoft Office PowerPoint</Application>
  <PresentationFormat>Widescreen</PresentationFormat>
  <Paragraphs>101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/>
  <dc:subject/>
  <dc:creator/>
  <keywords>docId:F1595CD817EF045207C6F4BB0AD5E424</keywords>
  <dc:description>generated using python-pptx</dc:description>
  <lastModifiedBy>Maanik Garg</lastModifiedBy>
  <revision>5</revision>
  <dcterms:created xsi:type="dcterms:W3CDTF">2013-01-27T09:14:16.0000000Z</dcterms:created>
  <dcterms:modified xsi:type="dcterms:W3CDTF">2026-07-11T16:47:33.0000000Z</dcterms:modified>
  <category/>
</coreProperties>
</file>